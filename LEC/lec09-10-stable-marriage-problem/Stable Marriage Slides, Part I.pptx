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62" r:id="rId6"/>
    <p:sldId id="259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329" autoAdjust="0"/>
  </p:normalViewPr>
  <p:slideViewPr>
    <p:cSldViewPr snapToGrid="0">
      <p:cViewPr varScale="1">
        <p:scale>
          <a:sx n="86" d="100"/>
          <a:sy n="86" d="100"/>
        </p:scale>
        <p:origin x="15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custSel modSld">
      <pc:chgData name="Frommer, Ian Dr. (EDU)" userId="28ca3ff0-544f-450a-928b-99e19cf49b89" providerId="ADAL" clId="{FDDA6EB0-4FD6-4516-ACA5-A4CAC6441DA7}" dt="2026-02-09T21:20:21.450" v="45" actId="20577"/>
      <pc:docMkLst>
        <pc:docMk/>
      </pc:docMkLst>
      <pc:sldChg chg="modSp mod">
        <pc:chgData name="Frommer, Ian Dr. (EDU)" userId="28ca3ff0-544f-450a-928b-99e19cf49b89" providerId="ADAL" clId="{FDDA6EB0-4FD6-4516-ACA5-A4CAC6441DA7}" dt="2026-02-09T21:20:21.450" v="45" actId="20577"/>
        <pc:sldMkLst>
          <pc:docMk/>
          <pc:sldMk cId="316376448" sldId="266"/>
        </pc:sldMkLst>
        <pc:spChg chg="mod">
          <ac:chgData name="Frommer, Ian Dr. (EDU)" userId="28ca3ff0-544f-450a-928b-99e19cf49b89" providerId="ADAL" clId="{FDDA6EB0-4FD6-4516-ACA5-A4CAC6441DA7}" dt="2026-02-09T21:20:21.450" v="45" actId="20577"/>
          <ac:spMkLst>
            <pc:docMk/>
            <pc:sldMk cId="316376448" sldId="266"/>
            <ac:spMk id="3" creationId="{938DABAB-2637-72A9-DA97-DD31427F0A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78602-59C6-4E97-A7A0-C09A8B669C6E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4955D-7326-4DFC-9543-A1899A8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0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 of blocking pair – say matches included  </a:t>
            </a:r>
            <a:r>
              <a:rPr lang="en-US" b="1" dirty="0"/>
              <a:t>Bob</a:t>
            </a:r>
            <a:r>
              <a:rPr lang="en-US" dirty="0"/>
              <a:t> &amp; Gina   and  Adam &amp; </a:t>
            </a:r>
            <a:r>
              <a:rPr lang="en-US" b="1" dirty="0"/>
              <a:t>Francis</a:t>
            </a:r>
            <a:r>
              <a:rPr lang="en-US" dirty="0"/>
              <a:t>  (and Chris &amp; Elise)</a:t>
            </a:r>
          </a:p>
          <a:p>
            <a:r>
              <a:rPr lang="en-US" dirty="0"/>
              <a:t>So Bob and Francis are not together, but each would prefer to be:</a:t>
            </a:r>
          </a:p>
          <a:p>
            <a:r>
              <a:rPr lang="en-US" dirty="0"/>
              <a:t>Bob prefers Francis to Gina</a:t>
            </a:r>
          </a:p>
          <a:p>
            <a:r>
              <a:rPr lang="en-US" dirty="0"/>
              <a:t>Francis prefers Bob to Adam.</a:t>
            </a:r>
          </a:p>
          <a:p>
            <a:r>
              <a:rPr lang="en-US" dirty="0"/>
              <a:t>So Bob and Francis are a blocking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4955D-7326-4DFC-9543-A1899A86C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21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38D8-99B1-7D1E-4030-2665A945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B69C8-76FD-30E4-4399-19F4CEEED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C34E-E093-2C08-63FD-1DDA322A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87EB-805C-3520-BA3A-9B932233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421D6-0D5C-2BF1-372D-48A33595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9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164B-CF2D-4E2A-5416-2F39A742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E02E1-30C6-C089-12EB-3B56DED1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6100-34FA-B79A-337F-13B9599F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923B-0488-13C0-EE21-CAC90A74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D54F2-388C-2AD4-2275-DBD6BB62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5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11C4-70F0-681C-7C2B-A20F11C2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D06B0-DF8A-F6CF-545F-40A813AFB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F439E-ECBB-D48E-CE7B-B3F6BED9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9D7C-4B0B-A917-7ECC-40A01310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63949-C34B-BD75-2B09-419CFD07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37A1-17F6-7C35-2A63-5DF12B63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BABC-A05E-E5D1-6E18-A04C4DFC1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0EE7-563A-5201-BC7A-52B61D66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CB255-A71D-C73B-A916-92CFE3CE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E21AC-2302-AF11-32E4-068CD058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1BB15-8B80-2A84-5689-45936BA1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4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EE7F-BBE7-C761-D452-28CA44CF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704D5-CD84-8653-8B09-8E9980D88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56783-414D-67D7-8BD6-E37A7959B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32BE7-C4A7-B8D6-9F49-E7D4C8464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1004C-2238-869B-C4A7-EE6A66745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09C89-2534-0E32-90AF-E2ABE2CA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B07BF-BB4C-2448-E276-4E8359D0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834CC-E14A-50EE-2198-11B655FF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1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0B0C-9CEB-58B5-B53F-3AAC9196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34000-5A99-B0F8-6035-26AFCA12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3BE5F-1726-2277-32FF-A198DDAA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3AE6D-0A8E-DC66-20BC-7D291C5C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7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71F14-7881-FF08-D04E-7258CCB8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C97CA-4A9F-8A90-4066-335CE8BC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37B75-2FE2-9459-D3E2-7CB4186C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7029-30D1-57D8-9DE4-2C1D8EDF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D420E-03A3-91BA-46C0-DE7A1116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1111E-9281-5522-6472-C9224B0A9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E115-1EFF-6CC5-D4AC-764A8A50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A6B8B-EF36-631A-442D-0D298244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8CCA7-1017-669D-1F1B-3BB01447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2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1F1E-15E8-260F-3356-68AA85B7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CE3A5-BA60-DF65-C62C-64FB20D16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9EB8B-974B-AA6D-5B77-CD63CE574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241E1-C7E9-0DE3-A79F-D6D9CF09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6314-0900-6970-38FF-784DCB39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EB67E-7D09-7DB7-F696-21FEE473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3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5357-0B9C-CD14-4637-3ED81792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D60A6-160A-C023-A957-6BB39F842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A8AC7-B4E3-5D3B-A810-8B76BA46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17EF4-F582-E0CC-7E7A-236B5362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1CD7-FAAD-90B3-3C71-98AFC668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2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65314-13BE-73C6-18CE-91BE56181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4C0B8-7D1D-1CF2-FC61-15C1F1BC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4DA62-6E81-A9BB-1989-C83F8B4D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27B1-EFA5-B527-9A2B-A23220BE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5016A-497D-028D-7A23-52FE5606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3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3B990-B0A4-BD4E-9D3F-D06DFD0E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15A26-B22F-F836-DA34-D601187F0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625C-3167-8932-A151-1A802A34B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5628E-3520-432B-BEBC-69B114087B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E6811-A9AC-1BA7-DC4C-685A3BA74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F369F-C9C5-C9EC-84F7-1ED8CC60C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6E28F-A2D1-4AA2-9555-C51F3179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9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7843-4AE9-B203-D598-FCE2ACE3E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0" i="0" u="none" strike="noStrike" baseline="0" dirty="0">
                <a:latin typeface="CMR12"/>
              </a:rPr>
              <a:t>The Stable </a:t>
            </a:r>
            <a:br>
              <a:rPr lang="en-US" sz="6000" b="0" i="0" u="none" strike="noStrike" baseline="0" dirty="0">
                <a:latin typeface="CMR12"/>
              </a:rPr>
            </a:br>
            <a:r>
              <a:rPr lang="en-US" sz="6000" b="0" i="0" u="none" strike="noStrike" baseline="0" dirty="0">
                <a:latin typeface="CMR12"/>
              </a:rPr>
              <a:t>Marriage Problem (SMP)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9A02C-7149-20DC-277A-23BFEF5E6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dirty="0"/>
              <a:t>Part 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see accompanying handout</a:t>
            </a:r>
          </a:p>
        </p:txBody>
      </p:sp>
    </p:spTree>
    <p:extLst>
      <p:ext uri="{BB962C8B-B14F-4D97-AF65-F5344CB8AC3E}">
        <p14:creationId xmlns:p14="http://schemas.microsoft.com/office/powerpoint/2010/main" val="107457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565D-C33F-00D1-10D8-F453BE3B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127000"/>
            <a:ext cx="10515600" cy="132556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394B-FF86-491D-2EF3-30A176C33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452563"/>
            <a:ext cx="7496175" cy="4957761"/>
          </a:xfrm>
        </p:spPr>
        <p:txBody>
          <a:bodyPr>
            <a:normAutofit/>
          </a:bodyPr>
          <a:lstStyle/>
          <a:p>
            <a:r>
              <a:rPr lang="en-US" i="1" dirty="0"/>
              <a:t>n </a:t>
            </a:r>
            <a:r>
              <a:rPr lang="en-US" dirty="0"/>
              <a:t>men;  </a:t>
            </a:r>
            <a:r>
              <a:rPr lang="en-US" i="1" dirty="0"/>
              <a:t>n </a:t>
            </a:r>
            <a:r>
              <a:rPr lang="en-US" dirty="0"/>
              <a:t>women</a:t>
            </a:r>
          </a:p>
          <a:p>
            <a:r>
              <a:rPr lang="en-US" dirty="0"/>
              <a:t>Each person has ranked all the members of the opposite sex.</a:t>
            </a:r>
          </a:p>
          <a:p>
            <a:r>
              <a:rPr lang="en-US" dirty="0"/>
              <a:t>Match each man with a woman so that there are no two people of opposite sex who would prefer each other to their current partner (such a pair is known as a </a:t>
            </a:r>
            <a:r>
              <a:rPr lang="en-US" b="1" dirty="0"/>
              <a:t>blocking pair</a:t>
            </a:r>
            <a:r>
              <a:rPr lang="en-US" dirty="0"/>
              <a:t>).</a:t>
            </a:r>
          </a:p>
          <a:p>
            <a:r>
              <a:rPr lang="en-US" dirty="0"/>
              <a:t>The resulting matching (set of matches) is called </a:t>
            </a:r>
            <a:r>
              <a:rPr lang="en-US" b="1" dirty="0"/>
              <a:t>stable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/>
              <a:t>matching</a:t>
            </a:r>
            <a:r>
              <a:rPr lang="en-US" dirty="0"/>
              <a:t> with at least one blocking pair is called </a:t>
            </a:r>
            <a:r>
              <a:rPr lang="en-US" b="1" dirty="0"/>
              <a:t>unstable</a:t>
            </a:r>
            <a:r>
              <a:rPr lang="en-US" dirty="0"/>
              <a:t>.</a:t>
            </a:r>
          </a:p>
        </p:txBody>
      </p:sp>
      <p:pic>
        <p:nvPicPr>
          <p:cNvPr id="1026" name="Picture 2" descr="Pairing">
            <a:extLst>
              <a:ext uri="{FF2B5EF4-FFF2-40B4-BE49-F238E27FC236}">
                <a16:creationId xmlns:a16="http://schemas.microsoft.com/office/drawing/2014/main" id="{8EB5A635-8D43-59E7-8557-6BBD3ED8D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1587499"/>
            <a:ext cx="4200525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F392F-EE6D-DE80-1EB4-1BCC2A34CFE9}"/>
              </a:ext>
            </a:extLst>
          </p:cNvPr>
          <p:cNvSpPr txBox="1"/>
          <p:nvPr/>
        </p:nvSpPr>
        <p:spPr>
          <a:xfrm>
            <a:off x="792104" y="6410325"/>
            <a:ext cx="4896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Img</a:t>
            </a:r>
            <a:r>
              <a:rPr lang="en-US" sz="1200" dirty="0"/>
              <a:t> </a:t>
            </a:r>
            <a:r>
              <a:rPr lang="en-US" sz="1200" dirty="0" err="1"/>
              <a:t>src</a:t>
            </a:r>
            <a:r>
              <a:rPr lang="en-US" sz="1200" dirty="0"/>
              <a:t>: https://www.arvarik.com/visiting-the-stable-marriage-problem</a:t>
            </a:r>
          </a:p>
        </p:txBody>
      </p:sp>
    </p:spTree>
    <p:extLst>
      <p:ext uri="{BB962C8B-B14F-4D97-AF65-F5344CB8AC3E}">
        <p14:creationId xmlns:p14="http://schemas.microsoft.com/office/powerpoint/2010/main" val="375624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6764-A30A-0DDF-8CC9-793AFAAD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</a:rPr>
              <a:t>Example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F650-479F-1AF9-2EE1-4A230453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SMP has been utilized for many different applications.  Some examples include matching:</a:t>
            </a: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 with high schools in New York city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graduating medical students to their first hospital appointments in the U.S.</a:t>
            </a: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person to another in dating apps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users to servers in a large, distributed Internet service 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many others…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8441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3255-0969-1244-2B2B-13475A3E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7B018-8608-8031-87DD-115E3C7F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412"/>
            <a:ext cx="10515600" cy="46015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check out this example on the </a:t>
            </a:r>
            <a:r>
              <a:rPr lang="en-US" dirty="0">
                <a:highlight>
                  <a:srgbClr val="FFFF00"/>
                </a:highlight>
              </a:rPr>
              <a:t>handout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u="sng" dirty="0"/>
              <a:t>Let’s try to find</a:t>
            </a:r>
            <a:r>
              <a:rPr lang="en-US" dirty="0"/>
              <a:t>:</a:t>
            </a:r>
          </a:p>
          <a:p>
            <a:r>
              <a:rPr lang="en-US" dirty="0"/>
              <a:t>a stable matching </a:t>
            </a:r>
          </a:p>
          <a:p>
            <a:r>
              <a:rPr lang="en-US" dirty="0"/>
              <a:t>an unstable matching </a:t>
            </a:r>
          </a:p>
          <a:p>
            <a:r>
              <a:rPr lang="en-US" dirty="0"/>
              <a:t>and a blocking pair</a:t>
            </a:r>
          </a:p>
        </p:txBody>
      </p:sp>
      <p:pic>
        <p:nvPicPr>
          <p:cNvPr id="4" name="Picture 3" descr="A group of names on a white background&#10;&#10;Description automatically generated">
            <a:extLst>
              <a:ext uri="{FF2B5EF4-FFF2-40B4-BE49-F238E27FC236}">
                <a16:creationId xmlns:a16="http://schemas.microsoft.com/office/drawing/2014/main" id="{B6E8EE30-B89E-63A8-7FB8-A932B1EC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77" y="2043384"/>
            <a:ext cx="10120306" cy="196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7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B298-3881-8FC4-5E68-6AF1BA09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9930A-A3A0-35BE-A7FA-EF3353D0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matchings arise in the context of </a:t>
            </a:r>
            <a:r>
              <a:rPr lang="en-US" b="1" dirty="0"/>
              <a:t>bipartite graphs</a:t>
            </a:r>
          </a:p>
          <a:p>
            <a:r>
              <a:rPr lang="en-US" dirty="0"/>
              <a:t>bipartite graph</a:t>
            </a:r>
          </a:p>
          <a:p>
            <a:pPr lvl="1"/>
            <a:r>
              <a:rPr lang="en-US" dirty="0"/>
              <a:t>the nodes are split into two sets and </a:t>
            </a:r>
          </a:p>
          <a:p>
            <a:pPr lvl="1"/>
            <a:r>
              <a:rPr lang="en-US" dirty="0"/>
              <a:t>arcs only connect nodes in different sets, not nodes in the same 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0BED9-283C-4A7C-2DEA-768B75DC0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608" y="3756682"/>
            <a:ext cx="2548175" cy="269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4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4F22-EC46-1620-1C52-13DB79C5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Solving the SMP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9A01-2EAB-E35E-AD03-FE0E0063C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</a:rPr>
              <a:t>Gale-Shapley Algorithm – see </a:t>
            </a:r>
            <a:r>
              <a:rPr lang="en-US" sz="2400" dirty="0"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handout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Integer Programming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</a:rPr>
              <a:t>Constraint Programming (CP) – see Lustig &amp; Puget reference, we will cover CP later in this course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Genetic Algorithms</a:t>
            </a:r>
            <a:endParaRPr lang="en-US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many others especially for variants on the SMP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</a:rPr>
              <a:t>we may also want to write additional code to help with tasks such as:</a:t>
            </a:r>
          </a:p>
          <a:p>
            <a:pPr lvl="1" fontAlgn="ctr"/>
            <a:r>
              <a:rPr lang="en-US" sz="2000" dirty="0">
                <a:latin typeface="Calibri" panose="020F0502020204030204" pitchFamily="34" charset="0"/>
              </a:rPr>
              <a:t>finding the ordered list of better choices for a person than their match</a:t>
            </a:r>
            <a:endParaRPr lang="en-US" sz="2000" dirty="0"/>
          </a:p>
          <a:p>
            <a:pPr lvl="1" fontAlgn="ctr"/>
            <a:r>
              <a:rPr lang="en-US" sz="2000" dirty="0">
                <a:latin typeface="Calibri" panose="020F0502020204030204" pitchFamily="34" charset="0"/>
              </a:rPr>
              <a:t>checking we do not have a blocking pair in a matching</a:t>
            </a:r>
          </a:p>
        </p:txBody>
      </p:sp>
    </p:spTree>
    <p:extLst>
      <p:ext uri="{BB962C8B-B14F-4D97-AF65-F5344CB8AC3E}">
        <p14:creationId xmlns:p14="http://schemas.microsoft.com/office/powerpoint/2010/main" val="345161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AEDD-8669-CB64-46BD-CC7C9D74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Some Properties of the Gale-Shapley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0D49-C852-0C32-BC87-684572ADA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Calibri" panose="020F0502020204030204" pitchFamily="34" charset="0"/>
              </a:rPr>
              <a:t>the algorithm will terminate in a stable matching</a:t>
            </a:r>
          </a:p>
          <a:p>
            <a:r>
              <a:rPr lang="en-US" sz="2800" b="0" i="0" u="none" strike="noStrike" baseline="0" dirty="0">
                <a:latin typeface="CMR12"/>
              </a:rPr>
              <a:t>the stable matching found is the one that is best for the proposers among all stable matchings, and worst for all recipients</a:t>
            </a:r>
            <a:endParaRPr lang="en-US" dirty="0"/>
          </a:p>
          <a:p>
            <a:r>
              <a:rPr lang="en-US" sz="2800" dirty="0">
                <a:latin typeface="Calibri" panose="020F0502020204030204" pitchFamily="34" charset="0"/>
              </a:rPr>
              <a:t>we can have men propose or instead have women propose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both result in stable matchings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the resulting matchings (men-propose vs. women-propose) will not necessarily be the same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all men-propose executions of the algorithm result in the same stable matching (analogous result for women-propose)</a:t>
            </a:r>
          </a:p>
          <a:p>
            <a:pPr algn="l"/>
            <a:r>
              <a:rPr lang="en-US" sz="2800" b="0" i="0" u="none" strike="noStrike" baseline="0" dirty="0">
                <a:latin typeface="CMR12"/>
              </a:rPr>
              <a:t>no person can do better by lying about their preference list</a:t>
            </a:r>
          </a:p>
          <a:p>
            <a:pPr algn="l"/>
            <a:r>
              <a:rPr lang="en-US" sz="2800" b="0" i="0" u="none" strike="noStrike" baseline="0" dirty="0">
                <a:latin typeface="CMR12"/>
              </a:rPr>
              <a:t>no group of proposers can misrepresent their preferences in a way that results in those</a:t>
            </a:r>
            <a:r>
              <a:rPr lang="en-US" sz="2800" b="0" i="0" u="none" strike="noStrike" baseline="0" dirty="0">
                <a:latin typeface="CMTI12"/>
              </a:rPr>
              <a:t> </a:t>
            </a:r>
            <a:r>
              <a:rPr lang="en-US" sz="2800" b="0" i="0" u="none" strike="noStrike" baseline="0" dirty="0">
                <a:latin typeface="CMR12"/>
              </a:rPr>
              <a:t>proposers being better off than if they acted in their own interest independently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AB071-8440-DE6A-E472-5F6FE6905F77}"/>
              </a:ext>
            </a:extLst>
          </p:cNvPr>
          <p:cNvSpPr txBox="1"/>
          <p:nvPr/>
        </p:nvSpPr>
        <p:spPr>
          <a:xfrm>
            <a:off x="337930" y="6176963"/>
            <a:ext cx="6261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the </a:t>
            </a:r>
            <a:r>
              <a:rPr lang="en-US" dirty="0" err="1"/>
              <a:t>Gusfield</a:t>
            </a:r>
            <a:r>
              <a:rPr lang="en-US" dirty="0"/>
              <a:t> &amp; Irving reference for proofs of some of these</a:t>
            </a:r>
          </a:p>
        </p:txBody>
      </p:sp>
    </p:spTree>
    <p:extLst>
      <p:ext uri="{BB962C8B-B14F-4D97-AF65-F5344CB8AC3E}">
        <p14:creationId xmlns:p14="http://schemas.microsoft.com/office/powerpoint/2010/main" val="331431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DE15-0489-3BC8-1233-83367B83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in Part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ABAB-2637-72A9-DA97-DD31427F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b="0" i="0">
                <a:effectLst/>
                <a:latin typeface="Calibri" panose="020F0502020204030204" pitchFamily="34" charset="0"/>
              </a:rPr>
              <a:t>IP </a:t>
            </a:r>
            <a:r>
              <a:rPr lang="en-US" b="0" i="0" dirty="0">
                <a:effectLst/>
                <a:latin typeface="Calibri" panose="020F0502020204030204" pitchFamily="34" charset="0"/>
              </a:rPr>
              <a:t>formulation</a:t>
            </a:r>
          </a:p>
          <a:p>
            <a:pPr fontAlgn="ctr"/>
            <a:r>
              <a:rPr lang="en-US" b="0" i="0" dirty="0">
                <a:effectLst/>
                <a:latin typeface="Calibri" panose="020F0502020204030204" pitchFamily="34" charset="0"/>
              </a:rPr>
              <a:t>python implementation</a:t>
            </a:r>
          </a:p>
          <a:p>
            <a:pPr fontAlgn="ctr"/>
            <a:r>
              <a:rPr lang="en-US" b="0" i="0" dirty="0">
                <a:effectLst/>
                <a:latin typeface="Calibri" panose="020F0502020204030204" pitchFamily="34" charset="0"/>
              </a:rPr>
              <a:t>problem variations and </a:t>
            </a:r>
            <a:r>
              <a:rPr lang="en-US" b="0" i="0">
                <a:effectLst/>
                <a:latin typeface="Calibri" panose="020F0502020204030204" pitchFamily="34" charset="0"/>
              </a:rPr>
              <a:t>implementation ideas</a:t>
            </a:r>
          </a:p>
          <a:p>
            <a:pPr fontAlgn="ctr"/>
            <a:r>
              <a:rPr lang="en-US">
                <a:latin typeface="Calibri" panose="020F0502020204030204" pitchFamily="34" charset="0"/>
              </a:rPr>
              <a:t>** GUEST LECTURE **</a:t>
            </a:r>
            <a:endParaRPr lang="en-US" b="0" i="0" dirty="0">
              <a:effectLst/>
              <a:latin typeface="Calibri" panose="020F0502020204030204" pitchFamily="34" charset="0"/>
            </a:endParaRP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6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521</Words>
  <Application>Microsoft Office PowerPoint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CMR12</vt:lpstr>
      <vt:lpstr>CMTI12</vt:lpstr>
      <vt:lpstr>Symbol</vt:lpstr>
      <vt:lpstr>Office Theme</vt:lpstr>
      <vt:lpstr>The Stable  Marriage Problem (SMP)</vt:lpstr>
      <vt:lpstr>Problem statement</vt:lpstr>
      <vt:lpstr>Example Applications</vt:lpstr>
      <vt:lpstr>Examples</vt:lpstr>
      <vt:lpstr>Side note: Graph representation</vt:lpstr>
      <vt:lpstr>Algorithms for Solving the SMP</vt:lpstr>
      <vt:lpstr>Some Properties of the Gale-Shapley Algorithm</vt:lpstr>
      <vt:lpstr>Coming up in Part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2025-02-10T20:48:21Z</dcterms:created>
  <dcterms:modified xsi:type="dcterms:W3CDTF">2026-02-09T21:20:22Z</dcterms:modified>
</cp:coreProperties>
</file>