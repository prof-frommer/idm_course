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AE162A-DFDC-4EA0-AB8B-19AAC19F9D8C}" v="1" dt="2026-01-29T18:04:27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0" autoAdjust="0"/>
    <p:restoredTop sz="92736" autoAdjust="0"/>
  </p:normalViewPr>
  <p:slideViewPr>
    <p:cSldViewPr snapToGrid="0">
      <p:cViewPr varScale="1">
        <p:scale>
          <a:sx n="89" d="100"/>
          <a:sy n="89" d="100"/>
        </p:scale>
        <p:origin x="48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custSel delSld modSld">
      <pc:chgData name="Frommer, Ian Dr. (EDU)" userId="28ca3ff0-544f-450a-928b-99e19cf49b89" providerId="ADAL" clId="{FDDA6EB0-4FD6-4516-ACA5-A4CAC6441DA7}" dt="2026-01-29T18:06:41.777" v="547" actId="20577"/>
      <pc:docMkLst>
        <pc:docMk/>
      </pc:docMkLst>
      <pc:sldChg chg="modSp mod">
        <pc:chgData name="Frommer, Ian Dr. (EDU)" userId="28ca3ff0-544f-450a-928b-99e19cf49b89" providerId="ADAL" clId="{FDDA6EB0-4FD6-4516-ACA5-A4CAC6441DA7}" dt="2026-01-26T17:21:07.077" v="38" actId="20577"/>
        <pc:sldMkLst>
          <pc:docMk/>
          <pc:sldMk cId="2835317698" sldId="258"/>
        </pc:sldMkLst>
        <pc:spChg chg="mod">
          <ac:chgData name="Frommer, Ian Dr. (EDU)" userId="28ca3ff0-544f-450a-928b-99e19cf49b89" providerId="ADAL" clId="{FDDA6EB0-4FD6-4516-ACA5-A4CAC6441DA7}" dt="2026-01-26T17:21:07.077" v="38" actId="20577"/>
          <ac:spMkLst>
            <pc:docMk/>
            <pc:sldMk cId="2835317698" sldId="258"/>
            <ac:spMk id="3" creationId="{00000000-0000-0000-0000-000000000000}"/>
          </ac:spMkLst>
        </pc:spChg>
      </pc:sldChg>
      <pc:sldChg chg="modSp mod">
        <pc:chgData name="Frommer, Ian Dr. (EDU)" userId="28ca3ff0-544f-450a-928b-99e19cf49b89" providerId="ADAL" clId="{FDDA6EB0-4FD6-4516-ACA5-A4CAC6441DA7}" dt="2026-01-29T18:04:37.210" v="339" actId="20577"/>
        <pc:sldMkLst>
          <pc:docMk/>
          <pc:sldMk cId="1766118634" sldId="268"/>
        </pc:sldMkLst>
        <pc:spChg chg="mod">
          <ac:chgData name="Frommer, Ian Dr. (EDU)" userId="28ca3ff0-544f-450a-928b-99e19cf49b89" providerId="ADAL" clId="{FDDA6EB0-4FD6-4516-ACA5-A4CAC6441DA7}" dt="2026-01-29T18:04:37.210" v="339" actId="20577"/>
          <ac:spMkLst>
            <pc:docMk/>
            <pc:sldMk cId="1766118634" sldId="268"/>
            <ac:spMk id="3" creationId="{00000000-0000-0000-0000-000000000000}"/>
          </ac:spMkLst>
        </pc:spChg>
      </pc:sldChg>
      <pc:sldChg chg="modSp mod">
        <pc:chgData name="Frommer, Ian Dr. (EDU)" userId="28ca3ff0-544f-450a-928b-99e19cf49b89" providerId="ADAL" clId="{FDDA6EB0-4FD6-4516-ACA5-A4CAC6441DA7}" dt="2026-01-29T18:06:41.777" v="547" actId="20577"/>
        <pc:sldMkLst>
          <pc:docMk/>
          <pc:sldMk cId="3605661804" sldId="269"/>
        </pc:sldMkLst>
        <pc:spChg chg="mod">
          <ac:chgData name="Frommer, Ian Dr. (EDU)" userId="28ca3ff0-544f-450a-928b-99e19cf49b89" providerId="ADAL" clId="{FDDA6EB0-4FD6-4516-ACA5-A4CAC6441DA7}" dt="2026-01-29T18:06:41.777" v="547" actId="20577"/>
          <ac:spMkLst>
            <pc:docMk/>
            <pc:sldMk cId="3605661804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6EFD6-0E29-40FA-BD48-86C57B45616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D21C41-6586-49FF-ADD1-4B878210F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94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old: </a:t>
            </a:r>
            <a:r>
              <a:rPr lang="en-US" i="1" dirty="0"/>
              <a:t>– “First Fit”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Pick up a package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it fits in bin A put it in there</a:t>
            </a:r>
          </a:p>
          <a:p>
            <a:pPr marL="0" indent="0">
              <a:buNone/>
            </a:pPr>
            <a:r>
              <a:rPr lang="en-US" dirty="0"/>
              <a:t>else put it in next bin with room</a:t>
            </a:r>
          </a:p>
          <a:p>
            <a:pPr marL="0" indent="0">
              <a:buNone/>
            </a:pPr>
            <a:r>
              <a:rPr lang="en-US" dirty="0"/>
              <a:t>3. Repeat until no more packages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21C41-6586-49FF-ADD1-4B878210F9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4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old:</a:t>
            </a:r>
          </a:p>
          <a:p>
            <a:r>
              <a:rPr lang="en-US" i="1" dirty="0"/>
              <a:t> – ‘First Fit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Sort packages in decreasing size order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 with next package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next package fits in 1</a:t>
            </a:r>
            <a:r>
              <a:rPr lang="en-US" baseline="30000" dirty="0"/>
              <a:t>st</a:t>
            </a:r>
            <a:r>
              <a:rPr lang="en-US" dirty="0"/>
              <a:t> bin put it there</a:t>
            </a:r>
          </a:p>
          <a:p>
            <a:pPr marL="0" indent="0">
              <a:buNone/>
            </a:pPr>
            <a:r>
              <a:rPr lang="en-US" dirty="0"/>
              <a:t>Else put it in next bin</a:t>
            </a:r>
          </a:p>
          <a:p>
            <a:pPr marL="0" indent="0">
              <a:buNone/>
            </a:pPr>
            <a:r>
              <a:rPr lang="en-US" dirty="0"/>
              <a:t>4.  Go to step 2</a:t>
            </a:r>
          </a:p>
          <a:p>
            <a:r>
              <a:rPr lang="en-US" i="1" dirty="0"/>
              <a:t>Decreasing”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21C41-6586-49FF-ADD1-4B878210F9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32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Wikipedia</a:t>
            </a:r>
            <a:r>
              <a:rPr lang="en-US" baseline="0" dirty="0"/>
              <a:t> article print-out with notes for proof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D21C41-6586-49FF-ADD1-4B878210F9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22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Wikipedia</a:t>
            </a:r>
            <a:r>
              <a:rPr lang="en-US" baseline="0" dirty="0"/>
              <a:t> article print-out with notes for proof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D21C41-6586-49FF-ADD1-4B878210F9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38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7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6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4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16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5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4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73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36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9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498E3-D325-4A79-B49D-517FCF5C7F6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811EF-8ADD-4DCC-8EC1-D0B0AB3A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7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ms.org/publicoutreach/feature-column/fcarc-bins2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in_packing_problem#Exact_algorithm" TargetMode="External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Bin Packing Problem</a:t>
            </a:r>
          </a:p>
        </p:txBody>
      </p:sp>
      <p:pic>
        <p:nvPicPr>
          <p:cNvPr id="4" name="Picture 2" descr="A Next Fit pac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62" y="3772958"/>
            <a:ext cx="1870075" cy="1880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67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549400"/>
            <a:ext cx="7831836" cy="46275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Bin-Packing Problem (BPP)</a:t>
            </a:r>
            <a:r>
              <a:rPr lang="en-US" dirty="0"/>
              <a:t> can be described as follows: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Given </a:t>
            </a:r>
            <a:r>
              <a:rPr lang="en-US" i="1" dirty="0"/>
              <a:t>m</a:t>
            </a:r>
            <a:r>
              <a:rPr lang="en-US" dirty="0"/>
              <a:t> items and </a:t>
            </a:r>
            <a:r>
              <a:rPr lang="en-US" i="1" dirty="0"/>
              <a:t>n</a:t>
            </a:r>
            <a:r>
              <a:rPr lang="en-US" dirty="0"/>
              <a:t> bins, with: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i="1" dirty="0" err="1"/>
              <a:t>w</a:t>
            </a:r>
            <a:r>
              <a:rPr lang="en-US" i="1" baseline="-25000" dirty="0" err="1"/>
              <a:t>i</a:t>
            </a:r>
            <a:r>
              <a:rPr lang="en-US" dirty="0"/>
              <a:t> = weight of item </a:t>
            </a:r>
            <a:r>
              <a:rPr lang="en-US" i="1" dirty="0"/>
              <a:t>i</a:t>
            </a:r>
          </a:p>
          <a:p>
            <a:pPr marL="0" indent="0">
              <a:buNone/>
            </a:pPr>
            <a:r>
              <a:rPr lang="en-US" sz="2300" i="1" dirty="0"/>
              <a:t>    - </a:t>
            </a:r>
            <a:r>
              <a:rPr lang="en-US" sz="2300" dirty="0"/>
              <a:t> assume all weights are positive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i="1" dirty="0"/>
              <a:t>c</a:t>
            </a:r>
            <a:r>
              <a:rPr lang="en-US" dirty="0"/>
              <a:t> =capacity of each bin</a:t>
            </a:r>
          </a:p>
          <a:p>
            <a:pPr marL="0" indent="0">
              <a:buNone/>
            </a:pPr>
            <a:r>
              <a:rPr lang="en-US" sz="2300" dirty="0"/>
              <a:t>   -  assume capacity is positive and the same for each bin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Assign each item to a bin such that:</a:t>
            </a:r>
          </a:p>
          <a:p>
            <a:r>
              <a:rPr lang="en-US" dirty="0"/>
              <a:t>the total weight of the items in each bin does not exceed </a:t>
            </a:r>
            <a:r>
              <a:rPr lang="en-US" i="1" dirty="0"/>
              <a:t>c, </a:t>
            </a:r>
            <a:r>
              <a:rPr lang="en-US" dirty="0"/>
              <a:t>and</a:t>
            </a:r>
          </a:p>
          <a:p>
            <a:r>
              <a:rPr lang="en-US" dirty="0"/>
              <a:t>the number of bins used is a minimum</a:t>
            </a:r>
          </a:p>
        </p:txBody>
      </p:sp>
      <p:pic>
        <p:nvPicPr>
          <p:cNvPr id="1026" name="Picture 2" descr="A Next Fit pac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736" y="1414463"/>
            <a:ext cx="3543300" cy="356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42900" y="6311900"/>
            <a:ext cx="7607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Source: http://www.ams.org/publicoutreach/feature-column/fcarc-bins2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7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your own algorithm or </a:t>
            </a:r>
            <a:br>
              <a:rPr lang="en-US" dirty="0"/>
            </a:br>
            <a:r>
              <a:rPr lang="en-US" dirty="0"/>
              <a:t>  approach to solve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in groups</a:t>
            </a:r>
            <a:endParaRPr lang="en-US" b="1" dirty="0"/>
          </a:p>
          <a:p>
            <a:r>
              <a:rPr lang="en-US" dirty="0"/>
              <a:t>Take around 10-15 minutes</a:t>
            </a:r>
          </a:p>
          <a:p>
            <a:r>
              <a:rPr lang="en-US" dirty="0"/>
              <a:t>You may want to use Example 1 on handout</a:t>
            </a:r>
          </a:p>
          <a:p>
            <a:r>
              <a:rPr lang="en-US" dirty="0"/>
              <a:t>Do the best you can – your algorithm may be what you use on the bin packing homework and/or quiz</a:t>
            </a:r>
          </a:p>
          <a:p>
            <a:r>
              <a:rPr lang="en-US"/>
              <a:t>** Also try </a:t>
            </a:r>
            <a:r>
              <a:rPr lang="en-US" dirty="0"/>
              <a:t>to develop a formula to estimate a lower bound on the number of </a:t>
            </a:r>
            <a:r>
              <a:rPr lang="en-US"/>
              <a:t>bins needed, irrespective of your algorithm. </a:t>
            </a:r>
            <a:r>
              <a:rPr lang="en-US" dirty="0"/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2835317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 Student Group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i="1"/>
              <a:t>sort items in decreasing size order</a:t>
            </a:r>
            <a:r>
              <a:rPr lang="en-US"/>
              <a:t>  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open one bin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start at front of list, put item in bin if possible, otherwise put item in new bin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next choose item from bak of list, put item in possible, otherwise put item in new bin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go step 3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11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Another Student Group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i="1"/>
              <a:t>sort items in descreasing size order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/>
              <a:t>open first bin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/>
              <a:t>put largest item in list in the bin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/>
              <a:t>next put largest item that will fit into that bin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/>
              <a:t>when bin is full open new bin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/>
              <a:t>go to step 3</a:t>
            </a:r>
          </a:p>
        </p:txBody>
      </p:sp>
    </p:spTree>
    <p:extLst>
      <p:ext uri="{BB962C8B-B14F-4D97-AF65-F5344CB8AC3E}">
        <p14:creationId xmlns:p14="http://schemas.microsoft.com/office/powerpoint/2010/main" val="3605661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Heuristic Algorithms to Solve the BPP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b="1" dirty="0"/>
              <a:t>First Fit</a:t>
            </a:r>
          </a:p>
          <a:p>
            <a:pPr marL="1028700" lvl="1" indent="-571500">
              <a:buFont typeface="+mj-lt"/>
              <a:buAutoNum type="arabicPeriod"/>
            </a:pPr>
            <a:r>
              <a:rPr lang="en-US" dirty="0"/>
              <a:t>Place next item in lowest numbered bin in which it fits</a:t>
            </a:r>
          </a:p>
          <a:p>
            <a:pPr marL="1028700" lvl="1" indent="-571500">
              <a:buFont typeface="+mj-lt"/>
              <a:buAutoNum type="arabicPeriod"/>
            </a:pPr>
            <a:r>
              <a:rPr lang="en-US" dirty="0"/>
              <a:t>If item does not fit in any open bin, start a new bin.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/>
              <a:t>First Fit Decreasing</a:t>
            </a:r>
          </a:p>
          <a:p>
            <a:pPr lvl="1"/>
            <a:r>
              <a:rPr lang="en-US" dirty="0"/>
              <a:t>Same as First Fit except pre-sort the items by decreasing weight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/>
              <a:t>Best Fit</a:t>
            </a:r>
          </a:p>
          <a:p>
            <a:pPr marL="1028700" lvl="1" indent="-571500">
              <a:buFont typeface="+mj-lt"/>
              <a:buAutoNum type="arabicPeriod"/>
            </a:pPr>
            <a:r>
              <a:rPr lang="en-US" dirty="0"/>
              <a:t>Place next item into the bin that leaves the least room left over </a:t>
            </a:r>
          </a:p>
          <a:p>
            <a:pPr marL="1028700" lvl="1" indent="-571500">
              <a:buFont typeface="+mj-lt"/>
              <a:buAutoNum type="arabicPeriod"/>
            </a:pPr>
            <a:r>
              <a:rPr lang="en-US" dirty="0"/>
              <a:t>If item does not fit in any open bin, start a new bin.</a:t>
            </a:r>
          </a:p>
          <a:p>
            <a:pPr marL="571500" indent="-571500">
              <a:buFont typeface="+mj-lt"/>
              <a:buAutoNum type="romanU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7892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 applied to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do Example 1 on handout, see white 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346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9282"/>
            <a:ext cx="10515600" cy="1325563"/>
          </a:xfrm>
        </p:spPr>
        <p:txBody>
          <a:bodyPr/>
          <a:lstStyle/>
          <a:p>
            <a:r>
              <a:rPr lang="en-US" dirty="0"/>
              <a:t>What are Heuristic Methods?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0731"/>
            <a:ext cx="10515600" cy="4726232"/>
          </a:xfrm>
        </p:spPr>
        <p:txBody>
          <a:bodyPr>
            <a:normAutofit fontScale="92500"/>
          </a:bodyPr>
          <a:lstStyle/>
          <a:p>
            <a:pPr lvl="0"/>
            <a:r>
              <a:rPr lang="en-US" dirty="0"/>
              <a:t>Solution methods guided by common sense, intuition, problem structure and/or trial and error</a:t>
            </a:r>
            <a:endParaRPr lang="en-US" sz="1800" dirty="0"/>
          </a:p>
          <a:p>
            <a:pPr lvl="0"/>
            <a:r>
              <a:rPr lang="en-US" dirty="0"/>
              <a:t>Achieve good but probably not optimal solution</a:t>
            </a:r>
            <a:endParaRPr lang="en-US" sz="1800" dirty="0"/>
          </a:p>
          <a:p>
            <a:pPr lvl="0"/>
            <a:r>
              <a:rPr lang="en-US" dirty="0"/>
              <a:t>Useful because many models are too large or too complex to be solved to optimality, or may not be solvable in a reasonable amount of time</a:t>
            </a:r>
            <a:endParaRPr lang="en-US" sz="1800" dirty="0"/>
          </a:p>
          <a:p>
            <a:pPr lvl="0"/>
            <a:r>
              <a:rPr lang="en-US" dirty="0"/>
              <a:t>Some are “quick and dirty” others are very sophisticated</a:t>
            </a:r>
            <a:endParaRPr lang="en-US" sz="1800" dirty="0"/>
          </a:p>
          <a:p>
            <a:pPr lvl="0"/>
            <a:r>
              <a:rPr lang="en-US" dirty="0"/>
              <a:t>Problems with successful heuristics:</a:t>
            </a:r>
            <a:endParaRPr lang="en-US" sz="1800" dirty="0"/>
          </a:p>
          <a:p>
            <a:pPr lvl="1"/>
            <a:r>
              <a:rPr lang="en-US" dirty="0"/>
              <a:t>Traveling salesman problem</a:t>
            </a:r>
            <a:endParaRPr lang="en-US" sz="1600" dirty="0"/>
          </a:p>
          <a:p>
            <a:pPr lvl="1"/>
            <a:r>
              <a:rPr lang="en-US" dirty="0"/>
              <a:t>Knapsack problem</a:t>
            </a:r>
            <a:endParaRPr lang="en-US" sz="1600" dirty="0"/>
          </a:p>
          <a:p>
            <a:pPr lvl="1"/>
            <a:r>
              <a:rPr lang="en-US" dirty="0"/>
              <a:t>Shortest paths problem</a:t>
            </a:r>
          </a:p>
          <a:p>
            <a:pPr marL="0" indent="0">
              <a:buNone/>
            </a:pPr>
            <a:r>
              <a:rPr lang="en-US" i="1" dirty="0"/>
              <a:t>Your HW reading will have more about these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17500" y="6176963"/>
            <a:ext cx="7404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Based in part on </a:t>
            </a:r>
            <a:r>
              <a:rPr lang="en-US" i="1" dirty="0"/>
              <a:t>Practical Management Science </a:t>
            </a:r>
            <a:r>
              <a:rPr lang="en-US" sz="1200" dirty="0"/>
              <a:t>by Winston and Albright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969" y="3674693"/>
            <a:ext cx="1895359" cy="298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3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Methods: Measures of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9671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Several approaches exist to rate and compare performance of heuristics.</a:t>
            </a:r>
          </a:p>
          <a:p>
            <a:pPr marL="0" indent="0">
              <a:buNone/>
            </a:pPr>
            <a:r>
              <a:rPr lang="en-US" dirty="0"/>
              <a:t>We’ll focus on a few here.  See your Heuristics reading for more.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Worst case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Lower bound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342594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Heuristic Method Measures of Performance:</a:t>
            </a:r>
            <a:br>
              <a:rPr lang="en-US" sz="3600" dirty="0"/>
            </a:br>
            <a:r>
              <a:rPr lang="en-US" sz="3600" dirty="0"/>
              <a:t>1. </a:t>
            </a:r>
            <a:r>
              <a:rPr lang="en-US" dirty="0"/>
              <a:t>Worst Case Analysis </a:t>
            </a:r>
            <a:r>
              <a:rPr lang="en-US" sz="3600" dirty="0"/>
              <a:t>(of algorithm)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02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OPT = # of bins used in the optimal solution</a:t>
            </a:r>
          </a:p>
          <a:p>
            <a:pPr marL="0" indent="0">
              <a:buNone/>
            </a:pPr>
            <a:r>
              <a:rPr lang="en-US" dirty="0"/>
              <a:t>Let B = # of bins used in heuristic solution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First Fit</a:t>
            </a:r>
            <a:r>
              <a:rPr lang="en-US" dirty="0"/>
              <a:t> algorithm will find a solution that satisfies:  B ≤ 2*OPT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u="sng" dirty="0"/>
              <a:t>Proof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See whiteboard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fact, a tighter bound can be found.  See </a:t>
            </a:r>
            <a:r>
              <a:rPr lang="en-US" dirty="0" err="1"/>
              <a:t>Salhi</a:t>
            </a:r>
            <a:r>
              <a:rPr lang="en-US" dirty="0"/>
              <a:t> reading p14 for more.</a:t>
            </a:r>
          </a:p>
        </p:txBody>
      </p:sp>
    </p:spTree>
    <p:extLst>
      <p:ext uri="{BB962C8B-B14F-4D97-AF65-F5344CB8AC3E}">
        <p14:creationId xmlns:p14="http://schemas.microsoft.com/office/powerpoint/2010/main" val="1452117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Heuristic Method Measures of Performance:</a:t>
            </a:r>
            <a:br>
              <a:rPr lang="en-US" sz="3600" dirty="0"/>
            </a:br>
            <a:r>
              <a:rPr lang="en-US" sz="3600" dirty="0"/>
              <a:t>2. </a:t>
            </a:r>
            <a:r>
              <a:rPr lang="en-US" dirty="0"/>
              <a:t>Lower Bound </a:t>
            </a:r>
            <a:r>
              <a:rPr lang="en-US" sz="3600" dirty="0"/>
              <a:t>(of problem)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did you group come up with for a simple lower bound on BPP solutions?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Min # of bins = total weight of items / bin capacity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Ex 1 on handout</a:t>
            </a:r>
            <a:r>
              <a:rPr lang="en-US" dirty="0"/>
              <a:t>:  this is 21 / 7 = 3 bins is the lower bound</a:t>
            </a:r>
          </a:p>
        </p:txBody>
      </p:sp>
    </p:spTree>
    <p:extLst>
      <p:ext uri="{BB962C8B-B14F-4D97-AF65-F5344CB8AC3E}">
        <p14:creationId xmlns:p14="http://schemas.microsoft.com/office/powerpoint/2010/main" val="228088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Heuristic Method Measures of Performance:</a:t>
            </a:r>
            <a:br>
              <a:rPr lang="en-US" sz="3600" dirty="0"/>
            </a:br>
            <a:r>
              <a:rPr lang="en-US" sz="3600" dirty="0"/>
              <a:t>3. </a:t>
            </a:r>
            <a:r>
              <a:rPr lang="en-US" dirty="0"/>
              <a:t>Time Complexity </a:t>
            </a:r>
            <a:r>
              <a:rPr lang="en-US" sz="3600" dirty="0"/>
              <a:t>(of algorithm)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02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Our old friend from Algorithms (and NANO and Discrete)…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First Fit Decreasing has complexity O(n log 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may investigate this somewhat in HW 3</a:t>
            </a:r>
          </a:p>
        </p:txBody>
      </p:sp>
    </p:spTree>
    <p:extLst>
      <p:ext uri="{BB962C8B-B14F-4D97-AF65-F5344CB8AC3E}">
        <p14:creationId xmlns:p14="http://schemas.microsoft.com/office/powerpoint/2010/main" val="566116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0750"/>
            <a:ext cx="10515600" cy="1325563"/>
          </a:xfrm>
        </p:spPr>
        <p:txBody>
          <a:bodyPr/>
          <a:lstStyle/>
          <a:p>
            <a:r>
              <a:rPr lang="en-US" dirty="0"/>
              <a:t>Exact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1250"/>
            <a:ext cx="10515600" cy="4351338"/>
          </a:xfrm>
        </p:spPr>
        <p:txBody>
          <a:bodyPr/>
          <a:lstStyle/>
          <a:p>
            <a:r>
              <a:rPr lang="en-US" b="1" dirty="0"/>
              <a:t>Exact algorithms </a:t>
            </a:r>
            <a:r>
              <a:rPr lang="en-US" dirty="0"/>
              <a:t>are guaranteed to find an optimal solution.</a:t>
            </a:r>
          </a:p>
          <a:p>
            <a:r>
              <a:rPr lang="en-US" dirty="0"/>
              <a:t>The </a:t>
            </a:r>
            <a:r>
              <a:rPr lang="en-US" b="1" dirty="0"/>
              <a:t>IP formulation of BPP </a:t>
            </a:r>
            <a:r>
              <a:rPr lang="en-US" dirty="0"/>
              <a:t>is exact but has weak measures of performance.</a:t>
            </a:r>
          </a:p>
          <a:p>
            <a:r>
              <a:rPr lang="en-US" dirty="0"/>
              <a:t>For better performance, do some research…</a:t>
            </a:r>
          </a:p>
          <a:p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15" y="3701967"/>
            <a:ext cx="9970078" cy="26099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25637" y="6311900"/>
            <a:ext cx="76617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Source: https://en.wikipedia.org/wiki/Bin_packing_problem#Exact_algorithm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24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5CE8CF-F914-46B2-9672-89729DA3FB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144"/>
          <a:stretch/>
        </p:blipFill>
        <p:spPr>
          <a:xfrm>
            <a:off x="6925761" y="1027906"/>
            <a:ext cx="4963218" cy="18558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BPP can be formulated as an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See white board</a:t>
            </a:r>
          </a:p>
          <a:p>
            <a:r>
              <a:rPr lang="en-US" dirty="0"/>
              <a:t>How bin constraint works: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2800" u="sng" dirty="0"/>
              <a:t>Is bin</a:t>
            </a:r>
            <a:r>
              <a:rPr lang="en-US" sz="2800" dirty="0"/>
              <a:t> j</a:t>
            </a:r>
            <a:r>
              <a:rPr lang="en-US" sz="2800" u="sng" dirty="0"/>
              <a:t> used?	constraint LHS	</a:t>
            </a:r>
            <a:r>
              <a:rPr lang="en-US" sz="2800" dirty="0"/>
              <a:t>y</a:t>
            </a:r>
            <a:r>
              <a:rPr lang="en-US" sz="2800" baseline="-25000" dirty="0"/>
              <a:t>j</a:t>
            </a:r>
            <a:r>
              <a:rPr lang="en-US" sz="2800" u="sng" dirty="0"/>
              <a:t> = 0 or 1?			</a:t>
            </a:r>
          </a:p>
          <a:p>
            <a:pPr marL="457200" lvl="1" indent="0">
              <a:buNone/>
            </a:pPr>
            <a:r>
              <a:rPr lang="en-US" sz="2800" dirty="0"/>
              <a:t>Yes			&gt; 0		must be 1</a:t>
            </a:r>
          </a:p>
          <a:p>
            <a:pPr marL="457200" lvl="1" indent="0">
              <a:buNone/>
            </a:pPr>
            <a:r>
              <a:rPr lang="en-US" sz="2800" dirty="0"/>
              <a:t>(an </a:t>
            </a:r>
            <a:r>
              <a:rPr lang="en-US" sz="2800" dirty="0" err="1"/>
              <a:t>x</a:t>
            </a:r>
            <a:r>
              <a:rPr lang="en-US" sz="2800" baseline="-25000" dirty="0" err="1"/>
              <a:t>ij</a:t>
            </a:r>
            <a:r>
              <a:rPr lang="en-US" sz="2800" dirty="0"/>
              <a:t> is 1)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No				= 0		could be 0 or 1</a:t>
            </a:r>
          </a:p>
          <a:p>
            <a:pPr marL="457200" lvl="1" indent="0">
              <a:buNone/>
            </a:pPr>
            <a:r>
              <a:rPr lang="en-US" sz="2800" dirty="0"/>
              <a:t>(all </a:t>
            </a:r>
            <a:r>
              <a:rPr lang="en-US" sz="2800" dirty="0" err="1"/>
              <a:t>x</a:t>
            </a:r>
            <a:r>
              <a:rPr lang="en-US" sz="2800" baseline="-25000" dirty="0" err="1"/>
              <a:t>ij</a:t>
            </a:r>
            <a:r>
              <a:rPr lang="en-US" sz="2800" dirty="0" err="1"/>
              <a:t>’s</a:t>
            </a:r>
            <a:r>
              <a:rPr lang="en-US" sz="2800" dirty="0"/>
              <a:t> are 0)				objective will ensure y</a:t>
            </a:r>
            <a:r>
              <a:rPr lang="en-US" sz="2800" baseline="-25000" dirty="0"/>
              <a:t>j</a:t>
            </a:r>
            <a:r>
              <a:rPr lang="en-US" sz="2800" dirty="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386094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921</Words>
  <Application>Microsoft Office PowerPoint</Application>
  <PresentationFormat>Widescreen</PresentationFormat>
  <Paragraphs>120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The Bin Packing Problem</vt:lpstr>
      <vt:lpstr>Problem Definition</vt:lpstr>
      <vt:lpstr>Develop your own algorithm or    approach to solve it</vt:lpstr>
      <vt:lpstr>A Student Group Algorithm</vt:lpstr>
      <vt:lpstr>Another Student Group Algorithm</vt:lpstr>
      <vt:lpstr>Some Heuristic Algorithms to Solve the BPP</vt:lpstr>
      <vt:lpstr>Heuristics applied to an example</vt:lpstr>
      <vt:lpstr>What are Heuristic Methods?</vt:lpstr>
      <vt:lpstr>Heuristic Methods: Measures of Performance</vt:lpstr>
      <vt:lpstr>Heuristic Method Measures of Performance: 1. Worst Case Analysis (of algorithm)</vt:lpstr>
      <vt:lpstr>Heuristic Method Measures of Performance: 2. Lower Bound (of problem)</vt:lpstr>
      <vt:lpstr>Heuristic Method Measures of Performance: 3. Time Complexity (of algorithm)</vt:lpstr>
      <vt:lpstr>Exact Algorithms</vt:lpstr>
      <vt:lpstr>BPP can be formulated as an IP</vt:lpstr>
    </vt:vector>
  </TitlesOfParts>
  <Company>USCGA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Bin Packing Problem</dc:title>
  <dc:creator>Frommer, Ian Dr. (EDU)</dc:creator>
  <cp:lastModifiedBy>Frommer, Ian Dr. (EDU)</cp:lastModifiedBy>
  <cp:revision>26</cp:revision>
  <dcterms:created xsi:type="dcterms:W3CDTF">2020-01-27T19:17:46Z</dcterms:created>
  <dcterms:modified xsi:type="dcterms:W3CDTF">2026-01-29T18:06:44Z</dcterms:modified>
</cp:coreProperties>
</file>