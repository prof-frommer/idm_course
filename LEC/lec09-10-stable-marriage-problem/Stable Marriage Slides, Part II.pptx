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1" r:id="rId3"/>
    <p:sldId id="263" r:id="rId4"/>
    <p:sldId id="264" r:id="rId5"/>
    <p:sldId id="276" r:id="rId6"/>
    <p:sldId id="266" r:id="rId7"/>
    <p:sldId id="267" r:id="rId8"/>
    <p:sldId id="268" r:id="rId9"/>
    <p:sldId id="270" r:id="rId10"/>
    <p:sldId id="269" r:id="rId11"/>
    <p:sldId id="271" r:id="rId12"/>
    <p:sldId id="272" r:id="rId13"/>
    <p:sldId id="273" r:id="rId14"/>
    <p:sldId id="274" r:id="rId15"/>
    <p:sldId id="275" r:id="rId16"/>
    <p:sldId id="260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F59089-C948-474B-98A1-31A82A2666DC}" v="95" dt="2026-02-11T13:30:17.8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83" autoAdjust="0"/>
  </p:normalViewPr>
  <p:slideViewPr>
    <p:cSldViewPr snapToGrid="0">
      <p:cViewPr varScale="1">
        <p:scale>
          <a:sx n="98" d="100"/>
          <a:sy n="98" d="100"/>
        </p:scale>
        <p:origin x="480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FDDA6EB0-4FD6-4516-ACA5-A4CAC6441DA7}"/>
    <pc:docChg chg="undo custSel addSld delSld modSld">
      <pc:chgData name="Frommer, Ian Dr. (EDU)" userId="28ca3ff0-544f-450a-928b-99e19cf49b89" providerId="ADAL" clId="{FDDA6EB0-4FD6-4516-ACA5-A4CAC6441DA7}" dt="2026-02-11T14:02:30.238" v="307" actId="6549"/>
      <pc:docMkLst>
        <pc:docMk/>
      </pc:docMkLst>
      <pc:sldChg chg="modSp mod">
        <pc:chgData name="Frommer, Ian Dr. (EDU)" userId="28ca3ff0-544f-450a-928b-99e19cf49b89" providerId="ADAL" clId="{FDDA6EB0-4FD6-4516-ACA5-A4CAC6441DA7}" dt="2026-02-11T14:02:30.238" v="307" actId="6549"/>
        <pc:sldMkLst>
          <pc:docMk/>
          <pc:sldMk cId="1022732612" sldId="260"/>
        </pc:sldMkLst>
        <pc:spChg chg="mod">
          <ac:chgData name="Frommer, Ian Dr. (EDU)" userId="28ca3ff0-544f-450a-928b-99e19cf49b89" providerId="ADAL" clId="{FDDA6EB0-4FD6-4516-ACA5-A4CAC6441DA7}" dt="2026-02-11T14:02:30.238" v="307" actId="6549"/>
          <ac:spMkLst>
            <pc:docMk/>
            <pc:sldMk cId="1022732612" sldId="260"/>
            <ac:spMk id="3" creationId="{4B958CA2-737E-B306-4C36-5599D65E4D34}"/>
          </ac:spMkLst>
        </pc:spChg>
      </pc:sldChg>
      <pc:sldChg chg="addSp delSp modSp mod addAnim delAnim modAnim">
        <pc:chgData name="Frommer, Ian Dr. (EDU)" userId="28ca3ff0-544f-450a-928b-99e19cf49b89" providerId="ADAL" clId="{FDDA6EB0-4FD6-4516-ACA5-A4CAC6441DA7}" dt="2026-02-11T13:29:10.374" v="228"/>
        <pc:sldMkLst>
          <pc:docMk/>
          <pc:sldMk cId="2326768796" sldId="264"/>
        </pc:sldMkLst>
        <pc:spChg chg="mod">
          <ac:chgData name="Frommer, Ian Dr. (EDU)" userId="28ca3ff0-544f-450a-928b-99e19cf49b89" providerId="ADAL" clId="{FDDA6EB0-4FD6-4516-ACA5-A4CAC6441DA7}" dt="2026-02-11T13:28:39.159" v="227" actId="255"/>
          <ac:spMkLst>
            <pc:docMk/>
            <pc:sldMk cId="2326768796" sldId="264"/>
            <ac:spMk id="3" creationId="{81AD906E-0A14-6F6E-D81D-F2639A32F944}"/>
          </ac:spMkLst>
        </pc:spChg>
        <pc:graphicFrameChg chg="del">
          <ac:chgData name="Frommer, Ian Dr. (EDU)" userId="28ca3ff0-544f-450a-928b-99e19cf49b89" providerId="ADAL" clId="{FDDA6EB0-4FD6-4516-ACA5-A4CAC6441DA7}" dt="2026-02-11T13:22:09.841" v="4" actId="478"/>
          <ac:graphicFrameMkLst>
            <pc:docMk/>
            <pc:sldMk cId="2326768796" sldId="264"/>
            <ac:graphicFrameMk id="15" creationId="{DC8F6C51-A6E1-4E20-4A66-400BFCB19C81}"/>
          </ac:graphicFrameMkLst>
        </pc:graphicFrameChg>
        <pc:picChg chg="del">
          <ac:chgData name="Frommer, Ian Dr. (EDU)" userId="28ca3ff0-544f-450a-928b-99e19cf49b89" providerId="ADAL" clId="{FDDA6EB0-4FD6-4516-ACA5-A4CAC6441DA7}" dt="2026-02-11T13:22:23.713" v="9" actId="478"/>
          <ac:picMkLst>
            <pc:docMk/>
            <pc:sldMk cId="2326768796" sldId="264"/>
            <ac:picMk id="7" creationId="{74B2F2F7-DCFD-C212-7ABA-C7BCCE0F9C1A}"/>
          </ac:picMkLst>
        </pc:picChg>
        <pc:picChg chg="del">
          <ac:chgData name="Frommer, Ian Dr. (EDU)" userId="28ca3ff0-544f-450a-928b-99e19cf49b89" providerId="ADAL" clId="{FDDA6EB0-4FD6-4516-ACA5-A4CAC6441DA7}" dt="2026-02-11T13:22:22.990" v="8" actId="478"/>
          <ac:picMkLst>
            <pc:docMk/>
            <pc:sldMk cId="2326768796" sldId="264"/>
            <ac:picMk id="8" creationId="{A9799CC2-DEB5-B8EC-10ED-5140E61B7381}"/>
          </ac:picMkLst>
        </pc:picChg>
        <pc:picChg chg="del">
          <ac:chgData name="Frommer, Ian Dr. (EDU)" userId="28ca3ff0-544f-450a-928b-99e19cf49b89" providerId="ADAL" clId="{FDDA6EB0-4FD6-4516-ACA5-A4CAC6441DA7}" dt="2026-02-11T13:22:22.258" v="7" actId="478"/>
          <ac:picMkLst>
            <pc:docMk/>
            <pc:sldMk cId="2326768796" sldId="264"/>
            <ac:picMk id="9" creationId="{AA7EEEE5-B7F2-43EE-B597-AFD39A647AE2}"/>
          </ac:picMkLst>
        </pc:picChg>
        <pc:picChg chg="del">
          <ac:chgData name="Frommer, Ian Dr. (EDU)" userId="28ca3ff0-544f-450a-928b-99e19cf49b89" providerId="ADAL" clId="{FDDA6EB0-4FD6-4516-ACA5-A4CAC6441DA7}" dt="2026-02-11T13:22:25.599" v="11" actId="478"/>
          <ac:picMkLst>
            <pc:docMk/>
            <pc:sldMk cId="2326768796" sldId="264"/>
            <ac:picMk id="10" creationId="{D3CA439B-7171-6CA9-C6D9-4AA531B42645}"/>
          </ac:picMkLst>
        </pc:picChg>
        <pc:picChg chg="del">
          <ac:chgData name="Frommer, Ian Dr. (EDU)" userId="28ca3ff0-544f-450a-928b-99e19cf49b89" providerId="ADAL" clId="{FDDA6EB0-4FD6-4516-ACA5-A4CAC6441DA7}" dt="2026-02-11T13:22:21.168" v="6" actId="478"/>
          <ac:picMkLst>
            <pc:docMk/>
            <pc:sldMk cId="2326768796" sldId="264"/>
            <ac:picMk id="11" creationId="{42D8EB23-FB1E-4D6F-12AB-8D4C1656F900}"/>
          </ac:picMkLst>
        </pc:picChg>
        <pc:picChg chg="add del mod">
          <ac:chgData name="Frommer, Ian Dr. (EDU)" userId="28ca3ff0-544f-450a-928b-99e19cf49b89" providerId="ADAL" clId="{FDDA6EB0-4FD6-4516-ACA5-A4CAC6441DA7}" dt="2026-02-11T13:22:24.308" v="10" actId="478"/>
          <ac:picMkLst>
            <pc:docMk/>
            <pc:sldMk cId="2326768796" sldId="264"/>
            <ac:picMk id="13" creationId="{6AE29C02-15EA-2A1C-F794-EA321D9D7D2A}"/>
          </ac:picMkLst>
        </pc:picChg>
      </pc:sldChg>
      <pc:sldChg chg="addSp delSp modSp add mod addAnim delAnim modAnim">
        <pc:chgData name="Frommer, Ian Dr. (EDU)" userId="28ca3ff0-544f-450a-928b-99e19cf49b89" providerId="ADAL" clId="{FDDA6EB0-4FD6-4516-ACA5-A4CAC6441DA7}" dt="2026-02-11T13:29:52.200" v="229"/>
        <pc:sldMkLst>
          <pc:docMk/>
          <pc:sldMk cId="231334887" sldId="276"/>
        </pc:sldMkLst>
        <pc:spChg chg="mod">
          <ac:chgData name="Frommer, Ian Dr. (EDU)" userId="28ca3ff0-544f-450a-928b-99e19cf49b89" providerId="ADAL" clId="{FDDA6EB0-4FD6-4516-ACA5-A4CAC6441DA7}" dt="2026-02-11T13:27:45.079" v="215" actId="1076"/>
          <ac:spMkLst>
            <pc:docMk/>
            <pc:sldMk cId="231334887" sldId="276"/>
            <ac:spMk id="2" creationId="{90F6FB91-E499-365B-0EE7-EB63FA8DA419}"/>
          </ac:spMkLst>
        </pc:spChg>
        <pc:spChg chg="mod">
          <ac:chgData name="Frommer, Ian Dr. (EDU)" userId="28ca3ff0-544f-450a-928b-99e19cf49b89" providerId="ADAL" clId="{FDDA6EB0-4FD6-4516-ACA5-A4CAC6441DA7}" dt="2026-02-11T13:25:32.320" v="150" actId="6549"/>
          <ac:spMkLst>
            <pc:docMk/>
            <pc:sldMk cId="231334887" sldId="276"/>
            <ac:spMk id="3" creationId="{7C6F0586-B6E6-495A-6209-75280A0C99AC}"/>
          </ac:spMkLst>
        </pc:spChg>
        <pc:spChg chg="mod">
          <ac:chgData name="Frommer, Ian Dr. (EDU)" userId="28ca3ff0-544f-450a-928b-99e19cf49b89" providerId="ADAL" clId="{FDDA6EB0-4FD6-4516-ACA5-A4CAC6441DA7}" dt="2026-02-11T13:24:39.809" v="74" actId="1036"/>
          <ac:spMkLst>
            <pc:docMk/>
            <pc:sldMk cId="231334887" sldId="276"/>
            <ac:spMk id="4" creationId="{886A36C7-ED20-0568-8F9A-95D497A55927}"/>
          </ac:spMkLst>
        </pc:spChg>
        <pc:spChg chg="mod">
          <ac:chgData name="Frommer, Ian Dr. (EDU)" userId="28ca3ff0-544f-450a-928b-99e19cf49b89" providerId="ADAL" clId="{FDDA6EB0-4FD6-4516-ACA5-A4CAC6441DA7}" dt="2026-02-11T13:24:39.809" v="74" actId="1036"/>
          <ac:spMkLst>
            <pc:docMk/>
            <pc:sldMk cId="231334887" sldId="276"/>
            <ac:spMk id="5" creationId="{4A0B7773-16A2-EF73-FE8C-006B168A86AA}"/>
          </ac:spMkLst>
        </pc:spChg>
        <pc:spChg chg="mod">
          <ac:chgData name="Frommer, Ian Dr. (EDU)" userId="28ca3ff0-544f-450a-928b-99e19cf49b89" providerId="ADAL" clId="{FDDA6EB0-4FD6-4516-ACA5-A4CAC6441DA7}" dt="2026-02-11T13:24:39.809" v="74" actId="1036"/>
          <ac:spMkLst>
            <pc:docMk/>
            <pc:sldMk cId="231334887" sldId="276"/>
            <ac:spMk id="6" creationId="{224F1692-6D6E-F63D-A718-25F5B5F1FAF6}"/>
          </ac:spMkLst>
        </pc:spChg>
        <pc:graphicFrameChg chg="mod">
          <ac:chgData name="Frommer, Ian Dr. (EDU)" userId="28ca3ff0-544f-450a-928b-99e19cf49b89" providerId="ADAL" clId="{FDDA6EB0-4FD6-4516-ACA5-A4CAC6441DA7}" dt="2026-02-11T13:24:53.327" v="76" actId="1076"/>
          <ac:graphicFrameMkLst>
            <pc:docMk/>
            <pc:sldMk cId="231334887" sldId="276"/>
            <ac:graphicFrameMk id="15" creationId="{31FA09FE-811E-865F-EE3D-AD763F986752}"/>
          </ac:graphicFrameMkLst>
        </pc:graphicFrameChg>
        <pc:picChg chg="add del mod">
          <ac:chgData name="Frommer, Ian Dr. (EDU)" userId="28ca3ff0-544f-450a-928b-99e19cf49b89" providerId="ADAL" clId="{FDDA6EB0-4FD6-4516-ACA5-A4CAC6441DA7}" dt="2026-02-11T13:27:00.719" v="197" actId="478"/>
          <ac:picMkLst>
            <pc:docMk/>
            <pc:sldMk cId="231334887" sldId="276"/>
            <ac:picMk id="7" creationId="{979E86FB-9D95-6D1B-6410-9822FDA9C9D9}"/>
          </ac:picMkLst>
        </pc:picChg>
        <pc:picChg chg="add del mod">
          <ac:chgData name="Frommer, Ian Dr. (EDU)" userId="28ca3ff0-544f-450a-928b-99e19cf49b89" providerId="ADAL" clId="{FDDA6EB0-4FD6-4516-ACA5-A4CAC6441DA7}" dt="2026-02-11T13:26:58.003" v="195" actId="478"/>
          <ac:picMkLst>
            <pc:docMk/>
            <pc:sldMk cId="231334887" sldId="276"/>
            <ac:picMk id="8" creationId="{8309A982-B068-14B7-E27D-D8EB598F2185}"/>
          </ac:picMkLst>
        </pc:picChg>
        <pc:picChg chg="add del mod">
          <ac:chgData name="Frommer, Ian Dr. (EDU)" userId="28ca3ff0-544f-450a-928b-99e19cf49b89" providerId="ADAL" clId="{FDDA6EB0-4FD6-4516-ACA5-A4CAC6441DA7}" dt="2026-02-11T13:26:55.349" v="193" actId="478"/>
          <ac:picMkLst>
            <pc:docMk/>
            <pc:sldMk cId="231334887" sldId="276"/>
            <ac:picMk id="9" creationId="{87109917-0382-7667-577F-5A5622ADC8C2}"/>
          </ac:picMkLst>
        </pc:picChg>
        <pc:picChg chg="add del mod ord">
          <ac:chgData name="Frommer, Ian Dr. (EDU)" userId="28ca3ff0-544f-450a-928b-99e19cf49b89" providerId="ADAL" clId="{FDDA6EB0-4FD6-4516-ACA5-A4CAC6441DA7}" dt="2026-02-11T13:27:07.983" v="202" actId="478"/>
          <ac:picMkLst>
            <pc:docMk/>
            <pc:sldMk cId="231334887" sldId="276"/>
            <ac:picMk id="10" creationId="{316455EF-A815-1A0F-3B8F-2E8EA62B5A3B}"/>
          </ac:picMkLst>
        </pc:picChg>
        <pc:picChg chg="add del mod">
          <ac:chgData name="Frommer, Ian Dr. (EDU)" userId="28ca3ff0-544f-450a-928b-99e19cf49b89" providerId="ADAL" clId="{FDDA6EB0-4FD6-4516-ACA5-A4CAC6441DA7}" dt="2026-02-11T13:26:52.563" v="191" actId="1035"/>
          <ac:picMkLst>
            <pc:docMk/>
            <pc:sldMk cId="231334887" sldId="276"/>
            <ac:picMk id="11" creationId="{DCE608B6-6222-C372-066C-F5A276C416B8}"/>
          </ac:picMkLst>
        </pc:picChg>
        <pc:picChg chg="add del mod">
          <ac:chgData name="Frommer, Ian Dr. (EDU)" userId="28ca3ff0-544f-450a-928b-99e19cf49b89" providerId="ADAL" clId="{FDDA6EB0-4FD6-4516-ACA5-A4CAC6441DA7}" dt="2026-02-11T13:27:15.019" v="205" actId="1076"/>
          <ac:picMkLst>
            <pc:docMk/>
            <pc:sldMk cId="231334887" sldId="276"/>
            <ac:picMk id="13" creationId="{CBAF953E-03E2-68E2-5166-7CE359342A80}"/>
          </ac:picMkLst>
        </pc:picChg>
        <pc:cxnChg chg="mod">
          <ac:chgData name="Frommer, Ian Dr. (EDU)" userId="28ca3ff0-544f-450a-928b-99e19cf49b89" providerId="ADAL" clId="{FDDA6EB0-4FD6-4516-ACA5-A4CAC6441DA7}" dt="2026-02-11T13:25:10.460" v="93" actId="1035"/>
          <ac:cxnSpMkLst>
            <pc:docMk/>
            <pc:sldMk cId="231334887" sldId="276"/>
            <ac:cxnSpMk id="12" creationId="{BA520CE4-DD4E-19DD-872D-45A347B835DE}"/>
          </ac:cxnSpMkLst>
        </pc:cxnChg>
      </pc:sldChg>
      <pc:sldChg chg="new del">
        <pc:chgData name="Frommer, Ian Dr. (EDU)" userId="28ca3ff0-544f-450a-928b-99e19cf49b89" providerId="ADAL" clId="{FDDA6EB0-4FD6-4516-ACA5-A4CAC6441DA7}" dt="2026-02-11T13:21:56.328" v="1" actId="680"/>
        <pc:sldMkLst>
          <pc:docMk/>
          <pc:sldMk cId="951542725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D5171A-96DB-4929-B1AD-6FA109143C25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2375E-5EE2-4DE0-9D4A-53024C6815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172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01.00579#:~:text=A%20one%2Dsided%20matching%20problem,N%20want%20to%20be%20assigned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94955D-7326-4DFC-9543-A1899A86CF7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818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DA66F-79F2-DFBF-F141-6430B47D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5FB1A-2DEC-16CA-389A-74E85514A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BCD965-34ED-CD0A-E5B6-AC77B8C57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0E7BA-C4E3-E0BA-9BB8-76E56D82C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94955D-7326-4DFC-9543-A1899A86CF7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7657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32375E-5EE2-4DE0-9D4A-53024C68153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627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effectLst/>
                <a:latin typeface="Calibri" panose="020F0502020204030204" pitchFamily="34" charset="0"/>
                <a:hlinkClick r:id="rId3"/>
              </a:rPr>
              <a:t>See https://arxiv.org/pdf/2101.00579#:~:text=A%20one%2Dsided%20matching%20problem,N%20want%20to%20be%20assigned</a:t>
            </a:r>
            <a:r>
              <a:rPr lang="en-US" sz="1200" dirty="0">
                <a:effectLst/>
                <a:latin typeface="Calibri" panose="020F0502020204030204" pitchFamily="34" charset="0"/>
              </a:rPr>
              <a:t>.</a:t>
            </a:r>
            <a:endParaRPr lang="en-US" sz="1800" dirty="0">
              <a:effectLst/>
              <a:latin typeface="Calibri" panose="020F050202020403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32375E-5EE2-4DE0-9D4A-53024C6815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529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68DDB-826E-EF8C-9F8F-61201B489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FD08A1-5B49-E496-6BDD-9D56A48F14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7FB4F-CD2C-D365-20D0-00473D1FF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7A8E4-47C1-5758-921C-FAD3DD315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CC04A-2641-4BE8-F873-CFD619887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997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2A41-2DFB-82A4-1974-6809E09EA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7B335-EC7F-CD7F-ED62-56AD0648F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87F6AF-E7B5-D03D-3ABE-9728629B8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F8A11-FCA9-0E01-85CC-B07EBDE3C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007391-D108-FB34-68BA-5361D079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22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93C4D-04F2-B769-1DD4-B1F372186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41E5A-4850-2205-EDCD-9D7C4042E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BD948-9591-A774-1565-18F8FE6D0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235C9-AAF4-AEEA-E216-7FD2D9252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6D38D-ECE3-4876-4CE2-FDF36D31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80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02208-58E6-DE8C-8453-69AADFF44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E4AB3-41FB-B02B-0F4F-C9CC4C66BA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1FC963-8761-FACB-8EB5-3B82F1B99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E5940D-28EA-2FDB-02BA-56485C06F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4E579-82ED-0ED1-013A-86CA1A29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08BAE-356F-0246-C42C-D4FCCCCB8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05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0328-1935-F30E-1834-1201690DE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83A6BF-A3FA-66E2-636B-618050F1C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88E3A-EA14-E026-BBA6-150B5EE1C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86FBA3-E534-03C9-6435-79808C8500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122DA6-761E-4D26-EAAD-954136FBC3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B3AC2B-FCB4-C345-DC7D-49F422920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93352C-84E1-407F-028F-94644A5B6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8A8444-C865-F76C-8771-311C3291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40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6FF4F-DBDD-0386-10FC-4DB954936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9517C6-F9C0-272A-79DD-6A77712BE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9619A7-690D-60CB-BB6E-A9CC0DDA8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3A73F8-F80E-DC68-28EE-C21009637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9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8021B8-90CC-B1AF-ABBF-D2EFAB33B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967199-E169-937E-995D-0D2FC8D82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19A7C-C0D5-FA28-DAF5-A63C286D3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67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1BA8-EEAB-93F3-285D-E50D575A8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3FAF4-9DF2-979C-BF13-DAAB1A513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7F1DC-9938-8654-8FE6-82A196612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EAC63-4A55-6442-4D46-F57853668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BF42B4-BA55-0E30-4C01-0B8136C16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5B2804-DAB0-33DD-CDC4-2BED000B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82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75F0-9553-D066-071A-47A37F260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0D0F70-B1A7-837D-48A0-BE390740C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F94EC0-ACA6-A103-0294-18BB18EDF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DCE0F1-7A21-3AB1-3815-907B82CB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0024CC-C901-114A-0F73-90687928F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97E64-5F20-B5C2-DE91-A9ED029A6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41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23F1-8567-D37E-0195-2764B494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E1DD02-FA9E-0432-80D0-6C62F18CD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7D4ADF-3D6F-1DE7-8861-F303B5FE5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ED753-556F-00CD-2824-220E57145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6D8D7-E278-8B2B-754B-F41FB823F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89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D7965E-A2D2-70D7-08E6-C33E9EF54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D53E1C-5C3B-9BA2-42D0-8A33F6AC6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F3049-947F-AFCE-1107-60D4855E9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B25B9-53A0-A02D-41F4-0108DFD15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E534B-CE2E-5478-6632-0D290A108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345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6567F-75C9-2F5C-15BD-E1A8572FE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72A52-0E03-691C-36E1-A8289DDCE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CBD61-5384-76DA-23EB-4686B16C26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285DA3-8050-4DC5-88DE-D3777392B97A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B3FE1-93AD-00BE-4297-CBC74DCB0A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EF5C1-2F10-04AA-16EF-87237D430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9CE7A9-96A5-48F4-A66E-6713668FB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81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D7843-4AE9-B203-D598-FCE2ACE3E6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b="0" i="0" u="none" strike="noStrike" baseline="0" dirty="0">
                <a:latin typeface="CMR12"/>
              </a:rPr>
              <a:t>The Stable </a:t>
            </a:r>
            <a:br>
              <a:rPr lang="en-US" sz="6000" b="0" i="0" u="none" strike="noStrike" baseline="0" dirty="0">
                <a:latin typeface="CMR12"/>
              </a:rPr>
            </a:br>
            <a:r>
              <a:rPr lang="en-US" sz="6000" b="0" i="0" u="none" strike="noStrike" baseline="0" dirty="0">
                <a:latin typeface="CMR12"/>
              </a:rPr>
              <a:t>Marriage Problem (SMP)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9A02C-7149-20DC-277A-23BFEF5E6B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500" dirty="0"/>
              <a:t>Part II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74573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80828-BDBD-08EA-EAE8-6E39517F6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25B1E-FEE9-67A2-6406-A6EB2F130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 rtl="0" fontAlgn="ctr">
              <a:buFont typeface="+mj-lt"/>
              <a:buAutoNum type="arabicPeriod"/>
            </a:pPr>
            <a:r>
              <a:rPr lang="en-US" b="0" i="0" dirty="0">
                <a:effectLst/>
                <a:latin typeface="Calibri" panose="020F0502020204030204" pitchFamily="34" charset="0"/>
              </a:rPr>
              <a:t>Briefly discuss HW 5</a:t>
            </a:r>
          </a:p>
          <a:p>
            <a:pPr marL="514350" indent="-514350" rtl="0" fontAlgn="ctr">
              <a:buFont typeface="+mj-lt"/>
              <a:buAutoNum type="arabicPeriod"/>
            </a:pPr>
            <a:endParaRPr lang="en-US" b="0" i="0" dirty="0">
              <a:effectLst/>
              <a:latin typeface="Calibri" panose="020F0502020204030204" pitchFamily="34" charset="0"/>
            </a:endParaRPr>
          </a:p>
          <a:p>
            <a:pPr marL="514350" indent="-514350" rtl="0" fontAlgn="ctr">
              <a:buFont typeface="+mj-lt"/>
              <a:buAutoNum type="arabicPeriod"/>
            </a:pPr>
            <a:r>
              <a:rPr lang="en-US" b="0" i="0" dirty="0">
                <a:effectLst/>
                <a:latin typeface="Calibri" panose="020F0502020204030204" pitchFamily="34" charset="0"/>
              </a:rPr>
              <a:t>IP formulation – with special attention to the </a:t>
            </a:r>
            <a:r>
              <a:rPr lang="en-US" b="1" i="0" dirty="0">
                <a:effectLst/>
                <a:latin typeface="Calibri" panose="020F0502020204030204" pitchFamily="34" charset="0"/>
              </a:rPr>
              <a:t>stability </a:t>
            </a:r>
            <a:r>
              <a:rPr lang="en-US" i="0" dirty="0">
                <a:effectLst/>
                <a:latin typeface="Calibri" panose="020F0502020204030204" pitchFamily="34" charset="0"/>
              </a:rPr>
              <a:t>constraint</a:t>
            </a:r>
          </a:p>
          <a:p>
            <a:pPr marL="514350" indent="-514350" rtl="0" fontAlgn="ctr">
              <a:buFont typeface="+mj-lt"/>
              <a:buAutoNum type="arabicPeriod"/>
            </a:pPr>
            <a:endParaRPr lang="en-US" b="0" i="0" dirty="0">
              <a:effectLst/>
              <a:latin typeface="Calibri" panose="020F0502020204030204" pitchFamily="34" charset="0"/>
            </a:endParaRPr>
          </a:p>
          <a:p>
            <a:pPr marL="514350" indent="-514350" rtl="0" fontAlgn="ctr">
              <a:buFont typeface="+mj-lt"/>
              <a:buAutoNum type="arabicPeriod"/>
            </a:pPr>
            <a:r>
              <a:rPr lang="en-US" b="0" i="0" dirty="0">
                <a:effectLst/>
                <a:latin typeface="Calibri" panose="020F0502020204030204" pitchFamily="34" charset="0"/>
              </a:rPr>
              <a:t>Python implementation of the SMP</a:t>
            </a:r>
          </a:p>
          <a:p>
            <a:pPr lvl="1" fontAlgn="ctr"/>
            <a:r>
              <a:rPr lang="en-US" dirty="0">
                <a:latin typeface="Calibri" panose="020F0502020204030204" pitchFamily="34" charset="0"/>
              </a:rPr>
              <a:t>utilities for data loading, better-match finding and </a:t>
            </a:r>
            <a:r>
              <a:rPr lang="en-US" b="0" i="0" dirty="0">
                <a:effectLst/>
                <a:latin typeface="Calibri" panose="020F0502020204030204" pitchFamily="34" charset="0"/>
              </a:rPr>
              <a:t>stable-matching checking</a:t>
            </a:r>
          </a:p>
          <a:p>
            <a:pPr lvl="1" fontAlgn="ctr"/>
            <a:r>
              <a:rPr lang="en-US" b="0" i="0" dirty="0">
                <a:effectLst/>
                <a:latin typeface="Calibri" panose="020F0502020204030204" pitchFamily="34" charset="0"/>
              </a:rPr>
              <a:t>IP </a:t>
            </a:r>
          </a:p>
          <a:p>
            <a:pPr lvl="1" fontAlgn="ctr"/>
            <a:r>
              <a:rPr lang="en-US" b="0" i="0" dirty="0">
                <a:effectLst/>
                <a:latin typeface="Calibri" panose="020F0502020204030204" pitchFamily="34" charset="0"/>
              </a:rPr>
              <a:t>Gale-Shapley</a:t>
            </a:r>
          </a:p>
          <a:p>
            <a:pPr marL="514350" indent="-514350" fontAlgn="ctr">
              <a:buFont typeface="+mj-lt"/>
              <a:buAutoNum type="arabicPeriod"/>
            </a:pPr>
            <a:endParaRPr lang="en-US" dirty="0">
              <a:latin typeface="Calibri" panose="020F0502020204030204" pitchFamily="34" charset="0"/>
            </a:endParaRPr>
          </a:p>
          <a:p>
            <a:pPr marL="514350" indent="-514350" fontAlgn="ctr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</a:rPr>
              <a:t>P</a:t>
            </a:r>
            <a:r>
              <a:rPr lang="en-US" b="0" i="0" dirty="0">
                <a:effectLst/>
                <a:latin typeface="Calibri" panose="020F0502020204030204" pitchFamily="34" charset="0"/>
              </a:rPr>
              <a:t>roblem variations and implementation ideas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549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97B27-2442-0E39-A9FD-8260BAA80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the SMP Using Integer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877CB-DA0B-FDB4-E6F2-3F7F5E240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Gale-Shapley</a:t>
            </a:r>
          </a:p>
          <a:p>
            <a:pPr lvl="1"/>
            <a:r>
              <a:rPr lang="en-US" dirty="0"/>
              <a:t>finds a stable matching</a:t>
            </a:r>
          </a:p>
          <a:p>
            <a:pPr lvl="1"/>
            <a:r>
              <a:rPr lang="en-US" dirty="0"/>
              <a:t>does so in polynomial time:</a:t>
            </a:r>
          </a:p>
          <a:p>
            <a:pPr lvl="2"/>
            <a:r>
              <a:rPr lang="en-US" dirty="0"/>
              <a:t>at each iteration, 1 man proposes to woman he hasn’t proposed to before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 at most n x n = n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possible proposals, i.e. </a:t>
            </a:r>
            <a:r>
              <a:rPr lang="en-US" dirty="0"/>
              <a:t>at most n</a:t>
            </a:r>
            <a:r>
              <a:rPr lang="en-US" baseline="30000" dirty="0"/>
              <a:t>2</a:t>
            </a:r>
            <a:r>
              <a:rPr lang="en-US" dirty="0"/>
              <a:t> iterations</a:t>
            </a:r>
          </a:p>
          <a:p>
            <a:endParaRPr lang="en-US" sz="1200" i="1" dirty="0"/>
          </a:p>
          <a:p>
            <a:r>
              <a:rPr lang="en-US" dirty="0"/>
              <a:t>So why bother with IP?  What do you think?</a:t>
            </a:r>
          </a:p>
          <a:p>
            <a:pPr lvl="1"/>
            <a:r>
              <a:rPr lang="en-US" dirty="0"/>
              <a:t>allows for an objective function</a:t>
            </a:r>
          </a:p>
          <a:p>
            <a:pPr lvl="1"/>
            <a:r>
              <a:rPr lang="en-US" dirty="0"/>
              <a:t>allows for variations in the formulation such as accounting for incomplete preferences, ties, weighted preferences, costs/budget constraints, and more</a:t>
            </a:r>
          </a:p>
        </p:txBody>
      </p:sp>
    </p:spTree>
    <p:extLst>
      <p:ext uri="{BB962C8B-B14F-4D97-AF65-F5344CB8AC3E}">
        <p14:creationId xmlns:p14="http://schemas.microsoft.com/office/powerpoint/2010/main" val="41035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6CC87-B7A4-73DA-E978-4FCD52936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18768"/>
            <a:ext cx="10515600" cy="1325563"/>
          </a:xfrm>
        </p:spPr>
        <p:txBody>
          <a:bodyPr/>
          <a:lstStyle/>
          <a:p>
            <a:r>
              <a:rPr lang="en-US" dirty="0"/>
              <a:t>SMP IP Objective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D906E-0A14-6F6E-D81D-F2639A32F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079" y="816717"/>
            <a:ext cx="11311841" cy="5924551"/>
          </a:xfrm>
        </p:spPr>
        <p:txBody>
          <a:bodyPr>
            <a:normAutofit fontScale="92500" lnSpcReduction="20000"/>
          </a:bodyPr>
          <a:lstStyle/>
          <a:p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SMP only seeks a </a:t>
            </a:r>
            <a:r>
              <a:rPr lang="en-US" sz="2400" u="sng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feasible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solution, not an </a:t>
            </a:r>
            <a:r>
              <a:rPr lang="en-US" sz="2400" u="sng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optimal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one.  This is what is known as a </a:t>
            </a: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constraint satisfaction problem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We will come back to this type of problem later in the semester.</a:t>
            </a:r>
          </a:p>
          <a:p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 can add optimality conditions by considering </a:t>
            </a:r>
            <a:r>
              <a:rPr lang="en-US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several factors. Below 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are a few objective functions to </a:t>
            </a:r>
            <a:r>
              <a:rPr lang="en-US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consider:</a:t>
            </a:r>
          </a:p>
          <a:p>
            <a:pPr marL="0" indent="0"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z="2600" b="1"/>
              <a:t>Min–max rank (regret minimization).</a:t>
            </a:r>
            <a:br>
              <a:rPr lang="en-US" sz="2600"/>
            </a:br>
            <a:r>
              <a:rPr lang="en-US" sz="2600"/>
              <a:t>Find a stable matching that minimizes the </a:t>
            </a:r>
            <a:r>
              <a:rPr lang="en-US" sz="2600" i="1"/>
              <a:t>maximum rank assigned to any participant</a:t>
            </a:r>
            <a:r>
              <a:rPr lang="en-US" sz="2600"/>
              <a:t>.</a:t>
            </a:r>
          </a:p>
          <a:p>
            <a:pPr lvl="1"/>
            <a:r>
              <a:rPr lang="en-US" sz="2200"/>
              <a:t>That is, for the participant who is worst off (receives their least-preferred feasible partner), make that rank as small as possible.</a:t>
            </a:r>
          </a:p>
          <a:p>
            <a:pPr lvl="1"/>
            <a:endParaRPr lang="en-US" sz="1300"/>
          </a:p>
          <a:p>
            <a:pPr marL="0" indent="0">
              <a:buNone/>
            </a:pPr>
            <a:r>
              <a:rPr lang="en-US" sz="2600"/>
              <a:t>If numerical costs (or ranks) can be associated with each match – </a:t>
            </a:r>
          </a:p>
          <a:p>
            <a:pPr marL="0" indent="0">
              <a:buNone/>
            </a:pPr>
            <a:endParaRPr lang="en-US" sz="1300"/>
          </a:p>
          <a:p>
            <a:pPr marL="514350" lvl="0" indent="-514350">
              <a:buFont typeface="+mj-lt"/>
              <a:buAutoNum type="arabicPeriod" startAt="2"/>
            </a:pPr>
            <a:r>
              <a:rPr lang="en-US" sz="2600" b="1"/>
              <a:t>Minimum total cost (egalitarian stable matching).</a:t>
            </a:r>
            <a:br>
              <a:rPr lang="en-US" sz="2600"/>
            </a:br>
            <a:r>
              <a:rPr lang="en-US" sz="2600"/>
              <a:t>Find a stable matching that minimizes the </a:t>
            </a:r>
            <a:r>
              <a:rPr lang="en-US" sz="2600" i="1"/>
              <a:t>total cost across all participants</a:t>
            </a:r>
            <a:r>
              <a:rPr lang="en-US" sz="2600"/>
              <a:t>.</a:t>
            </a:r>
          </a:p>
          <a:p>
            <a:pPr marL="514350" lvl="0" indent="-514350">
              <a:buFont typeface="+mj-lt"/>
              <a:buAutoNum type="arabicPeriod" startAt="2"/>
            </a:pPr>
            <a:r>
              <a:rPr lang="en-US" sz="2600" b="1"/>
              <a:t>Minimum cost difference (sex-equal stable matching).</a:t>
            </a:r>
            <a:br>
              <a:rPr lang="en-US" sz="2600"/>
            </a:br>
            <a:r>
              <a:rPr lang="en-US" sz="2600"/>
              <a:t>Consider total cost separately for each side (e.g., men and women).</a:t>
            </a:r>
            <a:br>
              <a:rPr lang="en-US" sz="2600"/>
            </a:br>
            <a:r>
              <a:rPr lang="en-US" sz="2600"/>
              <a:t>Find a stable matching that minimizes the </a:t>
            </a:r>
            <a:r>
              <a:rPr lang="en-US" sz="2600" i="1"/>
              <a:t>absolute difference</a:t>
            </a:r>
            <a:r>
              <a:rPr lang="en-US" sz="2600"/>
              <a:t> between the total cost of the two sides.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28F6EB5-8831-324C-40D2-DEA69CECAC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4290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D053D1A-27C4-5096-549B-74AECB1D6B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4005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5302752-2ACB-2A75-312C-CA104735EB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54673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454CB4-E14C-287F-55CD-FAACB156A37A}"/>
              </a:ext>
            </a:extLst>
          </p:cNvPr>
          <p:cNvCxnSpPr>
            <a:cxnSpLocks/>
          </p:cNvCxnSpPr>
          <p:nvPr/>
        </p:nvCxnSpPr>
        <p:spPr>
          <a:xfrm>
            <a:off x="9240041" y="5876925"/>
            <a:ext cx="0" cy="27146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676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4F915-4DA9-EAC0-137B-2858CA3F2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6FB91-E499-365B-0EE7-EB63FA8DA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443" y="231486"/>
            <a:ext cx="11128443" cy="1325563"/>
          </a:xfrm>
        </p:spPr>
        <p:txBody>
          <a:bodyPr>
            <a:normAutofit/>
          </a:bodyPr>
          <a:lstStyle/>
          <a:p>
            <a:r>
              <a:rPr lang="en-US" sz="3600"/>
              <a:t>Mathematical Formulation of SMP </a:t>
            </a:r>
            <a:r>
              <a:rPr lang="en-US" sz="3600" dirty="0"/>
              <a:t>IP </a:t>
            </a:r>
            <a:r>
              <a:rPr lang="en-US" sz="3600"/>
              <a:t>Objective Functions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F0586-B6E6-495A-6209-75280A0C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088" y="1671738"/>
            <a:ext cx="11311841" cy="3997735"/>
          </a:xfrm>
        </p:spPr>
        <p:txBody>
          <a:bodyPr/>
          <a:lstStyle/>
          <a:p>
            <a:r>
              <a:rPr lang="en-US" sz="2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Some </a:t>
            </a:r>
            <a:r>
              <a:rPr lang="en-US" sz="2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notation:</a:t>
            </a:r>
          </a:p>
          <a:p>
            <a:endParaRPr lang="en-US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Objective functions from previous slide expressed more mathematically:</a:t>
            </a:r>
            <a:endParaRPr lang="en-US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2400" b="1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86A36C7-ED20-0568-8F9A-95D497A55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65273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A0B7773-16A2-EF73-FE8C-006B168A8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62428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24F1692-6D6E-F63D-A718-25F5B5F1F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569108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9E86FB-9D95-6D1B-6410-9822FDA9C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86" y="4359338"/>
            <a:ext cx="9306884" cy="4602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09A982-B068-14B7-E27D-D8EB598F21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583" t="3439" b="48806"/>
          <a:stretch/>
        </p:blipFill>
        <p:spPr>
          <a:xfrm>
            <a:off x="741710" y="4944036"/>
            <a:ext cx="4018375" cy="304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109917-0382-7667-577F-5A5622ADC8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245"/>
          <a:stretch/>
        </p:blipFill>
        <p:spPr>
          <a:xfrm>
            <a:off x="741710" y="5387675"/>
            <a:ext cx="10459910" cy="304800"/>
          </a:xfrm>
          <a:prstGeom prst="rect">
            <a:avLst/>
          </a:prstGeom>
        </p:spPr>
      </p:pic>
      <p:pic>
        <p:nvPicPr>
          <p:cNvPr id="11" name="Picture 10" descr="A close-up of a text&#10;&#10;Description automatically generated">
            <a:extLst>
              <a:ext uri="{FF2B5EF4-FFF2-40B4-BE49-F238E27FC236}">
                <a16:creationId xmlns:a16="http://schemas.microsoft.com/office/drawing/2014/main" id="{DCE608B6-6222-C372-066C-F5A276C41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0838"/>
          <a:stretch/>
        </p:blipFill>
        <p:spPr>
          <a:xfrm>
            <a:off x="399089" y="5659910"/>
            <a:ext cx="10404797" cy="82307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A520CE4-DD4E-19DD-872D-45A347B835DE}"/>
              </a:ext>
            </a:extLst>
          </p:cNvPr>
          <p:cNvCxnSpPr>
            <a:cxnSpLocks/>
          </p:cNvCxnSpPr>
          <p:nvPr/>
        </p:nvCxnSpPr>
        <p:spPr>
          <a:xfrm>
            <a:off x="9240041" y="5799102"/>
            <a:ext cx="0" cy="27146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1FA09FE-811E-865F-EE3D-AD763F986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4705396"/>
              </p:ext>
            </p:extLst>
          </p:nvPr>
        </p:nvGraphicFramePr>
        <p:xfrm>
          <a:off x="797209" y="1947884"/>
          <a:ext cx="10515600" cy="110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276">
                  <a:extLst>
                    <a:ext uri="{9D8B030D-6E8A-4147-A177-3AD203B41FA5}">
                      <a16:colId xmlns:a16="http://schemas.microsoft.com/office/drawing/2014/main" val="758178824"/>
                    </a:ext>
                  </a:extLst>
                </a:gridCol>
                <a:gridCol w="6900324">
                  <a:extLst>
                    <a:ext uri="{9D8B030D-6E8A-4147-A177-3AD203B41FA5}">
                      <a16:colId xmlns:a16="http://schemas.microsoft.com/office/drawing/2014/main" val="342555459"/>
                    </a:ext>
                  </a:extLst>
                </a:gridCol>
              </a:tblGrid>
              <a:tr h="1106265">
                <a:tc>
                  <a:txBody>
                    <a:bodyPr/>
                    <a:lstStyle/>
                    <a:p>
                      <a:pPr lvl="1"/>
                      <a:r>
                        <a:rPr lang="en-US" sz="2000" kern="100" dirty="0">
                          <a:effectLst/>
                        </a:rPr>
                        <a:t>U</a:t>
                      </a:r>
                      <a:r>
                        <a:rPr lang="en-US" sz="2000" kern="100" baseline="-25000" dirty="0">
                          <a:effectLst/>
                        </a:rPr>
                        <a:t>m</a:t>
                      </a:r>
                      <a:r>
                        <a:rPr lang="en-US" sz="2000" kern="100" dirty="0">
                          <a:effectLst/>
                        </a:rPr>
                        <a:t> = the set of men </a:t>
                      </a:r>
                    </a:p>
                    <a:p>
                      <a:pPr lvl="1"/>
                      <a:r>
                        <a:rPr lang="en-US" sz="2000" kern="100" dirty="0" err="1">
                          <a:effectLst/>
                        </a:rPr>
                        <a:t>U</a:t>
                      </a:r>
                      <a:r>
                        <a:rPr lang="en-US" sz="2000" kern="100" baseline="-25000" dirty="0" err="1">
                          <a:effectLst/>
                        </a:rPr>
                        <a:t>w</a:t>
                      </a:r>
                      <a:r>
                        <a:rPr lang="en-US" sz="2000" kern="100" dirty="0">
                          <a:effectLst/>
                        </a:rPr>
                        <a:t> = the set of women</a:t>
                      </a:r>
                    </a:p>
                    <a:p>
                      <a:pPr lvl="1"/>
                      <a:r>
                        <a:rPr lang="en-US" sz="2000" kern="100" dirty="0">
                          <a:effectLst/>
                        </a:rPr>
                        <a:t>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 = person 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US" sz="2000" kern="100" dirty="0">
                          <a:effectLst/>
                        </a:rPr>
                        <a:t>M(a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) = person that 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 is matched to</a:t>
                      </a:r>
                    </a:p>
                    <a:p>
                      <a:pPr lvl="1"/>
                      <a:r>
                        <a:rPr lang="en-US" sz="2000" kern="100" dirty="0">
                          <a:effectLst/>
                        </a:rPr>
                        <a:t>rank(a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, M(a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)) = 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’s ranking of their match M(a</a:t>
                      </a:r>
                      <a:r>
                        <a:rPr lang="en-US" sz="2000" kern="100" baseline="-25000" dirty="0">
                          <a:effectLst/>
                        </a:rPr>
                        <a:t>i</a:t>
                      </a:r>
                      <a:r>
                        <a:rPr lang="en-US" sz="2000" kern="100" dirty="0">
                          <a:effectLst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0572822"/>
                  </a:ext>
                </a:extLst>
              </a:tr>
            </a:tbl>
          </a:graphicData>
        </a:graphic>
      </p:graphicFrame>
      <p:pic>
        <p:nvPicPr>
          <p:cNvPr id="13" name="Picture 12" descr="A close-up of a text&#10;&#10;Description automatically generated">
            <a:extLst>
              <a:ext uri="{FF2B5EF4-FFF2-40B4-BE49-F238E27FC236}">
                <a16:creationId xmlns:a16="http://schemas.microsoft.com/office/drawing/2014/main" id="{CBAF953E-03E2-68E2-5166-7CE359342A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" b="65520"/>
          <a:stretch/>
        </p:blipFill>
        <p:spPr>
          <a:xfrm>
            <a:off x="399085" y="3451658"/>
            <a:ext cx="10560251" cy="98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34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3FB98-5D5C-3BC8-2B53-347F41FA6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3787"/>
            <a:ext cx="10515600" cy="1325563"/>
          </a:xfrm>
        </p:spPr>
        <p:txBody>
          <a:bodyPr/>
          <a:lstStyle/>
          <a:p>
            <a:r>
              <a:rPr lang="en-US" dirty="0"/>
              <a:t>IP Formulation – </a:t>
            </a:r>
            <a:r>
              <a:rPr lang="en-US" sz="3200" i="1" dirty="0"/>
              <a:t>take a few minutes to think about it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6D429-2A18-9356-E084-133C21D60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" y="6144768"/>
            <a:ext cx="10978895" cy="62655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Let’s walk through an example of the stability constraint on the white board.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296BEE-0DEF-E228-BF80-6CB99F573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377" y="1071693"/>
            <a:ext cx="9507277" cy="49822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BD8285-001A-8116-59FB-44041DBAC171}"/>
              </a:ext>
            </a:extLst>
          </p:cNvPr>
          <p:cNvSpPr txBox="1"/>
          <p:nvPr/>
        </p:nvSpPr>
        <p:spPr>
          <a:xfrm>
            <a:off x="9208008" y="1810512"/>
            <a:ext cx="25786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Note: </a:t>
            </a:r>
          </a:p>
          <a:p>
            <a:r>
              <a:rPr lang="en-US" b="1" dirty="0">
                <a:solidFill>
                  <a:schemeClr val="accent1"/>
                </a:solidFill>
              </a:rPr>
              <a:t>  no objective function</a:t>
            </a:r>
          </a:p>
        </p:txBody>
      </p:sp>
    </p:spTree>
    <p:extLst>
      <p:ext uri="{BB962C8B-B14F-4D97-AF65-F5344CB8AC3E}">
        <p14:creationId xmlns:p14="http://schemas.microsoft.com/office/powerpoint/2010/main" val="3734494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0F67-583F-BE69-11E4-96580126D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</a:t>
            </a:r>
            <a:r>
              <a:rPr lang="en-US" dirty="0" err="1"/>
              <a:t>PuLP</a:t>
            </a:r>
            <a:r>
              <a:rPr lang="en-US" dirty="0"/>
              <a:t>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33A12-670E-366A-6C3F-E87588203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we will load in the preference data from csv files – see above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smp_utils.py </a:t>
            </a:r>
            <a:r>
              <a:rPr lang="en-US" dirty="0"/>
              <a:t>has some helper code we will and you can use</a:t>
            </a:r>
          </a:p>
          <a:p>
            <a:r>
              <a:rPr lang="en-US" dirty="0"/>
              <a:t>what data structures does the formulation need?    </a:t>
            </a:r>
            <a:r>
              <a:rPr lang="en-US" b="1" i="1" dirty="0"/>
              <a:t>think about it</a:t>
            </a:r>
            <a:endParaRPr lang="en-US" dirty="0"/>
          </a:p>
          <a:p>
            <a:pPr lvl="1"/>
            <a:r>
              <a:rPr lang="en-US" dirty="0"/>
              <a:t>pairs</a:t>
            </a:r>
          </a:p>
          <a:p>
            <a:pPr lvl="1"/>
            <a:r>
              <a:rPr lang="pl-PL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k:P</a:t>
            </a:r>
            <a:r>
              <a:rPr lang="pl-PL" b="0" i="0" u="none" strike="noStrike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pl-PL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(k)</a:t>
            </a:r>
            <a:r>
              <a:rPr lang="en-US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pl-PL" b="0" i="0" u="none" strike="noStrike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pl-PL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(j)</a:t>
            </a:r>
            <a:r>
              <a:rPr lang="en-US" b="0" i="0" u="none" strike="noStrike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i="0" u="none" strike="noStrike" baseline="0" dirty="0">
                <a:latin typeface="CMR8"/>
              </a:rPr>
              <a:t>– translate this to English – </a:t>
            </a:r>
          </a:p>
          <a:p>
            <a:pPr marL="457200" lvl="1" indent="0">
              <a:buNone/>
            </a:pPr>
            <a:r>
              <a:rPr lang="en-US" dirty="0">
                <a:latin typeface="CMR8"/>
              </a:rPr>
              <a:t>The partners that i prefers to j. I made a dictionary keyed by the (</a:t>
            </a:r>
            <a:r>
              <a:rPr lang="en-US" dirty="0" err="1">
                <a:latin typeface="CMR8"/>
              </a:rPr>
              <a:t>i,j</a:t>
            </a:r>
            <a:r>
              <a:rPr lang="en-US" dirty="0">
                <a:latin typeface="CMR8"/>
              </a:rPr>
              <a:t>) pair with value being a list of the partners.</a:t>
            </a:r>
          </a:p>
          <a:p>
            <a:pPr marL="457200" lvl="1" indent="0">
              <a:buNone/>
            </a:pPr>
            <a:r>
              <a:rPr lang="en-US" dirty="0"/>
              <a:t>An entry looks like {('Cindy', 'Dan'): ['Carl', 'Bob', 'Alan’], … } meaning Cindy prefers those men to Dan.</a:t>
            </a:r>
          </a:p>
          <a:p>
            <a:pPr marL="457200" lvl="1" indent="0">
              <a:buNone/>
            </a:pPr>
            <a:r>
              <a:rPr lang="en-US" dirty="0"/>
              <a:t>(We will hold off on building a data structure for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2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(j)</a:t>
            </a:r>
            <a:r>
              <a:rPr lang="en-US" dirty="0"/>
              <a:t> itself for now.)</a:t>
            </a:r>
          </a:p>
          <a:p>
            <a:pPr lvl="1"/>
            <a:endParaRPr lang="en-US" dirty="0"/>
          </a:p>
          <a:p>
            <a:r>
              <a:rPr lang="en-US" dirty="0"/>
              <a:t>let’s understand some of the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smp_utils.py </a:t>
            </a:r>
            <a:r>
              <a:rPr lang="en-US" dirty="0"/>
              <a:t>code and then fill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stable_marriage_basic_skeleton.py</a:t>
            </a:r>
            <a:r>
              <a:rPr lang="en-US" dirty="0"/>
              <a:t> in spyder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028982-1A92-6AF9-CC76-A1A2B15C37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199" b="74233"/>
          <a:stretch/>
        </p:blipFill>
        <p:spPr>
          <a:xfrm>
            <a:off x="8154653" y="167659"/>
            <a:ext cx="1436819" cy="3534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1AD7B3A-A7E9-B330-0998-3DB7C87686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115"/>
          <a:stretch/>
        </p:blipFill>
        <p:spPr>
          <a:xfrm>
            <a:off x="8390995" y="521130"/>
            <a:ext cx="3801005" cy="101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3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6DB05-3E6C-CCE8-6444-F7456FD7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B549-4FF8-952E-1DB8-37345869D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</a:t>
            </a:r>
            <a:r>
              <a:rPr lang="en-US" dirty="0" err="1"/>
              <a:t>PuLP</a:t>
            </a:r>
            <a:r>
              <a:rPr lang="en-US" dirty="0"/>
              <a:t> Implementation: stability constraint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24574-C6C6-0B7C-E910-4CFD2E47C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468" y="1498060"/>
            <a:ext cx="11013332" cy="5116749"/>
          </a:xfrm>
        </p:spPr>
        <p:txBody>
          <a:bodyPr>
            <a:normAutofit fontScale="55000" lnSpcReduction="20000"/>
          </a:bodyPr>
          <a:lstStyle/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pair in pairs: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man, woman = pair   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better_women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better_matches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[(man, woman)]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better_men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better_matches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[(woman, man)]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# Either this pair is a match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constr_lhs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x[pair]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# or the man is with a woman he preferred to this woman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constr_lhs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lpSum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(x[(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man,better_woman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)]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better_woman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better_women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# or the woman is with a man she preferred to this man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constr_lhs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lpSum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(x[(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better_man,woman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)]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better_man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better_men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# Constraint insures at least 1 of the above 3 conditions is true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constr_lhs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&gt;= 1,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f'Stability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constr. for {man} and {woman}'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80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35D92-E003-1AE5-0BCE-8CB87422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</a:t>
            </a:r>
            <a:r>
              <a:rPr lang="en-US" dirty="0" err="1"/>
              <a:t>PuLP</a:t>
            </a:r>
            <a:r>
              <a:rPr lang="en-US" dirty="0"/>
              <a:t>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D5765-FACC-3868-CA4E-3051B6201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Solution: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Matches: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Alan Cindy	Bob Alice	Carl Debbie	Dan Brenda	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Status:  Optimal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Stable matching?  True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/>
              <a:t>It ran the function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smp_utils.is_it_stable</a:t>
            </a:r>
            <a:r>
              <a:rPr lang="en-US" dirty="0"/>
              <a:t> – see that code.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473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EC9F5-BA9F-4F45-E562-22893BB2F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 an Objective in the 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FECED-4337-0FA0-4956-6D6E17A27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642" y="5671224"/>
            <a:ext cx="10515600" cy="8986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Now we will need a data structure for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400" baseline="-25000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(j)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We can use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smp_utils.prefs_to_ranks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6A721A-DDD3-F143-35B5-E7FFABE3F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3732"/>
            <a:ext cx="1219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07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C858F-309E-DFAB-E83B-E402E9D1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4"/>
            <a:ext cx="3998068" cy="2105701"/>
          </a:xfrm>
        </p:spPr>
        <p:txBody>
          <a:bodyPr>
            <a:normAutofit/>
          </a:bodyPr>
          <a:lstStyle/>
          <a:p>
            <a:r>
              <a:rPr lang="en-US" sz="4000" dirty="0"/>
              <a:t>Example usage of </a:t>
            </a:r>
            <a:r>
              <a:rPr lang="en-US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prefs_to_ranks</a:t>
            </a:r>
            <a:endParaRPr 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D2A3-949A-B9B8-859E-9200BF3C3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194554"/>
            <a:ext cx="6324600" cy="642998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prefs_dict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Out[77]: 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{'Alan': ['Cindy', 'Alice', 'Debbie', 'Brenda'],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'Bob': ['Alice', 'Cindy', 'Debbie', 'Brenda'],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'Carl': ['Debbie', 'Cindy', 'Alice', 'Brenda'],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'Dan': ['Cindy', 'Brenda', 'Alice', 'Debbie'],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'Alice': ['Dan', 'Carl', 'Alan', 'Bob'],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'Brenda': ['Carl', 'Dan', 'Alan', 'Bob'],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'Cindy': ['Carl', 'Bob', 'Alan', 'Dan'],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'Debbie': ['Dan', 'Bob', 'Carl', 'Alan']}</a:t>
            </a:r>
          </a:p>
          <a:p>
            <a:pPr marL="0" indent="0"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rank_dict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prefs_to_ranks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prefs_dict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rank_dict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Out[79]: 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{('Alan', 'Cindy'): 1,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('Alan', 'Alice'): 2,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('Alan', 'Debbie'): 3,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('Alan', 'Brenda'): 4,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('Bob', 'Alice'): 1,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('Bob', 'Cindy'): 2,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640893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E8CD-08E6-F420-3E4E-40840684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an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D923B-70A3-A729-1C8F-5869652734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18366"/>
          </a:xfrm>
        </p:spPr>
        <p:txBody>
          <a:bodyPr>
            <a:normAutofit/>
          </a:bodyPr>
          <a:lstStyle/>
          <a:p>
            <a:r>
              <a:rPr lang="en-US" dirty="0"/>
              <a:t>Let’s:</a:t>
            </a:r>
          </a:p>
          <a:p>
            <a:pPr lvl="1"/>
            <a:r>
              <a:rPr lang="en-US" dirty="0"/>
              <a:t>minimize (1) + (2)</a:t>
            </a:r>
          </a:p>
          <a:p>
            <a:pPr lvl="1"/>
            <a:r>
              <a:rPr lang="en-US" dirty="0"/>
              <a:t>minimize (2) only</a:t>
            </a:r>
          </a:p>
          <a:p>
            <a:r>
              <a:rPr lang="en-US" dirty="0"/>
              <a:t>Some code to add (can create a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stable_marriage_intermed.py </a:t>
            </a:r>
            <a:r>
              <a:rPr lang="en-US" dirty="0"/>
              <a:t>file):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ranks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prefs_to_ranks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prefs_dict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  #  this is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(j)</a:t>
            </a:r>
          </a:p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men_ranks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lpSum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(ranks[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man,woman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 * x[man, woman] for man in men for woman in women)</a:t>
            </a:r>
          </a:p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women_ranks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lpSum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(ranks[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woman,man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 * x[man, woman] for man in men for woman in women)</a:t>
            </a:r>
          </a:p>
          <a:p>
            <a:pPr marL="0" indent="0"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women_ranks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#+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men_ranks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# or uncomment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men_ranks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B2B100-CEF9-79E6-C052-7C6633F20F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088" r="60984" b="41502"/>
          <a:stretch/>
        </p:blipFill>
        <p:spPr>
          <a:xfrm>
            <a:off x="6926094" y="865476"/>
            <a:ext cx="4756826" cy="1682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DC2F3D-34A3-568A-CA9A-35717B7698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125" t="16667" b="41924"/>
          <a:stretch/>
        </p:blipFill>
        <p:spPr>
          <a:xfrm>
            <a:off x="11263820" y="849245"/>
            <a:ext cx="838199" cy="16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20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167C1-C967-E498-D35E-0AEFE8939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new code for results 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F8D6F-FB0F-389C-ED9A-5FB6CF550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print('\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nRanks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men received -')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m in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matched_vars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get_rank_of_match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m,prefs_dict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print(f'{m[0]} ranked {m[1]} {r}')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print('Sum = ',value(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men_ranks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print('\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nRanks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women received -')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 m in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matched_vars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get_rank_of_match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(m[-1::-1],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prefs_dict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print(f'{m[1]} ranked {m[0]} {r}')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print('Sum = ',value(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women_ranks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406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73C5E-C87E-32ED-37CF-AACA1A48C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01119" cy="617369"/>
          </a:xfrm>
        </p:spPr>
        <p:txBody>
          <a:bodyPr>
            <a:normAutofit fontScale="90000"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9E534-7C25-0FE5-304D-1DE69EFB2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102" y="1391055"/>
            <a:ext cx="5710136" cy="5214026"/>
          </a:xfrm>
        </p:spPr>
        <p:txBody>
          <a:bodyPr>
            <a:normAutofit fontScale="77500" lnSpcReduction="20000"/>
          </a:bodyPr>
          <a:lstStyle/>
          <a:p>
            <a:r>
              <a:rPr lang="en-US" sz="3300" dirty="0"/>
              <a:t>No objective</a:t>
            </a:r>
          </a:p>
          <a:p>
            <a:endParaRPr lang="en-US" sz="3300" dirty="0"/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Ranks men received -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Alan ranked Cindy 1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Bob ranked Alice 1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Carl ranked Debbie 1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Dan ranked Brenda 2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Sum =  5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Ranks women received -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Cindy ranked Alan 3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Alice ranked Bob 4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Debbie ranked Carl 3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Brenda ranked Dan 2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Sum =  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n-US" sz="33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3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4E42E79-8AA6-88E9-EA53-573F69D06164}"/>
              </a:ext>
            </a:extLst>
          </p:cNvPr>
          <p:cNvSpPr txBox="1">
            <a:spLocks/>
          </p:cNvSpPr>
          <p:nvPr/>
        </p:nvSpPr>
        <p:spPr>
          <a:xfrm>
            <a:off x="6096000" y="1391054"/>
            <a:ext cx="5890591" cy="5282119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500" dirty="0"/>
              <a:t>Minimize women ranks objective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Ranks men received -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Alan ranked Alice 2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Bob ranked Debbie 3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Carl ranked Cindy 2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Dan ranked Brenda 2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Sum =  9</a:t>
            </a:r>
          </a:p>
          <a:p>
            <a:pPr marL="0" indent="0">
              <a:buNone/>
            </a:pPr>
            <a:endParaRPr lang="en-US" sz="3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Ranks women received -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Alice ranked Alan 3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Debbie ranked Bob 2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Cindy ranked Carl 1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Brenda ranked Dan 2</a:t>
            </a:r>
          </a:p>
          <a:p>
            <a:pPr marL="0" indent="0">
              <a:buNone/>
            </a:pPr>
            <a:r>
              <a:rPr lang="en-US" sz="3500" dirty="0">
                <a:latin typeface="Courier New" panose="02070309020205020404" pitchFamily="49" charset="0"/>
                <a:cs typeface="Courier New" panose="02070309020205020404" pitchFamily="49" charset="0"/>
              </a:rPr>
              <a:t>Sum =  </a:t>
            </a:r>
            <a:r>
              <a:rPr lang="en-US" sz="35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276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4C350-0B21-36ED-84FB-A77AAE3DF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Gale-Shapley (G-S)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33BF1-BB59-CA8A-922C-7E01C71BE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yourself as an exercise, or</a:t>
            </a:r>
          </a:p>
          <a:p>
            <a:r>
              <a:rPr lang="en-US" dirty="0"/>
              <a:t>find good code and test it carefully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Time permitting – let’s run some G-S code in class</a:t>
            </a:r>
          </a:p>
        </p:txBody>
      </p:sp>
    </p:spTree>
    <p:extLst>
      <p:ext uri="{BB962C8B-B14F-4D97-AF65-F5344CB8AC3E}">
        <p14:creationId xmlns:p14="http://schemas.microsoft.com/office/powerpoint/2010/main" val="862340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A9B53-3CE0-EE4A-4B45-24BFFA62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effectLst/>
                <a:latin typeface="Calibri" panose="020F0502020204030204" pitchFamily="34" charset="0"/>
              </a:rPr>
              <a:t>Variations/Extensions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58CA2-737E-B306-4C36-5599D65E4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rtl="0" fontAlgn="ctr">
              <a:buFont typeface="Arial" panose="020B0604020202020204" pitchFamily="34" charset="0"/>
              <a:buChar char="•"/>
            </a:pPr>
            <a:r>
              <a:rPr lang="en-US" sz="2800" dirty="0">
                <a:effectLst/>
                <a:latin typeface="Calibri" panose="020F0502020204030204" pitchFamily="34" charset="0"/>
              </a:rPr>
              <a:t>one-sided</a:t>
            </a:r>
            <a:r>
              <a:rPr lang="en-US" dirty="0">
                <a:latin typeface="Calibri" panose="020F0502020204030204" pitchFamily="34" charset="0"/>
              </a:rPr>
              <a:t> (or single-sided) matchings</a:t>
            </a:r>
          </a:p>
          <a:p>
            <a:pPr lvl="1" fontAlgn="ctr"/>
            <a:r>
              <a:rPr lang="en-US" dirty="0">
                <a:effectLst/>
                <a:latin typeface="Calibri" panose="020F0502020204030204" pitchFamily="34" charset="0"/>
              </a:rPr>
              <a:t>assign a set of entities to a second set of entities when those in the first set have preferences over those in the second set, but not vice versa. </a:t>
            </a:r>
          </a:p>
          <a:p>
            <a:pPr lvl="1" fontAlgn="ctr"/>
            <a:r>
              <a:rPr lang="en-US" dirty="0">
                <a:latin typeface="Calibri" panose="020F0502020204030204" pitchFamily="34" charset="0"/>
              </a:rPr>
              <a:t>example applications – pupils to schools, residents to housing, etc.</a:t>
            </a:r>
            <a:endParaRPr lang="en-US" dirty="0">
              <a:effectLst/>
              <a:latin typeface="Calibri" panose="020F0502020204030204" pitchFamily="34" charset="0"/>
            </a:endParaRPr>
          </a:p>
          <a:p>
            <a:pPr lvl="1" fontAlgn="ctr"/>
            <a:r>
              <a:rPr lang="en-US">
                <a:latin typeface="Calibri" panose="020F0502020204030204" pitchFamily="34" charset="0"/>
              </a:rPr>
              <a:t>Coast-Guard-related applications of this</a:t>
            </a:r>
            <a:endParaRPr lang="en-US" dirty="0">
              <a:effectLst/>
              <a:latin typeface="Calibri" panose="020F050202020403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</a:rPr>
              <a:t>c</a:t>
            </a:r>
            <a:r>
              <a:rPr lang="en-US" dirty="0">
                <a:effectLst/>
                <a:latin typeface="Calibri" panose="020F0502020204030204" pitchFamily="34" charset="0"/>
              </a:rPr>
              <a:t>ollege admission (and related) </a:t>
            </a:r>
          </a:p>
          <a:p>
            <a:pPr lvl="1" fontAlgn="ctr"/>
            <a:r>
              <a:rPr lang="en-US" dirty="0">
                <a:effectLst/>
                <a:latin typeface="Calibri" panose="020F0502020204030204" pitchFamily="34" charset="0"/>
              </a:rPr>
              <a:t>no longer a 1:1 matching, now assign </a:t>
            </a:r>
            <a:r>
              <a:rPr lang="en-US" i="1" dirty="0" err="1">
                <a:effectLst/>
                <a:latin typeface="Calibri" panose="020F0502020204030204" pitchFamily="34" charset="0"/>
              </a:rPr>
              <a:t>n</a:t>
            </a:r>
            <a:r>
              <a:rPr lang="en-US" i="1" baseline="-25000" dirty="0" err="1">
                <a:effectLst/>
                <a:latin typeface="Calibri" panose="020F0502020204030204" pitchFamily="34" charset="0"/>
              </a:rPr>
              <a:t>i</a:t>
            </a:r>
            <a:r>
              <a:rPr lang="en-US" dirty="0">
                <a:effectLst/>
                <a:latin typeface="Calibri" panose="020F0502020204030204" pitchFamily="34" charset="0"/>
              </a:rPr>
              <a:t> students to each of </a:t>
            </a:r>
            <a:r>
              <a:rPr lang="en-US" i="1" dirty="0">
                <a:effectLst/>
                <a:latin typeface="Calibri" panose="020F0502020204030204" pitchFamily="34" charset="0"/>
              </a:rPr>
              <a:t>m</a:t>
            </a:r>
            <a:r>
              <a:rPr lang="en-US" dirty="0">
                <a:effectLst/>
                <a:latin typeface="Calibri" panose="020F0502020204030204" pitchFamily="34" charset="0"/>
              </a:rPr>
              <a:t> universities</a:t>
            </a:r>
          </a:p>
          <a:p>
            <a:pPr lvl="1" fontAlgn="ctr"/>
            <a:r>
              <a:rPr lang="en-US" dirty="0">
                <a:latin typeface="Calibri" panose="020F0502020204030204" pitchFamily="34" charset="0"/>
              </a:rPr>
              <a:t>how would we model this?  could we create a G-S-like algorithm?</a:t>
            </a:r>
          </a:p>
          <a:p>
            <a:pPr lvl="1" fontAlgn="ctr"/>
            <a:r>
              <a:rPr lang="en-US" dirty="0">
                <a:effectLst/>
                <a:latin typeface="Calibri" panose="020F0502020204030204" pitchFamily="34" charset="0"/>
              </a:rPr>
              <a:t>see Erasmus </a:t>
            </a:r>
            <a:r>
              <a:rPr lang="en-US">
                <a:effectLst/>
                <a:latin typeface="Calibri" panose="020F0502020204030204" pitchFamily="34" charset="0"/>
              </a:rPr>
              <a:t>lecture pdf in our repo’s Reference folder</a:t>
            </a:r>
            <a:endParaRPr lang="en-US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2732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3AD8-D8F0-BDE3-2249-E75F28E6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C426C-565D-E66A-4017-1FCA05D5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effectLst/>
                <a:latin typeface="Calibri" panose="020F0502020204030204" pitchFamily="34" charset="0"/>
              </a:rPr>
              <a:t>Variations/Extensions (</a:t>
            </a:r>
            <a:r>
              <a:rPr lang="en-US" sz="4400" dirty="0" err="1">
                <a:effectLst/>
                <a:latin typeface="Calibri" panose="020F0502020204030204" pitchFamily="34" charset="0"/>
              </a:rPr>
              <a:t>cont</a:t>
            </a:r>
            <a:r>
              <a:rPr lang="en-US" sz="4400" dirty="0">
                <a:effectLst/>
                <a:latin typeface="Calibri" panose="020F0502020204030204" pitchFamily="34" charset="0"/>
              </a:rPr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4666E-E53E-C9B2-C80D-4660A16C2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fontAlgn="ctr"/>
            <a:r>
              <a:rPr lang="en-US" dirty="0">
                <a:solidFill>
                  <a:srgbClr val="202122"/>
                </a:solidFill>
                <a:latin typeface="Arial" panose="020B0604020202020204" pitchFamily="34" charset="0"/>
              </a:rPr>
              <a:t>Generalizations:</a:t>
            </a:r>
          </a:p>
          <a:p>
            <a:pPr lvl="1" fontAlgn="ctr"/>
            <a:r>
              <a:rPr lang="en-US" dirty="0">
                <a:solidFill>
                  <a:srgbClr val="202122"/>
                </a:solidFill>
                <a:latin typeface="Arial" panose="020B0604020202020204" pitchFamily="34" charset="0"/>
              </a:rPr>
              <a:t>forbidden pairs</a:t>
            </a:r>
          </a:p>
          <a:p>
            <a:pPr lvl="1" fontAlgn="ctr"/>
            <a:r>
              <a:rPr lang="en-US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indifference (i.e. ties allowed)</a:t>
            </a:r>
            <a:endParaRPr lang="en-US" dirty="0">
              <a:solidFill>
                <a:srgbClr val="202122"/>
              </a:solidFill>
              <a:latin typeface="Calibri" panose="020F0502020204030204" pitchFamily="34" charset="0"/>
            </a:endParaRPr>
          </a:p>
          <a:p>
            <a:pPr lvl="1" fontAlgn="ctr"/>
            <a:r>
              <a:rPr lang="en-US" dirty="0"/>
              <a:t>incomplete lists</a:t>
            </a:r>
          </a:p>
          <a:p>
            <a:pPr lvl="1" fontAlgn="ctr"/>
            <a:r>
              <a:rPr lang="en-US" dirty="0"/>
              <a:t>imbalanced, e.g. </a:t>
            </a:r>
            <a:r>
              <a:rPr lang="en-US" i="1" dirty="0"/>
              <a:t>n </a:t>
            </a:r>
            <a:r>
              <a:rPr lang="en-US" dirty="0"/>
              <a:t>men, </a:t>
            </a:r>
            <a:r>
              <a:rPr lang="en-US" i="1" dirty="0"/>
              <a:t>n’</a:t>
            </a:r>
            <a:r>
              <a:rPr lang="en-US" dirty="0"/>
              <a:t> women, and </a:t>
            </a:r>
            <a:r>
              <a:rPr lang="en-US" i="1" dirty="0"/>
              <a:t>n </a:t>
            </a:r>
            <a:r>
              <a:rPr lang="en-US" dirty="0"/>
              <a:t>≠</a:t>
            </a:r>
            <a:r>
              <a:rPr lang="en-US" i="1" dirty="0"/>
              <a:t> n’</a:t>
            </a:r>
          </a:p>
          <a:p>
            <a:pPr lvl="1" fontAlgn="ctr"/>
            <a:r>
              <a:rPr lang="en-US" dirty="0"/>
              <a:t>single set with preferences, e.g. the “stable roommates problem”</a:t>
            </a:r>
          </a:p>
          <a:p>
            <a:pPr lvl="1" fontAlgn="ctr"/>
            <a:r>
              <a:rPr lang="en-US" dirty="0"/>
              <a:t>auction component – participants “bid” for partners</a:t>
            </a:r>
          </a:p>
          <a:p>
            <a:pPr lvl="1" fontAlgn="ctr"/>
            <a:r>
              <a:rPr lang="en-US" dirty="0"/>
              <a:t>many more…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is a very rich problem with connections to graph theory, economics, computer science, and more and a vast number of applications.</a:t>
            </a:r>
          </a:p>
        </p:txBody>
      </p:sp>
    </p:spTree>
    <p:extLst>
      <p:ext uri="{BB962C8B-B14F-4D97-AF65-F5344CB8AC3E}">
        <p14:creationId xmlns:p14="http://schemas.microsoft.com/office/powerpoint/2010/main" val="596108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2713</TotalTime>
  <Words>1629</Words>
  <Application>Microsoft Office PowerPoint</Application>
  <PresentationFormat>Widescreen</PresentationFormat>
  <Paragraphs>200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CMR12</vt:lpstr>
      <vt:lpstr>CMR8</vt:lpstr>
      <vt:lpstr>Courier New</vt:lpstr>
      <vt:lpstr>Wingdings</vt:lpstr>
      <vt:lpstr>Office Theme</vt:lpstr>
      <vt:lpstr>The Stable  Marriage Problem (SMP)</vt:lpstr>
      <vt:lpstr>Plan for Today</vt:lpstr>
      <vt:lpstr>Solving the SMP Using Integer Programming</vt:lpstr>
      <vt:lpstr>SMP IP Objective Function</vt:lpstr>
      <vt:lpstr>Mathematical Formulation of SMP IP Objective Functions</vt:lpstr>
      <vt:lpstr>IP Formulation – take a few minutes to think about it</vt:lpstr>
      <vt:lpstr>IP PuLP Implementation</vt:lpstr>
      <vt:lpstr>IP PuLP Implementation: stability constraint</vt:lpstr>
      <vt:lpstr>IP PuLP Implementation</vt:lpstr>
      <vt:lpstr>Implement an Objective in the IP</vt:lpstr>
      <vt:lpstr>Example usage of prefs_to_ranks</vt:lpstr>
      <vt:lpstr>Implementing an Objective</vt:lpstr>
      <vt:lpstr>Some new code for results display</vt:lpstr>
      <vt:lpstr>Results</vt:lpstr>
      <vt:lpstr>Gale-Shapley (G-S) Implementation</vt:lpstr>
      <vt:lpstr>Variations/Extensions</vt:lpstr>
      <vt:lpstr>Variations/Extensions (cont)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Frommer, Ian Dr. (EDU)</dc:creator>
  <cp:lastModifiedBy>Frommer, Ian Dr. (EDU)</cp:lastModifiedBy>
  <cp:revision>1</cp:revision>
  <dcterms:created xsi:type="dcterms:W3CDTF">2025-02-12T18:41:27Z</dcterms:created>
  <dcterms:modified xsi:type="dcterms:W3CDTF">2026-02-11T14:02:36Z</dcterms:modified>
</cp:coreProperties>
</file>