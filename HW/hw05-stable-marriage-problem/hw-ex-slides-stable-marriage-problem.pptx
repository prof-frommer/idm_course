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45CD7-1767-419D-9B49-F8FB0C629EDB}" v="4" dt="2026-02-10T15:33:39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custSel addSld modSld sldOrd">
      <pc:chgData name="Frommer, Ian Dr. (EDU)" userId="28ca3ff0-544f-450a-928b-99e19cf49b89" providerId="ADAL" clId="{FDDA6EB0-4FD6-4516-ACA5-A4CAC6441DA7}" dt="2026-02-10T15:34:31.322" v="508" actId="27636"/>
      <pc:docMkLst>
        <pc:docMk/>
      </pc:docMkLst>
      <pc:sldChg chg="modSp new mod ord">
        <pc:chgData name="Frommer, Ian Dr. (EDU)" userId="28ca3ff0-544f-450a-928b-99e19cf49b89" providerId="ADAL" clId="{FDDA6EB0-4FD6-4516-ACA5-A4CAC6441DA7}" dt="2026-02-10T15:34:31.322" v="508" actId="27636"/>
        <pc:sldMkLst>
          <pc:docMk/>
          <pc:sldMk cId="1607337283" sldId="267"/>
        </pc:sldMkLst>
        <pc:spChg chg="mod">
          <ac:chgData name="Frommer, Ian Dr. (EDU)" userId="28ca3ff0-544f-450a-928b-99e19cf49b89" providerId="ADAL" clId="{FDDA6EB0-4FD6-4516-ACA5-A4CAC6441DA7}" dt="2026-02-10T15:30:08.980" v="5" actId="113"/>
          <ac:spMkLst>
            <pc:docMk/>
            <pc:sldMk cId="1607337283" sldId="267"/>
            <ac:spMk id="2" creationId="{03AC2AF4-8C46-682B-DB9A-90230013EC6D}"/>
          </ac:spMkLst>
        </pc:spChg>
        <pc:spChg chg="mod">
          <ac:chgData name="Frommer, Ian Dr. (EDU)" userId="28ca3ff0-544f-450a-928b-99e19cf49b89" providerId="ADAL" clId="{FDDA6EB0-4FD6-4516-ACA5-A4CAC6441DA7}" dt="2026-02-10T15:34:31.322" v="508" actId="27636"/>
          <ac:spMkLst>
            <pc:docMk/>
            <pc:sldMk cId="1607337283" sldId="267"/>
            <ac:spMk id="3" creationId="{03C5ED69-6C1F-4FDE-FE75-DAFB7E4D121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E71E-38B1-7E0B-3C95-9E270548E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36FE7-F7B9-9436-F70B-D3FBBB1F8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704F-27FF-A1EB-4FF3-7F4E6953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E219C-DB6B-E3AA-06A6-744D6AEE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10C92-4181-BF7A-BD19-6D59CCF0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9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FDBA-1174-567F-2A52-8485EBC8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67DD-0366-2887-7583-AFF0292C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B3C45-FD42-963F-B195-B2C9F136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1B9C2-2B54-887B-A8EC-CC746CEF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77523-2284-BDAC-AD2E-F2D896AD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0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775E-5286-B793-5F10-A78C2FC6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A6029-3405-D182-8658-5DA77BD1D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3F91-F6F2-EFB2-1152-A7732237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780E3-0E99-5F59-F105-9FC48B09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CB98-C4EB-01D3-A7B8-3895BDD3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0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3174-992B-A13D-6715-EEFC2487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4B81F-D522-3CDB-C461-1B5E2CD73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A538A-D75A-775D-E840-994AC3E4E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40088-9FA0-6C64-2927-18B19CEA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F65EA-929C-ECA2-48B9-CAABC6BD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F81DB-3F23-D458-CB6F-876AE4CF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15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6723-3C5D-761F-71DA-8AD20BD4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14A13-EDB1-3A7C-2878-783D18EE8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00AAB-307F-AC66-ED2A-627B03483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87902-6536-C717-171B-D8BCD85DA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9DAD4-2087-EB88-7C8A-1166AA3D0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9B1E5-A0B3-70A9-19C6-159B6AEE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6429C-31CF-ED1B-46D8-4D5C9165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95C12-1B7F-E233-B826-0CF928C5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1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D2A1-260E-DE96-E58B-A451389C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70710-DD01-1910-69BB-664CB8A0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86938-D37A-F627-E4DF-3BF2101A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5CAB3-A4D9-946F-925B-57E2C2AA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7EE44-8BC7-2D0B-C8AE-4F67DD9A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CDBB8-B73E-2EC5-2314-A66E8AB3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027A3-6801-A558-C3D7-37E69DB9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7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C399-492B-64FF-7376-C194EFF4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F753-4B18-952D-418A-C38F817DD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153FA-170F-6327-9B65-5250A4B31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33BC9-4207-E356-A657-23256AA8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048EA-9CF6-05B7-2BD0-65B62478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54DA4-F142-BD9E-B061-C8EE8A99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9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644E-6A57-6CE4-228A-F11C63AC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440FC-A36D-1544-C844-5D21462BC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E76BC-9186-E85B-5B6D-DB465A293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A3B4F-77AA-3D31-9C14-9B444B4B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B3C4-FD5E-C8EB-050F-FFD85FC2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2EC42-457E-36D6-CDF8-2480AC7E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9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E310-9094-BCD8-679A-688292BE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0CC78-A465-B7DC-5776-07920D362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7962A-65E3-D037-6A65-714E24DC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196F-E76E-49BA-C6B6-E9BFEDB6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155D9-3EC7-C473-6549-794B86F3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A1FDA-80BD-DCFB-04AF-2342C284D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97F2E-A017-1244-8B8A-322C29917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4C22D-B7CA-9C09-817D-DD04D90C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BF1EE-BA9A-2514-DB88-E538AD65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7603E-B65E-62BD-622E-D4AC8B6B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DFA2A-BF6B-CA5C-579F-998FD76E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3FD7B-A174-6770-4853-4541382B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3C5BE-9695-0979-4127-7125C96C5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0B0D9-3557-4113-9C93-D9E1C8D8E38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842F-6C83-11A5-2B64-75FD33127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0AE16-53D6-21C6-66CD-9B6BE6D28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6C3F0-4C6C-4943-B72D-F58E0E76B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6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3A6A-5DA2-FD16-7EF7-2CE6309451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Singer Matching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D84F4-3B0F-DF5D-71EE-B4B31EBDC2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C6C2-0350-0F1E-18F3-74DD4C6F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4829D-8C8F-8C71-CDF2-EA6F3B9D2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Each year, first-year student singers at C-Major College vie for coveted spots in a cappella singing groups, while at the same time, those groups compete for singers.  Students rank-order their preferences for group to join and groups rank-order their preferences for students. Formulate this problem as a stable marriage problem and solve it.  </a:t>
            </a:r>
          </a:p>
        </p:txBody>
      </p:sp>
    </p:spTree>
    <p:extLst>
      <p:ext uri="{BB962C8B-B14F-4D97-AF65-F5344CB8AC3E}">
        <p14:creationId xmlns:p14="http://schemas.microsoft.com/office/powerpoint/2010/main" val="197133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7E7B-EB80-A0FD-9E4B-0ABEBC920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9D206-B503-B34D-90E2-C2FC49C0E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u="sng" dirty="0">
                <a:latin typeface="Consolas" panose="020B0609020204030204" pitchFamily="49" charset="0"/>
              </a:rPr>
              <a:t>Student Preferences for Groups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Ethan: CapellaSize, TrebleMaker, DinTones, NoteWorthy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Liam: DinTones, CapellaSize, TrebleMaker, NoteWorthy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Sophia: CapellaSize, DinTones, NoteWorthy, TrebleMaker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Emma: TrebleMaker, NoteWorthy, DinTones, CapellaSize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Consolas" panose="020B0609020204030204" pitchFamily="49" charset="0"/>
              </a:rPr>
              <a:t>Group Preferences for Students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DinTones: Ethan, Liam, Sophia, Emma</a:t>
            </a:r>
          </a:p>
          <a:p>
            <a:pPr marL="457200" lvl="1" indent="0">
              <a:buNone/>
            </a:pPr>
            <a:r>
              <a:rPr lang="fi-FI" sz="2000" dirty="0">
                <a:latin typeface="Consolas" panose="020B0609020204030204" pitchFamily="49" charset="0"/>
              </a:rPr>
              <a:t>CapellaSize: Ethan, Sophia, Emma, Liam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TrebleMaker: Sophia, Liam, Ethan, Emma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NoteWorthy: Emma, Sophia, Ethan, Liam</a:t>
            </a: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6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2AF4-8C46-682B-DB9A-90230013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SMP Utilities</a:t>
            </a:r>
            <a:r>
              <a:rPr lang="en-US" b="1"/>
              <a:t>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5ED69-6C1F-4FDE-FE75-DAFB7E4D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Our Python utilities allowed us to create a dictionary of preferences, keyed by student (or group) name.  For example: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&gt;&gt; prefs_dict['TrebleMaker']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['Sophia', 'Liam', 'Ethan', 'Emma’] </a:t>
            </a:r>
          </a:p>
          <a:p>
            <a:r>
              <a:rPr lang="en-US"/>
              <a:t>Another function within our utilities allows us to create a dictionary of “better matches”. </a:t>
            </a:r>
          </a:p>
          <a:p>
            <a:pPr lvl="1"/>
            <a:r>
              <a:rPr lang="en-US"/>
              <a:t>Given a matching, it will list better matches for the 1</a:t>
            </a:r>
            <a:r>
              <a:rPr lang="en-US" baseline="30000"/>
              <a:t>st</a:t>
            </a:r>
            <a:r>
              <a:rPr lang="en-US"/>
              <a:t> party in the match in rank order.  </a:t>
            </a:r>
          </a:p>
          <a:p>
            <a:pPr lvl="1"/>
            <a:r>
              <a:rPr lang="en-US"/>
              <a:t>For example if NoteWorthy was matched with Liam, its “better matches” are as follows: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&gt;&gt; better_matches[('NoteWorthy','Liam')]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['Emma', 'Sophia', 'Ethan']</a:t>
            </a:r>
          </a:p>
        </p:txBody>
      </p:sp>
    </p:spTree>
    <p:extLst>
      <p:ext uri="{BB962C8B-B14F-4D97-AF65-F5344CB8AC3E}">
        <p14:creationId xmlns:p14="http://schemas.microsoft.com/office/powerpoint/2010/main" val="160733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3541-F5BB-02F0-F3AF-62452449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533"/>
            <a:ext cx="10515600" cy="1325563"/>
          </a:xfrm>
        </p:spPr>
        <p:txBody>
          <a:bodyPr/>
          <a:lstStyle/>
          <a:p>
            <a:r>
              <a:rPr lang="en-US" dirty="0"/>
              <a:t>Model Formulation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B34CC-FA3B-C8FB-0E5B-660A9C9D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272003"/>
            <a:ext cx="9576816" cy="531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6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B84E-386A-360A-8656-553AFC0B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Implementation of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86E02-BFC6-EE2D-6C68-6610B0DAF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12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dirty="0"/>
              <a:t>In the code, singers are represented by “men”, groups by “women”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continued on the next slide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D695B-7B70-553F-42A2-182DA684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134"/>
          <a:stretch/>
        </p:blipFill>
        <p:spPr>
          <a:xfrm>
            <a:off x="1136001" y="2505456"/>
            <a:ext cx="9061537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A5EE-D752-BB1B-759E-864FB129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Implementation of the Model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45C3-9869-8D70-93DB-3C9FF1178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singers are represented by “men”, groups by “women”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6374E-8AEB-1005-78B4-B47B9578F0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67"/>
          <a:stretch/>
        </p:blipFill>
        <p:spPr>
          <a:xfrm>
            <a:off x="1645442" y="2464499"/>
            <a:ext cx="8901116" cy="402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6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7F63-E475-4EB2-31F8-3AF95B93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28706-9CFC-B2AA-DECB-BFD8167A9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812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Matches</a:t>
            </a:r>
            <a:r>
              <a:rPr lang="en-US" sz="2400" dirty="0"/>
              <a:t>: </a:t>
            </a:r>
          </a:p>
          <a:p>
            <a:r>
              <a:rPr lang="en-US" sz="2400" dirty="0"/>
              <a:t>Ethan - CapellaSize</a:t>
            </a:r>
          </a:p>
          <a:p>
            <a:r>
              <a:rPr lang="en-US" sz="2400" dirty="0"/>
              <a:t>Liam - DinTones</a:t>
            </a:r>
          </a:p>
          <a:p>
            <a:r>
              <a:rPr lang="en-US" sz="2400" dirty="0"/>
              <a:t>Sophia - TrebleMaker</a:t>
            </a:r>
          </a:p>
          <a:p>
            <a:r>
              <a:rPr lang="en-US" sz="2400" dirty="0"/>
              <a:t>Emma - NoteWorthy	</a:t>
            </a:r>
          </a:p>
          <a:p>
            <a:endParaRPr lang="en-US" sz="2400" dirty="0"/>
          </a:p>
          <a:p>
            <a:r>
              <a:rPr lang="en-US" sz="2400" dirty="0"/>
              <a:t>Status:  Optimal</a:t>
            </a:r>
          </a:p>
          <a:p>
            <a:r>
              <a:rPr lang="en-US" sz="2400" dirty="0"/>
              <a:t>Objective value =  None</a:t>
            </a:r>
          </a:p>
          <a:p>
            <a:r>
              <a:rPr lang="en-US" sz="2400" dirty="0"/>
              <a:t>Stable matching?  True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316999-6372-74D3-9470-FB320B407E7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0812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/>
              <a:t>Ranks singers received -</a:t>
            </a:r>
          </a:p>
          <a:p>
            <a:r>
              <a:rPr lang="en-US" dirty="0"/>
              <a:t>Ethan ranked CapellaSize 1</a:t>
            </a:r>
          </a:p>
          <a:p>
            <a:r>
              <a:rPr lang="en-US" dirty="0"/>
              <a:t>Liam ranked DinTones 1</a:t>
            </a:r>
          </a:p>
          <a:p>
            <a:r>
              <a:rPr lang="en-US" dirty="0"/>
              <a:t>Sophia ranked TrebleMaker 4</a:t>
            </a:r>
          </a:p>
          <a:p>
            <a:r>
              <a:rPr lang="en-US" dirty="0"/>
              <a:t>Emma ranked NoteWorthy 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Ranks groups received -</a:t>
            </a:r>
          </a:p>
          <a:p>
            <a:r>
              <a:rPr lang="en-US" dirty="0"/>
              <a:t>CapellaSize ranked Ethan 1</a:t>
            </a:r>
          </a:p>
          <a:p>
            <a:r>
              <a:rPr lang="en-US" dirty="0"/>
              <a:t>DinTones ranked Liam 2</a:t>
            </a:r>
          </a:p>
          <a:p>
            <a:r>
              <a:rPr lang="en-US" dirty="0"/>
              <a:t>TrebleMaker ranked Sophia 1</a:t>
            </a:r>
          </a:p>
          <a:p>
            <a:r>
              <a:rPr lang="en-US" dirty="0"/>
              <a:t>NoteWorthy ranked Emma 1</a:t>
            </a:r>
          </a:p>
        </p:txBody>
      </p:sp>
    </p:spTree>
    <p:extLst>
      <p:ext uri="{BB962C8B-B14F-4D97-AF65-F5344CB8AC3E}">
        <p14:creationId xmlns:p14="http://schemas.microsoft.com/office/powerpoint/2010/main" val="302789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CF2B-B731-9C8F-CC06-0D974F96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435608"/>
            <a:ext cx="10732008" cy="5057267"/>
          </a:xfrm>
        </p:spPr>
        <p:txBody>
          <a:bodyPr>
            <a:normAutofit/>
          </a:bodyPr>
          <a:lstStyle/>
          <a:p>
            <a:r>
              <a:rPr lang="en-US" dirty="0"/>
              <a:t>The singers received these rankings of their choices: 1, 1,4 and 2.  Can we do better?  Let’s add an objective to minimize the sum of the singer rankings.</a:t>
            </a:r>
          </a:p>
          <a:p>
            <a:r>
              <a:rPr lang="en-US" dirty="0"/>
              <a:t>The code to implement this objective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men_rank_obj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mens_ranks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]*x[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for m in men for w in women)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men_rank_obj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sz="1800" u="sng" dirty="0"/>
              <a:t>Notes</a:t>
            </a:r>
            <a:r>
              <a:rPr lang="en-US" sz="1800" dirty="0"/>
              <a:t>: </a:t>
            </a:r>
          </a:p>
          <a:p>
            <a:pPr lvl="1"/>
            <a:r>
              <a:rPr lang="en-US" sz="1800" dirty="0"/>
              <a:t>using men for singers again</a:t>
            </a:r>
          </a:p>
          <a:p>
            <a:pPr lvl="1"/>
            <a:r>
              <a:rPr lang="en-US" sz="1800" dirty="0" err="1"/>
              <a:t>mens_ranks</a:t>
            </a:r>
            <a:r>
              <a:rPr lang="en-US" sz="1800" dirty="0"/>
              <a:t> was computed earlier using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mens_ranks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prefs_to_ranks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mens_prefs_dict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dirty="0"/>
              <a:t>Results:</a:t>
            </a:r>
          </a:p>
          <a:p>
            <a:pPr marL="0" indent="0">
              <a:buNone/>
            </a:pPr>
            <a:r>
              <a:rPr lang="en-US" sz="2000" dirty="0"/>
              <a:t>objective value = 6</a:t>
            </a:r>
            <a:endParaRPr lang="en-US" sz="3200" dirty="0"/>
          </a:p>
          <a:p>
            <a:pPr lvl="1"/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719CB-4D13-2560-3C8E-4D215491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112" y="2209242"/>
            <a:ext cx="3181794" cy="8478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2B716-3C7A-8BC4-5A85-DBD843F8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A1D438-D2A3-EBF4-EC8A-FAB6AEB04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27465"/>
              </p:ext>
            </p:extLst>
          </p:nvPr>
        </p:nvGraphicFramePr>
        <p:xfrm>
          <a:off x="3046984" y="5271326"/>
          <a:ext cx="8128000" cy="15866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131876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10878834"/>
                    </a:ext>
                  </a:extLst>
                </a:gridCol>
              </a:tblGrid>
              <a:tr h="1586674">
                <a:tc>
                  <a:txBody>
                    <a:bodyPr/>
                    <a:lstStyle/>
                    <a:p>
                      <a:r>
                        <a:rPr lang="en-US" b="1" u="sng" dirty="0"/>
                        <a:t>Ranks singers received </a:t>
                      </a:r>
                      <a:r>
                        <a:rPr lang="en-US" dirty="0"/>
                        <a:t>-</a:t>
                      </a:r>
                    </a:p>
                    <a:p>
                      <a:r>
                        <a:rPr lang="en-US" dirty="0"/>
                        <a:t>Ethan ranked CapellaSize 1</a:t>
                      </a:r>
                    </a:p>
                    <a:p>
                      <a:r>
                        <a:rPr lang="en-US" dirty="0"/>
                        <a:t>Liam ranked DinTones 1</a:t>
                      </a:r>
                    </a:p>
                    <a:p>
                      <a:r>
                        <a:rPr lang="en-US" dirty="0"/>
                        <a:t>Sophia ranked NoteWorthy 3</a:t>
                      </a:r>
                    </a:p>
                    <a:p>
                      <a:r>
                        <a:rPr lang="en-US" dirty="0"/>
                        <a:t>Emma ranked TrebleMaker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 dirty="0"/>
                        <a:t>Ranks groups received</a:t>
                      </a:r>
                      <a:r>
                        <a:rPr lang="en-US" dirty="0"/>
                        <a:t> -</a:t>
                      </a:r>
                    </a:p>
                    <a:p>
                      <a:r>
                        <a:rPr lang="en-US" dirty="0"/>
                        <a:t>CapellaSize ranked Ethan 1</a:t>
                      </a:r>
                    </a:p>
                    <a:p>
                      <a:r>
                        <a:rPr lang="en-US" dirty="0"/>
                        <a:t>DinTones ranked Liam 2</a:t>
                      </a:r>
                    </a:p>
                    <a:p>
                      <a:r>
                        <a:rPr lang="en-US" dirty="0"/>
                        <a:t>NoteWorthy ranked Sophia 2</a:t>
                      </a:r>
                    </a:p>
                    <a:p>
                      <a:r>
                        <a:rPr lang="en-US" dirty="0"/>
                        <a:t>TrebleMaker ranked Emma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590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17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F6B4-EA1C-09F3-4C5A-3D06D5D7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Gale-Shapley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8636A-7424-BDDF-5A89-1A1015A36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Implementing the Gale-Shapley algorithm and to solve the problem with singers proposing, and then with groups proposing.</a:t>
            </a:r>
          </a:p>
          <a:p>
            <a:r>
              <a:rPr lang="en-US" sz="2400" dirty="0"/>
              <a:t>I used the utility code to create the preference dictionaries as before</a:t>
            </a:r>
          </a:p>
          <a:p>
            <a:r>
              <a:rPr lang="en-US" sz="2400" dirty="0"/>
              <a:t>I downloaded Gale-Shapley code from Google AI, inspected it, and ran results through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smp_utils.is_it_stable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/>
              <a:t>Results</a:t>
            </a:r>
            <a:r>
              <a:rPr lang="en-US" dirty="0"/>
              <a:t>:</a:t>
            </a:r>
          </a:p>
          <a:p>
            <a:pPr lvl="1"/>
            <a:r>
              <a:rPr lang="en-US" u="sng" dirty="0"/>
              <a:t>singers proposing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Ethan: CapellaSize		Liam: DinTones, </a:t>
            </a:r>
          </a:p>
          <a:p>
            <a:pPr marL="0" indent="0">
              <a:buNone/>
            </a:pPr>
            <a:r>
              <a:rPr lang="en-US" dirty="0"/>
              <a:t>	Sophia: NoteWorthy 	Emma: TrebleMaker</a:t>
            </a:r>
          </a:p>
          <a:p>
            <a:pPr lvl="1"/>
            <a:r>
              <a:rPr lang="en-US" u="sng" dirty="0"/>
              <a:t>groups proposing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DinTones: Liam		CapellaSize: Ethan</a:t>
            </a:r>
          </a:p>
          <a:p>
            <a:pPr marL="0" indent="0">
              <a:buNone/>
            </a:pPr>
            <a:r>
              <a:rPr lang="en-US" dirty="0"/>
              <a:t>	TrebleMaker: Sophia	NoteWorthy: Emma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78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17F6-552B-EC79-0A6C-24C40CF8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0129-47EF-25C4-6C6E-B6C607BAA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05312"/>
          </a:xfrm>
        </p:spPr>
        <p:txBody>
          <a:bodyPr numCol="3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u="sng" dirty="0"/>
              <a:t>IP – No objective</a:t>
            </a:r>
          </a:p>
          <a:p>
            <a:pPr marL="0" indent="0">
              <a:buNone/>
            </a:pPr>
            <a:r>
              <a:rPr lang="en-US" sz="1800" b="1" u="sng" dirty="0"/>
              <a:t>Ranks singers received -</a:t>
            </a:r>
          </a:p>
          <a:p>
            <a:r>
              <a:rPr lang="en-US" sz="1800" dirty="0"/>
              <a:t>Ethan ranked CapellaSize 1</a:t>
            </a:r>
          </a:p>
          <a:p>
            <a:r>
              <a:rPr lang="en-US" sz="1800" dirty="0"/>
              <a:t>Liam ranked DinTones 1</a:t>
            </a:r>
          </a:p>
          <a:p>
            <a:r>
              <a:rPr lang="en-US" sz="1800" dirty="0"/>
              <a:t>Sophia ranked TrebleMaker 4</a:t>
            </a:r>
          </a:p>
          <a:p>
            <a:r>
              <a:rPr lang="en-US" sz="1800" dirty="0"/>
              <a:t>Emma ranked NoteWorthy 2</a:t>
            </a:r>
          </a:p>
          <a:p>
            <a:pPr marL="0" indent="0">
              <a:buNone/>
            </a:pPr>
            <a:r>
              <a:rPr lang="en-US" sz="1800" b="1" u="sng" dirty="0"/>
              <a:t>Ranks groups received -</a:t>
            </a:r>
          </a:p>
          <a:p>
            <a:r>
              <a:rPr lang="en-US" sz="1800" dirty="0"/>
              <a:t>CapellaSize ranked Ethan 1</a:t>
            </a:r>
          </a:p>
          <a:p>
            <a:r>
              <a:rPr lang="en-US" sz="1800" dirty="0"/>
              <a:t>DinTones ranked Liam 2</a:t>
            </a:r>
          </a:p>
          <a:p>
            <a:r>
              <a:rPr lang="en-US" sz="1800" dirty="0"/>
              <a:t>TrebleMaker ranked Sophia 1</a:t>
            </a:r>
          </a:p>
          <a:p>
            <a:r>
              <a:rPr lang="en-US" sz="1800" dirty="0"/>
              <a:t>NoteWorthy ranked Emma 1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u="sng" dirty="0"/>
              <a:t>IP – min singers rankings</a:t>
            </a:r>
          </a:p>
          <a:p>
            <a:pPr marL="0" indent="0" algn="l" rtl="0" eaLnBrk="1" fontAlgn="t" latinLnBrk="0" hangingPunct="1">
              <a:buNone/>
            </a:pPr>
            <a:r>
              <a:rPr lang="en-US" sz="1800" b="1" i="0" u="sng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Ranks singers received </a:t>
            </a: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-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Ethan ranked CapellaSize 1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Liam ranked DinTones 1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Sophia ranked NoteWorthy 3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Emma ranked TrebleMaker 1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 algn="l" rtl="0" eaLnBrk="1" fontAlgn="t" latinLnBrk="0" hangingPunct="1">
              <a:buNone/>
            </a:pPr>
            <a:r>
              <a:rPr lang="en-US" sz="1800" b="1" i="0" u="sng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Ranks groups received</a:t>
            </a: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CapellaSize ranked Ethan 1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DinTones ranked Liam 2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NoteWorthy ranked Sophia 2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TrebleMaker ranked Emma 4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u="sng" dirty="0"/>
          </a:p>
          <a:p>
            <a:pPr marL="0" indent="0">
              <a:buNone/>
            </a:pPr>
            <a:endParaRPr lang="en-US" sz="1800" b="1" u="sng" dirty="0"/>
          </a:p>
          <a:p>
            <a:pPr marL="0" indent="0">
              <a:buNone/>
            </a:pPr>
            <a:endParaRPr lang="en-US" sz="1800" b="1" u="sng" dirty="0"/>
          </a:p>
          <a:p>
            <a:pPr marL="0" indent="0">
              <a:buNone/>
            </a:pPr>
            <a:r>
              <a:rPr lang="en-US" sz="1800" b="1" u="sng" dirty="0"/>
              <a:t>Gale-Shapley</a:t>
            </a:r>
          </a:p>
          <a:p>
            <a:pPr marL="0" indent="0">
              <a:buNone/>
            </a:pPr>
            <a:r>
              <a:rPr lang="en-US" sz="1800" b="1" i="0" u="sng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Ranks singers received </a:t>
            </a: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-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sz="1800" u="sng" dirty="0"/>
              <a:t>Ethan ranked CapellaSize 1</a:t>
            </a:r>
          </a:p>
          <a:p>
            <a:r>
              <a:rPr lang="en-US" sz="1800" u="sng" dirty="0"/>
              <a:t>Liam ranked DinTones 1</a:t>
            </a:r>
          </a:p>
          <a:p>
            <a:r>
              <a:rPr lang="en-US" sz="1800" u="sng" dirty="0"/>
              <a:t>Sophia ranked NoteWorthy 3</a:t>
            </a:r>
          </a:p>
          <a:p>
            <a:r>
              <a:rPr lang="en-US" sz="1800" u="sng" dirty="0"/>
              <a:t>Emma ranked TrebleMaker 1</a:t>
            </a:r>
          </a:p>
          <a:p>
            <a:pPr marL="0" indent="0">
              <a:buNone/>
            </a:pPr>
            <a:r>
              <a:rPr lang="en-US" sz="1800" b="1" i="0" u="sng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Ranks groups received</a:t>
            </a: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sz="1800" u="sng" dirty="0"/>
              <a:t>CapellaSize ranked Ethan 1</a:t>
            </a:r>
          </a:p>
          <a:p>
            <a:r>
              <a:rPr lang="en-US" sz="1800" u="sng" dirty="0"/>
              <a:t>DinTones ranked Liam 2</a:t>
            </a:r>
          </a:p>
          <a:p>
            <a:r>
              <a:rPr lang="en-US" sz="1800" u="sng" dirty="0"/>
              <a:t>NoteWorthy ranked Sophia 2</a:t>
            </a:r>
          </a:p>
          <a:p>
            <a:r>
              <a:rPr lang="en-US" sz="1800" u="sng" dirty="0"/>
              <a:t>TrebleMaker ranked Emma 4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47ED5-12F2-4669-BEA5-4311120E2485}"/>
              </a:ext>
            </a:extLst>
          </p:cNvPr>
          <p:cNvSpPr txBox="1"/>
          <p:nvPr/>
        </p:nvSpPr>
        <p:spPr>
          <a:xfrm>
            <a:off x="406400" y="5126182"/>
            <a:ext cx="110660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min singers </a:t>
            </a:r>
            <a:r>
              <a:rPr lang="en-US" dirty="0"/>
              <a:t>objective did work to skew the results to be more favorable to the singers (sum of ranks = 6) as compared to </a:t>
            </a:r>
            <a:r>
              <a:rPr lang="en-US" b="1" dirty="0"/>
              <a:t>no objective </a:t>
            </a:r>
            <a:r>
              <a:rPr lang="en-US" dirty="0"/>
              <a:t>(sum of ranks = 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Gale-Shapley </a:t>
            </a:r>
            <a:r>
              <a:rPr lang="en-US" dirty="0"/>
              <a:t>(with singers proposing) produces the same results as the IP with the min singers objective.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Interestingly, if the groups propose instead of singers, the Gale-Shapley results match the solution to </a:t>
            </a:r>
            <a:r>
              <a:rPr lang="en-US"/>
              <a:t>the IP with </a:t>
            </a:r>
            <a:r>
              <a:rPr lang="en-US" dirty="0"/>
              <a:t>no objective.</a:t>
            </a:r>
          </a:p>
        </p:txBody>
      </p:sp>
    </p:spTree>
    <p:extLst>
      <p:ext uri="{BB962C8B-B14F-4D97-AF65-F5344CB8AC3E}">
        <p14:creationId xmlns:p14="http://schemas.microsoft.com/office/powerpoint/2010/main" val="4079947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841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Courier New</vt:lpstr>
      <vt:lpstr>Office Theme</vt:lpstr>
      <vt:lpstr>Singer Matching</vt:lpstr>
      <vt:lpstr>Problem Statement</vt:lpstr>
      <vt:lpstr>Data</vt:lpstr>
      <vt:lpstr>Using SMP Utilities </vt:lpstr>
      <vt:lpstr>Model Formulation</vt:lpstr>
      <vt:lpstr>Computer Implementation of the Model</vt:lpstr>
      <vt:lpstr>Computer Implementation of the Model (continued)</vt:lpstr>
      <vt:lpstr>Results</vt:lpstr>
      <vt:lpstr>Objective</vt:lpstr>
      <vt:lpstr>Gale-Shapley Results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2025-02-14T13:37:23Z</dcterms:created>
  <dcterms:modified xsi:type="dcterms:W3CDTF">2026-02-10T15:34:38Z</dcterms:modified>
</cp:coreProperties>
</file>