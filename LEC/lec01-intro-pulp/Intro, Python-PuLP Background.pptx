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5" r:id="rId3"/>
    <p:sldId id="271" r:id="rId4"/>
    <p:sldId id="269" r:id="rId5"/>
    <p:sldId id="270" r:id="rId6"/>
    <p:sldId id="262" r:id="rId7"/>
    <p:sldId id="256" r:id="rId8"/>
    <p:sldId id="257" r:id="rId9"/>
    <p:sldId id="258" r:id="rId10"/>
    <p:sldId id="259" r:id="rId11"/>
    <p:sldId id="260" r:id="rId12"/>
    <p:sldId id="274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D00052-5A47-4EA0-B660-136B4FD2571B}" v="124" dt="2026-01-12T19:22:34.9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08" y="64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undo custSel addSld modSld">
      <pc:chgData name="Frommer, Ian Dr. (EDU)" userId="28ca3ff0-544f-450a-928b-99e19cf49b89" providerId="ADAL" clId="{FDDA6EB0-4FD6-4516-ACA5-A4CAC6441DA7}" dt="2026-01-12T19:25:11.084" v="406" actId="20577"/>
      <pc:docMkLst>
        <pc:docMk/>
      </pc:docMkLst>
      <pc:sldChg chg="modSp mod">
        <pc:chgData name="Frommer, Ian Dr. (EDU)" userId="28ca3ff0-544f-450a-928b-99e19cf49b89" providerId="ADAL" clId="{FDDA6EB0-4FD6-4516-ACA5-A4CAC6441DA7}" dt="2026-01-12T19:25:11.084" v="406" actId="20577"/>
        <pc:sldMkLst>
          <pc:docMk/>
          <pc:sldMk cId="1353494243" sldId="260"/>
        </pc:sldMkLst>
        <pc:spChg chg="mod">
          <ac:chgData name="Frommer, Ian Dr. (EDU)" userId="28ca3ff0-544f-450a-928b-99e19cf49b89" providerId="ADAL" clId="{FDDA6EB0-4FD6-4516-ACA5-A4CAC6441DA7}" dt="2026-01-12T19:25:11.084" v="406" actId="20577"/>
          <ac:spMkLst>
            <pc:docMk/>
            <pc:sldMk cId="1353494243" sldId="260"/>
            <ac:spMk id="4" creationId="{00000000-0000-0000-0000-000000000000}"/>
          </ac:spMkLst>
        </pc:spChg>
      </pc:sldChg>
      <pc:sldChg chg="modSp mod modAnim">
        <pc:chgData name="Frommer, Ian Dr. (EDU)" userId="28ca3ff0-544f-450a-928b-99e19cf49b89" providerId="ADAL" clId="{FDDA6EB0-4FD6-4516-ACA5-A4CAC6441DA7}" dt="2026-01-12T18:24:41.072" v="133"/>
        <pc:sldMkLst>
          <pc:docMk/>
          <pc:sldMk cId="1355658535" sldId="271"/>
        </pc:sldMkLst>
        <pc:spChg chg="mod">
          <ac:chgData name="Frommer, Ian Dr. (EDU)" userId="28ca3ff0-544f-450a-928b-99e19cf49b89" providerId="ADAL" clId="{FDDA6EB0-4FD6-4516-ACA5-A4CAC6441DA7}" dt="2026-01-12T18:24:30.363" v="132" actId="20577"/>
          <ac:spMkLst>
            <pc:docMk/>
            <pc:sldMk cId="1355658535" sldId="271"/>
            <ac:spMk id="9" creationId="{40F2457A-102C-CB5D-A6EA-633D43CA2CEB}"/>
          </ac:spMkLst>
        </pc:spChg>
      </pc:sldChg>
      <pc:sldChg chg="modSp mod modAnim">
        <pc:chgData name="Frommer, Ian Dr. (EDU)" userId="28ca3ff0-544f-450a-928b-99e19cf49b89" providerId="ADAL" clId="{FDDA6EB0-4FD6-4516-ACA5-A4CAC6441DA7}" dt="2026-01-12T18:33:10.774" v="352" actId="1076"/>
        <pc:sldMkLst>
          <pc:docMk/>
          <pc:sldMk cId="3946480446" sldId="274"/>
        </pc:sldMkLst>
        <pc:spChg chg="mod">
          <ac:chgData name="Frommer, Ian Dr. (EDU)" userId="28ca3ff0-544f-450a-928b-99e19cf49b89" providerId="ADAL" clId="{FDDA6EB0-4FD6-4516-ACA5-A4CAC6441DA7}" dt="2026-01-12T18:33:06.944" v="351" actId="1076"/>
          <ac:spMkLst>
            <pc:docMk/>
            <pc:sldMk cId="3946480446" sldId="274"/>
            <ac:spMk id="8" creationId="{FFD7D65F-B567-4425-8629-D18106CB52B9}"/>
          </ac:spMkLst>
        </pc:spChg>
        <pc:spChg chg="mod">
          <ac:chgData name="Frommer, Ian Dr. (EDU)" userId="28ca3ff0-544f-450a-928b-99e19cf49b89" providerId="ADAL" clId="{FDDA6EB0-4FD6-4516-ACA5-A4CAC6441DA7}" dt="2026-01-12T18:33:10.774" v="352" actId="1076"/>
          <ac:spMkLst>
            <pc:docMk/>
            <pc:sldMk cId="3946480446" sldId="274"/>
            <ac:spMk id="9" creationId="{0F6F4B2B-384E-4BF3-BB67-6B564378D34F}"/>
          </ac:spMkLst>
        </pc:spChg>
      </pc:sldChg>
      <pc:sldChg chg="addSp modSp new mod modAnim">
        <pc:chgData name="Frommer, Ian Dr. (EDU)" userId="28ca3ff0-544f-450a-928b-99e19cf49b89" providerId="ADAL" clId="{FDDA6EB0-4FD6-4516-ACA5-A4CAC6441DA7}" dt="2026-01-12T18:59:16.410" v="359"/>
        <pc:sldMkLst>
          <pc:docMk/>
          <pc:sldMk cId="368451052" sldId="276"/>
        </pc:sldMkLst>
        <pc:spChg chg="add mod">
          <ac:chgData name="Frommer, Ian Dr. (EDU)" userId="28ca3ff0-544f-450a-928b-99e19cf49b89" providerId="ADAL" clId="{FDDA6EB0-4FD6-4516-ACA5-A4CAC6441DA7}" dt="2026-01-12T18:31:16.303" v="201" actId="1076"/>
          <ac:spMkLst>
            <pc:docMk/>
            <pc:sldMk cId="368451052" sldId="276"/>
            <ac:spMk id="4" creationId="{418BF2B1-0A00-6D7B-F070-BFC47916C3F7}"/>
          </ac:spMkLst>
        </pc:spChg>
        <pc:picChg chg="add mod">
          <ac:chgData name="Frommer, Ian Dr. (EDU)" userId="28ca3ff0-544f-450a-928b-99e19cf49b89" providerId="ADAL" clId="{FDDA6EB0-4FD6-4516-ACA5-A4CAC6441DA7}" dt="2026-01-12T18:59:11.821" v="358" actId="1076"/>
          <ac:picMkLst>
            <pc:docMk/>
            <pc:sldMk cId="368451052" sldId="276"/>
            <ac:picMk id="5" creationId="{5ACC34BF-427C-7BDC-05FB-62A858308C3A}"/>
          </ac:picMkLst>
        </pc:picChg>
        <pc:picChg chg="add mod">
          <ac:chgData name="Frommer, Ian Dr. (EDU)" userId="28ca3ff0-544f-450a-928b-99e19cf49b89" providerId="ADAL" clId="{FDDA6EB0-4FD6-4516-ACA5-A4CAC6441DA7}" dt="2026-01-12T18:31:08.026" v="198" actId="1076"/>
          <ac:picMkLst>
            <pc:docMk/>
            <pc:sldMk cId="368451052" sldId="276"/>
            <ac:picMk id="1026" creationId="{B21B8F3A-26C8-9042-E674-E5E5F133D81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B34-D1EE-4F8A-AF72-7B8905EC08B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6363-CEC1-4986-AED6-D17CC614AF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7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B34-D1EE-4F8A-AF72-7B8905EC08B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6363-CEC1-4986-AED6-D17CC614AF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1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B34-D1EE-4F8A-AF72-7B8905EC08B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6363-CEC1-4986-AED6-D17CC614AF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0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B34-D1EE-4F8A-AF72-7B8905EC08B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6363-CEC1-4986-AED6-D17CC614AF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74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B34-D1EE-4F8A-AF72-7B8905EC08B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6363-CEC1-4986-AED6-D17CC614AF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1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B34-D1EE-4F8A-AF72-7B8905EC08B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6363-CEC1-4986-AED6-D17CC614AF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5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B34-D1EE-4F8A-AF72-7B8905EC08B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6363-CEC1-4986-AED6-D17CC614AF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43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B34-D1EE-4F8A-AF72-7B8905EC08B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6363-CEC1-4986-AED6-D17CC614AF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72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B34-D1EE-4F8A-AF72-7B8905EC08B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6363-CEC1-4986-AED6-D17CC614AF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540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B34-D1EE-4F8A-AF72-7B8905EC08B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6363-CEC1-4986-AED6-D17CC614AF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35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B34-D1EE-4F8A-AF72-7B8905EC08B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6363-CEC1-4986-AED6-D17CC614AF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6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B34-D1EE-4F8A-AF72-7B8905EC08B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06363-CEC1-4986-AED6-D17CC614AF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52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-users.math.umn.edu/~arnold/disasters/patriot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bc.com/news/magazine-27509559" TargetMode="External"/><Relationship Id="rId3" Type="http://schemas.openxmlformats.org/officeDocument/2006/relationships/hyperlink" Target="https://en.wikipedia.org/wiki/Pentium_FDIV_bug" TargetMode="External"/><Relationship Id="rId7" Type="http://schemas.openxmlformats.org/officeDocument/2006/relationships/hyperlink" Target="https://raygun.com/blog/costly-software-errors-history/" TargetMode="External"/><Relationship Id="rId2" Type="http://schemas.openxmlformats.org/officeDocument/2006/relationships/hyperlink" Target="https://www.scientificamerican.com/article/pogue-5-most-embarrassing-software-bugs-in-histor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zdnet.com/article/the-top-10-it-disasters-of-all-time/" TargetMode="External"/><Relationship Id="rId5" Type="http://schemas.openxmlformats.org/officeDocument/2006/relationships/hyperlink" Target="https://www.worldsciencefestival.com/2014/11/six-tiny-scientific-mistakes-created-huge-disasters/" TargetMode="External"/><Relationship Id="rId4" Type="http://schemas.openxmlformats.org/officeDocument/2006/relationships/hyperlink" Target="https://www.edn.com/mariner-1-destroyed-due-to-code-error-july-22-1962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Intermediate </a:t>
            </a:r>
            <a:br>
              <a:rPr lang="en-US" dirty="0"/>
            </a:br>
            <a:r>
              <a:rPr lang="en-US" dirty="0"/>
              <a:t>Deterministic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Day 1</a:t>
            </a:r>
          </a:p>
        </p:txBody>
      </p:sp>
    </p:spTree>
    <p:extLst>
      <p:ext uri="{BB962C8B-B14F-4D97-AF65-F5344CB8AC3E}">
        <p14:creationId xmlns:p14="http://schemas.microsoft.com/office/powerpoint/2010/main" val="4032291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7BEF-7E7C-683B-5605-44C4D7E8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06B03-7F5B-7EC2-052D-03CF22CBC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Information &amp; Course Documents</a:t>
            </a:r>
          </a:p>
          <a:p>
            <a:r>
              <a:rPr lang="en-US" dirty="0"/>
              <a:t>Attention to Detail in ORDA</a:t>
            </a:r>
          </a:p>
          <a:p>
            <a:r>
              <a:rPr lang="en-US" dirty="0"/>
              <a:t>Introduction to </a:t>
            </a:r>
            <a:r>
              <a:rPr lang="en-US" dirty="0" err="1"/>
              <a:t>PuLP</a:t>
            </a:r>
            <a:r>
              <a:rPr lang="en-US" dirty="0"/>
              <a:t> – a linear programming library for Python</a:t>
            </a:r>
          </a:p>
          <a:p>
            <a:r>
              <a:rPr lang="en-US" dirty="0"/>
              <a:t>Python constructs used in </a:t>
            </a:r>
            <a:r>
              <a:rPr lang="en-US" dirty="0" err="1"/>
              <a:t>PuLP</a:t>
            </a:r>
            <a:r>
              <a:rPr lang="en-US" dirty="0"/>
              <a:t> (</a:t>
            </a:r>
            <a:r>
              <a:rPr lang="en-US"/>
              <a:t>time permitting today)</a:t>
            </a:r>
            <a:endParaRPr lang="en-US" dirty="0"/>
          </a:p>
          <a:p>
            <a:pPr lvl="1"/>
            <a:r>
              <a:rPr lang="en-US" dirty="0"/>
              <a:t>list comprehensions</a:t>
            </a:r>
          </a:p>
          <a:p>
            <a:pPr lvl="1"/>
            <a:r>
              <a:rPr lang="en-US" dirty="0"/>
              <a:t>dictionary comprehensions</a:t>
            </a:r>
          </a:p>
        </p:txBody>
      </p:sp>
    </p:spTree>
    <p:extLst>
      <p:ext uri="{BB962C8B-B14F-4D97-AF65-F5344CB8AC3E}">
        <p14:creationId xmlns:p14="http://schemas.microsoft.com/office/powerpoint/2010/main" val="888530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9A88-1B18-4058-8F8A-7A6B631BB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533" y="18255"/>
            <a:ext cx="10515600" cy="1325563"/>
          </a:xfrm>
        </p:spPr>
        <p:txBody>
          <a:bodyPr/>
          <a:lstStyle/>
          <a:p>
            <a:r>
              <a:rPr lang="en-US" dirty="0"/>
              <a:t>Course Information and Course Documents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0F2457A-102C-CB5D-A6EA-633D43CA2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833145"/>
          </a:xfrm>
        </p:spPr>
        <p:txBody>
          <a:bodyPr/>
          <a:lstStyle/>
          <a:p>
            <a:r>
              <a:rPr lang="en-US" dirty="0"/>
              <a:t>See course documents:</a:t>
            </a:r>
          </a:p>
          <a:p>
            <a:pPr lvl="1"/>
            <a:r>
              <a:rPr lang="en-US" dirty="0"/>
              <a:t>course description</a:t>
            </a:r>
          </a:p>
          <a:p>
            <a:pPr lvl="1"/>
            <a:r>
              <a:rPr lang="en-US" dirty="0"/>
              <a:t>syllabus</a:t>
            </a:r>
          </a:p>
          <a:p>
            <a:pPr lvl="1"/>
            <a:r>
              <a:rPr lang="en-US" dirty="0"/>
              <a:t>homework format guide</a:t>
            </a:r>
          </a:p>
          <a:p>
            <a:pPr lvl="1"/>
            <a:r>
              <a:rPr lang="en-US" dirty="0" err="1"/>
              <a:t>conda</a:t>
            </a:r>
            <a:r>
              <a:rPr lang="en-US" dirty="0"/>
              <a:t> environment</a:t>
            </a:r>
          </a:p>
          <a:p>
            <a:endParaRPr lang="en-US" dirty="0"/>
          </a:p>
          <a:p>
            <a:r>
              <a:rPr lang="en-US"/>
              <a:t>See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idm_course</a:t>
            </a:r>
            <a:r>
              <a:rPr lang="en-US"/>
              <a:t> GitHub repository</a:t>
            </a:r>
            <a:endParaRPr lang="en-US" dirty="0"/>
          </a:p>
          <a:p>
            <a:pPr lvl="1"/>
            <a:r>
              <a:rPr lang="en-US"/>
              <a:t>Reminder:  </a:t>
            </a:r>
          </a:p>
          <a:p>
            <a:pPr marL="457200" lvl="1" indent="0">
              <a:buNone/>
            </a:pPr>
            <a:r>
              <a:rPr lang="en-US"/>
              <a:t>**⚠️ Do not edit files in your local copy of this repository.**  </a:t>
            </a:r>
          </a:p>
          <a:p>
            <a:pPr marL="457200" lvl="1" indent="0">
              <a:buNone/>
            </a:pPr>
            <a:r>
              <a:rPr lang="en-US"/>
              <a:t>**Copy anything you want to work on into your own workspace.** </a:t>
            </a:r>
          </a:p>
          <a:p>
            <a:pPr marL="457200" lvl="1" indent="0">
              <a:buNone/>
            </a:pPr>
            <a:r>
              <a:rPr lang="en-US" sz="2000"/>
              <a:t>	Or use the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student_work </a:t>
            </a:r>
            <a:r>
              <a:rPr lang="en-US" sz="2000"/>
              <a:t>folder in the repo, Git will ignore that.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5565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to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NASA Mars Climate Orbiter, 1998 </a:t>
            </a:r>
          </a:p>
          <a:p>
            <a:pPr lvl="1"/>
            <a:r>
              <a:rPr lang="en-US" dirty="0"/>
              <a:t>$655-million robotic space probe </a:t>
            </a:r>
          </a:p>
          <a:p>
            <a:pPr lvl="1"/>
            <a:r>
              <a:rPr lang="en-US" dirty="0"/>
              <a:t>Burned up in Mars' upper atmosphere due to entering at wrong angle</a:t>
            </a:r>
          </a:p>
          <a:p>
            <a:pPr lvl="1"/>
            <a:r>
              <a:rPr lang="en-US" b="1" dirty="0"/>
              <a:t>Cause:  use of wrong units </a:t>
            </a:r>
            <a:r>
              <a:rPr lang="en-US" dirty="0"/>
              <a:t>(pound–seconds instead of newton–seconds) in software that ran thrusters</a:t>
            </a:r>
          </a:p>
          <a:p>
            <a:r>
              <a:rPr lang="en-US" b="1" dirty="0"/>
              <a:t>Mariner 1 Spacecraft, 1962</a:t>
            </a:r>
          </a:p>
          <a:p>
            <a:pPr lvl="1"/>
            <a:r>
              <a:rPr lang="en-US" dirty="0"/>
              <a:t>Veered off course minutes after launch</a:t>
            </a:r>
          </a:p>
          <a:p>
            <a:pPr lvl="1"/>
            <a:r>
              <a:rPr lang="en-US" dirty="0"/>
              <a:t>Potential for crash in North Atlantic shipping lanes or inhabited area</a:t>
            </a:r>
          </a:p>
          <a:p>
            <a:pPr lvl="1"/>
            <a:r>
              <a:rPr lang="en-US" b="1" dirty="0"/>
              <a:t>Cause: a missing hyphen </a:t>
            </a:r>
            <a:r>
              <a:rPr lang="en-US" dirty="0"/>
              <a:t>in a data-editing computer program resulting in incorrect guidance signals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707" y="313387"/>
            <a:ext cx="1718093" cy="16910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504484" y="2076637"/>
            <a:ext cx="26201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Source: http://www.vitalstatistics.info/uploads/mars%20climate%20orbiter.jpg</a:t>
            </a:r>
          </a:p>
        </p:txBody>
      </p:sp>
      <p:pic>
        <p:nvPicPr>
          <p:cNvPr id="1028" name="Picture 4" descr="https://www.edn.com/wp-content/uploads/media-1193429-mariner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9753" y="3554790"/>
            <a:ext cx="1616563" cy="143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216662" y="5608307"/>
            <a:ext cx="18340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Source:  https://www.edn.com/wp-content/uploads/media-1193429-mariner-1.jpg</a:t>
            </a:r>
          </a:p>
        </p:txBody>
      </p:sp>
    </p:spTree>
    <p:extLst>
      <p:ext uri="{BB962C8B-B14F-4D97-AF65-F5344CB8AC3E}">
        <p14:creationId xmlns:p14="http://schemas.microsoft.com/office/powerpoint/2010/main" val="1820345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to Detail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Patriot Missile Failure, 1991</a:t>
            </a:r>
          </a:p>
          <a:p>
            <a:pPr lvl="1"/>
            <a:r>
              <a:rPr lang="en-US" dirty="0"/>
              <a:t>Gulf War US Patriot Missile battery in Saudi Arabia</a:t>
            </a:r>
          </a:p>
          <a:p>
            <a:pPr lvl="1"/>
            <a:r>
              <a:rPr lang="en-US" dirty="0"/>
              <a:t>Failed to track and intercept incoming Iraqi Scud missile</a:t>
            </a:r>
          </a:p>
          <a:p>
            <a:pPr lvl="1"/>
            <a:r>
              <a:rPr lang="en-US" dirty="0"/>
              <a:t>28 soldiers killed, 100 others injured</a:t>
            </a:r>
          </a:p>
          <a:p>
            <a:pPr lvl="1"/>
            <a:r>
              <a:rPr lang="en-US" dirty="0"/>
              <a:t>Cause: inaccurate calculation of time since computer boot-up</a:t>
            </a:r>
          </a:p>
          <a:p>
            <a:pPr lvl="2"/>
            <a:r>
              <a:rPr lang="en-US" dirty="0"/>
              <a:t>Truncation of a repeating decimal expansion led to a very small error that grew in time </a:t>
            </a:r>
          </a:p>
          <a:p>
            <a:pPr lvl="2"/>
            <a:r>
              <a:rPr lang="en-US" dirty="0"/>
              <a:t>Resulted in 0.34 second discrepancy, equivalent to over half a kilometer of Scud travel distance</a:t>
            </a:r>
          </a:p>
          <a:p>
            <a:pPr lvl="1"/>
            <a:r>
              <a:rPr lang="en-US" dirty="0">
                <a:hlinkClick r:id="rId2"/>
              </a:rPr>
              <a:t>Read more here:  http://www-users.math.umn.edu/~arnold//disasters/patriot.html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001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more on these examples and others: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hlinkClick r:id="rId2"/>
              </a:rPr>
              <a:t>https://www.scientificamerican.com/article/pogue-5-most-embarrassing-software-bugs-in-history/</a:t>
            </a:r>
            <a:endParaRPr lang="en-US" dirty="0"/>
          </a:p>
          <a:p>
            <a:r>
              <a:rPr lang="en-US" dirty="0">
                <a:hlinkClick r:id="rId3"/>
              </a:rPr>
              <a:t>https://en.wikipedia.org/wiki/Pentium_FDIV_bug</a:t>
            </a:r>
            <a:endParaRPr lang="en-US" dirty="0"/>
          </a:p>
          <a:p>
            <a:r>
              <a:rPr lang="en-US" dirty="0">
                <a:hlinkClick r:id="rId4"/>
              </a:rPr>
              <a:t>https://www.edn.com/mariner-1-destroyed-due-to-code-error-july-22-1962/</a:t>
            </a:r>
            <a:endParaRPr lang="en-US" dirty="0"/>
          </a:p>
          <a:p>
            <a:r>
              <a:rPr lang="en-US" dirty="0">
                <a:hlinkClick r:id="rId5"/>
              </a:rPr>
              <a:t>Six Tiny Scientific Mistakes That Created Huge Disasters | World Science Festival</a:t>
            </a:r>
            <a:endParaRPr lang="en-US" dirty="0"/>
          </a:p>
          <a:p>
            <a:r>
              <a:rPr lang="en-US" dirty="0">
                <a:hlinkClick r:id="rId6"/>
              </a:rPr>
              <a:t>The top 10 IT disasters of all time | ZDNet</a:t>
            </a:r>
            <a:endParaRPr lang="en-US" dirty="0"/>
          </a:p>
          <a:p>
            <a:r>
              <a:rPr lang="en-US" dirty="0">
                <a:hlinkClick r:id="rId7"/>
              </a:rPr>
              <a:t>11 of the most costly software errors in history [2019 update] · </a:t>
            </a:r>
            <a:r>
              <a:rPr lang="en-US" dirty="0" err="1">
                <a:hlinkClick r:id="rId7"/>
              </a:rPr>
              <a:t>Raygun</a:t>
            </a:r>
            <a:r>
              <a:rPr lang="en-US" dirty="0">
                <a:hlinkClick r:id="rId7"/>
              </a:rPr>
              <a:t> Blog</a:t>
            </a:r>
            <a:endParaRPr lang="en-US" dirty="0"/>
          </a:p>
          <a:p>
            <a:r>
              <a:rPr lang="en-US" dirty="0">
                <a:hlinkClick r:id="rId8"/>
              </a:rPr>
              <a:t>Great miscalculations: The French railway error and 10 others - BBC News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507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4340"/>
            <a:ext cx="9144000" cy="1373757"/>
          </a:xfrm>
        </p:spPr>
        <p:txBody>
          <a:bodyPr/>
          <a:lstStyle/>
          <a:p>
            <a:r>
              <a:rPr lang="en-US" b="1" dirty="0"/>
              <a:t>Python &amp; </a:t>
            </a:r>
            <a:r>
              <a:rPr lang="en-US" b="1" dirty="0" err="1"/>
              <a:t>PuLP</a:t>
            </a:r>
            <a:r>
              <a:rPr lang="en-US" b="1" dirty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749" y="1862487"/>
            <a:ext cx="3880101" cy="4191000"/>
          </a:xfrm>
          <a:prstGeom prst="rect">
            <a:avLst/>
          </a:prstGeom>
        </p:spPr>
      </p:pic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84C1656-DCD5-A031-AD9C-0E01FA6E1A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675"/>
          <a:stretch/>
        </p:blipFill>
        <p:spPr>
          <a:xfrm>
            <a:off x="138251" y="1952625"/>
            <a:ext cx="6480908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884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in Optimization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10515600" cy="1828799"/>
          </a:xfrm>
        </p:spPr>
        <p:txBody>
          <a:bodyPr/>
          <a:lstStyle/>
          <a:p>
            <a:pPr>
              <a:buNone/>
            </a:pPr>
            <a:r>
              <a:rPr lang="en-US" dirty="0"/>
              <a:t>Python “lets you work quickly and integrate systems more effectively” </a:t>
            </a:r>
          </a:p>
          <a:p>
            <a:pPr>
              <a:buNone/>
            </a:pPr>
            <a:r>
              <a:rPr lang="en-US" sz="1800" dirty="0"/>
              <a:t>										</a:t>
            </a:r>
          </a:p>
          <a:p>
            <a:pPr lvl="1">
              <a:buNone/>
            </a:pPr>
            <a:r>
              <a:rPr lang="en-US" dirty="0"/>
              <a:t>“integrate systems” – we will be integrating sets of </a:t>
            </a:r>
            <a:r>
              <a:rPr lang="en-US" b="1" dirty="0"/>
              <a:t>data</a:t>
            </a:r>
            <a:r>
              <a:rPr lang="en-US" dirty="0"/>
              <a:t> with </a:t>
            </a:r>
            <a:r>
              <a:rPr lang="en-US" b="1" dirty="0"/>
              <a:t>optimization</a:t>
            </a:r>
            <a:r>
              <a:rPr lang="en-US" dirty="0"/>
              <a:t> models and solvers to produce solutions</a:t>
            </a:r>
          </a:p>
        </p:txBody>
      </p:sp>
      <p:grpSp>
        <p:nvGrpSpPr>
          <p:cNvPr id="12" name="Group 11"/>
          <p:cNvGrpSpPr/>
          <p:nvPr/>
        </p:nvGrpSpPr>
        <p:grpSpPr>
          <a:xfrm rot="10800000">
            <a:off x="8084575" y="5134634"/>
            <a:ext cx="331081" cy="387302"/>
            <a:chOff x="6094214" y="2515682"/>
            <a:chExt cx="331081" cy="387302"/>
          </a:xfrm>
        </p:grpSpPr>
        <p:sp>
          <p:nvSpPr>
            <p:cNvPr id="13" name="Right Arrow 12"/>
            <p:cNvSpPr/>
            <p:nvPr/>
          </p:nvSpPr>
          <p:spPr>
            <a:xfrm>
              <a:off x="6094214" y="2515682"/>
              <a:ext cx="331081" cy="38730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ight Arrow 4"/>
            <p:cNvSpPr txBox="1"/>
            <p:nvPr/>
          </p:nvSpPr>
          <p:spPr>
            <a:xfrm>
              <a:off x="6094214" y="2593142"/>
              <a:ext cx="231757" cy="2323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kern="120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718493" y="5737979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Solutions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98486" y="3820622"/>
            <a:ext cx="5365404" cy="2328718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037061" y="3866342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790" y="4385310"/>
            <a:ext cx="1920240" cy="126873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9930" y="4385310"/>
            <a:ext cx="1920240" cy="126873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Structures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48350" y="4385310"/>
            <a:ext cx="1920240" cy="126873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Optimization Models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PuLP</a:t>
            </a:r>
            <a:r>
              <a:rPr lang="en-US" sz="2000" dirty="0">
                <a:solidFill>
                  <a:schemeClr val="tx1"/>
                </a:solidFill>
              </a:rPr>
              <a:t> &amp; others)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63940" y="4385310"/>
            <a:ext cx="1920240" cy="126873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Solvers</a:t>
            </a:r>
            <a:endParaRPr lang="en-US" sz="36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(COIN-OR &amp; others)</a:t>
            </a:r>
            <a:endParaRPr lang="en-US" sz="3600" dirty="0">
              <a:solidFill>
                <a:schemeClr val="tx1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8099815" y="4715534"/>
            <a:ext cx="331081" cy="387302"/>
            <a:chOff x="6094214" y="2515682"/>
            <a:chExt cx="331081" cy="387302"/>
          </a:xfrm>
        </p:grpSpPr>
        <p:sp>
          <p:nvSpPr>
            <p:cNvPr id="20" name="Right Arrow 19"/>
            <p:cNvSpPr/>
            <p:nvPr/>
          </p:nvSpPr>
          <p:spPr>
            <a:xfrm>
              <a:off x="6094214" y="2515682"/>
              <a:ext cx="331081" cy="38730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ight Arrow 4"/>
            <p:cNvSpPr txBox="1"/>
            <p:nvPr/>
          </p:nvSpPr>
          <p:spPr>
            <a:xfrm>
              <a:off x="6094214" y="2593142"/>
              <a:ext cx="231757" cy="2323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kern="120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406145" y="4765064"/>
            <a:ext cx="331081" cy="387302"/>
            <a:chOff x="6094214" y="2515682"/>
            <a:chExt cx="331081" cy="387302"/>
          </a:xfrm>
        </p:grpSpPr>
        <p:sp>
          <p:nvSpPr>
            <p:cNvPr id="23" name="Right Arrow 22"/>
            <p:cNvSpPr/>
            <p:nvPr/>
          </p:nvSpPr>
          <p:spPr>
            <a:xfrm>
              <a:off x="6094214" y="2515682"/>
              <a:ext cx="331081" cy="38730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ight Arrow 4"/>
            <p:cNvSpPr txBox="1"/>
            <p:nvPr/>
          </p:nvSpPr>
          <p:spPr>
            <a:xfrm>
              <a:off x="6094214" y="2593142"/>
              <a:ext cx="231757" cy="2323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kern="120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735335" y="4814594"/>
            <a:ext cx="331081" cy="387302"/>
            <a:chOff x="6094214" y="2515682"/>
            <a:chExt cx="331081" cy="387302"/>
          </a:xfrm>
        </p:grpSpPr>
        <p:sp>
          <p:nvSpPr>
            <p:cNvPr id="26" name="Right Arrow 25"/>
            <p:cNvSpPr/>
            <p:nvPr/>
          </p:nvSpPr>
          <p:spPr>
            <a:xfrm>
              <a:off x="6094214" y="2515682"/>
              <a:ext cx="331081" cy="38730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ight Arrow 4"/>
            <p:cNvSpPr txBox="1"/>
            <p:nvPr/>
          </p:nvSpPr>
          <p:spPr>
            <a:xfrm>
              <a:off x="6094214" y="2593142"/>
              <a:ext cx="231757" cy="2323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kern="1200"/>
            </a:p>
          </p:txBody>
        </p:sp>
      </p:grpSp>
      <p:sp>
        <p:nvSpPr>
          <p:cNvPr id="29" name="Rectangle 28"/>
          <p:cNvSpPr/>
          <p:nvPr/>
        </p:nvSpPr>
        <p:spPr>
          <a:xfrm>
            <a:off x="10159221" y="2041176"/>
            <a:ext cx="1739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src</a:t>
            </a:r>
            <a:r>
              <a:rPr lang="en-US" dirty="0"/>
              <a:t>: python.org)</a:t>
            </a:r>
          </a:p>
        </p:txBody>
      </p:sp>
    </p:spTree>
    <p:extLst>
      <p:ext uri="{BB962C8B-B14F-4D97-AF65-F5344CB8AC3E}">
        <p14:creationId xmlns:p14="http://schemas.microsoft.com/office/powerpoint/2010/main" val="393698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2" grpId="0" animBg="1"/>
      <p:bldP spid="33" grpId="0"/>
      <p:bldP spid="11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41422"/>
            <a:ext cx="10515600" cy="6071814"/>
          </a:xfrm>
        </p:spPr>
        <p:txBody>
          <a:bodyPr>
            <a:normAutofit fontScale="92500" lnSpcReduction="10000"/>
          </a:bodyPr>
          <a:lstStyle/>
          <a:p>
            <a:pPr hangingPunct="0">
              <a:buNone/>
            </a:pPr>
            <a:r>
              <a:rPr lang="en-US" sz="3800" b="1" dirty="0" err="1"/>
              <a:t>PuLP</a:t>
            </a:r>
            <a:r>
              <a:rPr lang="en-US" sz="3800" b="1" dirty="0"/>
              <a:t>: </a:t>
            </a:r>
            <a:r>
              <a:rPr lang="en-US" sz="3800" dirty="0"/>
              <a:t>a library for expressing mathematical programs (LPs, IPs, MIPs) in Python</a:t>
            </a:r>
          </a:p>
          <a:p>
            <a:pPr hangingPunct="0">
              <a:buNone/>
            </a:pPr>
            <a:r>
              <a:rPr lang="en-US" sz="3800" dirty="0"/>
              <a:t> </a:t>
            </a:r>
            <a:endParaRPr lang="en-US" sz="2200" dirty="0"/>
          </a:p>
          <a:p>
            <a:pPr hangingPunct="0">
              <a:buNone/>
            </a:pPr>
            <a:r>
              <a:rPr lang="en-US" sz="3800" u="sng" dirty="0"/>
              <a:t>Why use </a:t>
            </a:r>
            <a:r>
              <a:rPr lang="en-US" sz="3800" u="sng" dirty="0" err="1"/>
              <a:t>PuLP</a:t>
            </a:r>
            <a:r>
              <a:rPr lang="en-US" sz="3800" u="sng" dirty="0"/>
              <a:t>? </a:t>
            </a:r>
            <a:endParaRPr lang="en-US" sz="2200" u="sng" dirty="0"/>
          </a:p>
          <a:p>
            <a:pPr marL="514350" indent="-514350" hangingPunct="0"/>
            <a:r>
              <a:rPr lang="en-US" sz="3500" dirty="0"/>
              <a:t>Flexibility in modeling thanks to Python setting</a:t>
            </a:r>
            <a:endParaRPr lang="en-US" sz="1900" dirty="0"/>
          </a:p>
          <a:p>
            <a:pPr marL="971550" lvl="1" indent="-514350" hangingPunct="0"/>
            <a:r>
              <a:rPr lang="en-US" sz="3000" dirty="0"/>
              <a:t>Python data structures and flow control</a:t>
            </a:r>
          </a:p>
          <a:p>
            <a:pPr marL="1428750" lvl="2" indent="-514350" hangingPunct="0"/>
            <a:r>
              <a:rPr lang="en-US" sz="2600" dirty="0"/>
              <a:t>lists, dictionaries, etc.</a:t>
            </a:r>
          </a:p>
          <a:p>
            <a:pPr marL="1428750" lvl="2" indent="-514350" hangingPunct="0"/>
            <a:r>
              <a:rPr lang="en-US" sz="2600" dirty="0"/>
              <a:t>not limited to what can be expressed in an Excel spreadsheet</a:t>
            </a:r>
          </a:p>
          <a:p>
            <a:pPr marL="971550" lvl="1" indent="-514350" hangingPunct="0"/>
            <a:r>
              <a:rPr lang="en-US" sz="3000" dirty="0"/>
              <a:t>Extensive set of Python libraries capable of </a:t>
            </a:r>
            <a:endParaRPr lang="en-US" sz="2200" dirty="0"/>
          </a:p>
          <a:p>
            <a:pPr marL="1428750" lvl="2" indent="-514350" hangingPunct="0"/>
            <a:r>
              <a:rPr lang="en-US" sz="2600" dirty="0"/>
              <a:t>reading in data </a:t>
            </a:r>
          </a:p>
          <a:p>
            <a:pPr marL="1428750" lvl="2" indent="-514350" hangingPunct="0"/>
            <a:r>
              <a:rPr lang="en-US" sz="2600" dirty="0"/>
              <a:t>fetch information from the Internet</a:t>
            </a:r>
          </a:p>
          <a:p>
            <a:pPr marL="1428750" lvl="2" indent="-514350" hangingPunct="0"/>
            <a:r>
              <a:rPr lang="en-US" sz="2600" dirty="0"/>
              <a:t>numerical procedures</a:t>
            </a:r>
          </a:p>
          <a:p>
            <a:pPr marL="1428750" lvl="2" indent="-514350" hangingPunct="0"/>
            <a:r>
              <a:rPr lang="en-US" sz="2600" dirty="0"/>
              <a:t>creating GUIs</a:t>
            </a:r>
          </a:p>
          <a:p>
            <a:pPr marL="1428750" lvl="2" indent="-514350" hangingPunct="0"/>
            <a:r>
              <a:rPr lang="en-US" sz="2600" dirty="0"/>
              <a:t>and much, much more …</a:t>
            </a:r>
            <a:endParaRPr lang="en-US" sz="1900" dirty="0"/>
          </a:p>
        </p:txBody>
      </p:sp>
      <p:sp>
        <p:nvSpPr>
          <p:cNvPr id="4" name="Rectangle 3"/>
          <p:cNvSpPr/>
          <p:nvPr/>
        </p:nvSpPr>
        <p:spPr>
          <a:xfrm>
            <a:off x="83059" y="6428570"/>
            <a:ext cx="4548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(based on Mitchell (2009) and Mitchell (2011))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341" y="4987744"/>
            <a:ext cx="4457700" cy="16254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1955944"/>
            <a:ext cx="1885874" cy="1825041"/>
          </a:xfrm>
          <a:prstGeom prst="rect">
            <a:avLst/>
          </a:prstGeom>
        </p:spPr>
      </p:pic>
      <p:pic>
        <p:nvPicPr>
          <p:cNvPr id="1026" name="Picture 2" descr="Image result for python easygu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2244" y="3952875"/>
            <a:ext cx="1901921" cy="1034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074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Why use </a:t>
            </a:r>
            <a:r>
              <a:rPr lang="en-US" b="1" u="sng" dirty="0" err="1"/>
              <a:t>PuLP</a:t>
            </a:r>
            <a:r>
              <a:rPr lang="en-US" dirty="0"/>
              <a:t>?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3632"/>
            <a:ext cx="10515600" cy="4793331"/>
          </a:xfrm>
        </p:spPr>
        <p:txBody>
          <a:bodyPr>
            <a:normAutofit fontScale="92500" lnSpcReduction="20000"/>
          </a:bodyPr>
          <a:lstStyle/>
          <a:p>
            <a:pPr hangingPunct="0"/>
            <a:r>
              <a:rPr lang="en-US" sz="3600" dirty="0"/>
              <a:t>Model size only limited by solution time on our machine</a:t>
            </a:r>
            <a:endParaRPr lang="en-US" dirty="0"/>
          </a:p>
          <a:p>
            <a:pPr hangingPunct="0"/>
            <a:r>
              <a:rPr lang="en-US" sz="3500" dirty="0"/>
              <a:t>Ease of installation (should be)</a:t>
            </a:r>
          </a:p>
          <a:p>
            <a:pPr hangingPunct="0"/>
            <a:r>
              <a:rPr lang="en-US" sz="3500" dirty="0"/>
              <a:t>Non-restrictive licensing</a:t>
            </a:r>
          </a:p>
          <a:p>
            <a:pPr lvl="1" hangingPunct="0"/>
            <a:r>
              <a:rPr lang="en-US" sz="3500" dirty="0"/>
              <a:t>Free</a:t>
            </a:r>
          </a:p>
          <a:p>
            <a:pPr lvl="1" hangingPunct="0"/>
            <a:r>
              <a:rPr lang="en-US" sz="3500" dirty="0"/>
              <a:t>Can be used in commercial applications with no disclosure requirement</a:t>
            </a:r>
          </a:p>
          <a:p>
            <a:pPr hangingPunct="0"/>
            <a:r>
              <a:rPr lang="en-US" sz="3500" dirty="0"/>
              <a:t>Clear syntax</a:t>
            </a:r>
          </a:p>
          <a:p>
            <a:pPr hangingPunct="0"/>
            <a:r>
              <a:rPr lang="en-US" sz="3500" dirty="0"/>
              <a:t>Interoperability with many solvers, such as COIN-OR </a:t>
            </a:r>
          </a:p>
          <a:p>
            <a:pPr lvl="1" hangingPunct="0"/>
            <a:r>
              <a:rPr lang="en-US" sz="3100" dirty="0"/>
              <a:t>useful for comparisons; can easily step up to faster pay solvers later</a:t>
            </a:r>
          </a:p>
          <a:p>
            <a:pPr hangingPunct="0"/>
            <a:r>
              <a:rPr lang="en-US" sz="3500" dirty="0"/>
              <a:t>Extensive documentation online</a:t>
            </a:r>
          </a:p>
          <a:p>
            <a:pPr marL="0" indent="0" hangingPunc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897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/>
              <a:t>PuLP</a:t>
            </a:r>
            <a:r>
              <a:rPr lang="en-US" b="1" u="sng" dirty="0"/>
              <a:t>: bottom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hangingPunct="0"/>
            <a:r>
              <a:rPr lang="en-US" dirty="0"/>
              <a:t>using </a:t>
            </a:r>
            <a:r>
              <a:rPr lang="en-US" dirty="0" err="1"/>
              <a:t>PuLP</a:t>
            </a:r>
            <a:r>
              <a:rPr lang="en-US" dirty="0"/>
              <a:t> we can solve </a:t>
            </a:r>
            <a:r>
              <a:rPr lang="en-US" b="1" dirty="0"/>
              <a:t>large problems</a:t>
            </a:r>
            <a:r>
              <a:rPr lang="en-US" dirty="0"/>
              <a:t>, maintaining </a:t>
            </a:r>
            <a:r>
              <a:rPr lang="en-US" b="1" dirty="0"/>
              <a:t>confidentiality</a:t>
            </a:r>
            <a:r>
              <a:rPr lang="en-US" dirty="0"/>
              <a:t>, for </a:t>
            </a:r>
            <a:r>
              <a:rPr lang="en-US" b="1" dirty="0"/>
              <a:t>free</a:t>
            </a:r>
            <a:r>
              <a:rPr lang="en-US" dirty="0"/>
              <a:t>   </a:t>
            </a:r>
          </a:p>
          <a:p>
            <a:pPr hangingPunct="0"/>
            <a:r>
              <a:rPr lang="en-US" dirty="0"/>
              <a:t>may come in handy in your Capstone and beyond</a:t>
            </a:r>
          </a:p>
          <a:p>
            <a:pPr hangingPunct="0"/>
            <a:r>
              <a:rPr lang="en-US" dirty="0"/>
              <a:t>Note:  it is provided “as is”, no warranty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181" y="4001294"/>
            <a:ext cx="100556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** Read </a:t>
            </a:r>
            <a:r>
              <a:rPr lang="en-US" sz="2400" b="1" dirty="0" err="1"/>
              <a:t>PuLP</a:t>
            </a:r>
            <a:r>
              <a:rPr lang="en-US" sz="2400" b="1" dirty="0"/>
              <a:t> reference docs </a:t>
            </a:r>
            <a:r>
              <a:rPr lang="en-US" sz="2400" b="1"/>
              <a:t>available in References folder in GitHub repo: **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/>
              <a:t>2009 Mitchell, Stuart - Intro to pulp for Python Programmers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/>
              <a:t>2011 Mitchell, Stuart - PuLP A Linear Programming Toolkit for Python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/>
              <a:t>PuLP solver info.docx</a:t>
            </a:r>
          </a:p>
          <a:p>
            <a:pPr lvl="1"/>
            <a:r>
              <a:rPr lang="en-US" sz="2400"/>
              <a:t>    and others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53494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9D3F3B29-F4EF-4FAC-8984-C5F8F8DC9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18973"/>
            <a:ext cx="106680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Problem Statement: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Blue Ridge Hot Tubs produces two types of hot tubs:  Aqua-Spas &amp; Hydro-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Luxes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Problem Data: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	Aqua-Spa	Hydro-Lux	Available	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Pumps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1		1		200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Labor 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9 hours		6 hours		1566 hours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Tubing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12 feet		16 feet		2880 feet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Unit Profit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$350		$300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73995-D2A6-4FD4-8426-88E4F61A8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05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We will start by building a simple LP in </a:t>
            </a:r>
            <a:r>
              <a:rPr lang="en-US" sz="4000" dirty="0" err="1"/>
              <a:t>PuLP</a:t>
            </a:r>
            <a:endParaRPr lang="en-US" sz="4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C72F3-4033-4C8A-B613-DC9AB235F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" y="1998464"/>
            <a:ext cx="94975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D7D65F-B567-4425-8629-D18106CB52B9}"/>
              </a:ext>
            </a:extLst>
          </p:cNvPr>
          <p:cNvSpPr txBox="1"/>
          <p:nvPr/>
        </p:nvSpPr>
        <p:spPr>
          <a:xfrm>
            <a:off x="808228" y="4071846"/>
            <a:ext cx="980541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Formulation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altLang="en-US" sz="1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=number of Aqua-Spas to produce		X</a:t>
            </a:r>
            <a:r>
              <a:rPr kumimoji="0" lang="en-US" altLang="en-US" sz="1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=number of Hydro-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Luxes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to produce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MAX: 350X</a:t>
            </a:r>
            <a:r>
              <a:rPr kumimoji="0" lang="en-US" altLang="en-US" sz="1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+ 300X</a:t>
            </a:r>
            <a:r>
              <a:rPr kumimoji="0" lang="en-US" altLang="en-US" sz="1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S.T.:	1X</a:t>
            </a:r>
            <a:r>
              <a:rPr kumimoji="0" lang="en-US" altLang="en-US" sz="1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+ 1X</a:t>
            </a:r>
            <a:r>
              <a:rPr kumimoji="0" lang="en-US" altLang="en-US" sz="1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&lt;= 200	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9X</a:t>
            </a:r>
            <a:r>
              <a:rPr kumimoji="0" lang="en-US" altLang="en-US" sz="1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+ 6X</a:t>
            </a:r>
            <a:r>
              <a:rPr kumimoji="0" lang="en-US" altLang="en-US" sz="1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    &lt;= 1566	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12X</a:t>
            </a:r>
            <a:r>
              <a:rPr kumimoji="0" lang="en-US" altLang="en-US" sz="1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+ 16X</a:t>
            </a:r>
            <a:r>
              <a:rPr kumimoji="0" lang="en-US" altLang="en-US" sz="1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&lt;= 2880	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X</a:t>
            </a:r>
            <a:r>
              <a:rPr kumimoji="0" lang="en-US" altLang="en-US" sz="1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&gt;= 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	X</a:t>
            </a:r>
            <a:r>
              <a:rPr kumimoji="0" lang="en-US" altLang="en-US" sz="18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&gt;= 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6F4B2B-384E-4BF3-BB67-6B564378D34F}"/>
              </a:ext>
            </a:extLst>
          </p:cNvPr>
          <p:cNvSpPr txBox="1"/>
          <p:nvPr/>
        </p:nvSpPr>
        <p:spPr>
          <a:xfrm>
            <a:off x="5448167" y="5639027"/>
            <a:ext cx="65598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Let’s implement this in Python/</a:t>
            </a:r>
            <a:r>
              <a:rPr lang="en-US" sz="2400" dirty="0" err="1">
                <a:solidFill>
                  <a:srgbClr val="C00000"/>
                </a:solidFill>
              </a:rPr>
              <a:t>PuLP</a:t>
            </a:r>
            <a:r>
              <a:rPr lang="en-US" sz="2400" dirty="0">
                <a:solidFill>
                  <a:srgbClr val="C00000"/>
                </a:solidFill>
              </a:rPr>
              <a:t>!</a:t>
            </a:r>
          </a:p>
          <a:p>
            <a:r>
              <a:rPr lang="en-US" dirty="0"/>
              <a:t>Completed version </a:t>
            </a:r>
            <a:r>
              <a:rPr lang="en-US"/>
              <a:t>will be in LEC/lec01 folder in course GitHub repo</a:t>
            </a:r>
          </a:p>
          <a:p>
            <a:r>
              <a:rPr lang="en-US"/>
              <a:t>after class, called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hot_tub_basic.py</a:t>
            </a:r>
            <a:endParaRPr lang="en-US" sz="24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48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A2972-8AA2-C5F2-3802-EAE74402F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76D73-33B5-4D36-E0B0-D8C603C22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1B8F3A-26C8-9042-E674-E5E5F133D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885" y="365125"/>
            <a:ext cx="8142977" cy="6107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8BF2B1-0A00-6D7B-F070-BFC47916C3F7}"/>
              </a:ext>
            </a:extLst>
          </p:cNvPr>
          <p:cNvSpPr txBox="1"/>
          <p:nvPr/>
        </p:nvSpPr>
        <p:spPr>
          <a:xfrm>
            <a:off x="2087814" y="385642"/>
            <a:ext cx="76851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Fall 2025 ORDA internship luncheon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ACC34BF-427C-7BDC-05FB-62A858308C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62" t="32493" r="35333" b="41306"/>
          <a:stretch>
            <a:fillRect/>
          </a:stretch>
        </p:blipFill>
        <p:spPr bwMode="auto">
          <a:xfrm>
            <a:off x="2517106" y="739585"/>
            <a:ext cx="6826531" cy="4859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45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913</Words>
  <Application>Microsoft Office PowerPoint</Application>
  <PresentationFormat>Widescreen</PresentationFormat>
  <Paragraphs>122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Office Theme</vt:lpstr>
      <vt:lpstr>Intermediate  Deterministic Models</vt:lpstr>
      <vt:lpstr>Plan for Today</vt:lpstr>
      <vt:lpstr>Course Information and Course Documents</vt:lpstr>
      <vt:lpstr>Attention to Detail</vt:lpstr>
      <vt:lpstr>Attention to Detail (cont.)</vt:lpstr>
      <vt:lpstr>For more on these examples and others:</vt:lpstr>
      <vt:lpstr>Python &amp; PuLP </vt:lpstr>
      <vt:lpstr>Python in Optimization Modeling</vt:lpstr>
      <vt:lpstr>PowerPoint Presentation</vt:lpstr>
      <vt:lpstr>Why use PuLP? (cont.)</vt:lpstr>
      <vt:lpstr>PuLP: bottom line</vt:lpstr>
      <vt:lpstr>We will start by building a simple LP in PuLP</vt:lpstr>
      <vt:lpstr>PowerPoint Presentation</vt:lpstr>
    </vt:vector>
  </TitlesOfParts>
  <Company>USCGA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Python-PuLP Background Information</dc:title>
  <dc:creator>Frommer, Ian Dr. (EDU)</dc:creator>
  <cp:lastModifiedBy>Frommer, Ian Dr. (EDU)</cp:lastModifiedBy>
  <cp:revision>32</cp:revision>
  <dcterms:created xsi:type="dcterms:W3CDTF">2019-01-09T20:40:44Z</dcterms:created>
  <dcterms:modified xsi:type="dcterms:W3CDTF">2026-01-12T19:25:17Z</dcterms:modified>
</cp:coreProperties>
</file>