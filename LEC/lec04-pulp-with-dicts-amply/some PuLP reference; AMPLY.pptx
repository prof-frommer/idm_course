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7" r:id="rId6"/>
    <p:sldId id="260" r:id="rId7"/>
    <p:sldId id="263" r:id="rId8"/>
    <p:sldId id="261" r:id="rId9"/>
    <p:sldId id="266" r:id="rId10"/>
    <p:sldId id="267" r:id="rId11"/>
    <p:sldId id="269" r:id="rId12"/>
    <p:sldId id="271" r:id="rId13"/>
    <p:sldId id="272" r:id="rId14"/>
    <p:sldId id="262" r:id="rId15"/>
    <p:sldId id="273" r:id="rId16"/>
    <p:sldId id="275" r:id="rId17"/>
    <p:sldId id="270" r:id="rId18"/>
    <p:sldId id="274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3FB76A-3CF5-4502-91AA-206F2829155F}" v="6" dt="2026-01-22T14:10:51.8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41" autoAdjust="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ommer, Ian Dr. (EDU)" userId="28ca3ff0-544f-450a-928b-99e19cf49b89" providerId="ADAL" clId="{FDDA6EB0-4FD6-4516-ACA5-A4CAC6441DA7}"/>
    <pc:docChg chg="undo custSel addSld modSld">
      <pc:chgData name="Frommer, Ian Dr. (EDU)" userId="28ca3ff0-544f-450a-928b-99e19cf49b89" providerId="ADAL" clId="{FDDA6EB0-4FD6-4516-ACA5-A4CAC6441DA7}" dt="2026-01-22T14:10:51.806" v="389" actId="2711"/>
      <pc:docMkLst>
        <pc:docMk/>
      </pc:docMkLst>
      <pc:sldChg chg="modSp">
        <pc:chgData name="Frommer, Ian Dr. (EDU)" userId="28ca3ff0-544f-450a-928b-99e19cf49b89" providerId="ADAL" clId="{FDDA6EB0-4FD6-4516-ACA5-A4CAC6441DA7}" dt="2026-01-22T14:10:51.806" v="389" actId="2711"/>
        <pc:sldMkLst>
          <pc:docMk/>
          <pc:sldMk cId="4286695104" sldId="271"/>
        </pc:sldMkLst>
        <pc:spChg chg="mod">
          <ac:chgData name="Frommer, Ian Dr. (EDU)" userId="28ca3ff0-544f-450a-928b-99e19cf49b89" providerId="ADAL" clId="{FDDA6EB0-4FD6-4516-ACA5-A4CAC6441DA7}" dt="2026-01-22T14:10:51.806" v="389" actId="2711"/>
          <ac:spMkLst>
            <pc:docMk/>
            <pc:sldMk cId="4286695104" sldId="271"/>
            <ac:spMk id="3" creationId="{D58D73C5-7858-EADB-9E08-CFDBF8207053}"/>
          </ac:spMkLst>
        </pc:spChg>
      </pc:sldChg>
      <pc:sldChg chg="addSp modSp mod modAnim">
        <pc:chgData name="Frommer, Ian Dr. (EDU)" userId="28ca3ff0-544f-450a-928b-99e19cf49b89" providerId="ADAL" clId="{FDDA6EB0-4FD6-4516-ACA5-A4CAC6441DA7}" dt="2026-01-22T14:10:25.696" v="388"/>
        <pc:sldMkLst>
          <pc:docMk/>
          <pc:sldMk cId="2600082815" sldId="274"/>
        </pc:sldMkLst>
        <pc:spChg chg="add mod">
          <ac:chgData name="Frommer, Ian Dr. (EDU)" userId="28ca3ff0-544f-450a-928b-99e19cf49b89" providerId="ADAL" clId="{FDDA6EB0-4FD6-4516-ACA5-A4CAC6441DA7}" dt="2026-01-22T14:10:21.477" v="387" actId="1076"/>
          <ac:spMkLst>
            <pc:docMk/>
            <pc:sldMk cId="2600082815" sldId="274"/>
            <ac:spMk id="6" creationId="{BF2D3162-0BCF-284B-1CAE-EA43C86D137A}"/>
          </ac:spMkLst>
        </pc:spChg>
        <pc:graphicFrameChg chg="mod modGraphic">
          <ac:chgData name="Frommer, Ian Dr. (EDU)" userId="28ca3ff0-544f-450a-928b-99e19cf49b89" providerId="ADAL" clId="{FDDA6EB0-4FD6-4516-ACA5-A4CAC6441DA7}" dt="2026-01-22T14:09:32.118" v="305" actId="14734"/>
          <ac:graphicFrameMkLst>
            <pc:docMk/>
            <pc:sldMk cId="2600082815" sldId="274"/>
            <ac:graphicFrameMk id="4" creationId="{D2D599BC-E04B-2FE2-1C4C-E20871E2AF6B}"/>
          </ac:graphicFrameMkLst>
        </pc:graphicFrameChg>
      </pc:sldChg>
      <pc:sldChg chg="modSp new mod">
        <pc:chgData name="Frommer, Ian Dr. (EDU)" userId="28ca3ff0-544f-450a-928b-99e19cf49b89" providerId="ADAL" clId="{FDDA6EB0-4FD6-4516-ACA5-A4CAC6441DA7}" dt="2026-01-22T14:07:50.255" v="301" actId="20577"/>
        <pc:sldMkLst>
          <pc:docMk/>
          <pc:sldMk cId="2055587759" sldId="277"/>
        </pc:sldMkLst>
        <pc:spChg chg="mod">
          <ac:chgData name="Frommer, Ian Dr. (EDU)" userId="28ca3ff0-544f-450a-928b-99e19cf49b89" providerId="ADAL" clId="{FDDA6EB0-4FD6-4516-ACA5-A4CAC6441DA7}" dt="2026-01-22T13:54:02.905" v="59" actId="20577"/>
          <ac:spMkLst>
            <pc:docMk/>
            <pc:sldMk cId="2055587759" sldId="277"/>
            <ac:spMk id="2" creationId="{4FD6C908-867F-50C2-8F30-54CF82E3E8DF}"/>
          </ac:spMkLst>
        </pc:spChg>
        <pc:spChg chg="mod">
          <ac:chgData name="Frommer, Ian Dr. (EDU)" userId="28ca3ff0-544f-450a-928b-99e19cf49b89" providerId="ADAL" clId="{FDDA6EB0-4FD6-4516-ACA5-A4CAC6441DA7}" dt="2026-01-22T14:07:50.255" v="301" actId="20577"/>
          <ac:spMkLst>
            <pc:docMk/>
            <pc:sldMk cId="2055587759" sldId="277"/>
            <ac:spMk id="3" creationId="{E99DAE5B-F453-DC79-EB8B-A4CA0BB6DD2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094B44-FE67-453F-B2AB-6ECA95356C4C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204B75-EC71-4768-923D-FF4BFDD85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639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5A578-C6A8-4735-A77A-53540732B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1E069F-644D-4B59-57C9-DE78EAE3F5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AEAF97-6557-52A8-17CF-9135C82E40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 do on white</a:t>
            </a:r>
            <a:r>
              <a:rPr lang="en-US" baseline="0" dirty="0"/>
              <a:t> board.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844BF-802D-C45E-F44E-EABDFB0128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204B75-EC71-4768-923D-FF4BFDD85A9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576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 do on white</a:t>
            </a:r>
            <a:r>
              <a:rPr lang="en-US" baseline="0" dirty="0"/>
              <a:t>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204B75-EC71-4768-923D-FF4BFDD85A9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818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BD701-9C2B-8F11-76CE-4E1318562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8D6993-5C97-8B3F-0FB6-A2FF649E6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7588E2-C60C-0C82-17A4-5487E903B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 do on white</a:t>
            </a:r>
            <a:r>
              <a:rPr lang="en-US" baseline="0" dirty="0"/>
              <a:t> board.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9F704-A15A-5175-DFCC-3A1979CC26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204B75-EC71-4768-923D-FF4BFDD85A9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105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B35FC-8E36-4CB7-BAC6-E61D1808763C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A1A79-3AAD-4619-B352-69A46BAF0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0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B35FC-8E36-4CB7-BAC6-E61D1808763C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A1A79-3AAD-4619-B352-69A46BAF0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276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B35FC-8E36-4CB7-BAC6-E61D1808763C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A1A79-3AAD-4619-B352-69A46BAF0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11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B35FC-8E36-4CB7-BAC6-E61D1808763C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A1A79-3AAD-4619-B352-69A46BAF0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037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B35FC-8E36-4CB7-BAC6-E61D1808763C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A1A79-3AAD-4619-B352-69A46BAF0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864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B35FC-8E36-4CB7-BAC6-E61D1808763C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A1A79-3AAD-4619-B352-69A46BAF0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46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B35FC-8E36-4CB7-BAC6-E61D1808763C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A1A79-3AAD-4619-B352-69A46BAF0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966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B35FC-8E36-4CB7-BAC6-E61D1808763C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A1A79-3AAD-4619-B352-69A46BAF0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612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B35FC-8E36-4CB7-BAC6-E61D1808763C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A1A79-3AAD-4619-B352-69A46BAF0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228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B35FC-8E36-4CB7-BAC6-E61D1808763C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A1A79-3AAD-4619-B352-69A46BAF0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792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B35FC-8E36-4CB7-BAC6-E61D1808763C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A1A79-3AAD-4619-B352-69A46BAF0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966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B35FC-8E36-4CB7-BAC6-E61D1808763C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A1A79-3AAD-4619-B352-69A46BAF0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20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42803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u="sng" dirty="0"/>
              <a:t>Today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53135"/>
            <a:ext cx="9144000" cy="1655762"/>
          </a:xfrm>
        </p:spPr>
        <p:txBody>
          <a:bodyPr>
            <a:normAutofit/>
          </a:bodyPr>
          <a:lstStyle/>
          <a:p>
            <a:pPr marL="514350" indent="-514350" algn="l">
              <a:buFont typeface="+mj-lt"/>
              <a:buAutoNum type="romanUcPeriod"/>
            </a:pPr>
            <a:r>
              <a:rPr lang="en-US" sz="4400" dirty="0"/>
              <a:t>Some </a:t>
            </a:r>
            <a:r>
              <a:rPr lang="en-US" sz="4400" dirty="0" err="1"/>
              <a:t>PuLP</a:t>
            </a:r>
            <a:r>
              <a:rPr lang="en-US" sz="4400" dirty="0"/>
              <a:t> Reference</a:t>
            </a:r>
          </a:p>
          <a:p>
            <a:pPr marL="514350" indent="-514350" algn="l">
              <a:buFont typeface="+mj-lt"/>
              <a:buAutoNum type="romanUcPeriod"/>
            </a:pPr>
            <a:r>
              <a:rPr lang="en-US" sz="4400" dirty="0"/>
              <a:t>Amply</a:t>
            </a:r>
          </a:p>
        </p:txBody>
      </p:sp>
    </p:spTree>
    <p:extLst>
      <p:ext uri="{BB962C8B-B14F-4D97-AF65-F5344CB8AC3E}">
        <p14:creationId xmlns:p14="http://schemas.microsoft.com/office/powerpoint/2010/main" val="3098855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95350"/>
            <a:ext cx="10515600" cy="795338"/>
          </a:xfrm>
        </p:spPr>
        <p:txBody>
          <a:bodyPr>
            <a:normAutofit/>
          </a:bodyPr>
          <a:lstStyle/>
          <a:p>
            <a:r>
              <a:rPr lang="en-US" sz="3600" dirty="0"/>
              <a:t>Creating Decision Variables</a:t>
            </a:r>
          </a:p>
        </p:txBody>
      </p:sp>
      <p:pic>
        <p:nvPicPr>
          <p:cNvPr id="5" name="Content Placeholder 4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782" y="1690688"/>
            <a:ext cx="9297798" cy="4271962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22A81E-E9C5-DB1F-BAA9-9F58B2FE4D7C}"/>
              </a:ext>
            </a:extLst>
          </p:cNvPr>
          <p:cNvSpPr txBox="1"/>
          <p:nvPr/>
        </p:nvSpPr>
        <p:spPr>
          <a:xfrm>
            <a:off x="226444" y="180459"/>
            <a:ext cx="60945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Some </a:t>
            </a:r>
            <a:r>
              <a:rPr lang="en-US" sz="4000" dirty="0" err="1"/>
              <a:t>PuLP</a:t>
            </a:r>
            <a:r>
              <a:rPr lang="en-US" sz="4000" dirty="0"/>
              <a:t> Reference</a:t>
            </a:r>
          </a:p>
        </p:txBody>
      </p:sp>
    </p:spTree>
    <p:extLst>
      <p:ext uri="{BB962C8B-B14F-4D97-AF65-F5344CB8AC3E}">
        <p14:creationId xmlns:p14="http://schemas.microsoft.com/office/powerpoint/2010/main" val="335321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linear combination for use in objective or constraint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766" y="1905000"/>
            <a:ext cx="9097584" cy="4342030"/>
          </a:xfrm>
        </p:spPr>
      </p:pic>
    </p:spTree>
    <p:extLst>
      <p:ext uri="{BB962C8B-B14F-4D97-AF65-F5344CB8AC3E}">
        <p14:creationId xmlns:p14="http://schemas.microsoft.com/office/powerpoint/2010/main" val="2346063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Value </a:t>
            </a:r>
            <a:r>
              <a:rPr lang="en-US" dirty="0"/>
              <a:t>Function</a:t>
            </a:r>
          </a:p>
        </p:txBody>
      </p:sp>
      <p:pic>
        <p:nvPicPr>
          <p:cNvPr id="6" name="Content Placeholder 5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773" y="1863970"/>
            <a:ext cx="11047847" cy="2655276"/>
          </a:xfrm>
        </p:spPr>
      </p:pic>
    </p:spTree>
    <p:extLst>
      <p:ext uri="{BB962C8B-B14F-4D97-AF65-F5344CB8AC3E}">
        <p14:creationId xmlns:p14="http://schemas.microsoft.com/office/powerpoint/2010/main" val="2317157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6C908-867F-50C2-8F30-54CF82E3E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useful PuLP – what do these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DAE5B-F453-DC79-EB8B-A4CA0BB6D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x1.__dict__	</a:t>
            </a:r>
            <a:r>
              <a:rPr lang="en-US"/>
              <a:t>		</a:t>
            </a:r>
            <a:r>
              <a:rPr lang="en-US" sz="2400"/>
              <a:t>assume 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x1</a:t>
            </a:r>
            <a:r>
              <a:rPr lang="en-US" sz="2400"/>
              <a:t> is a PuLP LP variable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hot_tub_lp.constraints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hot_tub_lp.constraints['Pumps’]</a:t>
            </a:r>
            <a:r>
              <a:rPr lang="en-US"/>
              <a:t>	</a:t>
            </a:r>
            <a:r>
              <a:rPr lang="en-US" sz="2400"/>
              <a:t>assume 1 of the constraints is labeled 							   ‘Pumps’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hot_tub_lp.constraints['Pumps’].__dict__</a:t>
            </a:r>
          </a:p>
          <a:p>
            <a:pPr marL="0" indent="0">
              <a:buNone/>
            </a:pP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hot_tub_lp.constraints['Pumps'].slack</a:t>
            </a:r>
          </a:p>
          <a:p>
            <a:pPr marL="0" indent="0">
              <a:buNone/>
            </a:pPr>
            <a:r>
              <a:rPr lang="en-US" sz="2400">
                <a:cs typeface="Courier New" panose="02070309020205020404" pitchFamily="49" charset="0"/>
              </a:rPr>
              <a:t>	warning this is solver-dependent – CBC provides it, GLPK may  not</a:t>
            </a:r>
          </a:p>
        </p:txBody>
      </p:sp>
    </p:spTree>
    <p:extLst>
      <p:ext uri="{BB962C8B-B14F-4D97-AF65-F5344CB8AC3E}">
        <p14:creationId xmlns:p14="http://schemas.microsoft.com/office/powerpoint/2010/main" val="2055587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AMPL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014" y="155127"/>
            <a:ext cx="7596756" cy="6424959"/>
          </a:xfrm>
        </p:spPr>
      </p:pic>
    </p:spTree>
    <p:extLst>
      <p:ext uri="{BB962C8B-B14F-4D97-AF65-F5344CB8AC3E}">
        <p14:creationId xmlns:p14="http://schemas.microsoft.com/office/powerpoint/2010/main" val="1612467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AMPL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014" y="155127"/>
            <a:ext cx="7596756" cy="6424959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9BBE37E-B7B9-6802-C174-A176FFF8F850}"/>
              </a:ext>
            </a:extLst>
          </p:cNvPr>
          <p:cNvSpPr/>
          <p:nvPr/>
        </p:nvSpPr>
        <p:spPr>
          <a:xfrm>
            <a:off x="3297382" y="155127"/>
            <a:ext cx="7389091" cy="2939055"/>
          </a:xfrm>
          <a:prstGeom prst="rect">
            <a:avLst/>
          </a:prstGeom>
          <a:solidFill>
            <a:schemeClr val="bg1">
              <a:lumMod val="50000"/>
              <a:alpha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88FFDA-0654-6C6E-5C4A-92A96ABF1F92}"/>
              </a:ext>
            </a:extLst>
          </p:cNvPr>
          <p:cNvSpPr/>
          <p:nvPr/>
        </p:nvSpPr>
        <p:spPr>
          <a:xfrm>
            <a:off x="7659255" y="2873251"/>
            <a:ext cx="3859956" cy="3706835"/>
          </a:xfrm>
          <a:prstGeom prst="rect">
            <a:avLst/>
          </a:prstGeom>
          <a:solidFill>
            <a:schemeClr val="bg1">
              <a:lumMod val="50000"/>
              <a:alpha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79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4620"/>
            <a:ext cx="10515600" cy="1325563"/>
          </a:xfrm>
        </p:spPr>
        <p:txBody>
          <a:bodyPr/>
          <a:lstStyle/>
          <a:p>
            <a:r>
              <a:rPr lang="en-US" b="1" dirty="0"/>
              <a:t>AMPL and Amply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0182"/>
            <a:ext cx="10515600" cy="5343197"/>
          </a:xfrm>
        </p:spPr>
        <p:txBody>
          <a:bodyPr>
            <a:noAutofit/>
          </a:bodyPr>
          <a:lstStyle/>
          <a:p>
            <a:pPr fontAlgn="base" hangingPunct="0"/>
            <a:r>
              <a:rPr lang="en-US" sz="3200" dirty="0"/>
              <a:t>What is </a:t>
            </a:r>
            <a:r>
              <a:rPr lang="en-US" sz="3200" b="1" dirty="0"/>
              <a:t>AMPL</a:t>
            </a:r>
            <a:r>
              <a:rPr lang="en-US" sz="3200" dirty="0"/>
              <a:t>?</a:t>
            </a:r>
          </a:p>
          <a:p>
            <a:pPr lvl="1" fontAlgn="base" hangingPunct="0"/>
            <a:r>
              <a:rPr lang="en-US" sz="2800" dirty="0"/>
              <a:t>a well-regarded (in the O.R. world) optimization modeling language </a:t>
            </a:r>
          </a:p>
          <a:p>
            <a:pPr lvl="1" fontAlgn="base" hangingPunct="0"/>
            <a:r>
              <a:rPr lang="en-US" sz="2800" b="1" dirty="0"/>
              <a:t>AMPL </a:t>
            </a:r>
            <a:r>
              <a:rPr lang="en-US" sz="2800" dirty="0"/>
              <a:t>stands for “a mathematical programming language”</a:t>
            </a:r>
          </a:p>
          <a:p>
            <a:pPr fontAlgn="base" hangingPunct="0"/>
            <a:r>
              <a:rPr lang="en-US" sz="3200" dirty="0"/>
              <a:t>What is </a:t>
            </a:r>
            <a:r>
              <a:rPr lang="en-US" sz="3200" b="1" dirty="0"/>
              <a:t>Amply</a:t>
            </a:r>
            <a:r>
              <a:rPr lang="en-US" sz="3200" dirty="0"/>
              <a:t>?</a:t>
            </a:r>
          </a:p>
          <a:p>
            <a:pPr lvl="1" fontAlgn="base" hangingPunct="0"/>
            <a:r>
              <a:rPr lang="en-US" sz="2800" dirty="0"/>
              <a:t>a Python library that works with </a:t>
            </a:r>
            <a:r>
              <a:rPr lang="en-US" sz="2800" dirty="0" err="1"/>
              <a:t>PuLP</a:t>
            </a:r>
            <a:endParaRPr lang="en-US" sz="2800" dirty="0"/>
          </a:p>
          <a:p>
            <a:pPr lvl="1" fontAlgn="base" hangingPunct="0"/>
            <a:r>
              <a:rPr lang="en-US" sz="2800" dirty="0"/>
              <a:t>allows data to be read into </a:t>
            </a:r>
            <a:r>
              <a:rPr lang="en-US" sz="2800" dirty="0" err="1"/>
              <a:t>PuLP</a:t>
            </a:r>
            <a:r>
              <a:rPr lang="en-US" sz="2800" dirty="0"/>
              <a:t> from external AMPL files (e.g. object and constraint coefficients, sets of variables, etc.)</a:t>
            </a:r>
          </a:p>
          <a:p>
            <a:pPr fontAlgn="base" hangingPunct="0"/>
            <a:r>
              <a:rPr lang="en-US" sz="3200" dirty="0"/>
              <a:t>Why?  </a:t>
            </a:r>
            <a:r>
              <a:rPr lang="en-US" sz="3200" b="1" dirty="0"/>
              <a:t>Model/data separation paradigm </a:t>
            </a:r>
            <a:r>
              <a:rPr lang="en-US" sz="3200" dirty="0"/>
              <a:t> </a:t>
            </a:r>
          </a:p>
          <a:p>
            <a:pPr lvl="1" fontAlgn="base" hangingPunct="0"/>
            <a:r>
              <a:rPr lang="en-US" sz="2800" dirty="0"/>
              <a:t>no hard-coded numbers in our .</a:t>
            </a:r>
            <a:r>
              <a:rPr lang="en-US" sz="2800" dirty="0" err="1"/>
              <a:t>py</a:t>
            </a:r>
            <a:r>
              <a:rPr lang="en-US" sz="2800" dirty="0"/>
              <a:t> model files </a:t>
            </a:r>
          </a:p>
          <a:p>
            <a:pPr lvl="1" fontAlgn="base" hangingPunct="0"/>
            <a:r>
              <a:rPr lang="en-US" sz="2800" dirty="0"/>
              <a:t>all moved out to data files that we can swap in and out as needed</a:t>
            </a:r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1802" y="94620"/>
            <a:ext cx="2371501" cy="174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85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AMPL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014" y="155127"/>
            <a:ext cx="7596756" cy="6424959"/>
          </a:xfr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188FFDA-0654-6C6E-5C4A-92A96ABF1F92}"/>
              </a:ext>
            </a:extLst>
          </p:cNvPr>
          <p:cNvSpPr/>
          <p:nvPr/>
        </p:nvSpPr>
        <p:spPr>
          <a:xfrm>
            <a:off x="7659255" y="2873251"/>
            <a:ext cx="3859956" cy="3706835"/>
          </a:xfrm>
          <a:prstGeom prst="rect">
            <a:avLst/>
          </a:prstGeom>
          <a:solidFill>
            <a:schemeClr val="bg1">
              <a:lumMod val="50000"/>
              <a:alpha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062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AMPL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014" y="155127"/>
            <a:ext cx="7596756" cy="6424959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9BBE37E-B7B9-6802-C174-A176FFF8F850}"/>
              </a:ext>
            </a:extLst>
          </p:cNvPr>
          <p:cNvSpPr/>
          <p:nvPr/>
        </p:nvSpPr>
        <p:spPr>
          <a:xfrm>
            <a:off x="3297382" y="155127"/>
            <a:ext cx="7596756" cy="2610375"/>
          </a:xfrm>
          <a:prstGeom prst="rect">
            <a:avLst/>
          </a:prstGeom>
          <a:solidFill>
            <a:schemeClr val="bg1">
              <a:lumMod val="50000"/>
              <a:alpha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873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2091814" cy="3584048"/>
          </a:xfrm>
        </p:spPr>
        <p:txBody>
          <a:bodyPr/>
          <a:lstStyle/>
          <a:p>
            <a:r>
              <a:rPr lang="en-US" dirty="0"/>
              <a:t>AMPL </a:t>
            </a:r>
            <a:br>
              <a:rPr lang="en-US" dirty="0"/>
            </a:br>
            <a:r>
              <a:rPr lang="en-US" dirty="0"/>
              <a:t>   -&gt; Amply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014" y="155127"/>
            <a:ext cx="7596756" cy="6424959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9BBE37E-B7B9-6802-C174-A176FFF8F850}"/>
              </a:ext>
            </a:extLst>
          </p:cNvPr>
          <p:cNvSpPr/>
          <p:nvPr/>
        </p:nvSpPr>
        <p:spPr>
          <a:xfrm>
            <a:off x="3297382" y="155127"/>
            <a:ext cx="7596756" cy="2610375"/>
          </a:xfrm>
          <a:prstGeom prst="rect">
            <a:avLst/>
          </a:prstGeom>
          <a:solidFill>
            <a:schemeClr val="bg1">
              <a:lumMod val="50000"/>
              <a:alpha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88FFDA-0654-6C6E-5C4A-92A96ABF1F92}"/>
              </a:ext>
            </a:extLst>
          </p:cNvPr>
          <p:cNvSpPr/>
          <p:nvPr/>
        </p:nvSpPr>
        <p:spPr>
          <a:xfrm>
            <a:off x="3131971" y="2996039"/>
            <a:ext cx="4283590" cy="3584048"/>
          </a:xfrm>
          <a:prstGeom prst="rect">
            <a:avLst/>
          </a:prstGeom>
          <a:solidFill>
            <a:schemeClr val="bg1">
              <a:lumMod val="50000"/>
              <a:alpha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609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FD07E-1BAB-4906-BEC4-60E30F6B5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Amply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D73C5-7858-EADB-9E08-CFDBF8207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sure Amply is installed</a:t>
            </a:r>
          </a:p>
          <a:p>
            <a:pPr lvl="1"/>
            <a:r>
              <a:rPr lang="en-US" dirty="0"/>
              <a:t>if you installed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environment, Amply should be installed</a:t>
            </a:r>
          </a:p>
          <a:p>
            <a:pPr lvl="1"/>
            <a:r>
              <a:rPr lang="en-US" dirty="0"/>
              <a:t>if not, type 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amply</a:t>
            </a:r>
            <a:r>
              <a:rPr lang="en-US" dirty="0"/>
              <a:t>” in Spyder or in an Anaconda prompt</a:t>
            </a:r>
          </a:p>
          <a:p>
            <a:r>
              <a:rPr lang="en-US" dirty="0"/>
              <a:t>import Amply as follows: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amply import Amply</a:t>
            </a:r>
          </a:p>
          <a:p>
            <a:pPr lvl="1"/>
            <a:r>
              <a:rPr lang="en-US" dirty="0"/>
              <a:t>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Amply</a:t>
            </a:r>
            <a:r>
              <a:rPr lang="en-US" dirty="0"/>
              <a:t> (capital A) is a class within the module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amply</a:t>
            </a:r>
            <a:r>
              <a:rPr lang="en-US" dirty="0"/>
              <a:t> (lower-case a) )</a:t>
            </a:r>
          </a:p>
          <a:p>
            <a:r>
              <a:rPr lang="en-US" dirty="0"/>
              <a:t>Amply organizes model data using these categories:</a:t>
            </a:r>
          </a:p>
          <a:p>
            <a:pPr lvl="1"/>
            <a:r>
              <a:rPr lang="en-US" b="1" dirty="0"/>
              <a:t>sets</a:t>
            </a:r>
            <a:r>
              <a:rPr lang="en-US" dirty="0"/>
              <a:t> – like Python sets or lists</a:t>
            </a:r>
          </a:p>
          <a:p>
            <a:pPr lvl="1"/>
            <a:r>
              <a:rPr lang="en-US" b="1" dirty="0"/>
              <a:t>parameters</a:t>
            </a:r>
            <a:r>
              <a:rPr lang="en-US" dirty="0"/>
              <a:t> – like Python dictionaries, often indexed by sets </a:t>
            </a:r>
          </a:p>
        </p:txBody>
      </p:sp>
    </p:spTree>
    <p:extLst>
      <p:ext uri="{BB962C8B-B14F-4D97-AF65-F5344CB8AC3E}">
        <p14:creationId xmlns:p14="http://schemas.microsoft.com/office/powerpoint/2010/main" val="4286695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85929-FCA3-0646-97A9-F59DBF91B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21521-E402-F6AA-E655-3AF5BE223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467"/>
            <a:ext cx="10515600" cy="1325563"/>
          </a:xfrm>
        </p:spPr>
        <p:txBody>
          <a:bodyPr/>
          <a:lstStyle/>
          <a:p>
            <a:r>
              <a:rPr lang="en-US" dirty="0"/>
              <a:t>Contents of an AMPL .</a:t>
            </a:r>
            <a:r>
              <a:rPr lang="en-US" dirty="0" err="1"/>
              <a:t>dat</a:t>
            </a:r>
            <a:r>
              <a:rPr lang="en-US" dirty="0"/>
              <a:t> file: 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A59E4-0C0B-6AF8-5FE7-B6E5AF0A7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2974"/>
            <a:ext cx="10515600" cy="5345559"/>
          </a:xfrm>
        </p:spPr>
        <p:txBody>
          <a:bodyPr>
            <a:normAutofit/>
          </a:bodyPr>
          <a:lstStyle/>
          <a:p>
            <a:r>
              <a:rPr lang="en-US" b="1" u="sng" dirty="0"/>
              <a:t>Sets</a:t>
            </a:r>
            <a:r>
              <a:rPr lang="en-US" dirty="0"/>
              <a:t> – contain words, usually referring to variable names or constraint names.  Examples defining sets: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set products := Aqua Hydro;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food_items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:= oats chicken eggs milk cake beans;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set beers := light dark ale;</a:t>
            </a:r>
          </a:p>
          <a:p>
            <a:pPr marL="457200" lvl="1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Amply is very picky about punctuation.  What do we see here?</a:t>
            </a:r>
          </a:p>
          <a:p>
            <a:pPr lvl="1"/>
            <a:r>
              <a:rPr lang="en-US" dirty="0"/>
              <a:t>5 elements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the word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dirty="0"/>
              <a:t> to start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the name of the set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:=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the set elements separated by spaces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a semi-colon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dirty="0"/>
              <a:t>) at the end</a:t>
            </a:r>
          </a:p>
        </p:txBody>
      </p:sp>
    </p:spTree>
    <p:extLst>
      <p:ext uri="{BB962C8B-B14F-4D97-AF65-F5344CB8AC3E}">
        <p14:creationId xmlns:p14="http://schemas.microsoft.com/office/powerpoint/2010/main" val="2272082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9467"/>
            <a:ext cx="10515600" cy="1325563"/>
          </a:xfrm>
        </p:spPr>
        <p:txBody>
          <a:bodyPr/>
          <a:lstStyle/>
          <a:p>
            <a:r>
              <a:rPr lang="en-US" dirty="0"/>
              <a:t>Contents of an AMPL .</a:t>
            </a:r>
            <a:r>
              <a:rPr lang="en-US" dirty="0" err="1"/>
              <a:t>dat</a:t>
            </a:r>
            <a:r>
              <a:rPr lang="en-US" dirty="0"/>
              <a:t> file: 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2974"/>
            <a:ext cx="10515600" cy="5345559"/>
          </a:xfrm>
        </p:spPr>
        <p:txBody>
          <a:bodyPr>
            <a:normAutofit lnSpcReduction="10000"/>
          </a:bodyPr>
          <a:lstStyle/>
          <a:p>
            <a:r>
              <a:rPr lang="en-US" b="1" u="sng" dirty="0"/>
              <a:t>Parameters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contain values, usually of constraint matrix (2D), constraint right-hand-sides (1D), and objective (1D)</a:t>
            </a:r>
          </a:p>
          <a:p>
            <a:pPr lvl="1"/>
            <a:r>
              <a:rPr lang="en-US" dirty="0"/>
              <a:t>have a dictionary-like structure with keys</a:t>
            </a:r>
          </a:p>
          <a:p>
            <a:pPr lvl="1"/>
            <a:r>
              <a:rPr lang="en-US" dirty="0"/>
              <a:t>examples defining parameters: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sz="1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Notice the syntax – use of :, :=, word then #(s), semi-colon, etc.</a:t>
            </a:r>
          </a:p>
          <a:p>
            <a:pPr marL="457200" lvl="1" indent="0">
              <a:buNone/>
            </a:pPr>
            <a:r>
              <a:rPr lang="en-US" dirty="0"/>
              <a:t>We will illustrate these using the hot tub problem.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44FF29-A151-11E2-B403-BB839EB116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648757"/>
              </p:ext>
            </p:extLst>
          </p:nvPr>
        </p:nvGraphicFramePr>
        <p:xfrm>
          <a:off x="940279" y="3429000"/>
          <a:ext cx="9980764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75517">
                  <a:extLst>
                    <a:ext uri="{9D8B030D-6E8A-4147-A177-3AD203B41FA5}">
                      <a16:colId xmlns:a16="http://schemas.microsoft.com/office/drawing/2014/main" val="1618102642"/>
                    </a:ext>
                  </a:extLst>
                </a:gridCol>
                <a:gridCol w="5305247">
                  <a:extLst>
                    <a:ext uri="{9D8B030D-6E8A-4147-A177-3AD203B41FA5}">
                      <a16:colId xmlns:a16="http://schemas.microsoft.com/office/drawing/2014/main" val="2231297822"/>
                    </a:ext>
                  </a:extLst>
                </a:gridCol>
              </a:tblGrid>
              <a:tr h="1192812">
                <a:tc>
                  <a:txBody>
                    <a:bodyPr/>
                    <a:lstStyle/>
                    <a:p>
                      <a:pPr marL="457200" lvl="1" indent="0">
                        <a:buNone/>
                      </a:pPr>
                      <a:r>
                        <a:rPr lang="en-US" sz="1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param objective :=	</a:t>
                      </a:r>
                    </a:p>
                    <a:p>
                      <a:pPr marL="457200" lvl="1" indent="0">
                        <a:buNone/>
                      </a:pPr>
                      <a:r>
                        <a:rPr lang="en-US" sz="1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oats 30</a:t>
                      </a:r>
                    </a:p>
                    <a:p>
                      <a:pPr marL="457200" lvl="1" indent="0">
                        <a:buNone/>
                      </a:pPr>
                      <a:r>
                        <a:rPr lang="en-US" sz="1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chicken 240</a:t>
                      </a:r>
                    </a:p>
                    <a:p>
                      <a:pPr marL="457200" lvl="1" indent="0">
                        <a:buNone/>
                      </a:pPr>
                      <a:r>
                        <a:rPr lang="en-US" sz="1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eggs 130</a:t>
                      </a:r>
                    </a:p>
                    <a:p>
                      <a:pPr marL="457200" lvl="1" indent="0">
                        <a:buNone/>
                      </a:pPr>
                      <a:r>
                        <a:rPr lang="en-US" sz="1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milk 90</a:t>
                      </a:r>
                    </a:p>
                    <a:p>
                      <a:pPr marL="457200" lvl="1" indent="0">
                        <a:buNone/>
                      </a:pPr>
                      <a:r>
                        <a:rPr lang="en-US" sz="1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cake 200</a:t>
                      </a:r>
                    </a:p>
                    <a:p>
                      <a:pPr marL="457200" lvl="1" indent="0">
                        <a:buNone/>
                      </a:pPr>
                      <a:r>
                        <a:rPr lang="en-US" sz="19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beans 60;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lvl="1" indent="0"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param supply  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 marL="457200" lvl="1" indent="0"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calories protein calcium :=</a:t>
                      </a:r>
                    </a:p>
                    <a:p>
                      <a:pPr marL="457200" lvl="1" indent="0"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oats 110 4 2</a:t>
                      </a:r>
                    </a:p>
                    <a:p>
                      <a:pPr marL="457200" lvl="1" indent="0"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chicken 205 32 12</a:t>
                      </a:r>
                    </a:p>
                    <a:p>
                      <a:pPr marL="457200" lvl="1" indent="0"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eggs 160 13 54</a:t>
                      </a:r>
                    </a:p>
                    <a:p>
                      <a:pPr marL="457200" lvl="1" indent="0"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milk 160 8 285</a:t>
                      </a:r>
                    </a:p>
                    <a:p>
                      <a:pPr marL="457200" lvl="1" indent="0"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cake 420 4 22</a:t>
                      </a:r>
                    </a:p>
                    <a:p>
                      <a:pPr marL="457200" lvl="1" indent="0"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beans 260 14 80;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3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3250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27D39-2A2E-918E-15B7-A0A777CA0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829"/>
            <a:ext cx="10515600" cy="1325563"/>
          </a:xfrm>
        </p:spPr>
        <p:txBody>
          <a:bodyPr/>
          <a:lstStyle/>
          <a:p>
            <a:r>
              <a:rPr lang="en-US" dirty="0"/>
              <a:t>Amply example – hot tub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394A5-EAB0-8EC0-B5A8-19E5F0FB5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5336"/>
            <a:ext cx="10515600" cy="54346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Recall the problem data: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Problem Data: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		Aqua-Spa	Hydro-Lux	Available	</a:t>
            </a:r>
            <a:endParaRPr lang="en-US" altLang="en-US" dirty="0"/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Pumps	</a:t>
            </a:r>
            <a:r>
              <a:rPr lang="en-US" altLang="en-US" dirty="0">
                <a:ea typeface="Calibri" panose="020F0502020204030204" pitchFamily="34" charset="0"/>
                <a:cs typeface="Times New Roman" panose="02020603050405020304" pitchFamily="18" charset="0"/>
              </a:rPr>
              <a:t>	1		1		200</a:t>
            </a:r>
            <a:endParaRPr lang="en-US" altLang="en-US" dirty="0"/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Labor 	</a:t>
            </a:r>
            <a:r>
              <a:rPr lang="en-US" altLang="en-US" dirty="0">
                <a:ea typeface="Calibri" panose="020F0502020204030204" pitchFamily="34" charset="0"/>
                <a:cs typeface="Times New Roman" panose="02020603050405020304" pitchFamily="18" charset="0"/>
              </a:rPr>
              <a:t>	9 hours		6 hours		1566 hours</a:t>
            </a:r>
            <a:endParaRPr lang="en-US" altLang="en-US" dirty="0"/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Tubing	</a:t>
            </a:r>
            <a:r>
              <a:rPr lang="en-US" altLang="en-US" dirty="0">
                <a:ea typeface="Calibri" panose="020F0502020204030204" pitchFamily="34" charset="0"/>
                <a:cs typeface="Times New Roman" panose="02020603050405020304" pitchFamily="18" charset="0"/>
              </a:rPr>
              <a:t>	12 feet		16 feet		2880 feet</a:t>
            </a:r>
            <a:endParaRPr lang="en-US" altLang="en-US" dirty="0"/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Unit Profit</a:t>
            </a:r>
            <a:r>
              <a:rPr lang="en-US" altLang="en-US" dirty="0">
                <a:ea typeface="Calibri" panose="020F0502020204030204" pitchFamily="34" charset="0"/>
                <a:cs typeface="Times New Roman" panose="02020603050405020304" pitchFamily="18" charset="0"/>
              </a:rPr>
              <a:t>	$350		$300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/>
              <a:t>Amply structure: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set products := Aqua Hydro;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set resources := pumps labor tubing;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param profit :=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Aqua	350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Hydro	300 ;</a:t>
            </a: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/>
              <a:t>				continued on next slide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416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C92D5-771B-8DAB-BA1E-0CC752E78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3C688-F3D9-6BB7-4FA3-4632ECA30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829"/>
            <a:ext cx="10515600" cy="1325563"/>
          </a:xfrm>
        </p:spPr>
        <p:txBody>
          <a:bodyPr/>
          <a:lstStyle/>
          <a:p>
            <a:r>
              <a:rPr lang="en-US" dirty="0"/>
              <a:t>Amply example – hot tub problem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934C9-12D5-0542-7FEA-E6E22A262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5336"/>
            <a:ext cx="10515600" cy="54346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Recall the problem data: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Problem Data: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		Aqua-Spa		Hydro-Lux	Available	</a:t>
            </a:r>
            <a:endParaRPr lang="en-US" altLang="en-US" sz="1800" dirty="0"/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Pumps	</a:t>
            </a:r>
            <a:r>
              <a:rPr lang="en-US" altLang="en-US" sz="1800" dirty="0">
                <a:ea typeface="Calibri" panose="020F0502020204030204" pitchFamily="34" charset="0"/>
                <a:cs typeface="Times New Roman" panose="02020603050405020304" pitchFamily="18" charset="0"/>
              </a:rPr>
              <a:t>	1		1		200</a:t>
            </a:r>
            <a:endParaRPr lang="en-US" altLang="en-US" sz="1800" dirty="0"/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Labor 	</a:t>
            </a:r>
            <a:r>
              <a:rPr lang="en-US" altLang="en-US" sz="1800" dirty="0">
                <a:ea typeface="Calibri" panose="020F0502020204030204" pitchFamily="34" charset="0"/>
                <a:cs typeface="Times New Roman" panose="02020603050405020304" pitchFamily="18" charset="0"/>
              </a:rPr>
              <a:t>	9 hours		6 hours		1566 hours</a:t>
            </a:r>
            <a:endParaRPr lang="en-US" altLang="en-US" sz="1800" dirty="0"/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Tubing	</a:t>
            </a:r>
            <a:r>
              <a:rPr lang="en-US" altLang="en-US" sz="1800" dirty="0">
                <a:ea typeface="Calibri" panose="020F0502020204030204" pitchFamily="34" charset="0"/>
                <a:cs typeface="Times New Roman" panose="02020603050405020304" pitchFamily="18" charset="0"/>
              </a:rPr>
              <a:t>	12 feet		16 feet		2880 feet</a:t>
            </a:r>
            <a:endParaRPr lang="en-US" altLang="en-US" sz="1800" dirty="0"/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Unit Profit</a:t>
            </a:r>
            <a:r>
              <a:rPr lang="en-US" altLang="en-US" sz="1800" dirty="0">
                <a:ea typeface="Calibri" panose="020F0502020204030204" pitchFamily="34" charset="0"/>
                <a:cs typeface="Times New Roman" panose="02020603050405020304" pitchFamily="18" charset="0"/>
              </a:rPr>
              <a:t>	$350		$300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/>
              <a:t>				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2A3CBE-09EA-2976-301A-7B2F205D4B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59754"/>
              </p:ext>
            </p:extLst>
          </p:nvPr>
        </p:nvGraphicFramePr>
        <p:xfrm>
          <a:off x="241539" y="3429000"/>
          <a:ext cx="11300604" cy="32909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74346">
                  <a:extLst>
                    <a:ext uri="{9D8B030D-6E8A-4147-A177-3AD203B41FA5}">
                      <a16:colId xmlns:a16="http://schemas.microsoft.com/office/drawing/2014/main" val="2483147200"/>
                    </a:ext>
                  </a:extLst>
                </a:gridCol>
                <a:gridCol w="5926258">
                  <a:extLst>
                    <a:ext uri="{9D8B030D-6E8A-4147-A177-3AD203B41FA5}">
                      <a16:colId xmlns:a16="http://schemas.microsoft.com/office/drawing/2014/main" val="1323899272"/>
                    </a:ext>
                  </a:extLst>
                </a:gridCol>
              </a:tblGrid>
              <a:tr h="32909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b="1" dirty="0"/>
                        <a:t>Amply structure:</a:t>
                      </a:r>
                    </a:p>
                    <a:p>
                      <a:pPr marL="0" indent="0">
                        <a:buNone/>
                      </a:pPr>
                      <a:endParaRPr 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 products := Aqua Hydro;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 resources := pumps labor tubing;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param profit :=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Aqua	350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Hydro	300 ;</a:t>
                      </a:r>
                      <a:endParaRPr lang="en-US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param		avail  :=</a:t>
                      </a:r>
                    </a:p>
                    <a:p>
                      <a:pPr marL="0" indent="0"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pumps	200</a:t>
                      </a:r>
                    </a:p>
                    <a:p>
                      <a:pPr marL="0" indent="0"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labor	1566</a:t>
                      </a:r>
                    </a:p>
                    <a:p>
                      <a:pPr marL="0" indent="0"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tubing	2880  ;</a:t>
                      </a:r>
                    </a:p>
                    <a:p>
                      <a:pPr marL="0" indent="0">
                        <a:buNone/>
                      </a:pP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param	req  :</a:t>
                      </a:r>
                    </a:p>
                    <a:p>
                      <a:pPr marL="0" indent="0"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	Aqua	Hydro :=</a:t>
                      </a:r>
                    </a:p>
                    <a:p>
                      <a:pPr marL="0" indent="0"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pumps	1		1</a:t>
                      </a:r>
                    </a:p>
                    <a:p>
                      <a:pPr marL="0" indent="0"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labor	9		6</a:t>
                      </a:r>
                    </a:p>
                    <a:p>
                      <a:pPr marL="0" indent="0"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tubing	12		16  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8537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1731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B14A1-F56A-01A4-6FF8-4E17D2B5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0CC28-3730-D616-5A60-ED5CABAEA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Amply .</a:t>
            </a:r>
            <a:r>
              <a:rPr lang="en-US" dirty="0" err="1"/>
              <a:t>dat</a:t>
            </a:r>
            <a:r>
              <a:rPr lang="en-US" dirty="0"/>
              <a:t> file (blue.dat) for Hot Tub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C98A0-6925-E5B5-625F-6B95E70BC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964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set products := Aqua Hydro;</a:t>
            </a:r>
          </a:p>
          <a:p>
            <a:pPr marL="0" indent="0">
              <a:buNone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set resources := pumps labor tubing;</a:t>
            </a:r>
          </a:p>
          <a:p>
            <a:pPr marL="0" indent="0">
              <a:buNone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param   profit :=</a:t>
            </a:r>
          </a:p>
          <a:p>
            <a:pPr marL="0" indent="0">
              <a:buNone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	Aqua	350</a:t>
            </a:r>
          </a:p>
          <a:p>
            <a:pPr marL="0" indent="0">
              <a:buNone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	Hydro	300 ;</a:t>
            </a:r>
          </a:p>
          <a:p>
            <a:pPr marL="0" indent="0">
              <a:buNone/>
            </a:pP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		avail  :=</a:t>
            </a:r>
          </a:p>
          <a:p>
            <a:pPr marL="0" indent="0">
              <a:buNone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	pumps	 200</a:t>
            </a:r>
          </a:p>
          <a:p>
            <a:pPr marL="0" indent="0">
              <a:buNone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	labor	 1566</a:t>
            </a:r>
          </a:p>
          <a:p>
            <a:pPr marL="0" indent="0">
              <a:buNone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	tubing 2880  ;</a:t>
            </a:r>
          </a:p>
          <a:p>
            <a:pPr marL="0" indent="0">
              <a:buNone/>
            </a:pP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 :</a:t>
            </a:r>
          </a:p>
          <a:p>
            <a:pPr marL="0" indent="0">
              <a:buNone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			Aqua	Hydro :=</a:t>
            </a:r>
          </a:p>
          <a:p>
            <a:pPr marL="0" indent="0">
              <a:buNone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	pumps		1		1</a:t>
            </a:r>
          </a:p>
          <a:p>
            <a:pPr marL="0" indent="0">
              <a:buNone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	labor		9		6</a:t>
            </a:r>
          </a:p>
          <a:p>
            <a:pPr marL="0" indent="0">
              <a:buNone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	tubing	12		16  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928E0A-EBBC-E41D-B011-E8BD3C6AF623}"/>
              </a:ext>
            </a:extLst>
          </p:cNvPr>
          <p:cNvSpPr txBox="1"/>
          <p:nvPr/>
        </p:nvSpPr>
        <p:spPr>
          <a:xfrm>
            <a:off x="5322498" y="2786332"/>
            <a:ext cx="5175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&lt;-- dictionary-like set-up –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profit[Aqua] = 350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ADCB53-E47D-E95B-86CF-187C12E354F4}"/>
              </a:ext>
            </a:extLst>
          </p:cNvPr>
          <p:cNvSpPr txBox="1"/>
          <p:nvPr/>
        </p:nvSpPr>
        <p:spPr>
          <a:xfrm>
            <a:off x="5259238" y="4116371"/>
            <a:ext cx="5313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&lt;-- dictionary-like set-up –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avail[labor] = 1556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D5FD9F-777A-DF35-601D-ABBB711B1D12}"/>
              </a:ext>
            </a:extLst>
          </p:cNvPr>
          <p:cNvSpPr txBox="1"/>
          <p:nvPr/>
        </p:nvSpPr>
        <p:spPr>
          <a:xfrm>
            <a:off x="6300159" y="5261744"/>
            <a:ext cx="33650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&lt;-- </a:t>
            </a:r>
            <a:r>
              <a:rPr lang="en-US" dirty="0" err="1"/>
              <a:t>dict</a:t>
            </a:r>
            <a:r>
              <a:rPr lang="en-US" dirty="0"/>
              <a:t>-of-</a:t>
            </a:r>
            <a:r>
              <a:rPr lang="en-US" dirty="0" err="1"/>
              <a:t>dicts</a:t>
            </a:r>
            <a:r>
              <a:rPr lang="en-US" dirty="0"/>
              <a:t>-like set-up – 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req[Aqua][labor] = 9</a:t>
            </a:r>
          </a:p>
        </p:txBody>
      </p:sp>
    </p:spTree>
    <p:extLst>
      <p:ext uri="{BB962C8B-B14F-4D97-AF65-F5344CB8AC3E}">
        <p14:creationId xmlns:p14="http://schemas.microsoft.com/office/powerpoint/2010/main" val="2196191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83073-19AE-5ABC-2043-ADB871EA5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827"/>
            <a:ext cx="10515600" cy="1325563"/>
          </a:xfrm>
        </p:spPr>
        <p:txBody>
          <a:bodyPr/>
          <a:lstStyle/>
          <a:p>
            <a:r>
              <a:rPr lang="en-US" dirty="0"/>
              <a:t>Loading Amply data into a </a:t>
            </a:r>
            <a:r>
              <a:rPr lang="en-US" dirty="0" err="1"/>
              <a:t>PuLP</a:t>
            </a:r>
            <a:r>
              <a:rPr lang="en-US"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E0A8F-1258-DE98-1AA8-FFD1A6CC0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875" y="1276350"/>
            <a:ext cx="10829925" cy="5509823"/>
          </a:xfrm>
        </p:spPr>
        <p:txBody>
          <a:bodyPr>
            <a:normAutofit/>
          </a:bodyPr>
          <a:lstStyle/>
          <a:p>
            <a:r>
              <a:rPr lang="en-US" sz="2400" dirty="0"/>
              <a:t>In Python, set up a data structure to match the structure of the .</a:t>
            </a:r>
            <a:r>
              <a:rPr lang="en-US" sz="2400" dirty="0" err="1"/>
              <a:t>dat</a:t>
            </a:r>
            <a:r>
              <a:rPr lang="en-US" sz="2400" dirty="0"/>
              <a:t> file</a:t>
            </a:r>
          </a:p>
          <a:p>
            <a:r>
              <a:rPr lang="en-US" sz="2400" dirty="0"/>
              <a:t>Recapping what we set up in the .</a:t>
            </a:r>
            <a:r>
              <a:rPr lang="en-US" sz="2400" dirty="0" err="1"/>
              <a:t>dat</a:t>
            </a:r>
            <a:r>
              <a:rPr lang="en-US" sz="2400" dirty="0"/>
              <a:t> file:</a:t>
            </a:r>
          </a:p>
          <a:p>
            <a:pPr lvl="1"/>
            <a:r>
              <a:rPr lang="en-US" sz="2000" dirty="0"/>
              <a:t>2 </a:t>
            </a:r>
            <a:r>
              <a:rPr lang="en-US" sz="2000" b="1" dirty="0"/>
              <a:t>sets</a:t>
            </a:r>
            <a:r>
              <a:rPr lang="en-US" sz="2000" dirty="0"/>
              <a:t>: 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  <a:r>
              <a:rPr lang="en-US" sz="2000" dirty="0"/>
              <a:t>,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resources</a:t>
            </a:r>
          </a:p>
          <a:p>
            <a:pPr lvl="1"/>
            <a:r>
              <a:rPr lang="en-US" sz="2000" b="1" dirty="0"/>
              <a:t>param</a:t>
            </a:r>
            <a:r>
              <a:rPr lang="en-US" sz="2000" dirty="0"/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profit</a:t>
            </a:r>
            <a:r>
              <a:rPr lang="en-US" sz="2000" dirty="0"/>
              <a:t> indexed by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</a:p>
          <a:p>
            <a:pPr lvl="1"/>
            <a:r>
              <a:rPr lang="en-US" sz="2000" b="1" dirty="0"/>
              <a:t>param</a:t>
            </a:r>
            <a:r>
              <a:rPr lang="en-US" sz="2000" dirty="0"/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avail</a:t>
            </a:r>
            <a:r>
              <a:rPr lang="en-US" sz="2000" dirty="0"/>
              <a:t> indexed by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resources</a:t>
            </a:r>
          </a:p>
          <a:p>
            <a:pPr lvl="1"/>
            <a:r>
              <a:rPr lang="en-US" sz="2000" b="1" dirty="0"/>
              <a:t>param</a:t>
            </a:r>
            <a:r>
              <a:rPr lang="en-US" sz="2000" dirty="0"/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req</a:t>
            </a:r>
            <a:r>
              <a:rPr lang="en-US" sz="2000" dirty="0"/>
              <a:t> indexed by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resources</a:t>
            </a:r>
            <a:r>
              <a:rPr lang="en-US" sz="2000" dirty="0"/>
              <a:t> and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  <a:r>
              <a:rPr lang="en-US" sz="2000" dirty="0"/>
              <a:t> (row then column)</a:t>
            </a:r>
          </a:p>
          <a:p>
            <a:r>
              <a:rPr lang="en-US" sz="2400" dirty="0"/>
              <a:t>Mirror this structure in our Amply data object as follows: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D599BC-E04B-2FE2-1C4C-E20871E2A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325260"/>
              </p:ext>
            </p:extLst>
          </p:nvPr>
        </p:nvGraphicFramePr>
        <p:xfrm>
          <a:off x="390525" y="3948820"/>
          <a:ext cx="11182350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83038">
                  <a:extLst>
                    <a:ext uri="{9D8B030D-6E8A-4147-A177-3AD203B41FA5}">
                      <a16:colId xmlns:a16="http://schemas.microsoft.com/office/drawing/2014/main" val="2502303149"/>
                    </a:ext>
                  </a:extLst>
                </a:gridCol>
                <a:gridCol w="5099312">
                  <a:extLst>
                    <a:ext uri="{9D8B030D-6E8A-4147-A177-3AD203B41FA5}">
                      <a16:colId xmlns:a16="http://schemas.microsoft.com/office/drawing/2014/main" val="3869566422"/>
                    </a:ext>
                  </a:extLst>
                </a:gridCol>
              </a:tblGrid>
              <a:tr h="2262199">
                <a:tc>
                  <a:txBody>
                    <a:bodyPr/>
                    <a:lstStyle/>
                    <a:p>
                      <a:pPr marL="914400" lvl="2" indent="0">
                        <a:buNone/>
                      </a:pP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914400" lvl="2" indent="0">
                        <a:buNone/>
                      </a:pPr>
                      <a: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 = Amply("""</a:t>
                      </a:r>
                    </a:p>
                    <a:p>
                      <a:pPr marL="914400" lvl="2" indent="0">
                        <a:buNone/>
                      </a:pPr>
                      <a: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 products;</a:t>
                      </a:r>
                    </a:p>
                    <a:p>
                      <a:pPr marL="914400" lvl="2" indent="0">
                        <a:buNone/>
                      </a:pPr>
                      <a: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 resources;</a:t>
                      </a:r>
                    </a:p>
                    <a:p>
                      <a:pPr marL="914400" lvl="2" indent="0">
                        <a:buNone/>
                      </a:pPr>
                      <a: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param profit{products};</a:t>
                      </a:r>
                    </a:p>
                    <a:p>
                      <a:pPr marL="914400" lvl="2" indent="0">
                        <a:buNone/>
                      </a:pPr>
                      <a: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param avail{resources};</a:t>
                      </a:r>
                    </a:p>
                    <a:p>
                      <a:pPr marL="914400" lvl="2" indent="0">
                        <a:buNone/>
                      </a:pPr>
                      <a: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param req {resources, products};</a:t>
                      </a:r>
                    </a:p>
                    <a:p>
                      <a:pPr marL="914400" lvl="2" indent="0"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""")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u="sng" dirty="0"/>
                        <a:t>Observe</a:t>
                      </a:r>
                      <a:r>
                        <a:rPr lang="en-US" sz="2000" dirty="0"/>
                        <a:t>: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000" dirty="0"/>
                        <a:t>Instantiate an Amply object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000" dirty="0"/>
                        <a:t>Its argument is a multi-line string (use of “””)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000" dirty="0"/>
                        <a:t>Each set or param defined on its own line ending with ;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000" dirty="0"/>
                        <a:t>Params indexed using { } and name of </a:t>
                      </a:r>
                      <a:r>
                        <a:rPr lang="en-US" sz="2000"/>
                        <a:t>indexing set(s)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28899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F2D3162-0BCF-284B-1CAE-EA43C86D137A}"/>
              </a:ext>
            </a:extLst>
          </p:cNvPr>
          <p:cNvSpPr txBox="1"/>
          <p:nvPr/>
        </p:nvSpPr>
        <p:spPr>
          <a:xfrm>
            <a:off x="1041998" y="6416841"/>
            <a:ext cx="101080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Load the Amply data </a:t>
            </a:r>
            <a:r>
              <a:rPr lang="en-US"/>
              <a:t>stored in the DAT file: 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data.load_file(open(‘blue.dat’))</a:t>
            </a:r>
          </a:p>
        </p:txBody>
      </p:sp>
    </p:spTree>
    <p:extLst>
      <p:ext uri="{BB962C8B-B14F-4D97-AF65-F5344CB8AC3E}">
        <p14:creationId xmlns:p14="http://schemas.microsoft.com/office/powerpoint/2010/main" val="2600082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AB69-F307-2DEC-C60C-69028B7E6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Hot Tub model with Amply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D7BD3-06F5-A8E1-01E8-A4BFCE8F0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or download the .</a:t>
            </a:r>
            <a:r>
              <a:rPr lang="en-US" dirty="0" err="1"/>
              <a:t>dat</a:t>
            </a:r>
            <a:r>
              <a:rPr lang="en-US" dirty="0"/>
              <a:t> file blue.dat</a:t>
            </a:r>
          </a:p>
          <a:p>
            <a:r>
              <a:rPr lang="en-US" dirty="0"/>
              <a:t>Note: Amply requires leading 0s in decimals:  do 0.9 not .9</a:t>
            </a:r>
          </a:p>
          <a:p>
            <a:r>
              <a:rPr lang="en-US" dirty="0"/>
              <a:t>Let’s go to Spyder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6BF08E-8142-1277-931E-DAAE025F3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841" y="3315398"/>
            <a:ext cx="1200318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387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5978</TotalTime>
  <Words>1134</Words>
  <Application>Microsoft Office PowerPoint</Application>
  <PresentationFormat>Widescreen</PresentationFormat>
  <Paragraphs>182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Courier New</vt:lpstr>
      <vt:lpstr>Office Theme</vt:lpstr>
      <vt:lpstr>Today </vt:lpstr>
      <vt:lpstr>Creating Decision Variables</vt:lpstr>
      <vt:lpstr>Create a linear combination for use in objective or constraint</vt:lpstr>
      <vt:lpstr>The Value Function</vt:lpstr>
      <vt:lpstr>More useful PuLP – what do these do?</vt:lpstr>
      <vt:lpstr>AMPL</vt:lpstr>
      <vt:lpstr>AMPL</vt:lpstr>
      <vt:lpstr>AMPL and Amply</vt:lpstr>
      <vt:lpstr>AMPL</vt:lpstr>
      <vt:lpstr>AMPL</vt:lpstr>
      <vt:lpstr>AMPL     -&gt; Amply</vt:lpstr>
      <vt:lpstr>Using Amply</vt:lpstr>
      <vt:lpstr>Contents of an AMPL .dat file:  sets</vt:lpstr>
      <vt:lpstr>Contents of an AMPL .dat file:  parameters</vt:lpstr>
      <vt:lpstr>Amply example – hot tub problem</vt:lpstr>
      <vt:lpstr>Amply example – hot tub problem (cont.)</vt:lpstr>
      <vt:lpstr>Full Amply .dat file (blue.dat) for Hot Tub</vt:lpstr>
      <vt:lpstr>Loading Amply data into a PuLP model</vt:lpstr>
      <vt:lpstr>Hot Tub model with Amply</vt:lpstr>
    </vt:vector>
  </TitlesOfParts>
  <Company>USCGA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PuLP Reference</dc:title>
  <dc:creator>Frommer, Ian Dr. (EDU)</dc:creator>
  <cp:lastModifiedBy>Frommer, Ian Dr. (EDU)</cp:lastModifiedBy>
  <cp:revision>10</cp:revision>
  <dcterms:created xsi:type="dcterms:W3CDTF">2020-01-16T16:18:02Z</dcterms:created>
  <dcterms:modified xsi:type="dcterms:W3CDTF">2026-01-22T14:11:00Z</dcterms:modified>
</cp:coreProperties>
</file>