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Lst>
  <p:notesMasterIdLst>
    <p:notesMasterId r:id="rId85"/>
  </p:notesMasterIdLst>
  <p:handoutMasterIdLst>
    <p:handoutMasterId r:id="rId86"/>
  </p:handoutMasterIdLst>
  <p:sldIdLst>
    <p:sldId id="256" r:id="rId5"/>
    <p:sldId id="322" r:id="rId6"/>
    <p:sldId id="376" r:id="rId7"/>
    <p:sldId id="352" r:id="rId8"/>
    <p:sldId id="420" r:id="rId9"/>
    <p:sldId id="353" r:id="rId10"/>
    <p:sldId id="410" r:id="rId11"/>
    <p:sldId id="421" r:id="rId12"/>
    <p:sldId id="411" r:id="rId13"/>
    <p:sldId id="424" r:id="rId14"/>
    <p:sldId id="338" r:id="rId15"/>
    <p:sldId id="278" r:id="rId16"/>
    <p:sldId id="279" r:id="rId17"/>
    <p:sldId id="281" r:id="rId18"/>
    <p:sldId id="388" r:id="rId19"/>
    <p:sldId id="389" r:id="rId20"/>
    <p:sldId id="390" r:id="rId21"/>
    <p:sldId id="391" r:id="rId22"/>
    <p:sldId id="392" r:id="rId23"/>
    <p:sldId id="393" r:id="rId24"/>
    <p:sldId id="394" r:id="rId25"/>
    <p:sldId id="395" r:id="rId26"/>
    <p:sldId id="396" r:id="rId27"/>
    <p:sldId id="397" r:id="rId28"/>
    <p:sldId id="398" r:id="rId29"/>
    <p:sldId id="399" r:id="rId30"/>
    <p:sldId id="400" r:id="rId31"/>
    <p:sldId id="401" r:id="rId32"/>
    <p:sldId id="402" r:id="rId33"/>
    <p:sldId id="403" r:id="rId34"/>
    <p:sldId id="370" r:id="rId35"/>
    <p:sldId id="372" r:id="rId36"/>
    <p:sldId id="456" r:id="rId37"/>
    <p:sldId id="458" r:id="rId38"/>
    <p:sldId id="441" r:id="rId39"/>
    <p:sldId id="440" r:id="rId40"/>
    <p:sldId id="426" r:id="rId41"/>
    <p:sldId id="449" r:id="rId42"/>
    <p:sldId id="428" r:id="rId43"/>
    <p:sldId id="429" r:id="rId44"/>
    <p:sldId id="430" r:id="rId45"/>
    <p:sldId id="431" r:id="rId46"/>
    <p:sldId id="447" r:id="rId47"/>
    <p:sldId id="432" r:id="rId48"/>
    <p:sldId id="435" r:id="rId49"/>
    <p:sldId id="436" r:id="rId50"/>
    <p:sldId id="437" r:id="rId51"/>
    <p:sldId id="425" r:id="rId52"/>
    <p:sldId id="442" r:id="rId53"/>
    <p:sldId id="448" r:id="rId54"/>
    <p:sldId id="427" r:id="rId55"/>
    <p:sldId id="450" r:id="rId56"/>
    <p:sldId id="439" r:id="rId57"/>
    <p:sldId id="438" r:id="rId58"/>
    <p:sldId id="303" r:id="rId59"/>
    <p:sldId id="373" r:id="rId60"/>
    <p:sldId id="451" r:id="rId61"/>
    <p:sldId id="354" r:id="rId62"/>
    <p:sldId id="375" r:id="rId63"/>
    <p:sldId id="305" r:id="rId64"/>
    <p:sldId id="302" r:id="rId65"/>
    <p:sldId id="317" r:id="rId66"/>
    <p:sldId id="315" r:id="rId67"/>
    <p:sldId id="316" r:id="rId68"/>
    <p:sldId id="357" r:id="rId69"/>
    <p:sldId id="444" r:id="rId70"/>
    <p:sldId id="416" r:id="rId71"/>
    <p:sldId id="445" r:id="rId72"/>
    <p:sldId id="417" r:id="rId73"/>
    <p:sldId id="454" r:id="rId74"/>
    <p:sldId id="418" r:id="rId75"/>
    <p:sldId id="455" r:id="rId76"/>
    <p:sldId id="419" r:id="rId77"/>
    <p:sldId id="409" r:id="rId78"/>
    <p:sldId id="367" r:id="rId79"/>
    <p:sldId id="264" r:id="rId80"/>
    <p:sldId id="363" r:id="rId81"/>
    <p:sldId id="414" r:id="rId82"/>
    <p:sldId id="368" r:id="rId83"/>
    <p:sldId id="273" r:id="rId84"/>
  </p:sldIdLst>
  <p:sldSz cx="9144000" cy="5143500" type="screen16x9"/>
  <p:notesSz cx="6858000" cy="9144000"/>
  <p:embeddedFontLst>
    <p:embeddedFont>
      <p:font typeface="Cambria Math" panose="02040503050406030204" pitchFamily="18" charset="0"/>
      <p:regular r:id="rId87"/>
    </p:embeddedFont>
    <p:embeddedFont>
      <p:font typeface="Garamond" panose="02020404030301010803" pitchFamily="18" charset="0"/>
      <p:regular r:id="rId88"/>
      <p:bold r:id="rId89"/>
      <p:italic r:id="rId90"/>
      <p:boldItalic r:id="rId91"/>
    </p:embeddedFont>
    <p:embeddedFont>
      <p:font typeface="Lato" panose="020F0502020204030203" pitchFamily="34" charset="0"/>
      <p:regular r:id="rId92"/>
      <p:bold r:id="rId93"/>
      <p:italic r:id="rId94"/>
      <p:boldItalic r:id="rId95"/>
    </p:embeddedFont>
    <p:embeddedFont>
      <p:font typeface="Raleway" pitchFamily="2" charset="77"/>
      <p:regular r:id="rId96"/>
      <p:bold r:id="rId97"/>
      <p:italic r:id="rId98"/>
      <p:boldItalic r:id="rId9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F4A5957-8877-7E8A-AC3D-703B6EB2F414}" name="Smith, Jack B LCDR USCG COMDT (USA)" initials="SJBLUC(" userId="S::Jack.B.Smith@uscg.mil::ffb9132d-4409-4656-a307-75306a30a76d"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mith, Jack B LCDR USCG COMDT (USA)" initials="SJBLUC(" lastIdx="1" clrIdx="0">
    <p:extLst>
      <p:ext uri="{19B8F6BF-5375-455C-9EA6-DF929625EA0E}">
        <p15:presenceInfo xmlns:p15="http://schemas.microsoft.com/office/powerpoint/2012/main" userId="S-1-5-21-4290293029-226652851-1696308051-102037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5600"/>
    <a:srgbClr val="1A9988"/>
    <a:srgbClr val="96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589" autoAdjust="0"/>
    <p:restoredTop sz="84218" autoAdjust="0"/>
  </p:normalViewPr>
  <p:slideViewPr>
    <p:cSldViewPr snapToGrid="0">
      <p:cViewPr>
        <p:scale>
          <a:sx n="130" d="100"/>
          <a:sy n="130" d="100"/>
        </p:scale>
        <p:origin x="832" y="384"/>
      </p:cViewPr>
      <p:guideLst>
        <p:guide orient="horz" pos="162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font" Target="fonts/font3.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viewProps" Target="viewProps.xml"/><Relationship Id="rId5" Type="http://schemas.openxmlformats.org/officeDocument/2006/relationships/slide" Target="slides/slide1.xml"/><Relationship Id="rId90" Type="http://schemas.openxmlformats.org/officeDocument/2006/relationships/font" Target="fonts/font4.fntdata"/><Relationship Id="rId95" Type="http://schemas.openxmlformats.org/officeDocument/2006/relationships/font" Target="fonts/font9.fntdata"/><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notesMaster" Target="notesMasters/notesMaster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font" Target="fonts/font2.fntdata"/><Relationship Id="rId91" Type="http://schemas.openxmlformats.org/officeDocument/2006/relationships/font" Target="fonts/font5.fntdata"/><Relationship Id="rId96" Type="http://schemas.openxmlformats.org/officeDocument/2006/relationships/font" Target="fonts/font10.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handoutMaster" Target="handoutMasters/handoutMaster1.xml"/><Relationship Id="rId94" Type="http://schemas.openxmlformats.org/officeDocument/2006/relationships/font" Target="fonts/font8.fntdata"/><Relationship Id="rId99" Type="http://schemas.openxmlformats.org/officeDocument/2006/relationships/font" Target="fonts/font13.fntdata"/><Relationship Id="rId10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font" Target="fonts/font11.fntdata"/><Relationship Id="rId104"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font" Target="fonts/font6.fntdata"/><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fntdata"/><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commentAuthors" Target="commentAuthors.xml"/><Relationship Id="rId105" Type="http://schemas.microsoft.com/office/2018/10/relationships/authors" Target="author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font" Target="fonts/font7.fntdata"/><Relationship Id="rId98" Type="http://schemas.openxmlformats.org/officeDocument/2006/relationships/font" Target="fonts/font12.fntdata"/><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5B7C0CC-10B0-4970-B515-8B642AC5C87E}" type="doc">
      <dgm:prSet loTypeId="urn:microsoft.com/office/officeart/2005/8/layout/venn1" loCatId="relationship" qsTypeId="urn:microsoft.com/office/officeart/2005/8/quickstyle/simple1" qsCatId="simple" csTypeId="urn:microsoft.com/office/officeart/2005/8/colors/accent2_2" csCatId="accent2" phldr="1"/>
      <dgm:spPr/>
    </dgm:pt>
    <dgm:pt modelId="{A2F41AE8-7E85-400F-82D1-4CB64AEE75B6}">
      <dgm:prSet phldrT="[Text]"/>
      <dgm:spPr/>
      <dgm:t>
        <a:bodyPr/>
        <a:lstStyle/>
        <a:p>
          <a:r>
            <a:rPr lang="en-US" b="0" dirty="0"/>
            <a:t>Computer Science</a:t>
          </a:r>
        </a:p>
      </dgm:t>
    </dgm:pt>
    <dgm:pt modelId="{D1F91CD9-A4E5-45EF-8AEF-849989694342}" type="parTrans" cxnId="{3E48E567-B6F7-4A00-99A9-0EC9E53A6BC6}">
      <dgm:prSet/>
      <dgm:spPr/>
      <dgm:t>
        <a:bodyPr/>
        <a:lstStyle/>
        <a:p>
          <a:endParaRPr lang="en-US"/>
        </a:p>
      </dgm:t>
    </dgm:pt>
    <dgm:pt modelId="{3B673779-8B0C-4513-A6BF-BD8AEF3385D2}" type="sibTrans" cxnId="{3E48E567-B6F7-4A00-99A9-0EC9E53A6BC6}">
      <dgm:prSet/>
      <dgm:spPr/>
      <dgm:t>
        <a:bodyPr/>
        <a:lstStyle/>
        <a:p>
          <a:endParaRPr lang="en-US"/>
        </a:p>
      </dgm:t>
    </dgm:pt>
    <dgm:pt modelId="{0F5A29D0-CFD2-40A0-A5BA-3189D8A5ABE1}">
      <dgm:prSet phldrT="[Text]"/>
      <dgm:spPr/>
      <dgm:t>
        <a:bodyPr/>
        <a:lstStyle/>
        <a:p>
          <a:r>
            <a:rPr lang="en-US" b="0" dirty="0"/>
            <a:t>Operations Research</a:t>
          </a:r>
        </a:p>
      </dgm:t>
    </dgm:pt>
    <dgm:pt modelId="{0F413F2F-F31E-484F-8119-DD88BBC187A1}" type="parTrans" cxnId="{586AA8E0-A90F-4684-8577-DBEE629ED679}">
      <dgm:prSet/>
      <dgm:spPr/>
      <dgm:t>
        <a:bodyPr/>
        <a:lstStyle/>
        <a:p>
          <a:endParaRPr lang="en-US"/>
        </a:p>
      </dgm:t>
    </dgm:pt>
    <dgm:pt modelId="{60232763-5C91-4182-A6B7-AD043DE4E252}" type="sibTrans" cxnId="{586AA8E0-A90F-4684-8577-DBEE629ED679}">
      <dgm:prSet/>
      <dgm:spPr/>
      <dgm:t>
        <a:bodyPr/>
        <a:lstStyle/>
        <a:p>
          <a:endParaRPr lang="en-US"/>
        </a:p>
      </dgm:t>
    </dgm:pt>
    <dgm:pt modelId="{17BD636F-AC4C-44A3-AE59-C7447F1B90C5}">
      <dgm:prSet phldrT="[Text]"/>
      <dgm:spPr/>
      <dgm:t>
        <a:bodyPr/>
        <a:lstStyle/>
        <a:p>
          <a:r>
            <a:rPr lang="en-US" b="0" dirty="0"/>
            <a:t>Economics</a:t>
          </a:r>
        </a:p>
      </dgm:t>
    </dgm:pt>
    <dgm:pt modelId="{8D15A528-52A2-4F5F-8FB8-47C9988DDBAA}" type="parTrans" cxnId="{AF8EABD9-FF34-4961-914D-A47BCCC140B9}">
      <dgm:prSet/>
      <dgm:spPr/>
      <dgm:t>
        <a:bodyPr/>
        <a:lstStyle/>
        <a:p>
          <a:endParaRPr lang="en-US"/>
        </a:p>
      </dgm:t>
    </dgm:pt>
    <dgm:pt modelId="{71C9055E-8371-4544-AA34-C6BBA2C995EF}" type="sibTrans" cxnId="{AF8EABD9-FF34-4961-914D-A47BCCC140B9}">
      <dgm:prSet/>
      <dgm:spPr/>
      <dgm:t>
        <a:bodyPr/>
        <a:lstStyle/>
        <a:p>
          <a:endParaRPr lang="en-US"/>
        </a:p>
      </dgm:t>
    </dgm:pt>
    <dgm:pt modelId="{1A814BFB-B3AD-49A8-B2E1-44480F867A56}" type="pres">
      <dgm:prSet presAssocID="{85B7C0CC-10B0-4970-B515-8B642AC5C87E}" presName="compositeShape" presStyleCnt="0">
        <dgm:presLayoutVars>
          <dgm:chMax val="7"/>
          <dgm:dir/>
          <dgm:resizeHandles val="exact"/>
        </dgm:presLayoutVars>
      </dgm:prSet>
      <dgm:spPr/>
    </dgm:pt>
    <dgm:pt modelId="{38614686-BF89-4188-B6FF-9C892DA5DA05}" type="pres">
      <dgm:prSet presAssocID="{17BD636F-AC4C-44A3-AE59-C7447F1B90C5}" presName="circ1" presStyleLbl="vennNode1" presStyleIdx="0" presStyleCnt="3" custLinFactNeighborY="12388"/>
      <dgm:spPr/>
    </dgm:pt>
    <dgm:pt modelId="{C3784152-7CBE-477B-A4F5-47CF1F7914B6}" type="pres">
      <dgm:prSet presAssocID="{17BD636F-AC4C-44A3-AE59-C7447F1B90C5}" presName="circ1Tx" presStyleLbl="revTx" presStyleIdx="0" presStyleCnt="0">
        <dgm:presLayoutVars>
          <dgm:chMax val="0"/>
          <dgm:chPref val="0"/>
          <dgm:bulletEnabled val="1"/>
        </dgm:presLayoutVars>
      </dgm:prSet>
      <dgm:spPr/>
    </dgm:pt>
    <dgm:pt modelId="{CB2DBA26-9B1E-4355-97BE-651579A07517}" type="pres">
      <dgm:prSet presAssocID="{A2F41AE8-7E85-400F-82D1-4CB64AEE75B6}" presName="circ2" presStyleLbl="vennNode1" presStyleIdx="1" presStyleCnt="3" custLinFactNeighborX="-3260" custLinFactNeighborY="-3260"/>
      <dgm:spPr/>
    </dgm:pt>
    <dgm:pt modelId="{FE744FA7-E866-4877-AD1C-E12E75974447}" type="pres">
      <dgm:prSet presAssocID="{A2F41AE8-7E85-400F-82D1-4CB64AEE75B6}" presName="circ2Tx" presStyleLbl="revTx" presStyleIdx="0" presStyleCnt="0">
        <dgm:presLayoutVars>
          <dgm:chMax val="0"/>
          <dgm:chPref val="0"/>
          <dgm:bulletEnabled val="1"/>
        </dgm:presLayoutVars>
      </dgm:prSet>
      <dgm:spPr/>
    </dgm:pt>
    <dgm:pt modelId="{6B10C74D-6F84-4A15-843E-19CD13611140}" type="pres">
      <dgm:prSet presAssocID="{0F5A29D0-CFD2-40A0-A5BA-3189D8A5ABE1}" presName="circ3" presStyleLbl="vennNode1" presStyleIdx="2" presStyleCnt="3" custLinFactNeighborX="326" custLinFactNeighborY="-3260"/>
      <dgm:spPr/>
    </dgm:pt>
    <dgm:pt modelId="{831920F7-C4F7-4D78-88E4-321487FA13D6}" type="pres">
      <dgm:prSet presAssocID="{0F5A29D0-CFD2-40A0-A5BA-3189D8A5ABE1}" presName="circ3Tx" presStyleLbl="revTx" presStyleIdx="0" presStyleCnt="0">
        <dgm:presLayoutVars>
          <dgm:chMax val="0"/>
          <dgm:chPref val="0"/>
          <dgm:bulletEnabled val="1"/>
        </dgm:presLayoutVars>
      </dgm:prSet>
      <dgm:spPr/>
    </dgm:pt>
  </dgm:ptLst>
  <dgm:cxnLst>
    <dgm:cxn modelId="{DD018316-CC6C-435D-AD4C-E63F4A24D676}" type="presOf" srcId="{A2F41AE8-7E85-400F-82D1-4CB64AEE75B6}" destId="{FE744FA7-E866-4877-AD1C-E12E75974447}" srcOrd="1" destOrd="0" presId="urn:microsoft.com/office/officeart/2005/8/layout/venn1"/>
    <dgm:cxn modelId="{C7F78E1D-6BCD-48A3-99B7-F1659DDFAB46}" type="presOf" srcId="{0F5A29D0-CFD2-40A0-A5BA-3189D8A5ABE1}" destId="{831920F7-C4F7-4D78-88E4-321487FA13D6}" srcOrd="1" destOrd="0" presId="urn:microsoft.com/office/officeart/2005/8/layout/venn1"/>
    <dgm:cxn modelId="{3E48E567-B6F7-4A00-99A9-0EC9E53A6BC6}" srcId="{85B7C0CC-10B0-4970-B515-8B642AC5C87E}" destId="{A2F41AE8-7E85-400F-82D1-4CB64AEE75B6}" srcOrd="1" destOrd="0" parTransId="{D1F91CD9-A4E5-45EF-8AEF-849989694342}" sibTransId="{3B673779-8B0C-4513-A6BF-BD8AEF3385D2}"/>
    <dgm:cxn modelId="{CCCAB189-5B49-4130-8A6B-527B127F85B7}" type="presOf" srcId="{17BD636F-AC4C-44A3-AE59-C7447F1B90C5}" destId="{C3784152-7CBE-477B-A4F5-47CF1F7914B6}" srcOrd="1" destOrd="0" presId="urn:microsoft.com/office/officeart/2005/8/layout/venn1"/>
    <dgm:cxn modelId="{46FF5899-02BA-446D-8219-07D2CF508A73}" type="presOf" srcId="{A2F41AE8-7E85-400F-82D1-4CB64AEE75B6}" destId="{CB2DBA26-9B1E-4355-97BE-651579A07517}" srcOrd="0" destOrd="0" presId="urn:microsoft.com/office/officeart/2005/8/layout/venn1"/>
    <dgm:cxn modelId="{3F49E6A0-0469-4FBF-9CC5-686AFC278CF4}" type="presOf" srcId="{17BD636F-AC4C-44A3-AE59-C7447F1B90C5}" destId="{38614686-BF89-4188-B6FF-9C892DA5DA05}" srcOrd="0" destOrd="0" presId="urn:microsoft.com/office/officeart/2005/8/layout/venn1"/>
    <dgm:cxn modelId="{72D6F1A3-7DAE-4E4B-8254-0F2BDEA1A6CD}" type="presOf" srcId="{0F5A29D0-CFD2-40A0-A5BA-3189D8A5ABE1}" destId="{6B10C74D-6F84-4A15-843E-19CD13611140}" srcOrd="0" destOrd="0" presId="urn:microsoft.com/office/officeart/2005/8/layout/venn1"/>
    <dgm:cxn modelId="{AF8EABD9-FF34-4961-914D-A47BCCC140B9}" srcId="{85B7C0CC-10B0-4970-B515-8B642AC5C87E}" destId="{17BD636F-AC4C-44A3-AE59-C7447F1B90C5}" srcOrd="0" destOrd="0" parTransId="{8D15A528-52A2-4F5F-8FB8-47C9988DDBAA}" sibTransId="{71C9055E-8371-4544-AA34-C6BBA2C995EF}"/>
    <dgm:cxn modelId="{586AA8E0-A90F-4684-8577-DBEE629ED679}" srcId="{85B7C0CC-10B0-4970-B515-8B642AC5C87E}" destId="{0F5A29D0-CFD2-40A0-A5BA-3189D8A5ABE1}" srcOrd="2" destOrd="0" parTransId="{0F413F2F-F31E-484F-8119-DD88BBC187A1}" sibTransId="{60232763-5C91-4182-A6B7-AD043DE4E252}"/>
    <dgm:cxn modelId="{301036E9-A23B-4864-B241-0A98716454CE}" type="presOf" srcId="{85B7C0CC-10B0-4970-B515-8B642AC5C87E}" destId="{1A814BFB-B3AD-49A8-B2E1-44480F867A56}" srcOrd="0" destOrd="0" presId="urn:microsoft.com/office/officeart/2005/8/layout/venn1"/>
    <dgm:cxn modelId="{E0BB6483-6038-4479-8A7D-8139363883F4}" type="presParOf" srcId="{1A814BFB-B3AD-49A8-B2E1-44480F867A56}" destId="{38614686-BF89-4188-B6FF-9C892DA5DA05}" srcOrd="0" destOrd="0" presId="urn:microsoft.com/office/officeart/2005/8/layout/venn1"/>
    <dgm:cxn modelId="{E5753E6E-F27C-4E9D-9357-BE9C6C178286}" type="presParOf" srcId="{1A814BFB-B3AD-49A8-B2E1-44480F867A56}" destId="{C3784152-7CBE-477B-A4F5-47CF1F7914B6}" srcOrd="1" destOrd="0" presId="urn:microsoft.com/office/officeart/2005/8/layout/venn1"/>
    <dgm:cxn modelId="{D5EBB679-9B03-4B46-BAA1-6A6536BDC2B5}" type="presParOf" srcId="{1A814BFB-B3AD-49A8-B2E1-44480F867A56}" destId="{CB2DBA26-9B1E-4355-97BE-651579A07517}" srcOrd="2" destOrd="0" presId="urn:microsoft.com/office/officeart/2005/8/layout/venn1"/>
    <dgm:cxn modelId="{425F32A8-70FB-46FC-A660-B8F59BFE2980}" type="presParOf" srcId="{1A814BFB-B3AD-49A8-B2E1-44480F867A56}" destId="{FE744FA7-E866-4877-AD1C-E12E75974447}" srcOrd="3" destOrd="0" presId="urn:microsoft.com/office/officeart/2005/8/layout/venn1"/>
    <dgm:cxn modelId="{9F891D2F-03DE-4995-BB28-5F2110848D64}" type="presParOf" srcId="{1A814BFB-B3AD-49A8-B2E1-44480F867A56}" destId="{6B10C74D-6F84-4A15-843E-19CD13611140}" srcOrd="4" destOrd="0" presId="urn:microsoft.com/office/officeart/2005/8/layout/venn1"/>
    <dgm:cxn modelId="{816E1295-9CF8-42EA-8A65-66F655C390C0}" type="presParOf" srcId="{1A814BFB-B3AD-49A8-B2E1-44480F867A56}" destId="{831920F7-C4F7-4D78-88E4-321487FA13D6}" srcOrd="5"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614686-BF89-4188-B6FF-9C892DA5DA05}">
      <dsp:nvSpPr>
        <dsp:cNvPr id="0" name=""/>
        <dsp:cNvSpPr/>
      </dsp:nvSpPr>
      <dsp:spPr>
        <a:xfrm>
          <a:off x="1828800" y="352868"/>
          <a:ext cx="2438400" cy="2438400"/>
        </a:xfrm>
        <a:prstGeom prst="ellipse">
          <a:avLst/>
        </a:prstGeom>
        <a:solidFill>
          <a:schemeClr val="accent2">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r>
            <a:rPr lang="en-US" sz="2300" b="0" kern="1200" dirty="0"/>
            <a:t>Economics</a:t>
          </a:r>
        </a:p>
      </dsp:txBody>
      <dsp:txXfrm>
        <a:off x="2153920" y="779588"/>
        <a:ext cx="1788160" cy="1097280"/>
      </dsp:txXfrm>
    </dsp:sp>
    <dsp:sp modelId="{CB2DBA26-9B1E-4355-97BE-651579A07517}">
      <dsp:nvSpPr>
        <dsp:cNvPr id="0" name=""/>
        <dsp:cNvSpPr/>
      </dsp:nvSpPr>
      <dsp:spPr>
        <a:xfrm>
          <a:off x="2629164" y="1495308"/>
          <a:ext cx="2438400" cy="2438400"/>
        </a:xfrm>
        <a:prstGeom prst="ellipse">
          <a:avLst/>
        </a:prstGeom>
        <a:solidFill>
          <a:schemeClr val="accent2">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r>
            <a:rPr lang="en-US" sz="2300" b="0" kern="1200" dirty="0"/>
            <a:t>Computer Science</a:t>
          </a:r>
        </a:p>
      </dsp:txBody>
      <dsp:txXfrm>
        <a:off x="3374908" y="2125228"/>
        <a:ext cx="1463040" cy="1341120"/>
      </dsp:txXfrm>
    </dsp:sp>
    <dsp:sp modelId="{6B10C74D-6F84-4A15-843E-19CD13611140}">
      <dsp:nvSpPr>
        <dsp:cNvPr id="0" name=""/>
        <dsp:cNvSpPr/>
      </dsp:nvSpPr>
      <dsp:spPr>
        <a:xfrm>
          <a:off x="956893" y="1495308"/>
          <a:ext cx="2438400" cy="2438400"/>
        </a:xfrm>
        <a:prstGeom prst="ellipse">
          <a:avLst/>
        </a:prstGeom>
        <a:solidFill>
          <a:schemeClr val="accent2">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r>
            <a:rPr lang="en-US" sz="2300" b="0" kern="1200" dirty="0"/>
            <a:t>Operations Research</a:t>
          </a:r>
        </a:p>
      </dsp:txBody>
      <dsp:txXfrm>
        <a:off x="1186509" y="2125228"/>
        <a:ext cx="1463040" cy="1341120"/>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8EB9D3E-0640-C57E-AE3E-45557AECF0D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dirty="0"/>
              <a:t> - </a:t>
            </a:r>
          </a:p>
        </p:txBody>
      </p:sp>
      <p:sp>
        <p:nvSpPr>
          <p:cNvPr id="3" name="Date Placeholder 2">
            <a:extLst>
              <a:ext uri="{FF2B5EF4-FFF2-40B4-BE49-F238E27FC236}">
                <a16:creationId xmlns:a16="http://schemas.microsoft.com/office/drawing/2014/main" id="{A64B7C79-5CA7-D9EF-7B7C-96C9C487BFB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98F720C-1399-4B49-9312-A667D769B685}" type="datetimeFigureOut">
              <a:rPr lang="en-US" smtClean="0"/>
              <a:t>2/11/26</a:t>
            </a:fld>
            <a:endParaRPr lang="en-US"/>
          </a:p>
        </p:txBody>
      </p:sp>
      <p:sp>
        <p:nvSpPr>
          <p:cNvPr id="4" name="Footer Placeholder 3">
            <a:extLst>
              <a:ext uri="{FF2B5EF4-FFF2-40B4-BE49-F238E27FC236}">
                <a16:creationId xmlns:a16="http://schemas.microsoft.com/office/drawing/2014/main" id="{6065333C-6FC6-B96D-85EB-E3654561DAC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 - </a:t>
            </a:r>
          </a:p>
        </p:txBody>
      </p:sp>
      <p:sp>
        <p:nvSpPr>
          <p:cNvPr id="5" name="Slide Number Placeholder 4">
            <a:extLst>
              <a:ext uri="{FF2B5EF4-FFF2-40B4-BE49-F238E27FC236}">
                <a16:creationId xmlns:a16="http://schemas.microsoft.com/office/drawing/2014/main" id="{3D0232AC-5682-D45A-8175-01B62390439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E5E17F6-A00D-44BE-9269-29226E59F77B}" type="slidenum">
              <a:rPr lang="en-US" smtClean="0"/>
              <a:t>‹#›</a:t>
            </a:fld>
            <a:endParaRPr lang="en-US"/>
          </a:p>
        </p:txBody>
      </p:sp>
    </p:spTree>
    <p:extLst>
      <p:ext uri="{BB962C8B-B14F-4D97-AF65-F5344CB8AC3E}">
        <p14:creationId xmlns:p14="http://schemas.microsoft.com/office/powerpoint/2010/main" val="4253606354"/>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safe.menlosecurity.com/doc/docview/viewer/docN4AB65DDACC57dcc653b7c5076ee2ee67d0ce67d113353f9b84679db74b0800d7bbd59f6756f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en.wikipedia.org/wiki/Economics" TargetMode="External"/><Relationship Id="rId2" Type="http://schemas.openxmlformats.org/officeDocument/2006/relationships/slide" Target="../slides/slide31.xml"/><Relationship Id="rId1" Type="http://schemas.openxmlformats.org/officeDocument/2006/relationships/notesMaster" Target="../notesMasters/notesMaster1.xml"/><Relationship Id="rId5" Type="http://schemas.openxmlformats.org/officeDocument/2006/relationships/hyperlink" Target="https://en.wikipedia.org/wiki/Two-sided_market" TargetMode="External"/><Relationship Id="rId4" Type="http://schemas.openxmlformats.org/officeDocument/2006/relationships/hyperlink" Target="https://en.wikipedia.org/wiki/Social_choice_theory" TargetMode="Externa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en.wikipedia.org/wiki/Economics" TargetMode="External"/><Relationship Id="rId2" Type="http://schemas.openxmlformats.org/officeDocument/2006/relationships/slide" Target="../slides/slide33.xml"/><Relationship Id="rId1" Type="http://schemas.openxmlformats.org/officeDocument/2006/relationships/notesMaster" Target="../notesMasters/notesMaster1.xml"/><Relationship Id="rId5" Type="http://schemas.openxmlformats.org/officeDocument/2006/relationships/hyperlink" Target="https://en.wikipedia.org/wiki/Two-sided_market" TargetMode="External"/><Relationship Id="rId4" Type="http://schemas.openxmlformats.org/officeDocument/2006/relationships/hyperlink" Target="https://en.wikipedia.org/wiki/Social_choice_theory" TargetMode="Externa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en.wikipedia.org/wiki/Economics" TargetMode="External"/><Relationship Id="rId2" Type="http://schemas.openxmlformats.org/officeDocument/2006/relationships/slide" Target="../slides/slide34.xml"/><Relationship Id="rId1" Type="http://schemas.openxmlformats.org/officeDocument/2006/relationships/notesMaster" Target="../notesMasters/notesMaster1.xml"/><Relationship Id="rId5" Type="http://schemas.openxmlformats.org/officeDocument/2006/relationships/hyperlink" Target="https://en.wikipedia.org/wiki/Two-sided_market" TargetMode="External"/><Relationship Id="rId4" Type="http://schemas.openxmlformats.org/officeDocument/2006/relationships/hyperlink" Target="https://en.wikipedia.org/wiki/Social_choice_theory" TargetMode="Externa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3" Type="http://schemas.openxmlformats.org/officeDocument/2006/relationships/hyperlink" Target="https://en.wikipedia.org/wiki/Two-sided_market" TargetMode="External"/><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0ee5137a53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0ee5137a5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46050" lvl="0" indent="0" algn="l" rtl="0">
              <a:lnSpc>
                <a:spcPct val="115000"/>
              </a:lnSpc>
              <a:spcBef>
                <a:spcPts val="0"/>
              </a:spcBef>
              <a:spcAft>
                <a:spcPts val="0"/>
              </a:spcAft>
              <a:buClr>
                <a:srgbClr val="595959"/>
              </a:buClr>
              <a:buSzPts val="1300"/>
              <a:buFont typeface="Lato"/>
              <a:buNone/>
            </a:pPr>
            <a:endParaRPr dirty="0"/>
          </a:p>
        </p:txBody>
      </p:sp>
    </p:spTree>
    <p:extLst>
      <p:ext uri="{BB962C8B-B14F-4D97-AF65-F5344CB8AC3E}">
        <p14:creationId xmlns:p14="http://schemas.microsoft.com/office/powerpoint/2010/main" val="17691243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0ee5137a53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0ee5137a5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just" rtl="0">
              <a:lnSpc>
                <a:spcPts val="1350"/>
              </a:lnSpc>
            </a:pPr>
            <a:r>
              <a:rPr lang="en-US" sz="3200" dirty="0">
                <a:hlinkClick r:id="rId3"/>
              </a:rPr>
              <a:t>GaleandShapley.revised.IJGT.pdf</a:t>
            </a:r>
            <a:endParaRPr lang="en-US" sz="1800" b="0" i="0" dirty="0">
              <a:solidFill>
                <a:srgbClr val="595959"/>
              </a:solidFill>
              <a:effectLst/>
              <a:latin typeface="TimesNewRomanPSMT"/>
            </a:endParaRPr>
          </a:p>
        </p:txBody>
      </p:sp>
    </p:spTree>
    <p:extLst>
      <p:ext uri="{BB962C8B-B14F-4D97-AF65-F5344CB8AC3E}">
        <p14:creationId xmlns:p14="http://schemas.microsoft.com/office/powerpoint/2010/main" val="39951265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0ee5137a53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0ee5137a5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46050" lvl="0" indent="0" algn="l" rtl="0">
              <a:lnSpc>
                <a:spcPct val="115000"/>
              </a:lnSpc>
              <a:spcBef>
                <a:spcPts val="0"/>
              </a:spcBef>
              <a:spcAft>
                <a:spcPts val="0"/>
              </a:spcAft>
              <a:buClr>
                <a:srgbClr val="595959"/>
              </a:buClr>
              <a:buSzPts val="1300"/>
              <a:buFont typeface="Lato"/>
              <a:buNone/>
            </a:pPr>
            <a:r>
              <a:rPr lang="en-US" dirty="0"/>
              <a:t>Assignment process is manual, tedious, information is constantly changing. COLOs, special needs, submitting new lists, new jobs come out, promotions, new list…</a:t>
            </a:r>
            <a:endParaRPr dirty="0"/>
          </a:p>
        </p:txBody>
      </p:sp>
    </p:spTree>
    <p:extLst>
      <p:ext uri="{BB962C8B-B14F-4D97-AF65-F5344CB8AC3E}">
        <p14:creationId xmlns:p14="http://schemas.microsoft.com/office/powerpoint/2010/main" val="3135867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11AAE669-A7FD-EF99-97FE-59882C2B4EE3}"/>
            </a:ext>
          </a:extLst>
        </p:cNvPr>
        <p:cNvGrpSpPr/>
        <p:nvPr/>
      </p:nvGrpSpPr>
      <p:grpSpPr>
        <a:xfrm>
          <a:off x="0" y="0"/>
          <a:ext cx="0" cy="0"/>
          <a:chOff x="0" y="0"/>
          <a:chExt cx="0" cy="0"/>
        </a:xfrm>
      </p:grpSpPr>
      <p:sp>
        <p:nvSpPr>
          <p:cNvPr id="154" name="Google Shape;154;g10ee5137a53_0_10:notes">
            <a:extLst>
              <a:ext uri="{FF2B5EF4-FFF2-40B4-BE49-F238E27FC236}">
                <a16:creationId xmlns:a16="http://schemas.microsoft.com/office/drawing/2014/main" id="{907E33B8-2237-F766-43D9-F74E1EE274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0ee5137a53_0_10:notes">
            <a:extLst>
              <a:ext uri="{FF2B5EF4-FFF2-40B4-BE49-F238E27FC236}">
                <a16:creationId xmlns:a16="http://schemas.microsoft.com/office/drawing/2014/main" id="{B47D5FFF-8ACA-2560-3738-815AA7AF35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marR="0" lvl="0" indent="-323850" algn="l" defTabSz="914400" rtl="0" eaLnBrk="1" fontAlgn="auto" latinLnBrk="0" hangingPunct="1">
              <a:lnSpc>
                <a:spcPct val="100000"/>
              </a:lnSpc>
              <a:spcBef>
                <a:spcPts val="0"/>
              </a:spcBef>
              <a:spcAft>
                <a:spcPts val="0"/>
              </a:spcAft>
              <a:buClr>
                <a:srgbClr val="000000"/>
              </a:buClr>
              <a:buSzPts val="1500"/>
              <a:buFont typeface="Arial"/>
              <a:buChar char="●"/>
              <a:tabLst/>
              <a:defRPr/>
            </a:pPr>
            <a:r>
              <a:rPr lang="en-US" sz="1500" b="1" dirty="0"/>
              <a:t>Helpful to think of three distinct groups or “markets”</a:t>
            </a:r>
          </a:p>
          <a:p>
            <a:pPr marL="457200" marR="0" lvl="0" indent="-323850" algn="l" defTabSz="914400" rtl="0" eaLnBrk="1" fontAlgn="auto" latinLnBrk="0" hangingPunct="1">
              <a:lnSpc>
                <a:spcPct val="100000"/>
              </a:lnSpc>
              <a:spcBef>
                <a:spcPts val="0"/>
              </a:spcBef>
              <a:spcAft>
                <a:spcPts val="0"/>
              </a:spcAft>
              <a:buClr>
                <a:srgbClr val="000000"/>
              </a:buClr>
              <a:buSzPts val="1500"/>
              <a:buFont typeface="Arial"/>
              <a:buChar char="●"/>
              <a:tabLst/>
              <a:defRPr/>
            </a:pPr>
            <a:r>
              <a:rPr lang="en-US" sz="1500" b="1" dirty="0"/>
              <a:t>Historically very manual process</a:t>
            </a:r>
            <a:endParaRPr lang="en-US" dirty="0"/>
          </a:p>
        </p:txBody>
      </p:sp>
    </p:spTree>
    <p:extLst>
      <p:ext uri="{BB962C8B-B14F-4D97-AF65-F5344CB8AC3E}">
        <p14:creationId xmlns:p14="http://schemas.microsoft.com/office/powerpoint/2010/main" val="17716407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0ee5137a53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0ee5137a5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marR="0" lvl="0" indent="-323850" algn="l" defTabSz="914400" rtl="0" eaLnBrk="1" fontAlgn="auto" latinLnBrk="0" hangingPunct="1">
              <a:lnSpc>
                <a:spcPct val="100000"/>
              </a:lnSpc>
              <a:spcBef>
                <a:spcPts val="0"/>
              </a:spcBef>
              <a:spcAft>
                <a:spcPts val="0"/>
              </a:spcAft>
              <a:buClr>
                <a:srgbClr val="000000"/>
              </a:buClr>
              <a:buSzPts val="1500"/>
              <a:buFont typeface="Arial"/>
              <a:buChar char="●"/>
              <a:tabLst/>
              <a:defRPr/>
            </a:pPr>
            <a:r>
              <a:rPr lang="en-US" sz="1500" b="1" dirty="0"/>
              <a:t>Market Design</a:t>
            </a:r>
            <a:r>
              <a:rPr lang="en-US" sz="1500" dirty="0"/>
              <a:t>: how do we set up a strategic environment so that if “players” follow a certain type of behavior, we get a desired outcome?</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461595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4883B722-9EA2-CF23-1416-03BE162B66E3}"/>
            </a:ext>
          </a:extLst>
        </p:cNvPr>
        <p:cNvGrpSpPr/>
        <p:nvPr/>
      </p:nvGrpSpPr>
      <p:grpSpPr>
        <a:xfrm>
          <a:off x="0" y="0"/>
          <a:ext cx="0" cy="0"/>
          <a:chOff x="0" y="0"/>
          <a:chExt cx="0" cy="0"/>
        </a:xfrm>
      </p:grpSpPr>
      <p:sp>
        <p:nvSpPr>
          <p:cNvPr id="95" name="Google Shape;95;g10ee5137a53_0_234:notes">
            <a:extLst>
              <a:ext uri="{FF2B5EF4-FFF2-40B4-BE49-F238E27FC236}">
                <a16:creationId xmlns:a16="http://schemas.microsoft.com/office/drawing/2014/main" id="{6594C0C2-63C4-424A-F7E2-6E201616F0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0ee5137a53_0_234:notes">
            <a:extLst>
              <a:ext uri="{FF2B5EF4-FFF2-40B4-BE49-F238E27FC236}">
                <a16:creationId xmlns:a16="http://schemas.microsoft.com/office/drawing/2014/main" id="{715249A1-30B4-A498-5AF4-C0480FD00F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marR="0" lvl="0" indent="-323850" algn="l" defTabSz="914400" rtl="0" eaLnBrk="1" fontAlgn="auto" latinLnBrk="0" hangingPunct="1">
              <a:lnSpc>
                <a:spcPct val="100000"/>
              </a:lnSpc>
              <a:spcBef>
                <a:spcPts val="0"/>
              </a:spcBef>
              <a:spcAft>
                <a:spcPts val="0"/>
              </a:spcAft>
              <a:buClr>
                <a:srgbClr val="000000"/>
              </a:buClr>
              <a:buSzPts val="1500"/>
              <a:buFont typeface="Arial"/>
              <a:buChar char="●"/>
              <a:tabLst/>
              <a:defRPr/>
            </a:pPr>
            <a:r>
              <a:rPr lang="en-US" sz="1500" b="1" dirty="0"/>
              <a:t>Compared to Game Theory (2 sides of same coin)</a:t>
            </a:r>
          </a:p>
          <a:p>
            <a:pPr marL="457200" marR="0" lvl="0" indent="-323850" algn="l" defTabSz="914400" rtl="0" eaLnBrk="1" fontAlgn="auto" latinLnBrk="0" hangingPunct="1">
              <a:lnSpc>
                <a:spcPct val="100000"/>
              </a:lnSpc>
              <a:spcBef>
                <a:spcPts val="0"/>
              </a:spcBef>
              <a:spcAft>
                <a:spcPts val="0"/>
              </a:spcAft>
              <a:buClr>
                <a:srgbClr val="000000"/>
              </a:buClr>
              <a:buSzPts val="1500"/>
              <a:buFont typeface="Arial"/>
              <a:buChar char="●"/>
              <a:tabLst/>
              <a:defRPr/>
            </a:pPr>
            <a:r>
              <a:rPr lang="en-US" sz="1500" b="1" dirty="0"/>
              <a:t>Market Design</a:t>
            </a:r>
            <a:r>
              <a:rPr lang="en-US" sz="1500" dirty="0"/>
              <a:t>: how do we set up a strategic environment so that if “players” follow a certain type of behavior, we get a desired outcome?</a:t>
            </a:r>
          </a:p>
          <a:p>
            <a:pPr marL="457200" lvl="0" indent="-323850" algn="l" rtl="0">
              <a:spcBef>
                <a:spcPts val="0"/>
              </a:spcBef>
              <a:spcAft>
                <a:spcPts val="0"/>
              </a:spcAft>
              <a:buSzPts val="1500"/>
              <a:buChar char="●"/>
            </a:pPr>
            <a:r>
              <a:rPr lang="en-US" sz="1500" dirty="0"/>
              <a:t>In market design, when all of the data is available, the problem simply reduces to an optimization problem that can be solved with well known techniques / procedures</a:t>
            </a:r>
          </a:p>
          <a:p>
            <a:pPr marL="914400" lvl="1" indent="-323850" algn="l" rtl="0">
              <a:spcBef>
                <a:spcPts val="0"/>
              </a:spcBef>
              <a:spcAft>
                <a:spcPts val="0"/>
              </a:spcAft>
              <a:buSzPts val="1500"/>
              <a:buChar char="○"/>
            </a:pPr>
            <a:r>
              <a:rPr lang="en-US" sz="1500" dirty="0"/>
              <a:t>Integer programming, linear programming, dynamic programming</a:t>
            </a:r>
            <a:endParaRPr lang="en-US" sz="1300" dirty="0"/>
          </a:p>
          <a:p>
            <a:pPr marL="457200" lvl="0" indent="-323850" algn="l" rtl="0">
              <a:spcBef>
                <a:spcPts val="0"/>
              </a:spcBef>
              <a:spcAft>
                <a:spcPts val="0"/>
              </a:spcAft>
              <a:buSzPts val="1500"/>
              <a:buChar char="●"/>
            </a:pPr>
            <a:r>
              <a:rPr lang="en-US" sz="1100" dirty="0"/>
              <a:t>The problem is that the real world is more fuzzy. Information is privately held, and we must utilize various incentive mechanisms to reveal information (like true billet rankings)</a:t>
            </a:r>
          </a:p>
          <a:p>
            <a:pPr marL="457200" lvl="0" indent="-323850" algn="l" rtl="0">
              <a:spcBef>
                <a:spcPts val="0"/>
              </a:spcBef>
              <a:spcAft>
                <a:spcPts val="0"/>
              </a:spcAft>
              <a:buSzPts val="1500"/>
              <a:buChar char="●"/>
            </a:pPr>
            <a:r>
              <a:rPr lang="en-US" sz="1100" dirty="0"/>
              <a:t>We need a </a:t>
            </a:r>
            <a:r>
              <a:rPr lang="en-US" sz="1100" b="1" dirty="0">
                <a:solidFill>
                  <a:schemeClr val="dk2"/>
                </a:solidFill>
              </a:rPr>
              <a:t>matching mechanism</a:t>
            </a:r>
            <a:r>
              <a:rPr lang="en-US" sz="1100" dirty="0"/>
              <a:t>: a mechanism that maps reported preferences into an assignment/matching.</a:t>
            </a:r>
          </a:p>
          <a:p>
            <a:pPr marL="457200" lvl="0" indent="-323850" algn="l" rtl="0">
              <a:spcBef>
                <a:spcPts val="0"/>
              </a:spcBef>
              <a:spcAft>
                <a:spcPts val="0"/>
              </a:spcAft>
              <a:buSzPts val="1500"/>
              <a:buChar char="●"/>
            </a:pPr>
            <a:r>
              <a:rPr lang="en-US" sz="1100" dirty="0"/>
              <a:t>So, let’s design a marketplace to assign officers to billets!</a:t>
            </a:r>
          </a:p>
          <a:p>
            <a:pPr marL="457200" lvl="0" indent="-323850" algn="l" rtl="0">
              <a:spcBef>
                <a:spcPts val="0"/>
              </a:spcBef>
              <a:spcAft>
                <a:spcPts val="0"/>
              </a:spcAft>
              <a:buSzPts val="1500"/>
              <a:buChar char="●"/>
            </a:pPr>
            <a:r>
              <a:rPr lang="en-US" sz="1100" dirty="0"/>
              <a:t>Goals? Efficiency, simplicity, fairness, and transparency</a:t>
            </a:r>
          </a:p>
          <a:p>
            <a:pPr marL="457200" lvl="0" indent="-323850" algn="l" rtl="0">
              <a:spcBef>
                <a:spcPts val="0"/>
              </a:spcBef>
              <a:spcAft>
                <a:spcPts val="0"/>
              </a:spcAft>
              <a:buSzPts val="1500"/>
              <a:buChar char="●"/>
            </a:pPr>
            <a:r>
              <a:rPr lang="en-US" sz="1100" dirty="0"/>
              <a:t>Two-sided matching problem!</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6256195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863D336D-A16B-4A3D-086A-951C547DDC4A}"/>
            </a:ext>
          </a:extLst>
        </p:cNvPr>
        <p:cNvGrpSpPr/>
        <p:nvPr/>
      </p:nvGrpSpPr>
      <p:grpSpPr>
        <a:xfrm>
          <a:off x="0" y="0"/>
          <a:ext cx="0" cy="0"/>
          <a:chOff x="0" y="0"/>
          <a:chExt cx="0" cy="0"/>
        </a:xfrm>
      </p:grpSpPr>
      <p:sp>
        <p:nvSpPr>
          <p:cNvPr id="95" name="Google Shape;95;g10ee5137a53_0_234:notes">
            <a:extLst>
              <a:ext uri="{FF2B5EF4-FFF2-40B4-BE49-F238E27FC236}">
                <a16:creationId xmlns:a16="http://schemas.microsoft.com/office/drawing/2014/main" id="{32A4FB68-7A42-B1A9-4968-CA0EF8D8B4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0ee5137a53_0_234:notes">
            <a:extLst>
              <a:ext uri="{FF2B5EF4-FFF2-40B4-BE49-F238E27FC236}">
                <a16:creationId xmlns:a16="http://schemas.microsoft.com/office/drawing/2014/main" id="{1D6A6045-76E5-1A3F-D261-FCBAF5474B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marR="0" lvl="0" indent="-323850" algn="l" defTabSz="914400" rtl="0" eaLnBrk="1" fontAlgn="auto" latinLnBrk="0" hangingPunct="1">
              <a:lnSpc>
                <a:spcPct val="100000"/>
              </a:lnSpc>
              <a:spcBef>
                <a:spcPts val="0"/>
              </a:spcBef>
              <a:spcAft>
                <a:spcPts val="0"/>
              </a:spcAft>
              <a:buClr>
                <a:srgbClr val="000000"/>
              </a:buClr>
              <a:buSzPts val="1500"/>
              <a:buFont typeface="Arial"/>
              <a:buChar char="●"/>
              <a:tabLst/>
              <a:defRPr/>
            </a:pPr>
            <a:r>
              <a:rPr lang="en-US" sz="1500" b="1" dirty="0"/>
              <a:t>Market Design</a:t>
            </a:r>
            <a:r>
              <a:rPr lang="en-US" sz="1500" dirty="0"/>
              <a:t>: how do we set up a strategic environment so that if “players” follow a certain type of behavior, we get a desired outcome?</a:t>
            </a:r>
          </a:p>
          <a:p>
            <a:pPr marL="457200" lvl="0" indent="-323850" algn="l" rtl="0">
              <a:spcBef>
                <a:spcPts val="0"/>
              </a:spcBef>
              <a:spcAft>
                <a:spcPts val="0"/>
              </a:spcAft>
              <a:buSzPts val="1500"/>
              <a:buChar char="●"/>
            </a:pPr>
            <a:r>
              <a:rPr lang="en-US" sz="1500" dirty="0"/>
              <a:t>In market design, when all of the data is available, the problem simply reduces to an optimization problem that can be solved with well known techniques / procedures</a:t>
            </a:r>
          </a:p>
          <a:p>
            <a:pPr marL="914400" lvl="1" indent="-323850" algn="l" rtl="0">
              <a:spcBef>
                <a:spcPts val="0"/>
              </a:spcBef>
              <a:spcAft>
                <a:spcPts val="0"/>
              </a:spcAft>
              <a:buSzPts val="1500"/>
              <a:buChar char="○"/>
            </a:pPr>
            <a:r>
              <a:rPr lang="en-US" sz="1500" dirty="0"/>
              <a:t>Integer programming, linear programming, dynamic programming</a:t>
            </a:r>
            <a:endParaRPr lang="en-US" sz="1300" dirty="0"/>
          </a:p>
          <a:p>
            <a:pPr marL="457200" lvl="0" indent="-323850" algn="l" rtl="0">
              <a:spcBef>
                <a:spcPts val="0"/>
              </a:spcBef>
              <a:spcAft>
                <a:spcPts val="0"/>
              </a:spcAft>
              <a:buSzPts val="1500"/>
              <a:buChar char="●"/>
            </a:pPr>
            <a:r>
              <a:rPr lang="en-US" sz="1100" dirty="0"/>
              <a:t>The problem is that the real world is more fuzzy. Information is privately held, and we must utilize various incentive mechanisms to reveal information (like true billet rankings)</a:t>
            </a:r>
          </a:p>
          <a:p>
            <a:pPr marL="457200" lvl="0" indent="-323850" algn="l" rtl="0">
              <a:spcBef>
                <a:spcPts val="0"/>
              </a:spcBef>
              <a:spcAft>
                <a:spcPts val="0"/>
              </a:spcAft>
              <a:buSzPts val="1500"/>
              <a:buChar char="●"/>
            </a:pPr>
            <a:r>
              <a:rPr lang="en-US" sz="1100" dirty="0"/>
              <a:t>We need a </a:t>
            </a:r>
            <a:r>
              <a:rPr lang="en-US" sz="1100" b="1" dirty="0">
                <a:solidFill>
                  <a:schemeClr val="dk2"/>
                </a:solidFill>
              </a:rPr>
              <a:t>matching mechanism</a:t>
            </a:r>
            <a:r>
              <a:rPr lang="en-US" sz="1100" dirty="0"/>
              <a:t>: a mechanism that maps reported preferences into an assignment/matching.</a:t>
            </a:r>
          </a:p>
          <a:p>
            <a:pPr marL="457200" lvl="0" indent="-323850" algn="l" rtl="0">
              <a:spcBef>
                <a:spcPts val="0"/>
              </a:spcBef>
              <a:spcAft>
                <a:spcPts val="0"/>
              </a:spcAft>
              <a:buSzPts val="1500"/>
              <a:buChar char="●"/>
            </a:pPr>
            <a:r>
              <a:rPr lang="en-US" sz="1100" dirty="0"/>
              <a:t>So, let’s design a marketplace to assign officers to billets!</a:t>
            </a:r>
          </a:p>
          <a:p>
            <a:pPr marL="457200" lvl="0" indent="-323850" algn="l" rtl="0">
              <a:spcBef>
                <a:spcPts val="0"/>
              </a:spcBef>
              <a:spcAft>
                <a:spcPts val="0"/>
              </a:spcAft>
              <a:buSzPts val="1500"/>
              <a:buChar char="●"/>
            </a:pPr>
            <a:r>
              <a:rPr lang="en-US" sz="1100" dirty="0"/>
              <a:t>Goals? Efficiency, simplicity, fairness, and transparency</a:t>
            </a:r>
          </a:p>
          <a:p>
            <a:pPr marL="457200" lvl="0" indent="-323850" algn="l" rtl="0">
              <a:spcBef>
                <a:spcPts val="0"/>
              </a:spcBef>
              <a:spcAft>
                <a:spcPts val="0"/>
              </a:spcAft>
              <a:buSzPts val="1500"/>
              <a:buChar char="●"/>
            </a:pPr>
            <a:r>
              <a:rPr lang="en-US" sz="1100" dirty="0"/>
              <a:t>Two-sided matching problem!</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8371577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AAAAE639-CDDA-EAB1-B278-16FF35ABF14A}"/>
            </a:ext>
          </a:extLst>
        </p:cNvPr>
        <p:cNvGrpSpPr/>
        <p:nvPr/>
      </p:nvGrpSpPr>
      <p:grpSpPr>
        <a:xfrm>
          <a:off x="0" y="0"/>
          <a:ext cx="0" cy="0"/>
          <a:chOff x="0" y="0"/>
          <a:chExt cx="0" cy="0"/>
        </a:xfrm>
      </p:grpSpPr>
      <p:sp>
        <p:nvSpPr>
          <p:cNvPr id="95" name="Google Shape;95;g10ee5137a53_0_234:notes">
            <a:extLst>
              <a:ext uri="{FF2B5EF4-FFF2-40B4-BE49-F238E27FC236}">
                <a16:creationId xmlns:a16="http://schemas.microsoft.com/office/drawing/2014/main" id="{C6A54626-A3B6-9D0F-E51D-1596D23B5E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0ee5137a53_0_234:notes">
            <a:extLst>
              <a:ext uri="{FF2B5EF4-FFF2-40B4-BE49-F238E27FC236}">
                <a16:creationId xmlns:a16="http://schemas.microsoft.com/office/drawing/2014/main" id="{CEFF1F46-F547-379A-B9DC-35167083F4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marR="0" lvl="0" indent="-323850" algn="l" defTabSz="914400" rtl="0" eaLnBrk="1" fontAlgn="auto" latinLnBrk="0" hangingPunct="1">
              <a:lnSpc>
                <a:spcPct val="100000"/>
              </a:lnSpc>
              <a:spcBef>
                <a:spcPts val="0"/>
              </a:spcBef>
              <a:spcAft>
                <a:spcPts val="0"/>
              </a:spcAft>
              <a:buClr>
                <a:srgbClr val="000000"/>
              </a:buClr>
              <a:buSzPts val="1500"/>
              <a:buFont typeface="Arial"/>
              <a:buChar char="●"/>
              <a:tabLst/>
              <a:defRPr/>
            </a:pPr>
            <a:r>
              <a:rPr lang="en-US" sz="1500" b="1" dirty="0"/>
              <a:t>Let’s talk about 2 matching algorithms today</a:t>
            </a:r>
            <a:endParaRPr dirty="0"/>
          </a:p>
        </p:txBody>
      </p:sp>
    </p:spTree>
    <p:extLst>
      <p:ext uri="{BB962C8B-B14F-4D97-AF65-F5344CB8AC3E}">
        <p14:creationId xmlns:p14="http://schemas.microsoft.com/office/powerpoint/2010/main" val="15410165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732E721D-A2C3-3ACF-25C4-A89C046421D7}"/>
            </a:ext>
          </a:extLst>
        </p:cNvPr>
        <p:cNvGrpSpPr/>
        <p:nvPr/>
      </p:nvGrpSpPr>
      <p:grpSpPr>
        <a:xfrm>
          <a:off x="0" y="0"/>
          <a:ext cx="0" cy="0"/>
          <a:chOff x="0" y="0"/>
          <a:chExt cx="0" cy="0"/>
        </a:xfrm>
      </p:grpSpPr>
      <p:sp>
        <p:nvSpPr>
          <p:cNvPr id="154" name="Google Shape;154;g10ee5137a53_0_10:notes">
            <a:extLst>
              <a:ext uri="{FF2B5EF4-FFF2-40B4-BE49-F238E27FC236}">
                <a16:creationId xmlns:a16="http://schemas.microsoft.com/office/drawing/2014/main" id="{CE6CFEEE-0CED-0C04-A109-CB82B5E00F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0ee5137a53_0_10:notes">
            <a:extLst>
              <a:ext uri="{FF2B5EF4-FFF2-40B4-BE49-F238E27FC236}">
                <a16:creationId xmlns:a16="http://schemas.microsoft.com/office/drawing/2014/main" id="{2ADC03A9-D5B6-9714-6F3D-FCBE3654EC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46050" lvl="0" indent="0" algn="l" rtl="0">
              <a:lnSpc>
                <a:spcPct val="115000"/>
              </a:lnSpc>
              <a:spcBef>
                <a:spcPts val="0"/>
              </a:spcBef>
              <a:spcAft>
                <a:spcPts val="0"/>
              </a:spcAft>
              <a:buClr>
                <a:srgbClr val="595959"/>
              </a:buClr>
              <a:buSzPts val="1300"/>
              <a:buFont typeface="Lato"/>
              <a:buNone/>
            </a:pPr>
            <a:endParaRPr dirty="0"/>
          </a:p>
        </p:txBody>
      </p:sp>
    </p:spTree>
    <p:extLst>
      <p:ext uri="{BB962C8B-B14F-4D97-AF65-F5344CB8AC3E}">
        <p14:creationId xmlns:p14="http://schemas.microsoft.com/office/powerpoint/2010/main" val="6746493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118a705859e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118a705859e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49399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118a705859e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18a705859e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Luke in progress ***</a:t>
            </a:r>
            <a:endParaRPr dirty="0"/>
          </a:p>
        </p:txBody>
      </p:sp>
    </p:spTree>
    <p:extLst>
      <p:ext uri="{BB962C8B-B14F-4D97-AF65-F5344CB8AC3E}">
        <p14:creationId xmlns:p14="http://schemas.microsoft.com/office/powerpoint/2010/main" val="2187190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118a705859e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18a705859e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Luke in progress ***</a:t>
            </a:r>
            <a:endParaRPr dirty="0"/>
          </a:p>
        </p:txBody>
      </p:sp>
    </p:spTree>
    <p:extLst>
      <p:ext uri="{BB962C8B-B14F-4D97-AF65-F5344CB8AC3E}">
        <p14:creationId xmlns:p14="http://schemas.microsoft.com/office/powerpoint/2010/main" val="17805070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118a705859e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18a705859e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Luke in progress ***</a:t>
            </a:r>
            <a:endParaRPr dirty="0"/>
          </a:p>
        </p:txBody>
      </p:sp>
    </p:spTree>
    <p:extLst>
      <p:ext uri="{BB962C8B-B14F-4D97-AF65-F5344CB8AC3E}">
        <p14:creationId xmlns:p14="http://schemas.microsoft.com/office/powerpoint/2010/main" val="13738340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DC2EB5C-84A8-E17D-5A14-020A4231FB20}"/>
            </a:ext>
          </a:extLst>
        </p:cNvPr>
        <p:cNvGrpSpPr/>
        <p:nvPr/>
      </p:nvGrpSpPr>
      <p:grpSpPr>
        <a:xfrm>
          <a:off x="0" y="0"/>
          <a:ext cx="0" cy="0"/>
          <a:chOff x="0" y="0"/>
          <a:chExt cx="0" cy="0"/>
        </a:xfrm>
      </p:grpSpPr>
      <p:sp>
        <p:nvSpPr>
          <p:cNvPr id="130" name="Google Shape;130;g118a705859e_0_6:notes">
            <a:extLst>
              <a:ext uri="{FF2B5EF4-FFF2-40B4-BE49-F238E27FC236}">
                <a16:creationId xmlns:a16="http://schemas.microsoft.com/office/drawing/2014/main" id="{B2491BD6-4EEA-D546-E39C-1781452CA1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18a705859e_0_6:notes">
            <a:extLst>
              <a:ext uri="{FF2B5EF4-FFF2-40B4-BE49-F238E27FC236}">
                <a16:creationId xmlns:a16="http://schemas.microsoft.com/office/drawing/2014/main" id="{17536247-DFF5-AC75-FBE1-99A1A2D18E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Luke in progress ***</a:t>
            </a:r>
            <a:endParaRPr dirty="0"/>
          </a:p>
        </p:txBody>
      </p:sp>
    </p:spTree>
    <p:extLst>
      <p:ext uri="{BB962C8B-B14F-4D97-AF65-F5344CB8AC3E}">
        <p14:creationId xmlns:p14="http://schemas.microsoft.com/office/powerpoint/2010/main" val="35980928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EF6E3F48-0849-576E-2281-2FB3D6046E39}"/>
            </a:ext>
          </a:extLst>
        </p:cNvPr>
        <p:cNvGrpSpPr/>
        <p:nvPr/>
      </p:nvGrpSpPr>
      <p:grpSpPr>
        <a:xfrm>
          <a:off x="0" y="0"/>
          <a:ext cx="0" cy="0"/>
          <a:chOff x="0" y="0"/>
          <a:chExt cx="0" cy="0"/>
        </a:xfrm>
      </p:grpSpPr>
      <p:sp>
        <p:nvSpPr>
          <p:cNvPr id="130" name="Google Shape;130;g118a705859e_0_6:notes">
            <a:extLst>
              <a:ext uri="{FF2B5EF4-FFF2-40B4-BE49-F238E27FC236}">
                <a16:creationId xmlns:a16="http://schemas.microsoft.com/office/drawing/2014/main" id="{401FB8C2-4B4F-5C81-FDD4-54BE62D91B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18a705859e_0_6:notes">
            <a:extLst>
              <a:ext uri="{FF2B5EF4-FFF2-40B4-BE49-F238E27FC236}">
                <a16:creationId xmlns:a16="http://schemas.microsoft.com/office/drawing/2014/main" id="{1B5F3677-3DF4-963B-C98A-3595A7AD72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Luke in progress ***</a:t>
            </a:r>
            <a:endParaRPr dirty="0"/>
          </a:p>
        </p:txBody>
      </p:sp>
    </p:spTree>
    <p:extLst>
      <p:ext uri="{BB962C8B-B14F-4D97-AF65-F5344CB8AC3E}">
        <p14:creationId xmlns:p14="http://schemas.microsoft.com/office/powerpoint/2010/main" val="22105047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3CEDDE70-83A5-F28C-9067-51F0B9AF77E1}"/>
            </a:ext>
          </a:extLst>
        </p:cNvPr>
        <p:cNvGrpSpPr/>
        <p:nvPr/>
      </p:nvGrpSpPr>
      <p:grpSpPr>
        <a:xfrm>
          <a:off x="0" y="0"/>
          <a:ext cx="0" cy="0"/>
          <a:chOff x="0" y="0"/>
          <a:chExt cx="0" cy="0"/>
        </a:xfrm>
      </p:grpSpPr>
      <p:sp>
        <p:nvSpPr>
          <p:cNvPr id="130" name="Google Shape;130;g118a705859e_0_6:notes">
            <a:extLst>
              <a:ext uri="{FF2B5EF4-FFF2-40B4-BE49-F238E27FC236}">
                <a16:creationId xmlns:a16="http://schemas.microsoft.com/office/drawing/2014/main" id="{5ED07784-5C0E-0BEA-E519-6EF4050F2B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18a705859e_0_6:notes">
            <a:extLst>
              <a:ext uri="{FF2B5EF4-FFF2-40B4-BE49-F238E27FC236}">
                <a16:creationId xmlns:a16="http://schemas.microsoft.com/office/drawing/2014/main" id="{89E077FC-BB5A-1CA2-533F-A14E9013B1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Luke in progress ***</a:t>
            </a:r>
            <a:endParaRPr dirty="0"/>
          </a:p>
        </p:txBody>
      </p:sp>
    </p:spTree>
    <p:extLst>
      <p:ext uri="{BB962C8B-B14F-4D97-AF65-F5344CB8AC3E}">
        <p14:creationId xmlns:p14="http://schemas.microsoft.com/office/powerpoint/2010/main" val="30066816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5DC8851A-6B13-7C8F-2210-6806199212C1}"/>
            </a:ext>
          </a:extLst>
        </p:cNvPr>
        <p:cNvGrpSpPr/>
        <p:nvPr/>
      </p:nvGrpSpPr>
      <p:grpSpPr>
        <a:xfrm>
          <a:off x="0" y="0"/>
          <a:ext cx="0" cy="0"/>
          <a:chOff x="0" y="0"/>
          <a:chExt cx="0" cy="0"/>
        </a:xfrm>
      </p:grpSpPr>
      <p:sp>
        <p:nvSpPr>
          <p:cNvPr id="130" name="Google Shape;130;g118a705859e_0_6:notes">
            <a:extLst>
              <a:ext uri="{FF2B5EF4-FFF2-40B4-BE49-F238E27FC236}">
                <a16:creationId xmlns:a16="http://schemas.microsoft.com/office/drawing/2014/main" id="{3B497657-493C-BD09-4F30-609E46936D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18a705859e_0_6:notes">
            <a:extLst>
              <a:ext uri="{FF2B5EF4-FFF2-40B4-BE49-F238E27FC236}">
                <a16:creationId xmlns:a16="http://schemas.microsoft.com/office/drawing/2014/main" id="{C5315B32-B507-1F4F-A696-72B02E3724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Luke in progress ***</a:t>
            </a:r>
            <a:endParaRPr dirty="0"/>
          </a:p>
        </p:txBody>
      </p:sp>
    </p:spTree>
    <p:extLst>
      <p:ext uri="{BB962C8B-B14F-4D97-AF65-F5344CB8AC3E}">
        <p14:creationId xmlns:p14="http://schemas.microsoft.com/office/powerpoint/2010/main" val="3296155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7EB62C21-612C-9BB4-9624-59CE6E131446}"/>
            </a:ext>
          </a:extLst>
        </p:cNvPr>
        <p:cNvGrpSpPr/>
        <p:nvPr/>
      </p:nvGrpSpPr>
      <p:grpSpPr>
        <a:xfrm>
          <a:off x="0" y="0"/>
          <a:ext cx="0" cy="0"/>
          <a:chOff x="0" y="0"/>
          <a:chExt cx="0" cy="0"/>
        </a:xfrm>
      </p:grpSpPr>
      <p:sp>
        <p:nvSpPr>
          <p:cNvPr id="130" name="Google Shape;130;g118a705859e_0_6:notes">
            <a:extLst>
              <a:ext uri="{FF2B5EF4-FFF2-40B4-BE49-F238E27FC236}">
                <a16:creationId xmlns:a16="http://schemas.microsoft.com/office/drawing/2014/main" id="{C401B50E-307E-DF01-FF62-D0561792BF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18a705859e_0_6:notes">
            <a:extLst>
              <a:ext uri="{FF2B5EF4-FFF2-40B4-BE49-F238E27FC236}">
                <a16:creationId xmlns:a16="http://schemas.microsoft.com/office/drawing/2014/main" id="{710B697A-EF7F-220C-90E7-66B5E1C3ED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Luke in progress ***</a:t>
            </a:r>
            <a:endParaRPr dirty="0"/>
          </a:p>
        </p:txBody>
      </p:sp>
    </p:spTree>
    <p:extLst>
      <p:ext uri="{BB962C8B-B14F-4D97-AF65-F5344CB8AC3E}">
        <p14:creationId xmlns:p14="http://schemas.microsoft.com/office/powerpoint/2010/main" val="40735660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2CAC50FB-6F69-C862-8E14-B649715A2341}"/>
            </a:ext>
          </a:extLst>
        </p:cNvPr>
        <p:cNvGrpSpPr/>
        <p:nvPr/>
      </p:nvGrpSpPr>
      <p:grpSpPr>
        <a:xfrm>
          <a:off x="0" y="0"/>
          <a:ext cx="0" cy="0"/>
          <a:chOff x="0" y="0"/>
          <a:chExt cx="0" cy="0"/>
        </a:xfrm>
      </p:grpSpPr>
      <p:sp>
        <p:nvSpPr>
          <p:cNvPr id="130" name="Google Shape;130;g118a705859e_0_6:notes">
            <a:extLst>
              <a:ext uri="{FF2B5EF4-FFF2-40B4-BE49-F238E27FC236}">
                <a16:creationId xmlns:a16="http://schemas.microsoft.com/office/drawing/2014/main" id="{CEADD9A3-984D-9299-A42E-DAD6B12F7D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18a705859e_0_6:notes">
            <a:extLst>
              <a:ext uri="{FF2B5EF4-FFF2-40B4-BE49-F238E27FC236}">
                <a16:creationId xmlns:a16="http://schemas.microsoft.com/office/drawing/2014/main" id="{E78A820D-55F3-1902-034D-0309AD69CA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Luke in progress ***</a:t>
            </a:r>
            <a:endParaRPr dirty="0"/>
          </a:p>
        </p:txBody>
      </p:sp>
    </p:spTree>
    <p:extLst>
      <p:ext uri="{BB962C8B-B14F-4D97-AF65-F5344CB8AC3E}">
        <p14:creationId xmlns:p14="http://schemas.microsoft.com/office/powerpoint/2010/main" val="33233494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38D8B4CE-FFB5-D847-A322-D3C4EC9DAAC4}"/>
            </a:ext>
          </a:extLst>
        </p:cNvPr>
        <p:cNvGrpSpPr/>
        <p:nvPr/>
      </p:nvGrpSpPr>
      <p:grpSpPr>
        <a:xfrm>
          <a:off x="0" y="0"/>
          <a:ext cx="0" cy="0"/>
          <a:chOff x="0" y="0"/>
          <a:chExt cx="0" cy="0"/>
        </a:xfrm>
      </p:grpSpPr>
      <p:sp>
        <p:nvSpPr>
          <p:cNvPr id="130" name="Google Shape;130;g118a705859e_0_6:notes">
            <a:extLst>
              <a:ext uri="{FF2B5EF4-FFF2-40B4-BE49-F238E27FC236}">
                <a16:creationId xmlns:a16="http://schemas.microsoft.com/office/drawing/2014/main" id="{0D78D63D-232B-E446-C88E-4884EF6DF9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18a705859e_0_6:notes">
            <a:extLst>
              <a:ext uri="{FF2B5EF4-FFF2-40B4-BE49-F238E27FC236}">
                <a16:creationId xmlns:a16="http://schemas.microsoft.com/office/drawing/2014/main" id="{CE735A8C-8418-0B73-C5E1-6CE647370C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Luke in progress ***</a:t>
            </a:r>
            <a:endParaRPr dirty="0"/>
          </a:p>
        </p:txBody>
      </p:sp>
    </p:spTree>
    <p:extLst>
      <p:ext uri="{BB962C8B-B14F-4D97-AF65-F5344CB8AC3E}">
        <p14:creationId xmlns:p14="http://schemas.microsoft.com/office/powerpoint/2010/main" val="36445356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81F8C6EE-7592-AADD-85F3-8472AC9AD781}"/>
            </a:ext>
          </a:extLst>
        </p:cNvPr>
        <p:cNvGrpSpPr/>
        <p:nvPr/>
      </p:nvGrpSpPr>
      <p:grpSpPr>
        <a:xfrm>
          <a:off x="0" y="0"/>
          <a:ext cx="0" cy="0"/>
          <a:chOff x="0" y="0"/>
          <a:chExt cx="0" cy="0"/>
        </a:xfrm>
      </p:grpSpPr>
      <p:sp>
        <p:nvSpPr>
          <p:cNvPr id="130" name="Google Shape;130;g118a705859e_0_6:notes">
            <a:extLst>
              <a:ext uri="{FF2B5EF4-FFF2-40B4-BE49-F238E27FC236}">
                <a16:creationId xmlns:a16="http://schemas.microsoft.com/office/drawing/2014/main" id="{672EDB46-4D90-7446-2E1F-570D33C2B5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18a705859e_0_6:notes">
            <a:extLst>
              <a:ext uri="{FF2B5EF4-FFF2-40B4-BE49-F238E27FC236}">
                <a16:creationId xmlns:a16="http://schemas.microsoft.com/office/drawing/2014/main" id="{4175ACA3-6BA1-A78F-B138-35489F7AB7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Luke in progress ***</a:t>
            </a:r>
            <a:endParaRPr dirty="0"/>
          </a:p>
        </p:txBody>
      </p:sp>
    </p:spTree>
    <p:extLst>
      <p:ext uri="{BB962C8B-B14F-4D97-AF65-F5344CB8AC3E}">
        <p14:creationId xmlns:p14="http://schemas.microsoft.com/office/powerpoint/2010/main" val="42914980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0C674571-F570-D275-8D77-FD31BE309122}"/>
            </a:ext>
          </a:extLst>
        </p:cNvPr>
        <p:cNvGrpSpPr/>
        <p:nvPr/>
      </p:nvGrpSpPr>
      <p:grpSpPr>
        <a:xfrm>
          <a:off x="0" y="0"/>
          <a:ext cx="0" cy="0"/>
          <a:chOff x="0" y="0"/>
          <a:chExt cx="0" cy="0"/>
        </a:xfrm>
      </p:grpSpPr>
      <p:sp>
        <p:nvSpPr>
          <p:cNvPr id="130" name="Google Shape;130;g118a705859e_0_6:notes">
            <a:extLst>
              <a:ext uri="{FF2B5EF4-FFF2-40B4-BE49-F238E27FC236}">
                <a16:creationId xmlns:a16="http://schemas.microsoft.com/office/drawing/2014/main" id="{DCBF7DB6-06B6-319D-A485-F4E3759457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18a705859e_0_6:notes">
            <a:extLst>
              <a:ext uri="{FF2B5EF4-FFF2-40B4-BE49-F238E27FC236}">
                <a16:creationId xmlns:a16="http://schemas.microsoft.com/office/drawing/2014/main" id="{701E66A7-C37A-DC04-FD2C-E76C53FEB2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Luke in progress ***</a:t>
            </a:r>
            <a:endParaRPr dirty="0"/>
          </a:p>
        </p:txBody>
      </p:sp>
    </p:spTree>
    <p:extLst>
      <p:ext uri="{BB962C8B-B14F-4D97-AF65-F5344CB8AC3E}">
        <p14:creationId xmlns:p14="http://schemas.microsoft.com/office/powerpoint/2010/main" val="9365661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D4B52B40-7C7B-5ECE-76CF-D0F4833B4600}"/>
            </a:ext>
          </a:extLst>
        </p:cNvPr>
        <p:cNvGrpSpPr/>
        <p:nvPr/>
      </p:nvGrpSpPr>
      <p:grpSpPr>
        <a:xfrm>
          <a:off x="0" y="0"/>
          <a:ext cx="0" cy="0"/>
          <a:chOff x="0" y="0"/>
          <a:chExt cx="0" cy="0"/>
        </a:xfrm>
      </p:grpSpPr>
      <p:sp>
        <p:nvSpPr>
          <p:cNvPr id="130" name="Google Shape;130;g118a705859e_0_6:notes">
            <a:extLst>
              <a:ext uri="{FF2B5EF4-FFF2-40B4-BE49-F238E27FC236}">
                <a16:creationId xmlns:a16="http://schemas.microsoft.com/office/drawing/2014/main" id="{A8D97E5B-DCB0-4413-91B7-340AFAACE6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18a705859e_0_6:notes">
            <a:extLst>
              <a:ext uri="{FF2B5EF4-FFF2-40B4-BE49-F238E27FC236}">
                <a16:creationId xmlns:a16="http://schemas.microsoft.com/office/drawing/2014/main" id="{E4883479-BCA6-9BA8-1CD3-4667869900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Luke in progress ***</a:t>
            </a:r>
            <a:endParaRPr dirty="0"/>
          </a:p>
        </p:txBody>
      </p:sp>
    </p:spTree>
    <p:extLst>
      <p:ext uri="{BB962C8B-B14F-4D97-AF65-F5344CB8AC3E}">
        <p14:creationId xmlns:p14="http://schemas.microsoft.com/office/powerpoint/2010/main" val="31839282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D1F40B29-C039-8CFA-C197-72BC9C915450}"/>
            </a:ext>
          </a:extLst>
        </p:cNvPr>
        <p:cNvGrpSpPr/>
        <p:nvPr/>
      </p:nvGrpSpPr>
      <p:grpSpPr>
        <a:xfrm>
          <a:off x="0" y="0"/>
          <a:ext cx="0" cy="0"/>
          <a:chOff x="0" y="0"/>
          <a:chExt cx="0" cy="0"/>
        </a:xfrm>
      </p:grpSpPr>
      <p:sp>
        <p:nvSpPr>
          <p:cNvPr id="130" name="Google Shape;130;g118a705859e_0_6:notes">
            <a:extLst>
              <a:ext uri="{FF2B5EF4-FFF2-40B4-BE49-F238E27FC236}">
                <a16:creationId xmlns:a16="http://schemas.microsoft.com/office/drawing/2014/main" id="{83827A3E-777E-5291-E3A0-DD3254C23D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18a705859e_0_6:notes">
            <a:extLst>
              <a:ext uri="{FF2B5EF4-FFF2-40B4-BE49-F238E27FC236}">
                <a16:creationId xmlns:a16="http://schemas.microsoft.com/office/drawing/2014/main" id="{24913BC8-61CE-2E93-52F3-975B4C80A3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Luke in progress ***</a:t>
            </a:r>
            <a:endParaRPr dirty="0"/>
          </a:p>
        </p:txBody>
      </p:sp>
    </p:spTree>
    <p:extLst>
      <p:ext uri="{BB962C8B-B14F-4D97-AF65-F5344CB8AC3E}">
        <p14:creationId xmlns:p14="http://schemas.microsoft.com/office/powerpoint/2010/main" val="20317757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01F7224B-51FF-70D1-FB6E-434A372D8D09}"/>
            </a:ext>
          </a:extLst>
        </p:cNvPr>
        <p:cNvGrpSpPr/>
        <p:nvPr/>
      </p:nvGrpSpPr>
      <p:grpSpPr>
        <a:xfrm>
          <a:off x="0" y="0"/>
          <a:ext cx="0" cy="0"/>
          <a:chOff x="0" y="0"/>
          <a:chExt cx="0" cy="0"/>
        </a:xfrm>
      </p:grpSpPr>
      <p:sp>
        <p:nvSpPr>
          <p:cNvPr id="130" name="Google Shape;130;g118a705859e_0_6:notes">
            <a:extLst>
              <a:ext uri="{FF2B5EF4-FFF2-40B4-BE49-F238E27FC236}">
                <a16:creationId xmlns:a16="http://schemas.microsoft.com/office/drawing/2014/main" id="{27538D79-8497-ABBD-E1F1-5A163BAF2B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18a705859e_0_6:notes">
            <a:extLst>
              <a:ext uri="{FF2B5EF4-FFF2-40B4-BE49-F238E27FC236}">
                <a16:creationId xmlns:a16="http://schemas.microsoft.com/office/drawing/2014/main" id="{DA41B7AF-FADB-E9F8-5AE5-6730387AC8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Luke in progress ***</a:t>
            </a:r>
            <a:endParaRPr dirty="0"/>
          </a:p>
        </p:txBody>
      </p:sp>
    </p:spTree>
    <p:extLst>
      <p:ext uri="{BB962C8B-B14F-4D97-AF65-F5344CB8AC3E}">
        <p14:creationId xmlns:p14="http://schemas.microsoft.com/office/powerpoint/2010/main" val="23787548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1140207A-5C83-9CC1-13A1-006E13CDBCA0}"/>
            </a:ext>
          </a:extLst>
        </p:cNvPr>
        <p:cNvGrpSpPr/>
        <p:nvPr/>
      </p:nvGrpSpPr>
      <p:grpSpPr>
        <a:xfrm>
          <a:off x="0" y="0"/>
          <a:ext cx="0" cy="0"/>
          <a:chOff x="0" y="0"/>
          <a:chExt cx="0" cy="0"/>
        </a:xfrm>
      </p:grpSpPr>
      <p:sp>
        <p:nvSpPr>
          <p:cNvPr id="130" name="Google Shape;130;g118a705859e_0_6:notes">
            <a:extLst>
              <a:ext uri="{FF2B5EF4-FFF2-40B4-BE49-F238E27FC236}">
                <a16:creationId xmlns:a16="http://schemas.microsoft.com/office/drawing/2014/main" id="{7F1D0A36-15AD-7591-A4F4-1FE1712E02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18a705859e_0_6:notes">
            <a:extLst>
              <a:ext uri="{FF2B5EF4-FFF2-40B4-BE49-F238E27FC236}">
                <a16:creationId xmlns:a16="http://schemas.microsoft.com/office/drawing/2014/main" id="{B5D50EB8-A422-F56A-D157-463A0C770F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Luke in progress ***</a:t>
            </a:r>
            <a:endParaRPr dirty="0"/>
          </a:p>
        </p:txBody>
      </p:sp>
    </p:spTree>
    <p:extLst>
      <p:ext uri="{BB962C8B-B14F-4D97-AF65-F5344CB8AC3E}">
        <p14:creationId xmlns:p14="http://schemas.microsoft.com/office/powerpoint/2010/main" val="9962533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B24EB5F1-CD85-AF7F-9B21-BA02BB4E9DDC}"/>
            </a:ext>
          </a:extLst>
        </p:cNvPr>
        <p:cNvGrpSpPr/>
        <p:nvPr/>
      </p:nvGrpSpPr>
      <p:grpSpPr>
        <a:xfrm>
          <a:off x="0" y="0"/>
          <a:ext cx="0" cy="0"/>
          <a:chOff x="0" y="0"/>
          <a:chExt cx="0" cy="0"/>
        </a:xfrm>
      </p:grpSpPr>
      <p:sp>
        <p:nvSpPr>
          <p:cNvPr id="130" name="Google Shape;130;g118a705859e_0_6:notes">
            <a:extLst>
              <a:ext uri="{FF2B5EF4-FFF2-40B4-BE49-F238E27FC236}">
                <a16:creationId xmlns:a16="http://schemas.microsoft.com/office/drawing/2014/main" id="{B8CC2610-8325-D143-9ED2-4798C2C982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18a705859e_0_6:notes">
            <a:extLst>
              <a:ext uri="{FF2B5EF4-FFF2-40B4-BE49-F238E27FC236}">
                <a16:creationId xmlns:a16="http://schemas.microsoft.com/office/drawing/2014/main" id="{406E1972-3CBD-532A-F3CF-DE8ECD3461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Luke in progress ***</a:t>
            </a:r>
            <a:endParaRPr dirty="0"/>
          </a:p>
        </p:txBody>
      </p:sp>
    </p:spTree>
    <p:extLst>
      <p:ext uri="{BB962C8B-B14F-4D97-AF65-F5344CB8AC3E}">
        <p14:creationId xmlns:p14="http://schemas.microsoft.com/office/powerpoint/2010/main" val="37435462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81F04527-843B-414B-BE8F-387D1FC7F0B8}"/>
            </a:ext>
          </a:extLst>
        </p:cNvPr>
        <p:cNvGrpSpPr/>
        <p:nvPr/>
      </p:nvGrpSpPr>
      <p:grpSpPr>
        <a:xfrm>
          <a:off x="0" y="0"/>
          <a:ext cx="0" cy="0"/>
          <a:chOff x="0" y="0"/>
          <a:chExt cx="0" cy="0"/>
        </a:xfrm>
      </p:grpSpPr>
      <p:sp>
        <p:nvSpPr>
          <p:cNvPr id="130" name="Google Shape;130;g118a705859e_0_6:notes">
            <a:extLst>
              <a:ext uri="{FF2B5EF4-FFF2-40B4-BE49-F238E27FC236}">
                <a16:creationId xmlns:a16="http://schemas.microsoft.com/office/drawing/2014/main" id="{E8678F7B-666C-148A-C362-82312ED75C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18a705859e_0_6:notes">
            <a:extLst>
              <a:ext uri="{FF2B5EF4-FFF2-40B4-BE49-F238E27FC236}">
                <a16:creationId xmlns:a16="http://schemas.microsoft.com/office/drawing/2014/main" id="{D23D7CFB-8382-8AA8-5301-8E0AE886AF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Luke in progress ***</a:t>
            </a:r>
            <a:endParaRPr dirty="0"/>
          </a:p>
        </p:txBody>
      </p:sp>
    </p:spTree>
    <p:extLst>
      <p:ext uri="{BB962C8B-B14F-4D97-AF65-F5344CB8AC3E}">
        <p14:creationId xmlns:p14="http://schemas.microsoft.com/office/powerpoint/2010/main" val="40810810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EC408A55-C72C-D337-8696-6F71D551184B}"/>
            </a:ext>
          </a:extLst>
        </p:cNvPr>
        <p:cNvGrpSpPr/>
        <p:nvPr/>
      </p:nvGrpSpPr>
      <p:grpSpPr>
        <a:xfrm>
          <a:off x="0" y="0"/>
          <a:ext cx="0" cy="0"/>
          <a:chOff x="0" y="0"/>
          <a:chExt cx="0" cy="0"/>
        </a:xfrm>
      </p:grpSpPr>
      <p:sp>
        <p:nvSpPr>
          <p:cNvPr id="130" name="Google Shape;130;g118a705859e_0_6:notes">
            <a:extLst>
              <a:ext uri="{FF2B5EF4-FFF2-40B4-BE49-F238E27FC236}">
                <a16:creationId xmlns:a16="http://schemas.microsoft.com/office/drawing/2014/main" id="{12C212E9-E122-3D06-05D4-8169D5AB6B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18a705859e_0_6:notes">
            <a:extLst>
              <a:ext uri="{FF2B5EF4-FFF2-40B4-BE49-F238E27FC236}">
                <a16:creationId xmlns:a16="http://schemas.microsoft.com/office/drawing/2014/main" id="{83CD8DBE-0285-F855-0264-D00657EAB8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Stable match no matter who starts first (might be different, although it’s not in this case)</a:t>
            </a:r>
          </a:p>
        </p:txBody>
      </p:sp>
    </p:spTree>
    <p:extLst>
      <p:ext uri="{BB962C8B-B14F-4D97-AF65-F5344CB8AC3E}">
        <p14:creationId xmlns:p14="http://schemas.microsoft.com/office/powerpoint/2010/main" val="24491728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10ee5137a53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0ee5137a53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300" dirty="0">
                <a:solidFill>
                  <a:srgbClr val="595959"/>
                </a:solidFill>
                <a:latin typeface="Lato"/>
                <a:ea typeface="Lato"/>
                <a:cs typeface="Lato"/>
                <a:sym typeface="Lato"/>
              </a:rPr>
              <a:t>NOTES: </a:t>
            </a:r>
            <a:endParaRPr sz="1300" dirty="0">
              <a:solidFill>
                <a:srgbClr val="595959"/>
              </a:solidFill>
              <a:latin typeface="Lato"/>
              <a:ea typeface="Lato"/>
              <a:cs typeface="Lato"/>
              <a:sym typeface="Lato"/>
            </a:endParaRPr>
          </a:p>
          <a:p>
            <a:pPr marL="457200" lvl="0" indent="-311150" algn="l" rtl="0">
              <a:lnSpc>
                <a:spcPct val="115000"/>
              </a:lnSpc>
              <a:spcBef>
                <a:spcPts val="0"/>
              </a:spcBef>
              <a:spcAft>
                <a:spcPts val="0"/>
              </a:spcAft>
              <a:buClr>
                <a:srgbClr val="595959"/>
              </a:buClr>
              <a:buSzPts val="1300"/>
              <a:buFont typeface="Lato"/>
              <a:buChar char="●"/>
            </a:pPr>
            <a:r>
              <a:rPr lang="en" sz="1300" dirty="0">
                <a:solidFill>
                  <a:srgbClr val="595959"/>
                </a:solidFill>
                <a:latin typeface="Lato"/>
                <a:ea typeface="Lato"/>
                <a:cs typeface="Lato"/>
                <a:sym typeface="Lato"/>
              </a:rPr>
              <a:t>Assuming strict preferences:</a:t>
            </a:r>
          </a:p>
          <a:p>
            <a:pPr marL="914400" lvl="1" indent="-311150" algn="l" rtl="0">
              <a:lnSpc>
                <a:spcPct val="115000"/>
              </a:lnSpc>
              <a:spcBef>
                <a:spcPts val="0"/>
              </a:spcBef>
              <a:spcAft>
                <a:spcPts val="0"/>
              </a:spcAft>
              <a:buClr>
                <a:srgbClr val="595959"/>
              </a:buClr>
              <a:buSzPts val="1300"/>
              <a:buFont typeface="Lato"/>
              <a:buChar char="●"/>
            </a:pPr>
            <a:r>
              <a:rPr lang="en" sz="1300" dirty="0">
                <a:solidFill>
                  <a:srgbClr val="595959"/>
                </a:solidFill>
                <a:latin typeface="Lato"/>
                <a:ea typeface="Lato"/>
                <a:cs typeface="Lato"/>
                <a:sym typeface="Lato"/>
              </a:rPr>
              <a:t>Multiple stable-matchings are actually possible, but DA always yields the same stable matching (regardless of the order in which job offers are made) – employee optimal/job pessimal or employee-pessimal/job optimal. </a:t>
            </a:r>
            <a:endParaRPr sz="1300" dirty="0">
              <a:solidFill>
                <a:srgbClr val="595959"/>
              </a:solidFill>
              <a:latin typeface="Lato"/>
              <a:ea typeface="Lato"/>
              <a:cs typeface="Lato"/>
              <a:sym typeface="Lato"/>
            </a:endParaRPr>
          </a:p>
          <a:p>
            <a:pPr marL="914400" lvl="1" indent="-311150" algn="l" rtl="0">
              <a:lnSpc>
                <a:spcPct val="115000"/>
              </a:lnSpc>
              <a:spcBef>
                <a:spcPts val="0"/>
              </a:spcBef>
              <a:spcAft>
                <a:spcPts val="0"/>
              </a:spcAft>
              <a:buClr>
                <a:srgbClr val="595959"/>
              </a:buClr>
              <a:buSzPts val="1300"/>
              <a:buFont typeface="Lato"/>
              <a:buChar char="●"/>
            </a:pPr>
            <a:r>
              <a:rPr lang="en" sz="1300" dirty="0">
                <a:solidFill>
                  <a:srgbClr val="595959"/>
                </a:solidFill>
                <a:latin typeface="Lato"/>
                <a:ea typeface="Lato"/>
                <a:cs typeface="Lato"/>
                <a:sym typeface="Lato"/>
              </a:rPr>
              <a:t>The officer-proposing DA algorithm results in a billet-pessimal stable matching, i.e., billets gets their least favorite officer in any stable-matching (therefore, billets could theoretically improve by misreporting their true preferences. We don’t have to worry about this though, since we’re simulating billet preferences over officers with the priority score!).</a:t>
            </a:r>
          </a:p>
          <a:p>
            <a:pPr marL="914400" lvl="1" indent="-311150" algn="l" rtl="0">
              <a:lnSpc>
                <a:spcPct val="115000"/>
              </a:lnSpc>
              <a:spcBef>
                <a:spcPts val="0"/>
              </a:spcBef>
              <a:spcAft>
                <a:spcPts val="0"/>
              </a:spcAft>
              <a:buClr>
                <a:srgbClr val="595959"/>
              </a:buClr>
              <a:buSzPts val="1300"/>
              <a:buFont typeface="Lato"/>
              <a:buChar char="●"/>
            </a:pPr>
            <a:r>
              <a:rPr lang="en-US" sz="1300" i="1" dirty="0">
                <a:solidFill>
                  <a:srgbClr val="595959"/>
                </a:solidFill>
                <a:latin typeface="Lato"/>
                <a:ea typeface="Lato"/>
                <a:cs typeface="Lato"/>
                <a:sym typeface="Lato"/>
              </a:rPr>
              <a:t>Employee-optimal </a:t>
            </a:r>
            <a:r>
              <a:rPr lang="en-US" sz="1300" i="0" dirty="0">
                <a:solidFill>
                  <a:srgbClr val="595959"/>
                </a:solidFill>
                <a:latin typeface="Lato"/>
                <a:ea typeface="Lato"/>
                <a:cs typeface="Lato"/>
                <a:sym typeface="Lato"/>
              </a:rPr>
              <a:t>and</a:t>
            </a:r>
            <a:r>
              <a:rPr lang="en-US" sz="1300" i="1" dirty="0">
                <a:solidFill>
                  <a:srgbClr val="595959"/>
                </a:solidFill>
                <a:latin typeface="Lato"/>
                <a:ea typeface="Lato"/>
                <a:cs typeface="Lato"/>
                <a:sym typeface="Lato"/>
              </a:rPr>
              <a:t> Job-pessimal</a:t>
            </a:r>
            <a:r>
              <a:rPr lang="en-US" sz="1300" i="0" dirty="0">
                <a:solidFill>
                  <a:srgbClr val="595959"/>
                </a:solidFill>
                <a:latin typeface="Lato"/>
                <a:ea typeface="Lato"/>
                <a:cs typeface="Lato"/>
                <a:sym typeface="Lato"/>
              </a:rPr>
              <a:t>. Each</a:t>
            </a:r>
            <a:r>
              <a:rPr lang="en-US" sz="1300" dirty="0">
                <a:solidFill>
                  <a:srgbClr val="595959"/>
                </a:solidFill>
                <a:latin typeface="Lato"/>
                <a:ea typeface="Lato"/>
                <a:cs typeface="Lato"/>
                <a:sym typeface="Lato"/>
              </a:rPr>
              <a:t> </a:t>
            </a:r>
            <a:r>
              <a:rPr lang="en" sz="1300" dirty="0">
                <a:solidFill>
                  <a:srgbClr val="595959"/>
                </a:solidFill>
                <a:latin typeface="Lato"/>
                <a:ea typeface="Lato"/>
                <a:cs typeface="Lato"/>
                <a:sym typeface="Lato"/>
              </a:rPr>
              <a:t>employee gets the highest-ranked job they could possibly obtain in any stable matching, and each job gets the lowest-ranked employee it could ever receive in any stable matching. Intuition: receivers can only reject or hold their current offers. </a:t>
            </a:r>
          </a:p>
          <a:p>
            <a:pPr marL="457200" lvl="0" indent="-311150" algn="l" rtl="0">
              <a:lnSpc>
                <a:spcPct val="115000"/>
              </a:lnSpc>
              <a:spcBef>
                <a:spcPts val="0"/>
              </a:spcBef>
              <a:spcAft>
                <a:spcPts val="0"/>
              </a:spcAft>
              <a:buClr>
                <a:srgbClr val="595959"/>
              </a:buClr>
              <a:buSzPts val="1300"/>
              <a:buFont typeface="Lato"/>
              <a:buChar char="●"/>
            </a:pPr>
            <a:r>
              <a:rPr lang="en-US" sz="1300" dirty="0">
                <a:solidFill>
                  <a:srgbClr val="595959"/>
                </a:solidFill>
                <a:latin typeface="Lato"/>
                <a:ea typeface="Lato"/>
                <a:cs typeface="Lato"/>
                <a:sym typeface="Lato"/>
              </a:rPr>
              <a:t>N</a:t>
            </a:r>
            <a:r>
              <a:rPr lang="en" sz="1300" dirty="0">
                <a:solidFill>
                  <a:srgbClr val="595959"/>
                </a:solidFill>
                <a:latin typeface="Lato"/>
                <a:ea typeface="Lato"/>
                <a:cs typeface="Lato"/>
                <a:sym typeface="Lato"/>
              </a:rPr>
              <a:t>ot strategy-proof for the “proposees”</a:t>
            </a:r>
          </a:p>
          <a:p>
            <a:pPr marL="457200" lvl="0" indent="-311150" algn="l" rtl="0">
              <a:lnSpc>
                <a:spcPct val="115000"/>
              </a:lnSpc>
              <a:spcBef>
                <a:spcPts val="0"/>
              </a:spcBef>
              <a:spcAft>
                <a:spcPts val="0"/>
              </a:spcAft>
              <a:buClr>
                <a:srgbClr val="595959"/>
              </a:buClr>
              <a:buSzPts val="1300"/>
              <a:buFont typeface="Lato"/>
              <a:buChar char="●"/>
            </a:pPr>
            <a:r>
              <a:rPr lang="en-US" b="0" i="0" dirty="0">
                <a:solidFill>
                  <a:srgbClr val="202122"/>
                </a:solidFill>
                <a:effectLst/>
                <a:latin typeface="Arial" panose="020B0604020202020204" pitchFamily="34" charset="0"/>
              </a:rPr>
              <a:t>In </a:t>
            </a:r>
            <a:r>
              <a:rPr lang="en-US" b="0" i="0" u="none" strike="noStrike" dirty="0">
                <a:effectLst/>
                <a:latin typeface="Arial" panose="020B0604020202020204" pitchFamily="34" charset="0"/>
                <a:hlinkClick r:id="rId3" tooltip="Economics"/>
              </a:rPr>
              <a:t>economics</a:t>
            </a:r>
            <a:r>
              <a:rPr lang="en-US" b="0" i="0" dirty="0">
                <a:solidFill>
                  <a:srgbClr val="202122"/>
                </a:solidFill>
                <a:effectLst/>
                <a:latin typeface="Arial" panose="020B0604020202020204" pitchFamily="34" charset="0"/>
              </a:rPr>
              <a:t> and </a:t>
            </a:r>
            <a:r>
              <a:rPr lang="en-US" b="0" i="0" u="none" strike="noStrike" dirty="0">
                <a:effectLst/>
                <a:latin typeface="Arial" panose="020B0604020202020204" pitchFamily="34" charset="0"/>
                <a:hlinkClick r:id="rId4" tooltip="Social choice theory"/>
              </a:rPr>
              <a:t>social choice theory</a:t>
            </a:r>
            <a:r>
              <a:rPr lang="en-US" b="0" i="0" dirty="0">
                <a:solidFill>
                  <a:srgbClr val="202122"/>
                </a:solidFill>
                <a:effectLst/>
                <a:latin typeface="Arial" panose="020B0604020202020204" pitchFamily="34" charset="0"/>
              </a:rPr>
              <a:t>, a </a:t>
            </a:r>
            <a:r>
              <a:rPr lang="en-US" b="1" i="0" dirty="0">
                <a:solidFill>
                  <a:srgbClr val="202122"/>
                </a:solidFill>
                <a:effectLst/>
                <a:latin typeface="Arial" panose="020B0604020202020204" pitchFamily="34" charset="0"/>
              </a:rPr>
              <a:t>no-justified-envy matching</a:t>
            </a:r>
            <a:r>
              <a:rPr lang="en-US" b="0" i="0" dirty="0">
                <a:solidFill>
                  <a:srgbClr val="202122"/>
                </a:solidFill>
                <a:effectLst/>
                <a:latin typeface="Arial" panose="020B0604020202020204" pitchFamily="34" charset="0"/>
              </a:rPr>
              <a:t> is a matching in a </a:t>
            </a:r>
            <a:r>
              <a:rPr lang="en-US" b="0" i="0" u="none" strike="noStrike" dirty="0">
                <a:effectLst/>
                <a:latin typeface="Arial" panose="020B0604020202020204" pitchFamily="34" charset="0"/>
                <a:hlinkClick r:id="rId5" tooltip="Two-sided market"/>
              </a:rPr>
              <a:t>two-sided market</a:t>
            </a:r>
            <a:r>
              <a:rPr lang="en-US" b="0" i="0" dirty="0">
                <a:solidFill>
                  <a:srgbClr val="202122"/>
                </a:solidFill>
                <a:effectLst/>
                <a:latin typeface="Arial" panose="020B0604020202020204" pitchFamily="34" charset="0"/>
              </a:rPr>
              <a:t>, in which no agent prefers the assignment of another agent and is simultaneously preferred by that assignment.</a:t>
            </a:r>
            <a:endParaRPr dirty="0"/>
          </a:p>
        </p:txBody>
      </p:sp>
    </p:spTree>
    <p:extLst>
      <p:ext uri="{BB962C8B-B14F-4D97-AF65-F5344CB8AC3E}">
        <p14:creationId xmlns:p14="http://schemas.microsoft.com/office/powerpoint/2010/main" val="32387013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10ee5137a53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10ee5137a53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61140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A0ACA6C9-BAB8-E09A-87C3-3B2A8689A021}"/>
            </a:ext>
          </a:extLst>
        </p:cNvPr>
        <p:cNvGrpSpPr/>
        <p:nvPr/>
      </p:nvGrpSpPr>
      <p:grpSpPr>
        <a:xfrm>
          <a:off x="0" y="0"/>
          <a:ext cx="0" cy="0"/>
          <a:chOff x="0" y="0"/>
          <a:chExt cx="0" cy="0"/>
        </a:xfrm>
      </p:grpSpPr>
      <p:sp>
        <p:nvSpPr>
          <p:cNvPr id="142" name="Google Shape;142;g10ee5137a53_0_256:notes">
            <a:extLst>
              <a:ext uri="{FF2B5EF4-FFF2-40B4-BE49-F238E27FC236}">
                <a16:creationId xmlns:a16="http://schemas.microsoft.com/office/drawing/2014/main" id="{3902DAE8-FC2D-03E0-9779-C488F62B2D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0ee5137a53_0_256:notes">
            <a:extLst>
              <a:ext uri="{FF2B5EF4-FFF2-40B4-BE49-F238E27FC236}">
                <a16:creationId xmlns:a16="http://schemas.microsoft.com/office/drawing/2014/main" id="{8307B4F5-D3E2-78C0-A585-70F94159AA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300" dirty="0">
                <a:solidFill>
                  <a:srgbClr val="595959"/>
                </a:solidFill>
                <a:latin typeface="Lato"/>
                <a:ea typeface="Lato"/>
                <a:cs typeface="Lato"/>
                <a:sym typeface="Lato"/>
              </a:rPr>
              <a:t>NOTES: </a:t>
            </a:r>
            <a:endParaRPr sz="1300" dirty="0">
              <a:solidFill>
                <a:srgbClr val="595959"/>
              </a:solidFill>
              <a:latin typeface="Lato"/>
              <a:ea typeface="Lato"/>
              <a:cs typeface="Lato"/>
              <a:sym typeface="Lato"/>
            </a:endParaRPr>
          </a:p>
          <a:p>
            <a:pPr marL="457200" lvl="0" indent="-311150" algn="l" rtl="0">
              <a:lnSpc>
                <a:spcPct val="115000"/>
              </a:lnSpc>
              <a:spcBef>
                <a:spcPts val="0"/>
              </a:spcBef>
              <a:spcAft>
                <a:spcPts val="0"/>
              </a:spcAft>
              <a:buClr>
                <a:srgbClr val="595959"/>
              </a:buClr>
              <a:buSzPts val="1300"/>
              <a:buFont typeface="Lato"/>
              <a:buChar char="●"/>
            </a:pPr>
            <a:r>
              <a:rPr lang="en" sz="1300" dirty="0">
                <a:solidFill>
                  <a:srgbClr val="595959"/>
                </a:solidFill>
                <a:latin typeface="Lato"/>
                <a:ea typeface="Lato"/>
                <a:cs typeface="Lato"/>
                <a:sym typeface="Lato"/>
              </a:rPr>
              <a:t>Assuming strict preferences:</a:t>
            </a:r>
          </a:p>
          <a:p>
            <a:pPr marL="914400" lvl="1" indent="-311150" algn="l" rtl="0">
              <a:lnSpc>
                <a:spcPct val="115000"/>
              </a:lnSpc>
              <a:spcBef>
                <a:spcPts val="0"/>
              </a:spcBef>
              <a:spcAft>
                <a:spcPts val="0"/>
              </a:spcAft>
              <a:buClr>
                <a:srgbClr val="595959"/>
              </a:buClr>
              <a:buSzPts val="1300"/>
              <a:buFont typeface="Lato"/>
              <a:buChar char="●"/>
            </a:pPr>
            <a:r>
              <a:rPr lang="en" sz="1300" dirty="0">
                <a:solidFill>
                  <a:srgbClr val="595959"/>
                </a:solidFill>
                <a:latin typeface="Lato"/>
                <a:ea typeface="Lato"/>
                <a:cs typeface="Lato"/>
                <a:sym typeface="Lato"/>
              </a:rPr>
              <a:t>Multiple stable-matchings are actually possible, but DA always yields the same stable matching (regardless of the order in which job offers are made) – employee optimal/job pessimal or employee-pessimal/job optimal. </a:t>
            </a:r>
            <a:endParaRPr sz="1300" dirty="0">
              <a:solidFill>
                <a:srgbClr val="595959"/>
              </a:solidFill>
              <a:latin typeface="Lato"/>
              <a:ea typeface="Lato"/>
              <a:cs typeface="Lato"/>
              <a:sym typeface="Lato"/>
            </a:endParaRPr>
          </a:p>
          <a:p>
            <a:pPr marL="914400" lvl="1" indent="-311150" algn="l" rtl="0">
              <a:lnSpc>
                <a:spcPct val="115000"/>
              </a:lnSpc>
              <a:spcBef>
                <a:spcPts val="0"/>
              </a:spcBef>
              <a:spcAft>
                <a:spcPts val="0"/>
              </a:spcAft>
              <a:buClr>
                <a:srgbClr val="595959"/>
              </a:buClr>
              <a:buSzPts val="1300"/>
              <a:buFont typeface="Lato"/>
              <a:buChar char="●"/>
            </a:pPr>
            <a:r>
              <a:rPr lang="en" sz="1300" dirty="0">
                <a:solidFill>
                  <a:srgbClr val="595959"/>
                </a:solidFill>
                <a:latin typeface="Lato"/>
                <a:ea typeface="Lato"/>
                <a:cs typeface="Lato"/>
                <a:sym typeface="Lato"/>
              </a:rPr>
              <a:t>The officer-proposing DA algorithm results in a billet-pessimal stable matching, i.e., billets gets their least favorite officer in any stable-matching (therefore, billets could theoretically improve by misreporting their true preferences. We don’t have to worry about this though, since we’re simulating billet preferences over officers with the priority score!).</a:t>
            </a:r>
          </a:p>
          <a:p>
            <a:pPr marL="914400" lvl="1" indent="-311150" algn="l" rtl="0">
              <a:lnSpc>
                <a:spcPct val="115000"/>
              </a:lnSpc>
              <a:spcBef>
                <a:spcPts val="0"/>
              </a:spcBef>
              <a:spcAft>
                <a:spcPts val="0"/>
              </a:spcAft>
              <a:buClr>
                <a:srgbClr val="595959"/>
              </a:buClr>
              <a:buSzPts val="1300"/>
              <a:buFont typeface="Lato"/>
              <a:buChar char="●"/>
            </a:pPr>
            <a:r>
              <a:rPr lang="en-US" sz="1300" i="1" dirty="0">
                <a:solidFill>
                  <a:srgbClr val="595959"/>
                </a:solidFill>
                <a:latin typeface="Lato"/>
                <a:ea typeface="Lato"/>
                <a:cs typeface="Lato"/>
                <a:sym typeface="Lato"/>
              </a:rPr>
              <a:t>Employee-optimal </a:t>
            </a:r>
            <a:r>
              <a:rPr lang="en-US" sz="1300" i="0" dirty="0">
                <a:solidFill>
                  <a:srgbClr val="595959"/>
                </a:solidFill>
                <a:latin typeface="Lato"/>
                <a:ea typeface="Lato"/>
                <a:cs typeface="Lato"/>
                <a:sym typeface="Lato"/>
              </a:rPr>
              <a:t>and</a:t>
            </a:r>
            <a:r>
              <a:rPr lang="en-US" sz="1300" i="1" dirty="0">
                <a:solidFill>
                  <a:srgbClr val="595959"/>
                </a:solidFill>
                <a:latin typeface="Lato"/>
                <a:ea typeface="Lato"/>
                <a:cs typeface="Lato"/>
                <a:sym typeface="Lato"/>
              </a:rPr>
              <a:t> Job-pessimal</a:t>
            </a:r>
            <a:r>
              <a:rPr lang="en-US" sz="1300" i="0" dirty="0">
                <a:solidFill>
                  <a:srgbClr val="595959"/>
                </a:solidFill>
                <a:latin typeface="Lato"/>
                <a:ea typeface="Lato"/>
                <a:cs typeface="Lato"/>
                <a:sym typeface="Lato"/>
              </a:rPr>
              <a:t>. Each</a:t>
            </a:r>
            <a:r>
              <a:rPr lang="en-US" sz="1300" dirty="0">
                <a:solidFill>
                  <a:srgbClr val="595959"/>
                </a:solidFill>
                <a:latin typeface="Lato"/>
                <a:ea typeface="Lato"/>
                <a:cs typeface="Lato"/>
                <a:sym typeface="Lato"/>
              </a:rPr>
              <a:t> </a:t>
            </a:r>
            <a:r>
              <a:rPr lang="en" sz="1300" dirty="0">
                <a:solidFill>
                  <a:srgbClr val="595959"/>
                </a:solidFill>
                <a:latin typeface="Lato"/>
                <a:ea typeface="Lato"/>
                <a:cs typeface="Lato"/>
                <a:sym typeface="Lato"/>
              </a:rPr>
              <a:t>employee gets the highest-ranked job they could possibly obtain in any stable matching, and each job gets the lowest-ranked employee it could ever receive in any stable matching. Intuition: receivers can only reject or hold their current offers. </a:t>
            </a:r>
          </a:p>
          <a:p>
            <a:pPr marL="457200" lvl="0" indent="-311150" algn="l" rtl="0">
              <a:lnSpc>
                <a:spcPct val="115000"/>
              </a:lnSpc>
              <a:spcBef>
                <a:spcPts val="0"/>
              </a:spcBef>
              <a:spcAft>
                <a:spcPts val="0"/>
              </a:spcAft>
              <a:buClr>
                <a:srgbClr val="595959"/>
              </a:buClr>
              <a:buSzPts val="1300"/>
              <a:buFont typeface="Lato"/>
              <a:buChar char="●"/>
            </a:pPr>
            <a:r>
              <a:rPr lang="en-US" sz="1300" dirty="0">
                <a:solidFill>
                  <a:srgbClr val="595959"/>
                </a:solidFill>
                <a:latin typeface="Lato"/>
                <a:ea typeface="Lato"/>
                <a:cs typeface="Lato"/>
                <a:sym typeface="Lato"/>
              </a:rPr>
              <a:t>N</a:t>
            </a:r>
            <a:r>
              <a:rPr lang="en" sz="1300" dirty="0">
                <a:solidFill>
                  <a:srgbClr val="595959"/>
                </a:solidFill>
                <a:latin typeface="Lato"/>
                <a:ea typeface="Lato"/>
                <a:cs typeface="Lato"/>
                <a:sym typeface="Lato"/>
              </a:rPr>
              <a:t>ot strategy-proof for the “proposees”</a:t>
            </a:r>
          </a:p>
          <a:p>
            <a:pPr marL="457200" lvl="0" indent="-311150" algn="l" rtl="0">
              <a:lnSpc>
                <a:spcPct val="115000"/>
              </a:lnSpc>
              <a:spcBef>
                <a:spcPts val="0"/>
              </a:spcBef>
              <a:spcAft>
                <a:spcPts val="0"/>
              </a:spcAft>
              <a:buClr>
                <a:srgbClr val="595959"/>
              </a:buClr>
              <a:buSzPts val="1300"/>
              <a:buFont typeface="Lato"/>
              <a:buChar char="●"/>
            </a:pPr>
            <a:r>
              <a:rPr lang="en-US" b="0" i="0" dirty="0">
                <a:solidFill>
                  <a:srgbClr val="202122"/>
                </a:solidFill>
                <a:effectLst/>
                <a:latin typeface="Arial" panose="020B0604020202020204" pitchFamily="34" charset="0"/>
              </a:rPr>
              <a:t>In </a:t>
            </a:r>
            <a:r>
              <a:rPr lang="en-US" b="0" i="0" u="none" strike="noStrike" dirty="0">
                <a:effectLst/>
                <a:latin typeface="Arial" panose="020B0604020202020204" pitchFamily="34" charset="0"/>
                <a:hlinkClick r:id="rId3" tooltip="Economics"/>
              </a:rPr>
              <a:t>economics</a:t>
            </a:r>
            <a:r>
              <a:rPr lang="en-US" b="0" i="0" dirty="0">
                <a:solidFill>
                  <a:srgbClr val="202122"/>
                </a:solidFill>
                <a:effectLst/>
                <a:latin typeface="Arial" panose="020B0604020202020204" pitchFamily="34" charset="0"/>
              </a:rPr>
              <a:t> and </a:t>
            </a:r>
            <a:r>
              <a:rPr lang="en-US" b="0" i="0" u="none" strike="noStrike" dirty="0">
                <a:effectLst/>
                <a:latin typeface="Arial" panose="020B0604020202020204" pitchFamily="34" charset="0"/>
                <a:hlinkClick r:id="rId4" tooltip="Social choice theory"/>
              </a:rPr>
              <a:t>social choice theory</a:t>
            </a:r>
            <a:r>
              <a:rPr lang="en-US" b="0" i="0" dirty="0">
                <a:solidFill>
                  <a:srgbClr val="202122"/>
                </a:solidFill>
                <a:effectLst/>
                <a:latin typeface="Arial" panose="020B0604020202020204" pitchFamily="34" charset="0"/>
              </a:rPr>
              <a:t>, a </a:t>
            </a:r>
            <a:r>
              <a:rPr lang="en-US" b="1" i="0" dirty="0">
                <a:solidFill>
                  <a:srgbClr val="202122"/>
                </a:solidFill>
                <a:effectLst/>
                <a:latin typeface="Arial" panose="020B0604020202020204" pitchFamily="34" charset="0"/>
              </a:rPr>
              <a:t>no-justified-envy matching</a:t>
            </a:r>
            <a:r>
              <a:rPr lang="en-US" b="0" i="0" dirty="0">
                <a:solidFill>
                  <a:srgbClr val="202122"/>
                </a:solidFill>
                <a:effectLst/>
                <a:latin typeface="Arial" panose="020B0604020202020204" pitchFamily="34" charset="0"/>
              </a:rPr>
              <a:t> is a matching in a </a:t>
            </a:r>
            <a:r>
              <a:rPr lang="en-US" b="0" i="0" u="none" strike="noStrike" dirty="0">
                <a:effectLst/>
                <a:latin typeface="Arial" panose="020B0604020202020204" pitchFamily="34" charset="0"/>
                <a:hlinkClick r:id="rId5" tooltip="Two-sided market"/>
              </a:rPr>
              <a:t>two-sided market</a:t>
            </a:r>
            <a:r>
              <a:rPr lang="en-US" b="0" i="0" dirty="0">
                <a:solidFill>
                  <a:srgbClr val="202122"/>
                </a:solidFill>
                <a:effectLst/>
                <a:latin typeface="Arial" panose="020B0604020202020204" pitchFamily="34" charset="0"/>
              </a:rPr>
              <a:t>, in which no agent prefers the assignment of another agent and is simultaneously preferred by that assignment.</a:t>
            </a:r>
            <a:endParaRPr dirty="0"/>
          </a:p>
        </p:txBody>
      </p:sp>
    </p:spTree>
    <p:extLst>
      <p:ext uri="{BB962C8B-B14F-4D97-AF65-F5344CB8AC3E}">
        <p14:creationId xmlns:p14="http://schemas.microsoft.com/office/powerpoint/2010/main" val="33008968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8C23A271-E1A3-FCD6-E7B2-4ED747F5AE4A}"/>
            </a:ext>
          </a:extLst>
        </p:cNvPr>
        <p:cNvGrpSpPr/>
        <p:nvPr/>
      </p:nvGrpSpPr>
      <p:grpSpPr>
        <a:xfrm>
          <a:off x="0" y="0"/>
          <a:ext cx="0" cy="0"/>
          <a:chOff x="0" y="0"/>
          <a:chExt cx="0" cy="0"/>
        </a:xfrm>
      </p:grpSpPr>
      <p:sp>
        <p:nvSpPr>
          <p:cNvPr id="142" name="Google Shape;142;g10ee5137a53_0_256:notes">
            <a:extLst>
              <a:ext uri="{FF2B5EF4-FFF2-40B4-BE49-F238E27FC236}">
                <a16:creationId xmlns:a16="http://schemas.microsoft.com/office/drawing/2014/main" id="{0C4FE2E7-D3D3-CF4E-748F-FF25FB3C7E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0ee5137a53_0_256:notes">
            <a:extLst>
              <a:ext uri="{FF2B5EF4-FFF2-40B4-BE49-F238E27FC236}">
                <a16:creationId xmlns:a16="http://schemas.microsoft.com/office/drawing/2014/main" id="{3FFEBAEC-509F-7E53-52BE-B4E9793DA6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300" dirty="0">
                <a:solidFill>
                  <a:srgbClr val="595959"/>
                </a:solidFill>
                <a:latin typeface="Lato"/>
                <a:ea typeface="Lato"/>
                <a:cs typeface="Lato"/>
                <a:sym typeface="Lato"/>
              </a:rPr>
              <a:t>NOTES: </a:t>
            </a:r>
            <a:endParaRPr sz="1300" dirty="0">
              <a:solidFill>
                <a:srgbClr val="595959"/>
              </a:solidFill>
              <a:latin typeface="Lato"/>
              <a:ea typeface="Lato"/>
              <a:cs typeface="Lato"/>
              <a:sym typeface="Lato"/>
            </a:endParaRPr>
          </a:p>
          <a:p>
            <a:pPr marL="457200" lvl="0" indent="-311150" algn="l" rtl="0">
              <a:lnSpc>
                <a:spcPct val="115000"/>
              </a:lnSpc>
              <a:spcBef>
                <a:spcPts val="0"/>
              </a:spcBef>
              <a:spcAft>
                <a:spcPts val="0"/>
              </a:spcAft>
              <a:buClr>
                <a:srgbClr val="595959"/>
              </a:buClr>
              <a:buSzPts val="1300"/>
              <a:buFont typeface="Lato"/>
              <a:buChar char="●"/>
            </a:pPr>
            <a:r>
              <a:rPr lang="en" sz="1300" dirty="0">
                <a:solidFill>
                  <a:srgbClr val="595959"/>
                </a:solidFill>
                <a:latin typeface="Lato"/>
                <a:ea typeface="Lato"/>
                <a:cs typeface="Lato"/>
                <a:sym typeface="Lato"/>
              </a:rPr>
              <a:t>Assuming strict preferences:</a:t>
            </a:r>
          </a:p>
          <a:p>
            <a:pPr marL="914400" lvl="1" indent="-311150" algn="l" rtl="0">
              <a:lnSpc>
                <a:spcPct val="115000"/>
              </a:lnSpc>
              <a:spcBef>
                <a:spcPts val="0"/>
              </a:spcBef>
              <a:spcAft>
                <a:spcPts val="0"/>
              </a:spcAft>
              <a:buClr>
                <a:srgbClr val="595959"/>
              </a:buClr>
              <a:buSzPts val="1300"/>
              <a:buFont typeface="Lato"/>
              <a:buChar char="●"/>
            </a:pPr>
            <a:r>
              <a:rPr lang="en" sz="1300" dirty="0">
                <a:solidFill>
                  <a:srgbClr val="595959"/>
                </a:solidFill>
                <a:latin typeface="Lato"/>
                <a:ea typeface="Lato"/>
                <a:cs typeface="Lato"/>
                <a:sym typeface="Lato"/>
              </a:rPr>
              <a:t>Multiple stable-matchings are actually possible, but DA always yields the same stable matching (regardless of the order in which job offers are made) – employee optimal/job pessimal or employee-pessimal/job optimal. </a:t>
            </a:r>
            <a:endParaRPr sz="1300" dirty="0">
              <a:solidFill>
                <a:srgbClr val="595959"/>
              </a:solidFill>
              <a:latin typeface="Lato"/>
              <a:ea typeface="Lato"/>
              <a:cs typeface="Lato"/>
              <a:sym typeface="Lato"/>
            </a:endParaRPr>
          </a:p>
          <a:p>
            <a:pPr marL="914400" lvl="1" indent="-311150" algn="l" rtl="0">
              <a:lnSpc>
                <a:spcPct val="115000"/>
              </a:lnSpc>
              <a:spcBef>
                <a:spcPts val="0"/>
              </a:spcBef>
              <a:spcAft>
                <a:spcPts val="0"/>
              </a:spcAft>
              <a:buClr>
                <a:srgbClr val="595959"/>
              </a:buClr>
              <a:buSzPts val="1300"/>
              <a:buFont typeface="Lato"/>
              <a:buChar char="●"/>
            </a:pPr>
            <a:r>
              <a:rPr lang="en" sz="1300" dirty="0">
                <a:solidFill>
                  <a:srgbClr val="595959"/>
                </a:solidFill>
                <a:latin typeface="Lato"/>
                <a:ea typeface="Lato"/>
                <a:cs typeface="Lato"/>
                <a:sym typeface="Lato"/>
              </a:rPr>
              <a:t>The officer-proposing DA algorithm results in a billet-pessimal stable matching, i.e., billets gets their least favorite officer in any stable-matching (therefore, billets could theoretically improve by misreporting their true preferences. We don’t have to worry about this though, since we’re simulating billet preferences over officers with the priority score!).</a:t>
            </a:r>
          </a:p>
          <a:p>
            <a:pPr marL="914400" lvl="1" indent="-311150" algn="l" rtl="0">
              <a:lnSpc>
                <a:spcPct val="115000"/>
              </a:lnSpc>
              <a:spcBef>
                <a:spcPts val="0"/>
              </a:spcBef>
              <a:spcAft>
                <a:spcPts val="0"/>
              </a:spcAft>
              <a:buClr>
                <a:srgbClr val="595959"/>
              </a:buClr>
              <a:buSzPts val="1300"/>
              <a:buFont typeface="Lato"/>
              <a:buChar char="●"/>
            </a:pPr>
            <a:r>
              <a:rPr lang="en-US" sz="1300" i="1" dirty="0">
                <a:solidFill>
                  <a:srgbClr val="595959"/>
                </a:solidFill>
                <a:latin typeface="Lato"/>
                <a:ea typeface="Lato"/>
                <a:cs typeface="Lato"/>
                <a:sym typeface="Lato"/>
              </a:rPr>
              <a:t>Employee-optimal </a:t>
            </a:r>
            <a:r>
              <a:rPr lang="en-US" sz="1300" i="0" dirty="0">
                <a:solidFill>
                  <a:srgbClr val="595959"/>
                </a:solidFill>
                <a:latin typeface="Lato"/>
                <a:ea typeface="Lato"/>
                <a:cs typeface="Lato"/>
                <a:sym typeface="Lato"/>
              </a:rPr>
              <a:t>and</a:t>
            </a:r>
            <a:r>
              <a:rPr lang="en-US" sz="1300" i="1" dirty="0">
                <a:solidFill>
                  <a:srgbClr val="595959"/>
                </a:solidFill>
                <a:latin typeface="Lato"/>
                <a:ea typeface="Lato"/>
                <a:cs typeface="Lato"/>
                <a:sym typeface="Lato"/>
              </a:rPr>
              <a:t> Job-pessimal</a:t>
            </a:r>
            <a:r>
              <a:rPr lang="en-US" sz="1300" i="0" dirty="0">
                <a:solidFill>
                  <a:srgbClr val="595959"/>
                </a:solidFill>
                <a:latin typeface="Lato"/>
                <a:ea typeface="Lato"/>
                <a:cs typeface="Lato"/>
                <a:sym typeface="Lato"/>
              </a:rPr>
              <a:t>. Each</a:t>
            </a:r>
            <a:r>
              <a:rPr lang="en-US" sz="1300" dirty="0">
                <a:solidFill>
                  <a:srgbClr val="595959"/>
                </a:solidFill>
                <a:latin typeface="Lato"/>
                <a:ea typeface="Lato"/>
                <a:cs typeface="Lato"/>
                <a:sym typeface="Lato"/>
              </a:rPr>
              <a:t> </a:t>
            </a:r>
            <a:r>
              <a:rPr lang="en" sz="1300" dirty="0">
                <a:solidFill>
                  <a:srgbClr val="595959"/>
                </a:solidFill>
                <a:latin typeface="Lato"/>
                <a:ea typeface="Lato"/>
                <a:cs typeface="Lato"/>
                <a:sym typeface="Lato"/>
              </a:rPr>
              <a:t>employee gets the highest-ranked job they could possibly obtain in any stable matching, and each job gets the lowest-ranked employee it could ever receive in any stable matching. Intuition: receivers can only reject or hold their current offers. </a:t>
            </a:r>
          </a:p>
          <a:p>
            <a:pPr marL="457200" lvl="0" indent="-311150" algn="l" rtl="0">
              <a:lnSpc>
                <a:spcPct val="115000"/>
              </a:lnSpc>
              <a:spcBef>
                <a:spcPts val="0"/>
              </a:spcBef>
              <a:spcAft>
                <a:spcPts val="0"/>
              </a:spcAft>
              <a:buClr>
                <a:srgbClr val="595959"/>
              </a:buClr>
              <a:buSzPts val="1300"/>
              <a:buFont typeface="Lato"/>
              <a:buChar char="●"/>
            </a:pPr>
            <a:r>
              <a:rPr lang="en-US" sz="1300" dirty="0">
                <a:solidFill>
                  <a:srgbClr val="595959"/>
                </a:solidFill>
                <a:latin typeface="Lato"/>
                <a:ea typeface="Lato"/>
                <a:cs typeface="Lato"/>
                <a:sym typeface="Lato"/>
              </a:rPr>
              <a:t>N</a:t>
            </a:r>
            <a:r>
              <a:rPr lang="en" sz="1300" dirty="0">
                <a:solidFill>
                  <a:srgbClr val="595959"/>
                </a:solidFill>
                <a:latin typeface="Lato"/>
                <a:ea typeface="Lato"/>
                <a:cs typeface="Lato"/>
                <a:sym typeface="Lato"/>
              </a:rPr>
              <a:t>ot strategy-proof for the “proposees”</a:t>
            </a:r>
          </a:p>
          <a:p>
            <a:pPr marL="457200" lvl="0" indent="-311150" algn="l" rtl="0">
              <a:lnSpc>
                <a:spcPct val="115000"/>
              </a:lnSpc>
              <a:spcBef>
                <a:spcPts val="0"/>
              </a:spcBef>
              <a:spcAft>
                <a:spcPts val="0"/>
              </a:spcAft>
              <a:buClr>
                <a:srgbClr val="595959"/>
              </a:buClr>
              <a:buSzPts val="1300"/>
              <a:buFont typeface="Lato"/>
              <a:buChar char="●"/>
            </a:pPr>
            <a:r>
              <a:rPr lang="en-US" b="0" i="0" dirty="0">
                <a:solidFill>
                  <a:srgbClr val="202122"/>
                </a:solidFill>
                <a:effectLst/>
                <a:latin typeface="Arial" panose="020B0604020202020204" pitchFamily="34" charset="0"/>
              </a:rPr>
              <a:t>In </a:t>
            </a:r>
            <a:r>
              <a:rPr lang="en-US" b="0" i="0" u="none" strike="noStrike" dirty="0">
                <a:effectLst/>
                <a:latin typeface="Arial" panose="020B0604020202020204" pitchFamily="34" charset="0"/>
                <a:hlinkClick r:id="rId3" tooltip="Economics"/>
              </a:rPr>
              <a:t>economics</a:t>
            </a:r>
            <a:r>
              <a:rPr lang="en-US" b="0" i="0" dirty="0">
                <a:solidFill>
                  <a:srgbClr val="202122"/>
                </a:solidFill>
                <a:effectLst/>
                <a:latin typeface="Arial" panose="020B0604020202020204" pitchFamily="34" charset="0"/>
              </a:rPr>
              <a:t> and </a:t>
            </a:r>
            <a:r>
              <a:rPr lang="en-US" b="0" i="0" u="none" strike="noStrike" dirty="0">
                <a:effectLst/>
                <a:latin typeface="Arial" panose="020B0604020202020204" pitchFamily="34" charset="0"/>
                <a:hlinkClick r:id="rId4" tooltip="Social choice theory"/>
              </a:rPr>
              <a:t>social choice theory</a:t>
            </a:r>
            <a:r>
              <a:rPr lang="en-US" b="0" i="0" dirty="0">
                <a:solidFill>
                  <a:srgbClr val="202122"/>
                </a:solidFill>
                <a:effectLst/>
                <a:latin typeface="Arial" panose="020B0604020202020204" pitchFamily="34" charset="0"/>
              </a:rPr>
              <a:t>, a </a:t>
            </a:r>
            <a:r>
              <a:rPr lang="en-US" b="1" i="0" dirty="0">
                <a:solidFill>
                  <a:srgbClr val="202122"/>
                </a:solidFill>
                <a:effectLst/>
                <a:latin typeface="Arial" panose="020B0604020202020204" pitchFamily="34" charset="0"/>
              </a:rPr>
              <a:t>no-justified-envy matching</a:t>
            </a:r>
            <a:r>
              <a:rPr lang="en-US" b="0" i="0" dirty="0">
                <a:solidFill>
                  <a:srgbClr val="202122"/>
                </a:solidFill>
                <a:effectLst/>
                <a:latin typeface="Arial" panose="020B0604020202020204" pitchFamily="34" charset="0"/>
              </a:rPr>
              <a:t> is a matching in a </a:t>
            </a:r>
            <a:r>
              <a:rPr lang="en-US" b="0" i="0" u="none" strike="noStrike" dirty="0">
                <a:effectLst/>
                <a:latin typeface="Arial" panose="020B0604020202020204" pitchFamily="34" charset="0"/>
                <a:hlinkClick r:id="rId5" tooltip="Two-sided market"/>
              </a:rPr>
              <a:t>two-sided market</a:t>
            </a:r>
            <a:r>
              <a:rPr lang="en-US" b="0" i="0" dirty="0">
                <a:solidFill>
                  <a:srgbClr val="202122"/>
                </a:solidFill>
                <a:effectLst/>
                <a:latin typeface="Arial" panose="020B0604020202020204" pitchFamily="34" charset="0"/>
              </a:rPr>
              <a:t>, in which no agent prefers the assignment of another agent and is simultaneously preferred by that assignment.</a:t>
            </a:r>
            <a:endParaRPr dirty="0"/>
          </a:p>
        </p:txBody>
      </p:sp>
    </p:spTree>
    <p:extLst>
      <p:ext uri="{BB962C8B-B14F-4D97-AF65-F5344CB8AC3E}">
        <p14:creationId xmlns:p14="http://schemas.microsoft.com/office/powerpoint/2010/main" val="8609482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99263A08-3E33-0320-984B-5485C4081141}"/>
            </a:ext>
          </a:extLst>
        </p:cNvPr>
        <p:cNvGrpSpPr/>
        <p:nvPr/>
      </p:nvGrpSpPr>
      <p:grpSpPr>
        <a:xfrm>
          <a:off x="0" y="0"/>
          <a:ext cx="0" cy="0"/>
          <a:chOff x="0" y="0"/>
          <a:chExt cx="0" cy="0"/>
        </a:xfrm>
      </p:grpSpPr>
      <p:sp>
        <p:nvSpPr>
          <p:cNvPr id="142" name="Google Shape;142;g10ee5137a53_0_256:notes">
            <a:extLst>
              <a:ext uri="{FF2B5EF4-FFF2-40B4-BE49-F238E27FC236}">
                <a16:creationId xmlns:a16="http://schemas.microsoft.com/office/drawing/2014/main" id="{371D3F90-D8D5-CCC2-423D-8CE33FF221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0ee5137a53_0_256:notes">
            <a:extLst>
              <a:ext uri="{FF2B5EF4-FFF2-40B4-BE49-F238E27FC236}">
                <a16:creationId xmlns:a16="http://schemas.microsoft.com/office/drawing/2014/main" id="{57DD1AC5-B5AC-12C7-EC8B-C7D99823DFC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dirty="0"/>
          </a:p>
        </p:txBody>
      </p:sp>
    </p:spTree>
    <p:extLst>
      <p:ext uri="{BB962C8B-B14F-4D97-AF65-F5344CB8AC3E}">
        <p14:creationId xmlns:p14="http://schemas.microsoft.com/office/powerpoint/2010/main" val="28809014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AED5633C-FA49-B3B1-8796-95326BD09631}"/>
            </a:ext>
          </a:extLst>
        </p:cNvPr>
        <p:cNvGrpSpPr/>
        <p:nvPr/>
      </p:nvGrpSpPr>
      <p:grpSpPr>
        <a:xfrm>
          <a:off x="0" y="0"/>
          <a:ext cx="0" cy="0"/>
          <a:chOff x="0" y="0"/>
          <a:chExt cx="0" cy="0"/>
        </a:xfrm>
      </p:grpSpPr>
      <p:sp>
        <p:nvSpPr>
          <p:cNvPr id="160" name="Google Shape;160;g118a705859e_0_11:notes">
            <a:extLst>
              <a:ext uri="{FF2B5EF4-FFF2-40B4-BE49-F238E27FC236}">
                <a16:creationId xmlns:a16="http://schemas.microsoft.com/office/drawing/2014/main" id="{304E2465-7C7A-98FE-E58F-F7CD2C8E9C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118a705859e_0_11:notes">
            <a:extLst>
              <a:ext uri="{FF2B5EF4-FFF2-40B4-BE49-F238E27FC236}">
                <a16:creationId xmlns:a16="http://schemas.microsoft.com/office/drawing/2014/main" id="{C036EA83-39DE-1AED-EAB6-2573117819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323050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B4146FED-70AF-1C14-52ED-E8D94D44A2A5}"/>
            </a:ext>
          </a:extLst>
        </p:cNvPr>
        <p:cNvGrpSpPr/>
        <p:nvPr/>
      </p:nvGrpSpPr>
      <p:grpSpPr>
        <a:xfrm>
          <a:off x="0" y="0"/>
          <a:ext cx="0" cy="0"/>
          <a:chOff x="0" y="0"/>
          <a:chExt cx="0" cy="0"/>
        </a:xfrm>
      </p:grpSpPr>
      <p:sp>
        <p:nvSpPr>
          <p:cNvPr id="154" name="Google Shape;154;g10ee5137a53_0_10:notes">
            <a:extLst>
              <a:ext uri="{FF2B5EF4-FFF2-40B4-BE49-F238E27FC236}">
                <a16:creationId xmlns:a16="http://schemas.microsoft.com/office/drawing/2014/main" id="{8CD5FB13-F88C-568D-D095-25BC5F2E6B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0ee5137a53_0_10:notes">
            <a:extLst>
              <a:ext uri="{FF2B5EF4-FFF2-40B4-BE49-F238E27FC236}">
                <a16:creationId xmlns:a16="http://schemas.microsoft.com/office/drawing/2014/main" id="{125002CC-BBC7-1127-D0D6-A9E41104B1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46050" lvl="0" indent="0" algn="l" rtl="0">
              <a:lnSpc>
                <a:spcPct val="115000"/>
              </a:lnSpc>
              <a:spcBef>
                <a:spcPts val="0"/>
              </a:spcBef>
              <a:spcAft>
                <a:spcPts val="0"/>
              </a:spcAft>
              <a:buClr>
                <a:srgbClr val="595959"/>
              </a:buClr>
              <a:buSzPts val="1300"/>
              <a:buFont typeface="Lato"/>
              <a:buNone/>
            </a:pPr>
            <a:endParaRPr dirty="0"/>
          </a:p>
        </p:txBody>
      </p:sp>
    </p:spTree>
    <p:extLst>
      <p:ext uri="{BB962C8B-B14F-4D97-AF65-F5344CB8AC3E}">
        <p14:creationId xmlns:p14="http://schemas.microsoft.com/office/powerpoint/2010/main" val="24392884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EE115C46-3AB9-B0B0-C0DE-F23531A2A0F0}"/>
            </a:ext>
          </a:extLst>
        </p:cNvPr>
        <p:cNvGrpSpPr/>
        <p:nvPr/>
      </p:nvGrpSpPr>
      <p:grpSpPr>
        <a:xfrm>
          <a:off x="0" y="0"/>
          <a:ext cx="0" cy="0"/>
          <a:chOff x="0" y="0"/>
          <a:chExt cx="0" cy="0"/>
        </a:xfrm>
      </p:grpSpPr>
      <p:sp>
        <p:nvSpPr>
          <p:cNvPr id="160" name="Google Shape;160;g118a705859e_0_11:notes">
            <a:extLst>
              <a:ext uri="{FF2B5EF4-FFF2-40B4-BE49-F238E27FC236}">
                <a16:creationId xmlns:a16="http://schemas.microsoft.com/office/drawing/2014/main" id="{511B327A-F628-E160-3CB5-A4F715C45D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118a705859e_0_11:notes">
            <a:extLst>
              <a:ext uri="{FF2B5EF4-FFF2-40B4-BE49-F238E27FC236}">
                <a16:creationId xmlns:a16="http://schemas.microsoft.com/office/drawing/2014/main" id="{D90E2FDB-CF9B-CE9C-ECEC-E3F400BE28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723597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4F737E84-5876-1CE8-EE28-509F17EF9B4A}"/>
            </a:ext>
          </a:extLst>
        </p:cNvPr>
        <p:cNvGrpSpPr/>
        <p:nvPr/>
      </p:nvGrpSpPr>
      <p:grpSpPr>
        <a:xfrm>
          <a:off x="0" y="0"/>
          <a:ext cx="0" cy="0"/>
          <a:chOff x="0" y="0"/>
          <a:chExt cx="0" cy="0"/>
        </a:xfrm>
      </p:grpSpPr>
      <p:sp>
        <p:nvSpPr>
          <p:cNvPr id="130" name="Google Shape;130;g118a705859e_0_6:notes">
            <a:extLst>
              <a:ext uri="{FF2B5EF4-FFF2-40B4-BE49-F238E27FC236}">
                <a16:creationId xmlns:a16="http://schemas.microsoft.com/office/drawing/2014/main" id="{96C8FF7E-C859-FC9B-32A2-3302E10DEE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18a705859e_0_6:notes">
            <a:extLst>
              <a:ext uri="{FF2B5EF4-FFF2-40B4-BE49-F238E27FC236}">
                <a16:creationId xmlns:a16="http://schemas.microsoft.com/office/drawing/2014/main" id="{19CE3542-923E-997F-E177-6BC2DF49FB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Luke in progress ***</a:t>
            </a:r>
            <a:endParaRPr dirty="0"/>
          </a:p>
        </p:txBody>
      </p:sp>
    </p:spTree>
    <p:extLst>
      <p:ext uri="{BB962C8B-B14F-4D97-AF65-F5344CB8AC3E}">
        <p14:creationId xmlns:p14="http://schemas.microsoft.com/office/powerpoint/2010/main" val="7693072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EA6DBC64-5F53-10FF-04A0-D45E13902E1B}"/>
            </a:ext>
          </a:extLst>
        </p:cNvPr>
        <p:cNvGrpSpPr/>
        <p:nvPr/>
      </p:nvGrpSpPr>
      <p:grpSpPr>
        <a:xfrm>
          <a:off x="0" y="0"/>
          <a:ext cx="0" cy="0"/>
          <a:chOff x="0" y="0"/>
          <a:chExt cx="0" cy="0"/>
        </a:xfrm>
      </p:grpSpPr>
      <p:sp>
        <p:nvSpPr>
          <p:cNvPr id="130" name="Google Shape;130;g118a705859e_0_6:notes">
            <a:extLst>
              <a:ext uri="{FF2B5EF4-FFF2-40B4-BE49-F238E27FC236}">
                <a16:creationId xmlns:a16="http://schemas.microsoft.com/office/drawing/2014/main" id="{205DCC7F-49C5-DF51-D56D-D2A2A5F854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18a705859e_0_6:notes">
            <a:extLst>
              <a:ext uri="{FF2B5EF4-FFF2-40B4-BE49-F238E27FC236}">
                <a16:creationId xmlns:a16="http://schemas.microsoft.com/office/drawing/2014/main" id="{023C89E8-36F1-1ABA-9ED2-EB6051A76E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Luke in progress ***</a:t>
            </a:r>
            <a:endParaRPr dirty="0"/>
          </a:p>
        </p:txBody>
      </p:sp>
    </p:spTree>
    <p:extLst>
      <p:ext uri="{BB962C8B-B14F-4D97-AF65-F5344CB8AC3E}">
        <p14:creationId xmlns:p14="http://schemas.microsoft.com/office/powerpoint/2010/main" val="171623040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78DBF973-D7CB-44B6-79EC-5E7188416555}"/>
            </a:ext>
          </a:extLst>
        </p:cNvPr>
        <p:cNvGrpSpPr/>
        <p:nvPr/>
      </p:nvGrpSpPr>
      <p:grpSpPr>
        <a:xfrm>
          <a:off x="0" y="0"/>
          <a:ext cx="0" cy="0"/>
          <a:chOff x="0" y="0"/>
          <a:chExt cx="0" cy="0"/>
        </a:xfrm>
      </p:grpSpPr>
      <p:sp>
        <p:nvSpPr>
          <p:cNvPr id="130" name="Google Shape;130;g118a705859e_0_6:notes">
            <a:extLst>
              <a:ext uri="{FF2B5EF4-FFF2-40B4-BE49-F238E27FC236}">
                <a16:creationId xmlns:a16="http://schemas.microsoft.com/office/drawing/2014/main" id="{7FB0FCAE-4145-2272-E674-4ACD99EC27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18a705859e_0_6:notes">
            <a:extLst>
              <a:ext uri="{FF2B5EF4-FFF2-40B4-BE49-F238E27FC236}">
                <a16:creationId xmlns:a16="http://schemas.microsoft.com/office/drawing/2014/main" id="{711BB917-BD4C-6FBF-40C3-3BC93F4981B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Luke in progress ***</a:t>
            </a:r>
            <a:endParaRPr dirty="0"/>
          </a:p>
        </p:txBody>
      </p:sp>
    </p:spTree>
    <p:extLst>
      <p:ext uri="{BB962C8B-B14F-4D97-AF65-F5344CB8AC3E}">
        <p14:creationId xmlns:p14="http://schemas.microsoft.com/office/powerpoint/2010/main" val="26241169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C424ED57-03A6-01EE-4CC9-EFDA60141717}"/>
            </a:ext>
          </a:extLst>
        </p:cNvPr>
        <p:cNvGrpSpPr/>
        <p:nvPr/>
      </p:nvGrpSpPr>
      <p:grpSpPr>
        <a:xfrm>
          <a:off x="0" y="0"/>
          <a:ext cx="0" cy="0"/>
          <a:chOff x="0" y="0"/>
          <a:chExt cx="0" cy="0"/>
        </a:xfrm>
      </p:grpSpPr>
      <p:sp>
        <p:nvSpPr>
          <p:cNvPr id="130" name="Google Shape;130;g118a705859e_0_6:notes">
            <a:extLst>
              <a:ext uri="{FF2B5EF4-FFF2-40B4-BE49-F238E27FC236}">
                <a16:creationId xmlns:a16="http://schemas.microsoft.com/office/drawing/2014/main" id="{65C24A5B-3646-B078-6644-0DF0F11CB2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18a705859e_0_6:notes">
            <a:extLst>
              <a:ext uri="{FF2B5EF4-FFF2-40B4-BE49-F238E27FC236}">
                <a16:creationId xmlns:a16="http://schemas.microsoft.com/office/drawing/2014/main" id="{BC7D7F0D-F150-9234-CCD1-BAB766BC1A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Luke in progress ***</a:t>
            </a:r>
            <a:endParaRPr dirty="0"/>
          </a:p>
        </p:txBody>
      </p:sp>
    </p:spTree>
    <p:extLst>
      <p:ext uri="{BB962C8B-B14F-4D97-AF65-F5344CB8AC3E}">
        <p14:creationId xmlns:p14="http://schemas.microsoft.com/office/powerpoint/2010/main" val="415248566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BFA403BB-C65D-CDBC-80BC-3E0D230FEF47}"/>
            </a:ext>
          </a:extLst>
        </p:cNvPr>
        <p:cNvGrpSpPr/>
        <p:nvPr/>
      </p:nvGrpSpPr>
      <p:grpSpPr>
        <a:xfrm>
          <a:off x="0" y="0"/>
          <a:ext cx="0" cy="0"/>
          <a:chOff x="0" y="0"/>
          <a:chExt cx="0" cy="0"/>
        </a:xfrm>
      </p:grpSpPr>
      <p:sp>
        <p:nvSpPr>
          <p:cNvPr id="130" name="Google Shape;130;g118a705859e_0_6:notes">
            <a:extLst>
              <a:ext uri="{FF2B5EF4-FFF2-40B4-BE49-F238E27FC236}">
                <a16:creationId xmlns:a16="http://schemas.microsoft.com/office/drawing/2014/main" id="{CF465CF4-7520-9A1D-22C7-3BF7CDE5DE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18a705859e_0_6:notes">
            <a:extLst>
              <a:ext uri="{FF2B5EF4-FFF2-40B4-BE49-F238E27FC236}">
                <a16:creationId xmlns:a16="http://schemas.microsoft.com/office/drawing/2014/main" id="{1468AD24-DFC9-90B1-301A-42C6C002E3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Luke in progress ***</a:t>
            </a:r>
            <a:endParaRPr dirty="0"/>
          </a:p>
        </p:txBody>
      </p:sp>
    </p:spTree>
    <p:extLst>
      <p:ext uri="{BB962C8B-B14F-4D97-AF65-F5344CB8AC3E}">
        <p14:creationId xmlns:p14="http://schemas.microsoft.com/office/powerpoint/2010/main" val="364185514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297D2A87-1613-2AE9-585E-53056821C549}"/>
            </a:ext>
          </a:extLst>
        </p:cNvPr>
        <p:cNvGrpSpPr/>
        <p:nvPr/>
      </p:nvGrpSpPr>
      <p:grpSpPr>
        <a:xfrm>
          <a:off x="0" y="0"/>
          <a:ext cx="0" cy="0"/>
          <a:chOff x="0" y="0"/>
          <a:chExt cx="0" cy="0"/>
        </a:xfrm>
      </p:grpSpPr>
      <p:sp>
        <p:nvSpPr>
          <p:cNvPr id="130" name="Google Shape;130;g118a705859e_0_6:notes">
            <a:extLst>
              <a:ext uri="{FF2B5EF4-FFF2-40B4-BE49-F238E27FC236}">
                <a16:creationId xmlns:a16="http://schemas.microsoft.com/office/drawing/2014/main" id="{EAE04B9C-1C9B-C785-C5E0-C898FFD288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18a705859e_0_6:notes">
            <a:extLst>
              <a:ext uri="{FF2B5EF4-FFF2-40B4-BE49-F238E27FC236}">
                <a16:creationId xmlns:a16="http://schemas.microsoft.com/office/drawing/2014/main" id="{8A3648BF-DDB3-AA3C-8FEF-FF68C713C4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Luke in progress ***</a:t>
            </a:r>
            <a:endParaRPr dirty="0"/>
          </a:p>
        </p:txBody>
      </p:sp>
    </p:spTree>
    <p:extLst>
      <p:ext uri="{BB962C8B-B14F-4D97-AF65-F5344CB8AC3E}">
        <p14:creationId xmlns:p14="http://schemas.microsoft.com/office/powerpoint/2010/main" val="10167917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AAE6F04A-F082-FDA8-1ED9-2929CDFDBF93}"/>
            </a:ext>
          </a:extLst>
        </p:cNvPr>
        <p:cNvGrpSpPr/>
        <p:nvPr/>
      </p:nvGrpSpPr>
      <p:grpSpPr>
        <a:xfrm>
          <a:off x="0" y="0"/>
          <a:ext cx="0" cy="0"/>
          <a:chOff x="0" y="0"/>
          <a:chExt cx="0" cy="0"/>
        </a:xfrm>
      </p:grpSpPr>
      <p:sp>
        <p:nvSpPr>
          <p:cNvPr id="130" name="Google Shape;130;g118a705859e_0_6:notes">
            <a:extLst>
              <a:ext uri="{FF2B5EF4-FFF2-40B4-BE49-F238E27FC236}">
                <a16:creationId xmlns:a16="http://schemas.microsoft.com/office/drawing/2014/main" id="{12B120D0-D017-8C07-5E62-A05CA508B3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18a705859e_0_6:notes">
            <a:extLst>
              <a:ext uri="{FF2B5EF4-FFF2-40B4-BE49-F238E27FC236}">
                <a16:creationId xmlns:a16="http://schemas.microsoft.com/office/drawing/2014/main" id="{038D9083-C3BD-7F6C-930A-311DBB19F4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Luke in progress ***</a:t>
            </a:r>
            <a:endParaRPr dirty="0"/>
          </a:p>
        </p:txBody>
      </p:sp>
    </p:spTree>
    <p:extLst>
      <p:ext uri="{BB962C8B-B14F-4D97-AF65-F5344CB8AC3E}">
        <p14:creationId xmlns:p14="http://schemas.microsoft.com/office/powerpoint/2010/main" val="22864096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385B7724-CD62-5561-E1FD-FF91129BC085}"/>
            </a:ext>
          </a:extLst>
        </p:cNvPr>
        <p:cNvGrpSpPr/>
        <p:nvPr/>
      </p:nvGrpSpPr>
      <p:grpSpPr>
        <a:xfrm>
          <a:off x="0" y="0"/>
          <a:ext cx="0" cy="0"/>
          <a:chOff x="0" y="0"/>
          <a:chExt cx="0" cy="0"/>
        </a:xfrm>
      </p:grpSpPr>
      <p:sp>
        <p:nvSpPr>
          <p:cNvPr id="130" name="Google Shape;130;g118a705859e_0_6:notes">
            <a:extLst>
              <a:ext uri="{FF2B5EF4-FFF2-40B4-BE49-F238E27FC236}">
                <a16:creationId xmlns:a16="http://schemas.microsoft.com/office/drawing/2014/main" id="{030F32D5-2DEB-0DDF-568B-7339CFC640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18a705859e_0_6:notes">
            <a:extLst>
              <a:ext uri="{FF2B5EF4-FFF2-40B4-BE49-F238E27FC236}">
                <a16:creationId xmlns:a16="http://schemas.microsoft.com/office/drawing/2014/main" id="{5CC14911-B408-01AF-7969-6D1F8567EA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Luke in progress ***</a:t>
            </a:r>
            <a:endParaRPr dirty="0"/>
          </a:p>
        </p:txBody>
      </p:sp>
    </p:spTree>
    <p:extLst>
      <p:ext uri="{BB962C8B-B14F-4D97-AF65-F5344CB8AC3E}">
        <p14:creationId xmlns:p14="http://schemas.microsoft.com/office/powerpoint/2010/main" val="34019956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906800B5-0312-1315-1F4C-95F15AFC5F78}"/>
            </a:ext>
          </a:extLst>
        </p:cNvPr>
        <p:cNvGrpSpPr/>
        <p:nvPr/>
      </p:nvGrpSpPr>
      <p:grpSpPr>
        <a:xfrm>
          <a:off x="0" y="0"/>
          <a:ext cx="0" cy="0"/>
          <a:chOff x="0" y="0"/>
          <a:chExt cx="0" cy="0"/>
        </a:xfrm>
      </p:grpSpPr>
      <p:sp>
        <p:nvSpPr>
          <p:cNvPr id="130" name="Google Shape;130;g118a705859e_0_6:notes">
            <a:extLst>
              <a:ext uri="{FF2B5EF4-FFF2-40B4-BE49-F238E27FC236}">
                <a16:creationId xmlns:a16="http://schemas.microsoft.com/office/drawing/2014/main" id="{AF2A4BFA-E5ED-0FC3-BB7D-782B0BB93E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18a705859e_0_6:notes">
            <a:extLst>
              <a:ext uri="{FF2B5EF4-FFF2-40B4-BE49-F238E27FC236}">
                <a16:creationId xmlns:a16="http://schemas.microsoft.com/office/drawing/2014/main" id="{A073F149-C3B2-4E20-9D2A-E580B808CA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Luke in progress ***</a:t>
            </a:r>
            <a:endParaRPr dirty="0"/>
          </a:p>
        </p:txBody>
      </p:sp>
    </p:spTree>
    <p:extLst>
      <p:ext uri="{BB962C8B-B14F-4D97-AF65-F5344CB8AC3E}">
        <p14:creationId xmlns:p14="http://schemas.microsoft.com/office/powerpoint/2010/main" val="159549315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C595A2E9-2E98-3B8F-B57D-9BCD02D20BBA}"/>
            </a:ext>
          </a:extLst>
        </p:cNvPr>
        <p:cNvGrpSpPr/>
        <p:nvPr/>
      </p:nvGrpSpPr>
      <p:grpSpPr>
        <a:xfrm>
          <a:off x="0" y="0"/>
          <a:ext cx="0" cy="0"/>
          <a:chOff x="0" y="0"/>
          <a:chExt cx="0" cy="0"/>
        </a:xfrm>
      </p:grpSpPr>
      <p:sp>
        <p:nvSpPr>
          <p:cNvPr id="95" name="Google Shape;95;g10ee5137a53_0_234:notes">
            <a:extLst>
              <a:ext uri="{FF2B5EF4-FFF2-40B4-BE49-F238E27FC236}">
                <a16:creationId xmlns:a16="http://schemas.microsoft.com/office/drawing/2014/main" id="{BC480ADA-7D5E-9BD6-FE92-C11DA5FC2E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0ee5137a53_0_234:notes">
            <a:extLst>
              <a:ext uri="{FF2B5EF4-FFF2-40B4-BE49-F238E27FC236}">
                <a16:creationId xmlns:a16="http://schemas.microsoft.com/office/drawing/2014/main" id="{9864E50D-FE31-029B-5BD5-D78A0D0B18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marR="0" lvl="0" indent="-323850" algn="l" defTabSz="914400" rtl="0" eaLnBrk="1" fontAlgn="auto" latinLnBrk="0" hangingPunct="1">
              <a:lnSpc>
                <a:spcPct val="100000"/>
              </a:lnSpc>
              <a:spcBef>
                <a:spcPts val="0"/>
              </a:spcBef>
              <a:spcAft>
                <a:spcPts val="0"/>
              </a:spcAft>
              <a:buClr>
                <a:srgbClr val="000000"/>
              </a:buClr>
              <a:buSzPts val="1500"/>
              <a:buFont typeface="Arial"/>
              <a:buChar char="●"/>
              <a:tabLst/>
              <a:defRPr/>
            </a:pPr>
            <a:r>
              <a:rPr lang="en-US" sz="1500" b="0" dirty="0"/>
              <a:t>Individual rationality – will make more sense when we talk about housing</a:t>
            </a:r>
          </a:p>
          <a:p>
            <a:pPr marL="457200" marR="0" lvl="0" indent="-323850" algn="l" defTabSz="914400" rtl="0" eaLnBrk="1" fontAlgn="auto" latinLnBrk="0" hangingPunct="1">
              <a:lnSpc>
                <a:spcPct val="100000"/>
              </a:lnSpc>
              <a:spcBef>
                <a:spcPts val="0"/>
              </a:spcBef>
              <a:spcAft>
                <a:spcPts val="0"/>
              </a:spcAft>
              <a:buClr>
                <a:srgbClr val="000000"/>
              </a:buClr>
              <a:buSzPts val="1500"/>
              <a:buFont typeface="Arial"/>
              <a:buChar char="●"/>
              <a:tabLst/>
              <a:defRPr/>
            </a:pPr>
            <a:r>
              <a:rPr lang="en-US" sz="1500" b="0" dirty="0"/>
              <a:t>In the context of jobs though, if you knew which job most desired you, you could just “point” to that job, and you would be guaranteed to get it</a:t>
            </a:r>
            <a:endParaRPr b="0" dirty="0"/>
          </a:p>
        </p:txBody>
      </p:sp>
    </p:spTree>
    <p:extLst>
      <p:ext uri="{BB962C8B-B14F-4D97-AF65-F5344CB8AC3E}">
        <p14:creationId xmlns:p14="http://schemas.microsoft.com/office/powerpoint/2010/main" val="126021631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B392BDCB-B6BD-3AFB-5F3F-501A82BEE0C6}"/>
            </a:ext>
          </a:extLst>
        </p:cNvPr>
        <p:cNvGrpSpPr/>
        <p:nvPr/>
      </p:nvGrpSpPr>
      <p:grpSpPr>
        <a:xfrm>
          <a:off x="0" y="0"/>
          <a:ext cx="0" cy="0"/>
          <a:chOff x="0" y="0"/>
          <a:chExt cx="0" cy="0"/>
        </a:xfrm>
      </p:grpSpPr>
      <p:sp>
        <p:nvSpPr>
          <p:cNvPr id="142" name="Google Shape;142;g10ee5137a53_0_256:notes">
            <a:extLst>
              <a:ext uri="{FF2B5EF4-FFF2-40B4-BE49-F238E27FC236}">
                <a16:creationId xmlns:a16="http://schemas.microsoft.com/office/drawing/2014/main" id="{38021961-0893-31C5-66F8-55ED975A30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0ee5137a53_0_256:notes">
            <a:extLst>
              <a:ext uri="{FF2B5EF4-FFF2-40B4-BE49-F238E27FC236}">
                <a16:creationId xmlns:a16="http://schemas.microsoft.com/office/drawing/2014/main" id="{F4C3E1B9-A8FB-9933-ACA6-71353F0B5F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300" dirty="0">
                <a:solidFill>
                  <a:srgbClr val="595959"/>
                </a:solidFill>
                <a:latin typeface="Lato"/>
                <a:ea typeface="Lato"/>
                <a:cs typeface="Lato"/>
                <a:sym typeface="Lato"/>
              </a:rPr>
              <a:t>NOTES: </a:t>
            </a:r>
            <a:endParaRPr sz="1300" dirty="0">
              <a:solidFill>
                <a:srgbClr val="595959"/>
              </a:solidFill>
              <a:latin typeface="Lato"/>
              <a:ea typeface="Lato"/>
              <a:cs typeface="Lato"/>
              <a:sym typeface="Lato"/>
            </a:endParaRPr>
          </a:p>
          <a:p>
            <a:pPr marL="457200" lvl="0" indent="-311150" algn="l" rtl="0">
              <a:lnSpc>
                <a:spcPct val="115000"/>
              </a:lnSpc>
              <a:spcBef>
                <a:spcPts val="0"/>
              </a:spcBef>
              <a:spcAft>
                <a:spcPts val="0"/>
              </a:spcAft>
              <a:buClr>
                <a:srgbClr val="595959"/>
              </a:buClr>
              <a:buSzPts val="1300"/>
              <a:buFont typeface="Lato"/>
              <a:buChar char="●"/>
            </a:pPr>
            <a:r>
              <a:rPr lang="en" sz="1300" dirty="0">
                <a:solidFill>
                  <a:srgbClr val="595959"/>
                </a:solidFill>
                <a:latin typeface="Lato"/>
                <a:ea typeface="Lato"/>
                <a:cs typeface="Lato"/>
                <a:sym typeface="Lato"/>
              </a:rPr>
              <a:t>Multiple stable-matchings are actually possible. DA does not produce a unique stable match, just a single stable match.</a:t>
            </a:r>
            <a:endParaRPr sz="1300" dirty="0">
              <a:solidFill>
                <a:srgbClr val="595959"/>
              </a:solidFill>
              <a:latin typeface="Lato"/>
              <a:ea typeface="Lato"/>
              <a:cs typeface="Lato"/>
              <a:sym typeface="Lato"/>
            </a:endParaRPr>
          </a:p>
          <a:p>
            <a:pPr marL="457200" lvl="0" indent="-311150" algn="l" rtl="0">
              <a:lnSpc>
                <a:spcPct val="115000"/>
              </a:lnSpc>
              <a:spcBef>
                <a:spcPts val="0"/>
              </a:spcBef>
              <a:spcAft>
                <a:spcPts val="0"/>
              </a:spcAft>
              <a:buClr>
                <a:srgbClr val="595959"/>
              </a:buClr>
              <a:buSzPts val="1300"/>
              <a:buFont typeface="Lato"/>
              <a:buChar char="●"/>
            </a:pPr>
            <a:r>
              <a:rPr lang="en" sz="1300" dirty="0">
                <a:solidFill>
                  <a:srgbClr val="595959"/>
                </a:solidFill>
                <a:latin typeface="Lato"/>
                <a:ea typeface="Lato"/>
                <a:cs typeface="Lato"/>
                <a:sym typeface="Lato"/>
              </a:rPr>
              <a:t>The officer-proposing DA algorithm results in a billet-pessimal stable matching, i.e., billets gets their least favorite officer in any stable-matching (therefore, billets could theoretically improve by misreporting their true preferences. We don’t have to worry about this though, since we’re simulating billet preferences over officers with the priority score!).</a:t>
            </a:r>
            <a:endParaRPr dirty="0"/>
          </a:p>
        </p:txBody>
      </p:sp>
    </p:spTree>
    <p:extLst>
      <p:ext uri="{BB962C8B-B14F-4D97-AF65-F5344CB8AC3E}">
        <p14:creationId xmlns:p14="http://schemas.microsoft.com/office/powerpoint/2010/main" val="345403397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9E7F0747-CCB2-6E59-A578-9005E67FFC8D}"/>
            </a:ext>
          </a:extLst>
        </p:cNvPr>
        <p:cNvGrpSpPr/>
        <p:nvPr/>
      </p:nvGrpSpPr>
      <p:grpSpPr>
        <a:xfrm>
          <a:off x="0" y="0"/>
          <a:ext cx="0" cy="0"/>
          <a:chOff x="0" y="0"/>
          <a:chExt cx="0" cy="0"/>
        </a:xfrm>
      </p:grpSpPr>
      <p:sp>
        <p:nvSpPr>
          <p:cNvPr id="136" name="Google Shape;136;g10ee5137a53_0_249:notes">
            <a:extLst>
              <a:ext uri="{FF2B5EF4-FFF2-40B4-BE49-F238E27FC236}">
                <a16:creationId xmlns:a16="http://schemas.microsoft.com/office/drawing/2014/main" id="{B9053123-2FB6-EBC4-7917-56E51D80EE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10ee5137a53_0_249:notes">
            <a:extLst>
              <a:ext uri="{FF2B5EF4-FFF2-40B4-BE49-F238E27FC236}">
                <a16:creationId xmlns:a16="http://schemas.microsoft.com/office/drawing/2014/main" id="{77C63D91-9D8D-95F2-45A2-F64EB15EB9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260627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0EC6FD59-402E-A539-8270-84A080DA0043}"/>
            </a:ext>
          </a:extLst>
        </p:cNvPr>
        <p:cNvGrpSpPr/>
        <p:nvPr/>
      </p:nvGrpSpPr>
      <p:grpSpPr>
        <a:xfrm>
          <a:off x="0" y="0"/>
          <a:ext cx="0" cy="0"/>
          <a:chOff x="0" y="0"/>
          <a:chExt cx="0" cy="0"/>
        </a:xfrm>
      </p:grpSpPr>
      <p:sp>
        <p:nvSpPr>
          <p:cNvPr id="95" name="Google Shape;95;g10ee5137a53_0_234:notes">
            <a:extLst>
              <a:ext uri="{FF2B5EF4-FFF2-40B4-BE49-F238E27FC236}">
                <a16:creationId xmlns:a16="http://schemas.microsoft.com/office/drawing/2014/main" id="{A8A85411-4C85-484E-E262-98F9AE28DA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0ee5137a53_0_234:notes">
            <a:extLst>
              <a:ext uri="{FF2B5EF4-FFF2-40B4-BE49-F238E27FC236}">
                <a16:creationId xmlns:a16="http://schemas.microsoft.com/office/drawing/2014/main" id="{DBC25C40-DDFD-505B-CB6C-87D1C6A6F6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marR="0" lvl="0" indent="-323850" algn="l" defTabSz="914400" rtl="0" eaLnBrk="1" fontAlgn="auto" latinLnBrk="0" hangingPunct="1">
              <a:lnSpc>
                <a:spcPct val="100000"/>
              </a:lnSpc>
              <a:spcBef>
                <a:spcPts val="0"/>
              </a:spcBef>
              <a:spcAft>
                <a:spcPts val="0"/>
              </a:spcAft>
              <a:buClr>
                <a:srgbClr val="000000"/>
              </a:buClr>
              <a:buSzPts val="1500"/>
              <a:buFont typeface="Arial"/>
              <a:buChar char="●"/>
              <a:tabLst/>
              <a:defRPr/>
            </a:pPr>
            <a:r>
              <a:rPr lang="en-US" sz="1500" b="1" dirty="0"/>
              <a:t>Market Design</a:t>
            </a:r>
            <a:r>
              <a:rPr lang="en-US" sz="1500" dirty="0"/>
              <a:t>: how do we set up a strategic environment so that if “players” follow a certain type of behavior, we get a desired outcome?</a:t>
            </a:r>
          </a:p>
          <a:p>
            <a:pPr marL="457200" lvl="0" indent="-323850" algn="l" rtl="0">
              <a:spcBef>
                <a:spcPts val="0"/>
              </a:spcBef>
              <a:spcAft>
                <a:spcPts val="0"/>
              </a:spcAft>
              <a:buSzPts val="1500"/>
              <a:buChar char="●"/>
            </a:pPr>
            <a:r>
              <a:rPr lang="en-US" sz="1500" dirty="0"/>
              <a:t>In market design, when all of the data is available, the problem simply reduces to an optimization problem that can be solved with well known techniques / procedures</a:t>
            </a:r>
          </a:p>
          <a:p>
            <a:pPr marL="914400" lvl="1" indent="-323850" algn="l" rtl="0">
              <a:spcBef>
                <a:spcPts val="0"/>
              </a:spcBef>
              <a:spcAft>
                <a:spcPts val="0"/>
              </a:spcAft>
              <a:buSzPts val="1500"/>
              <a:buChar char="○"/>
            </a:pPr>
            <a:r>
              <a:rPr lang="en-US" sz="1500" dirty="0"/>
              <a:t>Integer programming, linear programming, dynamic programming</a:t>
            </a:r>
            <a:endParaRPr lang="en-US" sz="1300" dirty="0"/>
          </a:p>
          <a:p>
            <a:pPr marL="457200" lvl="0" indent="-323850" algn="l" rtl="0">
              <a:spcBef>
                <a:spcPts val="0"/>
              </a:spcBef>
              <a:spcAft>
                <a:spcPts val="0"/>
              </a:spcAft>
              <a:buSzPts val="1500"/>
              <a:buChar char="●"/>
            </a:pPr>
            <a:r>
              <a:rPr lang="en-US" sz="1100" dirty="0"/>
              <a:t>The problem is that the real world is more fuzzy. Information is privately held, and we must utilize various incentive mechanisms to reveal information (like true billet rankings)</a:t>
            </a:r>
          </a:p>
          <a:p>
            <a:pPr marL="457200" lvl="0" indent="-323850" algn="l" rtl="0">
              <a:spcBef>
                <a:spcPts val="0"/>
              </a:spcBef>
              <a:spcAft>
                <a:spcPts val="0"/>
              </a:spcAft>
              <a:buSzPts val="1500"/>
              <a:buChar char="●"/>
            </a:pPr>
            <a:r>
              <a:rPr lang="en-US" sz="1100" dirty="0"/>
              <a:t>We need a </a:t>
            </a:r>
            <a:r>
              <a:rPr lang="en-US" sz="1100" b="1" dirty="0">
                <a:solidFill>
                  <a:schemeClr val="dk2"/>
                </a:solidFill>
              </a:rPr>
              <a:t>matching mechanism</a:t>
            </a:r>
            <a:r>
              <a:rPr lang="en-US" sz="1100" dirty="0"/>
              <a:t>: a mechanism that maps reported preferences into an assignment/matching.</a:t>
            </a:r>
          </a:p>
          <a:p>
            <a:pPr marL="457200" lvl="0" indent="-323850" algn="l" rtl="0">
              <a:spcBef>
                <a:spcPts val="0"/>
              </a:spcBef>
              <a:spcAft>
                <a:spcPts val="0"/>
              </a:spcAft>
              <a:buSzPts val="1500"/>
              <a:buChar char="●"/>
            </a:pPr>
            <a:r>
              <a:rPr lang="en-US" sz="1100" dirty="0"/>
              <a:t>So, let’s design a marketplace to assign officers to billets!</a:t>
            </a:r>
          </a:p>
          <a:p>
            <a:pPr marL="457200" lvl="0" indent="-323850" algn="l" rtl="0">
              <a:spcBef>
                <a:spcPts val="0"/>
              </a:spcBef>
              <a:spcAft>
                <a:spcPts val="0"/>
              </a:spcAft>
              <a:buSzPts val="1500"/>
              <a:buChar char="●"/>
            </a:pPr>
            <a:r>
              <a:rPr lang="en-US" sz="1100" dirty="0"/>
              <a:t>Goals? Efficiency, simplicity, fairness, and transparency</a:t>
            </a:r>
          </a:p>
          <a:p>
            <a:pPr marL="457200" lvl="0" indent="-323850" algn="l" rtl="0">
              <a:spcBef>
                <a:spcPts val="0"/>
              </a:spcBef>
              <a:spcAft>
                <a:spcPts val="0"/>
              </a:spcAft>
              <a:buSzPts val="1500"/>
              <a:buChar char="●"/>
            </a:pPr>
            <a:r>
              <a:rPr lang="en-US" sz="1100" dirty="0"/>
              <a:t>Two-sided matching problem!</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08794937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0B1C06A7-5304-E505-C500-C9F1EA349501}"/>
            </a:ext>
          </a:extLst>
        </p:cNvPr>
        <p:cNvGrpSpPr/>
        <p:nvPr/>
      </p:nvGrpSpPr>
      <p:grpSpPr>
        <a:xfrm>
          <a:off x="0" y="0"/>
          <a:ext cx="0" cy="0"/>
          <a:chOff x="0" y="0"/>
          <a:chExt cx="0" cy="0"/>
        </a:xfrm>
      </p:grpSpPr>
      <p:sp>
        <p:nvSpPr>
          <p:cNvPr id="130" name="Google Shape;130;g118a705859e_0_6:notes">
            <a:extLst>
              <a:ext uri="{FF2B5EF4-FFF2-40B4-BE49-F238E27FC236}">
                <a16:creationId xmlns:a16="http://schemas.microsoft.com/office/drawing/2014/main" id="{837178E0-5004-5659-A92E-770EA004DC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18a705859e_0_6:notes">
            <a:extLst>
              <a:ext uri="{FF2B5EF4-FFF2-40B4-BE49-F238E27FC236}">
                <a16:creationId xmlns:a16="http://schemas.microsoft.com/office/drawing/2014/main" id="{98EF0DBB-444D-0432-D5CA-42A3932A13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Final TTC match. Let’s reformat</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23079952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B7A32BEE-D0B5-6BB5-5886-7290CB9A6DE6}"/>
            </a:ext>
          </a:extLst>
        </p:cNvPr>
        <p:cNvGrpSpPr/>
        <p:nvPr/>
      </p:nvGrpSpPr>
      <p:grpSpPr>
        <a:xfrm>
          <a:off x="0" y="0"/>
          <a:ext cx="0" cy="0"/>
          <a:chOff x="0" y="0"/>
          <a:chExt cx="0" cy="0"/>
        </a:xfrm>
      </p:grpSpPr>
      <p:sp>
        <p:nvSpPr>
          <p:cNvPr id="130" name="Google Shape;130;g118a705859e_0_6:notes">
            <a:extLst>
              <a:ext uri="{FF2B5EF4-FFF2-40B4-BE49-F238E27FC236}">
                <a16:creationId xmlns:a16="http://schemas.microsoft.com/office/drawing/2014/main" id="{0BF9DA92-3B88-68CB-65A9-BEF469B231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18a705859e_0_6:notes">
            <a:extLst>
              <a:ext uri="{FF2B5EF4-FFF2-40B4-BE49-F238E27FC236}">
                <a16:creationId xmlns:a16="http://schemas.microsoft.com/office/drawing/2014/main" id="{B912D3C6-F738-4588-1E40-487442FF9E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Luke in progress ***</a:t>
            </a:r>
            <a:endParaRPr dirty="0"/>
          </a:p>
        </p:txBody>
      </p:sp>
    </p:spTree>
    <p:extLst>
      <p:ext uri="{BB962C8B-B14F-4D97-AF65-F5344CB8AC3E}">
        <p14:creationId xmlns:p14="http://schemas.microsoft.com/office/powerpoint/2010/main" val="222012478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EDB08A4A-B54A-3E17-BE6A-E3F1CC2F19CF}"/>
            </a:ext>
          </a:extLst>
        </p:cNvPr>
        <p:cNvGrpSpPr/>
        <p:nvPr/>
      </p:nvGrpSpPr>
      <p:grpSpPr>
        <a:xfrm>
          <a:off x="0" y="0"/>
          <a:ext cx="0" cy="0"/>
          <a:chOff x="0" y="0"/>
          <a:chExt cx="0" cy="0"/>
        </a:xfrm>
      </p:grpSpPr>
      <p:sp>
        <p:nvSpPr>
          <p:cNvPr id="130" name="Google Shape;130;g118a705859e_0_6:notes">
            <a:extLst>
              <a:ext uri="{FF2B5EF4-FFF2-40B4-BE49-F238E27FC236}">
                <a16:creationId xmlns:a16="http://schemas.microsoft.com/office/drawing/2014/main" id="{1F812A73-9162-05C5-EE41-C35DFFCB8B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18a705859e_0_6:notes">
            <a:extLst>
              <a:ext uri="{FF2B5EF4-FFF2-40B4-BE49-F238E27FC236}">
                <a16:creationId xmlns:a16="http://schemas.microsoft.com/office/drawing/2014/main" id="{F1ACB77F-B29E-5474-1AFD-1600E105E3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Luke in progress ***</a:t>
            </a:r>
            <a:endParaRPr dirty="0"/>
          </a:p>
        </p:txBody>
      </p:sp>
    </p:spTree>
    <p:extLst>
      <p:ext uri="{BB962C8B-B14F-4D97-AF65-F5344CB8AC3E}">
        <p14:creationId xmlns:p14="http://schemas.microsoft.com/office/powerpoint/2010/main" val="244896524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0ee5137a5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10ee5137a5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1150" algn="l" rtl="0">
              <a:lnSpc>
                <a:spcPct val="150000"/>
              </a:lnSpc>
              <a:spcBef>
                <a:spcPts val="0"/>
              </a:spcBef>
              <a:spcAft>
                <a:spcPts val="0"/>
              </a:spcAft>
              <a:buSzPts val="1300"/>
              <a:buChar char="●"/>
            </a:pPr>
            <a:r>
              <a:rPr lang="en-US" sz="1100" dirty="0"/>
              <a:t>Previous slide, we found matching </a:t>
            </a:r>
            <a:r>
              <a:rPr lang="en-US" sz="1100" i="1" dirty="0"/>
              <a:t>M</a:t>
            </a:r>
            <a:r>
              <a:rPr lang="en-US" sz="1100" dirty="0"/>
              <a:t>= (e1, j1), (e2, j3), (e3, j2) </a:t>
            </a:r>
          </a:p>
          <a:p>
            <a:pPr marL="457200" lvl="0" indent="-311150" algn="l" rtl="0">
              <a:lnSpc>
                <a:spcPct val="150000"/>
              </a:lnSpc>
              <a:spcBef>
                <a:spcPts val="0"/>
              </a:spcBef>
              <a:spcAft>
                <a:spcPts val="0"/>
              </a:spcAft>
              <a:buSzPts val="1300"/>
              <a:buChar char="●"/>
            </a:pPr>
            <a:r>
              <a:rPr lang="en-US" sz="1100" dirty="0"/>
              <a:t>e1 and e3 receive their second choice while e2 receives their last choice</a:t>
            </a:r>
          </a:p>
          <a:p>
            <a:pPr marL="457200" lvl="0" indent="-311150" algn="l" rtl="0">
              <a:lnSpc>
                <a:spcPct val="150000"/>
              </a:lnSpc>
              <a:spcBef>
                <a:spcPts val="0"/>
              </a:spcBef>
              <a:spcAft>
                <a:spcPts val="0"/>
              </a:spcAft>
              <a:buSzPts val="1300"/>
              <a:buChar char="●"/>
            </a:pPr>
            <a:r>
              <a:rPr lang="en-US" sz="1100" dirty="0"/>
              <a:t>Suppose we have the (unstable) matching </a:t>
            </a:r>
            <a:r>
              <a:rPr lang="en-US" sz="1100" i="1" dirty="0"/>
              <a:t>M</a:t>
            </a:r>
            <a:r>
              <a:rPr lang="en-US" sz="1100" dirty="0"/>
              <a:t>′= (e1, j2), (e2, j3), (e3, j1) </a:t>
            </a:r>
          </a:p>
          <a:p>
            <a:pPr marL="457200" lvl="0" indent="-311150" algn="l" rtl="0">
              <a:lnSpc>
                <a:spcPct val="150000"/>
              </a:lnSpc>
              <a:spcBef>
                <a:spcPts val="0"/>
              </a:spcBef>
              <a:spcAft>
                <a:spcPts val="0"/>
              </a:spcAft>
              <a:buSzPts val="1300"/>
              <a:buChar char="●"/>
            </a:pPr>
            <a:r>
              <a:rPr lang="en-US" sz="1100" dirty="0"/>
              <a:t>e1 and e3 now each receive their first choice so they are strictly better off than the employee-optimal stable matching M and e2 is not worse off. Note that M′ is unstable because (e2, j1) forms a blocking pair. </a:t>
            </a:r>
            <a:endParaRPr lang="en-US" sz="1200" b="1"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75602009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0ee5137a53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0ee5137a5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317500" lvl="0" indent="-171450" algn="l" rtl="0">
              <a:lnSpc>
                <a:spcPct val="115000"/>
              </a:lnSpc>
              <a:spcBef>
                <a:spcPts val="0"/>
              </a:spcBef>
              <a:spcAft>
                <a:spcPts val="0"/>
              </a:spcAft>
              <a:buClr>
                <a:srgbClr val="595959"/>
              </a:buClr>
              <a:buSzPts val="1300"/>
            </a:pPr>
            <a:r>
              <a:rPr lang="en-US" dirty="0"/>
              <a:t>NRMP has been using a version of the algorithm since the 1950s, even though the “Deferred Acceptance” Algorithm wasn’t officially published by</a:t>
            </a:r>
            <a:r>
              <a:rPr lang="en-US" b="0" i="0" dirty="0">
                <a:solidFill>
                  <a:srgbClr val="202122"/>
                </a:solidFill>
                <a:effectLst/>
                <a:highlight>
                  <a:srgbClr val="FFFFFF"/>
                </a:highlight>
                <a:latin typeface="Arial" panose="020B0604020202020204" pitchFamily="34" charset="0"/>
              </a:rPr>
              <a:t> David Gale &amp; Lloyd Shapley until 1962.</a:t>
            </a:r>
          </a:p>
          <a:p>
            <a:pPr marL="317500" lvl="0" indent="-171450" algn="l" rtl="0">
              <a:lnSpc>
                <a:spcPct val="115000"/>
              </a:lnSpc>
              <a:spcBef>
                <a:spcPts val="0"/>
              </a:spcBef>
              <a:spcAft>
                <a:spcPts val="0"/>
              </a:spcAft>
              <a:buClr>
                <a:srgbClr val="595959"/>
              </a:buClr>
              <a:buSzPts val="1300"/>
            </a:pPr>
            <a:r>
              <a:rPr lang="en-US" b="1" i="0" dirty="0">
                <a:solidFill>
                  <a:srgbClr val="202122"/>
                </a:solidFill>
                <a:effectLst/>
                <a:latin typeface="Arial" panose="020B0604020202020204" pitchFamily="34" charset="0"/>
              </a:rPr>
              <a:t>no-justified-envy matching</a:t>
            </a:r>
            <a:r>
              <a:rPr lang="en-US" b="0" i="0" dirty="0">
                <a:solidFill>
                  <a:srgbClr val="202122"/>
                </a:solidFill>
                <a:effectLst/>
                <a:latin typeface="Arial" panose="020B0604020202020204" pitchFamily="34" charset="0"/>
              </a:rPr>
              <a:t> is a matching in a </a:t>
            </a:r>
            <a:r>
              <a:rPr lang="en-US" b="0" i="0" u="none" strike="noStrike" dirty="0">
                <a:effectLst/>
                <a:latin typeface="Arial" panose="020B0604020202020204" pitchFamily="34" charset="0"/>
                <a:hlinkClick r:id="rId3" tooltip="Two-sided market"/>
              </a:rPr>
              <a:t>two-sided market</a:t>
            </a:r>
            <a:r>
              <a:rPr lang="en-US" b="0" i="0" dirty="0">
                <a:solidFill>
                  <a:srgbClr val="202122"/>
                </a:solidFill>
                <a:effectLst/>
                <a:latin typeface="Arial" panose="020B0604020202020204" pitchFamily="34" charset="0"/>
              </a:rPr>
              <a:t>, in which no agent prefers the assignment of another agent and is simultaneously preferred by that assignment</a:t>
            </a:r>
            <a:endParaRPr dirty="0"/>
          </a:p>
        </p:txBody>
      </p:sp>
    </p:spTree>
    <p:extLst>
      <p:ext uri="{BB962C8B-B14F-4D97-AF65-F5344CB8AC3E}">
        <p14:creationId xmlns:p14="http://schemas.microsoft.com/office/powerpoint/2010/main" val="349402976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F9B2C68E-5967-4CC4-10C8-AB1D017072B9}"/>
            </a:ext>
          </a:extLst>
        </p:cNvPr>
        <p:cNvGrpSpPr/>
        <p:nvPr/>
      </p:nvGrpSpPr>
      <p:grpSpPr>
        <a:xfrm>
          <a:off x="0" y="0"/>
          <a:ext cx="0" cy="0"/>
          <a:chOff x="0" y="0"/>
          <a:chExt cx="0" cy="0"/>
        </a:xfrm>
      </p:grpSpPr>
      <p:sp>
        <p:nvSpPr>
          <p:cNvPr id="154" name="Google Shape;154;g10ee5137a53_0_10:notes">
            <a:extLst>
              <a:ext uri="{FF2B5EF4-FFF2-40B4-BE49-F238E27FC236}">
                <a16:creationId xmlns:a16="http://schemas.microsoft.com/office/drawing/2014/main" id="{9139F0AE-2046-04A2-CFE4-09A112FBC6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0ee5137a53_0_10:notes">
            <a:extLst>
              <a:ext uri="{FF2B5EF4-FFF2-40B4-BE49-F238E27FC236}">
                <a16:creationId xmlns:a16="http://schemas.microsoft.com/office/drawing/2014/main" id="{51C5CC70-F5BA-7694-9E29-D0DCE5FE5A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marR="0" lvl="0" indent="-323850" algn="l" defTabSz="914400" rtl="0" eaLnBrk="1" fontAlgn="auto" latinLnBrk="0" hangingPunct="1">
              <a:lnSpc>
                <a:spcPct val="100000"/>
              </a:lnSpc>
              <a:spcBef>
                <a:spcPts val="0"/>
              </a:spcBef>
              <a:spcAft>
                <a:spcPts val="0"/>
              </a:spcAft>
              <a:buClr>
                <a:srgbClr val="000000"/>
              </a:buClr>
              <a:buSzPts val="1500"/>
              <a:buFont typeface="Arial"/>
              <a:buChar char="●"/>
              <a:tabLst/>
              <a:defRPr/>
            </a:pPr>
            <a:r>
              <a:rPr lang="en-US" sz="1500" b="1" dirty="0"/>
              <a:t>Helpful to think of three distinct groups or “markets”</a:t>
            </a:r>
            <a:endParaRPr lang="en-US" dirty="0"/>
          </a:p>
        </p:txBody>
      </p:sp>
    </p:spTree>
    <p:extLst>
      <p:ext uri="{BB962C8B-B14F-4D97-AF65-F5344CB8AC3E}">
        <p14:creationId xmlns:p14="http://schemas.microsoft.com/office/powerpoint/2010/main" val="1092116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0ee5137a53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0ee5137a5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46050" lvl="0" indent="0" algn="l" rtl="0">
              <a:lnSpc>
                <a:spcPct val="115000"/>
              </a:lnSpc>
              <a:spcBef>
                <a:spcPts val="0"/>
              </a:spcBef>
              <a:spcAft>
                <a:spcPts val="0"/>
              </a:spcAft>
              <a:buClr>
                <a:srgbClr val="595959"/>
              </a:buClr>
              <a:buSzPts val="1300"/>
              <a:buFont typeface="Lato"/>
              <a:buNone/>
            </a:pPr>
            <a:endParaRPr dirty="0"/>
          </a:p>
        </p:txBody>
      </p:sp>
    </p:spTree>
    <p:extLst>
      <p:ext uri="{BB962C8B-B14F-4D97-AF65-F5344CB8AC3E}">
        <p14:creationId xmlns:p14="http://schemas.microsoft.com/office/powerpoint/2010/main" val="363005497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0ee5137a5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10ee5137a5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1150" algn="l" rtl="0">
              <a:lnSpc>
                <a:spcPct val="150000"/>
              </a:lnSpc>
              <a:spcBef>
                <a:spcPts val="0"/>
              </a:spcBef>
              <a:spcAft>
                <a:spcPts val="0"/>
              </a:spcAft>
              <a:buSzPts val="1300"/>
              <a:buChar char="●"/>
            </a:pPr>
            <a:r>
              <a:rPr lang="en-US" sz="1100" u="sng" dirty="0"/>
              <a:t>Employee data:</a:t>
            </a:r>
            <a:r>
              <a:rPr lang="en-US" sz="1100" dirty="0"/>
              <a:t> rank, paygrade, etc. for each officer</a:t>
            </a:r>
          </a:p>
          <a:p>
            <a:pPr marL="457200" lvl="0" indent="-311150" algn="l" rtl="0">
              <a:lnSpc>
                <a:spcPct val="150000"/>
              </a:lnSpc>
              <a:spcBef>
                <a:spcPts val="0"/>
              </a:spcBef>
              <a:spcAft>
                <a:spcPts val="0"/>
              </a:spcAft>
              <a:buSzPts val="1300"/>
              <a:buChar char="●"/>
            </a:pPr>
            <a:r>
              <a:rPr lang="en-US" sz="1100" u="sng" dirty="0"/>
              <a:t>Roles data:</a:t>
            </a:r>
            <a:r>
              <a:rPr lang="en-US" sz="1100" dirty="0"/>
              <a:t> what competencies does each billet require (along with importance values)</a:t>
            </a:r>
          </a:p>
          <a:p>
            <a:pPr marL="457200" lvl="0" indent="-311150" algn="l" rtl="0">
              <a:lnSpc>
                <a:spcPct val="150000"/>
              </a:lnSpc>
              <a:spcBef>
                <a:spcPts val="0"/>
              </a:spcBef>
              <a:spcAft>
                <a:spcPts val="0"/>
              </a:spcAft>
              <a:buSzPts val="1300"/>
              <a:buChar char="●"/>
            </a:pPr>
            <a:r>
              <a:rPr lang="en-US" sz="1100" u="sng" dirty="0"/>
              <a:t>Achievements data:</a:t>
            </a:r>
            <a:r>
              <a:rPr lang="en-US" sz="1100" dirty="0"/>
              <a:t> what qualifications does each officer have</a:t>
            </a:r>
          </a:p>
          <a:p>
            <a:pPr>
              <a:lnSpc>
                <a:spcPct val="150000"/>
              </a:lnSpc>
            </a:pPr>
            <a:r>
              <a:rPr lang="en-US" sz="1100" u="sng" dirty="0"/>
              <a:t>Billets data:</a:t>
            </a:r>
            <a:r>
              <a:rPr lang="en-US" sz="1100" dirty="0"/>
              <a:t> current “shopping list”</a:t>
            </a:r>
          </a:p>
          <a:p>
            <a:pPr>
              <a:lnSpc>
                <a:spcPct val="150000"/>
              </a:lnSpc>
            </a:pPr>
            <a:r>
              <a:rPr lang="en-US" sz="1100" u="sng" dirty="0"/>
              <a:t>E-Resume data:</a:t>
            </a:r>
            <a:r>
              <a:rPr lang="en-US" sz="1100" dirty="0"/>
              <a:t> rank-ordered preference lists for the current AY</a:t>
            </a:r>
          </a:p>
          <a:p>
            <a:pPr>
              <a:lnSpc>
                <a:spcPct val="150000"/>
              </a:lnSpc>
            </a:pPr>
            <a:r>
              <a:rPr lang="en-US" sz="1100" u="sng" dirty="0"/>
              <a:t>OER data:</a:t>
            </a:r>
            <a:r>
              <a:rPr lang="en-US" sz="1100" dirty="0"/>
              <a:t> evaluations for each member</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54841704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0ee5137a5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10ee5137a5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Let E be the set of employees and J be the set of jobs. Each employee e \in E has a set of qualifications </a:t>
            </a:r>
            <a:r>
              <a:rPr lang="en-US" dirty="0" err="1"/>
              <a:t>Q_e</a:t>
            </a:r>
            <a:r>
              <a:rPr lang="en-US" dirty="0"/>
              <a:t>, and each job j \in J has a set of required competencies </a:t>
            </a:r>
            <a:r>
              <a:rPr lang="en-US" dirty="0" err="1"/>
              <a:t>C_j</a:t>
            </a:r>
            <a:r>
              <a:rPr lang="en-US" dirty="0"/>
              <a:t> with associated importance codes </a:t>
            </a:r>
            <a:r>
              <a:rPr lang="en-US" dirty="0" err="1"/>
              <a:t>V_c</a:t>
            </a:r>
            <a:r>
              <a:rPr lang="en-US" dirty="0"/>
              <a:t> for each competency c. Example – Luke (employee e) has </a:t>
            </a:r>
            <a:r>
              <a:rPr lang="en-US" dirty="0" err="1"/>
              <a:t>Q_e</a:t>
            </a:r>
            <a:r>
              <a:rPr lang="en-US" dirty="0"/>
              <a:t>: {CGSEI234, ORANLST}, job has competences </a:t>
            </a:r>
            <a:r>
              <a:rPr lang="en-US" dirty="0" err="1"/>
              <a:t>C_j</a:t>
            </a:r>
            <a:r>
              <a:rPr lang="en-US" dirty="0"/>
              <a:t>: { ORANLST (IC 5), CGSEI234 (IC 5), and CGSEI153 (IC 3)} Luke’s QS(</a:t>
            </a:r>
            <a:r>
              <a:rPr lang="en-US" dirty="0" err="1"/>
              <a:t>e,j</a:t>
            </a:r>
            <a:r>
              <a:rPr lang="en-US" dirty="0"/>
              <a:t>)= (5 + 5) / (5 + 5 + 3) = 10/13 ~= 0.77</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For a given employee e and job j, the qualification score QS_{</a:t>
            </a:r>
            <a:r>
              <a:rPr lang="en-US" dirty="0" err="1"/>
              <a:t>e,j</a:t>
            </a:r>
            <a:r>
              <a:rPr lang="en-US" dirty="0"/>
              <a:t>} can be calculated with the above formula.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Let’s denote the set of all employees E and the set of all OERs as R. For each employee e \in E they have a set of OERs, which we denote as R(e). The number of OERs for a particular employee can be denoted as |R(e)| (cardinality).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Example – Luke has three OERs with scores 120, 115, 130. The max possible score is 137. Luke’s </a:t>
            </a:r>
            <a:r>
              <a:rPr lang="en-US" dirty="0" err="1"/>
              <a:t>NormAvgOerScore</a:t>
            </a:r>
            <a:r>
              <a:rPr lang="en-US" dirty="0"/>
              <a:t> is (120+115+130) / ( (3) * (137) ) = 365/411 ~= 0.88</a:t>
            </a:r>
            <a:endParaRPr dirty="0"/>
          </a:p>
        </p:txBody>
      </p:sp>
    </p:spTree>
    <p:extLst>
      <p:ext uri="{BB962C8B-B14F-4D97-AF65-F5344CB8AC3E}">
        <p14:creationId xmlns:p14="http://schemas.microsoft.com/office/powerpoint/2010/main" val="86441559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0ee5137a5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10ee5137a5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*Also</a:t>
            </a:r>
            <a:r>
              <a:rPr lang="en-US" baseline="0" dirty="0"/>
              <a:t> gives partial credit for lesser </a:t>
            </a:r>
            <a:r>
              <a:rPr lang="en-US" baseline="0" dirty="0" err="1"/>
              <a:t>quals</a:t>
            </a:r>
            <a:r>
              <a:rPr lang="en-US" baseline="0" dirty="0"/>
              <a:t>, full credit for a higher </a:t>
            </a:r>
            <a:r>
              <a:rPr lang="en-US" baseline="0" dirty="0" err="1"/>
              <a:t>qual</a:t>
            </a:r>
            <a:r>
              <a:rPr lang="en-US" baseline="0" dirty="0"/>
              <a:t>, and having the required (or higher) security clearance also improves a candidates score.</a:t>
            </a:r>
            <a:endParaRPr dirty="0"/>
          </a:p>
        </p:txBody>
      </p:sp>
    </p:spTree>
    <p:extLst>
      <p:ext uri="{BB962C8B-B14F-4D97-AF65-F5344CB8AC3E}">
        <p14:creationId xmlns:p14="http://schemas.microsoft.com/office/powerpoint/2010/main" val="299628185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0ee5137a5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10ee5137a5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*Also</a:t>
            </a:r>
            <a:r>
              <a:rPr lang="en-US" baseline="0" dirty="0"/>
              <a:t> gives partial credit for lesser </a:t>
            </a:r>
            <a:r>
              <a:rPr lang="en-US" baseline="0" dirty="0" err="1"/>
              <a:t>quals</a:t>
            </a:r>
            <a:r>
              <a:rPr lang="en-US" baseline="0" dirty="0"/>
              <a:t>, full credit for a higher </a:t>
            </a:r>
            <a:r>
              <a:rPr lang="en-US" baseline="0" dirty="0" err="1"/>
              <a:t>qual</a:t>
            </a:r>
            <a:r>
              <a:rPr lang="en-US" baseline="0" dirty="0"/>
              <a:t>, and having the required (or higher) security clearance also improves a candidates score.</a:t>
            </a:r>
            <a:endParaRPr dirty="0"/>
          </a:p>
        </p:txBody>
      </p:sp>
    </p:spTree>
    <p:extLst>
      <p:ext uri="{BB962C8B-B14F-4D97-AF65-F5344CB8AC3E}">
        <p14:creationId xmlns:p14="http://schemas.microsoft.com/office/powerpoint/2010/main" val="100531840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0ee5137a5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10ee5137a5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*Also</a:t>
            </a:r>
            <a:r>
              <a:rPr lang="en-US" baseline="0" dirty="0"/>
              <a:t> gives partial credit for lesser </a:t>
            </a:r>
            <a:r>
              <a:rPr lang="en-US" baseline="0" dirty="0" err="1"/>
              <a:t>quals</a:t>
            </a:r>
            <a:r>
              <a:rPr lang="en-US" baseline="0" dirty="0"/>
              <a:t>, full credit for a higher </a:t>
            </a:r>
            <a:r>
              <a:rPr lang="en-US" baseline="0" dirty="0" err="1"/>
              <a:t>qual</a:t>
            </a:r>
            <a:r>
              <a:rPr lang="en-US" baseline="0" dirty="0"/>
              <a:t>, and having the required (or higher) security clearance also improves a candidates score.</a:t>
            </a:r>
            <a:endParaRPr dirty="0"/>
          </a:p>
        </p:txBody>
      </p:sp>
    </p:spTree>
    <p:extLst>
      <p:ext uri="{BB962C8B-B14F-4D97-AF65-F5344CB8AC3E}">
        <p14:creationId xmlns:p14="http://schemas.microsoft.com/office/powerpoint/2010/main" val="163327038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0ee5137a5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10ee5137a5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*Also</a:t>
            </a:r>
            <a:r>
              <a:rPr lang="en-US" baseline="0" dirty="0"/>
              <a:t> gives partial credit for lesser </a:t>
            </a:r>
            <a:r>
              <a:rPr lang="en-US" baseline="0" dirty="0" err="1"/>
              <a:t>quals</a:t>
            </a:r>
            <a:r>
              <a:rPr lang="en-US" baseline="0" dirty="0"/>
              <a:t>, full credit for a higher </a:t>
            </a:r>
            <a:r>
              <a:rPr lang="en-US" baseline="0" dirty="0" err="1"/>
              <a:t>qual</a:t>
            </a:r>
            <a:r>
              <a:rPr lang="en-US" baseline="0" dirty="0"/>
              <a:t>, and having the required (or higher) security clearance also improves a candidates score.</a:t>
            </a:r>
            <a:endParaRPr dirty="0"/>
          </a:p>
        </p:txBody>
      </p:sp>
    </p:spTree>
    <p:extLst>
      <p:ext uri="{BB962C8B-B14F-4D97-AF65-F5344CB8AC3E}">
        <p14:creationId xmlns:p14="http://schemas.microsoft.com/office/powerpoint/2010/main" val="27421556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0ee5137a53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0ee5137a5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46050" lvl="0" indent="0" algn="l" rtl="0">
              <a:lnSpc>
                <a:spcPct val="115000"/>
              </a:lnSpc>
              <a:spcBef>
                <a:spcPts val="0"/>
              </a:spcBef>
              <a:spcAft>
                <a:spcPts val="0"/>
              </a:spcAft>
              <a:buClr>
                <a:srgbClr val="595959"/>
              </a:buClr>
              <a:buSzPts val="1300"/>
              <a:buFont typeface="Lato"/>
              <a:buNone/>
            </a:pPr>
            <a:r>
              <a:rPr lang="en-US" dirty="0"/>
              <a:t>Need to improve “demand signal” from billets (missing data for competencies required)</a:t>
            </a:r>
          </a:p>
          <a:p>
            <a:pPr marL="146050" lvl="0" indent="0" algn="l" rtl="0">
              <a:lnSpc>
                <a:spcPct val="115000"/>
              </a:lnSpc>
              <a:spcBef>
                <a:spcPts val="0"/>
              </a:spcBef>
              <a:spcAft>
                <a:spcPts val="0"/>
              </a:spcAft>
              <a:buClr>
                <a:srgbClr val="595959"/>
              </a:buClr>
              <a:buSzPts val="1300"/>
              <a:buFont typeface="Lato"/>
              <a:buNone/>
            </a:pPr>
            <a:endParaRPr lang="en-US" dirty="0"/>
          </a:p>
          <a:p>
            <a:pPr marL="146050" lvl="0" indent="0" algn="l" rtl="0">
              <a:lnSpc>
                <a:spcPct val="115000"/>
              </a:lnSpc>
              <a:spcBef>
                <a:spcPts val="0"/>
              </a:spcBef>
              <a:spcAft>
                <a:spcPts val="0"/>
              </a:spcAft>
              <a:buClr>
                <a:srgbClr val="595959"/>
              </a:buClr>
              <a:buSzPts val="1300"/>
              <a:buFont typeface="Lato"/>
              <a:buNone/>
            </a:pPr>
            <a:r>
              <a:rPr lang="en-US" dirty="0"/>
              <a:t>Quals are not good driver / metric for prioritization – staff vs. ops would be better</a:t>
            </a:r>
            <a:endParaRPr dirty="0"/>
          </a:p>
        </p:txBody>
      </p:sp>
    </p:spTree>
    <p:extLst>
      <p:ext uri="{BB962C8B-B14F-4D97-AF65-F5344CB8AC3E}">
        <p14:creationId xmlns:p14="http://schemas.microsoft.com/office/powerpoint/2010/main" val="138199778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1B962C08-1DEA-0AB3-153C-96D2FB304F8B}"/>
            </a:ext>
          </a:extLst>
        </p:cNvPr>
        <p:cNvGrpSpPr/>
        <p:nvPr/>
      </p:nvGrpSpPr>
      <p:grpSpPr>
        <a:xfrm>
          <a:off x="0" y="0"/>
          <a:ext cx="0" cy="0"/>
          <a:chOff x="0" y="0"/>
          <a:chExt cx="0" cy="0"/>
        </a:xfrm>
      </p:grpSpPr>
      <p:sp>
        <p:nvSpPr>
          <p:cNvPr id="95" name="Google Shape;95;g10ee5137a53_0_234:notes">
            <a:extLst>
              <a:ext uri="{FF2B5EF4-FFF2-40B4-BE49-F238E27FC236}">
                <a16:creationId xmlns:a16="http://schemas.microsoft.com/office/drawing/2014/main" id="{C4EB4FCA-8A33-AFA1-8A1A-503B26CD90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0ee5137a53_0_234:notes">
            <a:extLst>
              <a:ext uri="{FF2B5EF4-FFF2-40B4-BE49-F238E27FC236}">
                <a16:creationId xmlns:a16="http://schemas.microsoft.com/office/drawing/2014/main" id="{A617BDDB-534C-451D-5060-EAA57CA6E4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marR="0" lvl="0" indent="-323850" algn="l" defTabSz="914400" rtl="0" eaLnBrk="1" fontAlgn="auto" latinLnBrk="0" hangingPunct="1">
              <a:lnSpc>
                <a:spcPct val="100000"/>
              </a:lnSpc>
              <a:spcBef>
                <a:spcPts val="0"/>
              </a:spcBef>
              <a:spcAft>
                <a:spcPts val="0"/>
              </a:spcAft>
              <a:buClr>
                <a:srgbClr val="000000"/>
              </a:buClr>
              <a:buSzPts val="1500"/>
              <a:buFont typeface="Arial"/>
              <a:buChar char="●"/>
              <a:tabLst/>
              <a:defRPr/>
            </a:pPr>
            <a:r>
              <a:rPr lang="en-US" sz="1500" b="1" dirty="0"/>
              <a:t>Market Design</a:t>
            </a:r>
            <a:r>
              <a:rPr lang="en-US" sz="1500" dirty="0"/>
              <a:t>: how do we set up a strategic environment so that if “players” follow a certain type of behavior, we get a desired outcome?</a:t>
            </a:r>
          </a:p>
          <a:p>
            <a:pPr marL="457200" lvl="0" indent="-323850" algn="l" rtl="0">
              <a:spcBef>
                <a:spcPts val="0"/>
              </a:spcBef>
              <a:spcAft>
                <a:spcPts val="0"/>
              </a:spcAft>
              <a:buSzPts val="1500"/>
              <a:buChar char="●"/>
            </a:pPr>
            <a:r>
              <a:rPr lang="en-US" sz="1500" dirty="0"/>
              <a:t>In market design, when all of the data is available, the problem simply reduces to an optimization problem that can be solved with well known techniques / procedures</a:t>
            </a:r>
          </a:p>
          <a:p>
            <a:pPr marL="914400" lvl="1" indent="-323850" algn="l" rtl="0">
              <a:spcBef>
                <a:spcPts val="0"/>
              </a:spcBef>
              <a:spcAft>
                <a:spcPts val="0"/>
              </a:spcAft>
              <a:buSzPts val="1500"/>
              <a:buChar char="○"/>
            </a:pPr>
            <a:r>
              <a:rPr lang="en-US" sz="1500" dirty="0"/>
              <a:t>Integer programming, linear programming, dynamic programming</a:t>
            </a:r>
            <a:endParaRPr lang="en-US" sz="1300" dirty="0"/>
          </a:p>
          <a:p>
            <a:pPr marL="457200" lvl="0" indent="-323850" algn="l" rtl="0">
              <a:spcBef>
                <a:spcPts val="0"/>
              </a:spcBef>
              <a:spcAft>
                <a:spcPts val="0"/>
              </a:spcAft>
              <a:buSzPts val="1500"/>
              <a:buChar char="●"/>
            </a:pPr>
            <a:r>
              <a:rPr lang="en-US" sz="1100" dirty="0"/>
              <a:t>The problem is that the real world is more fuzzy. Information is privately held, and we must utilize various incentive mechanisms to reveal information (like true billet rankings)</a:t>
            </a:r>
          </a:p>
          <a:p>
            <a:pPr marL="457200" lvl="0" indent="-323850" algn="l" rtl="0">
              <a:spcBef>
                <a:spcPts val="0"/>
              </a:spcBef>
              <a:spcAft>
                <a:spcPts val="0"/>
              </a:spcAft>
              <a:buSzPts val="1500"/>
              <a:buChar char="●"/>
            </a:pPr>
            <a:r>
              <a:rPr lang="en-US" sz="1100" dirty="0"/>
              <a:t>We need a </a:t>
            </a:r>
            <a:r>
              <a:rPr lang="en-US" sz="1100" b="1" dirty="0">
                <a:solidFill>
                  <a:schemeClr val="dk2"/>
                </a:solidFill>
              </a:rPr>
              <a:t>matching mechanism</a:t>
            </a:r>
            <a:r>
              <a:rPr lang="en-US" sz="1100" dirty="0"/>
              <a:t>: a mechanism that maps reported preferences into an assignment/matching.</a:t>
            </a:r>
          </a:p>
          <a:p>
            <a:pPr marL="457200" lvl="0" indent="-323850" algn="l" rtl="0">
              <a:spcBef>
                <a:spcPts val="0"/>
              </a:spcBef>
              <a:spcAft>
                <a:spcPts val="0"/>
              </a:spcAft>
              <a:buSzPts val="1500"/>
              <a:buChar char="●"/>
            </a:pPr>
            <a:r>
              <a:rPr lang="en-US" sz="1100" dirty="0"/>
              <a:t>So, let’s design a marketplace to assign officers to billets!</a:t>
            </a:r>
          </a:p>
          <a:p>
            <a:pPr marL="457200" lvl="0" indent="-323850" algn="l" rtl="0">
              <a:spcBef>
                <a:spcPts val="0"/>
              </a:spcBef>
              <a:spcAft>
                <a:spcPts val="0"/>
              </a:spcAft>
              <a:buSzPts val="1500"/>
              <a:buChar char="●"/>
            </a:pPr>
            <a:r>
              <a:rPr lang="en-US" sz="1100" dirty="0"/>
              <a:t>Goals? Efficiency, simplicity, fairness, and transparency</a:t>
            </a:r>
          </a:p>
          <a:p>
            <a:pPr marL="457200" lvl="0" indent="-323850" algn="l" rtl="0">
              <a:spcBef>
                <a:spcPts val="0"/>
              </a:spcBef>
              <a:spcAft>
                <a:spcPts val="0"/>
              </a:spcAft>
              <a:buSzPts val="1500"/>
              <a:buChar char="●"/>
            </a:pPr>
            <a:r>
              <a:rPr lang="en-US" sz="1100" dirty="0"/>
              <a:t>Two-sided matching problem!</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59948752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366EE509-454B-ABAE-AC0F-99AC45285FCE}"/>
            </a:ext>
          </a:extLst>
        </p:cNvPr>
        <p:cNvGrpSpPr/>
        <p:nvPr/>
      </p:nvGrpSpPr>
      <p:grpSpPr>
        <a:xfrm>
          <a:off x="0" y="0"/>
          <a:ext cx="0" cy="0"/>
          <a:chOff x="0" y="0"/>
          <a:chExt cx="0" cy="0"/>
        </a:xfrm>
      </p:grpSpPr>
      <p:sp>
        <p:nvSpPr>
          <p:cNvPr id="95" name="Google Shape;95;g10ee5137a53_0_234:notes">
            <a:extLst>
              <a:ext uri="{FF2B5EF4-FFF2-40B4-BE49-F238E27FC236}">
                <a16:creationId xmlns:a16="http://schemas.microsoft.com/office/drawing/2014/main" id="{822F0ECE-9CA8-9FC9-10AE-0E3A666388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0ee5137a53_0_234:notes">
            <a:extLst>
              <a:ext uri="{FF2B5EF4-FFF2-40B4-BE49-F238E27FC236}">
                <a16:creationId xmlns:a16="http://schemas.microsoft.com/office/drawing/2014/main" id="{5D50FC12-EFED-374F-F035-78E4C52146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marR="0" lvl="0" indent="-323850" algn="l" defTabSz="914400" rtl="0" eaLnBrk="1" fontAlgn="auto" latinLnBrk="0" hangingPunct="1">
              <a:lnSpc>
                <a:spcPct val="100000"/>
              </a:lnSpc>
              <a:spcBef>
                <a:spcPts val="0"/>
              </a:spcBef>
              <a:spcAft>
                <a:spcPts val="0"/>
              </a:spcAft>
              <a:buClr>
                <a:srgbClr val="000000"/>
              </a:buClr>
              <a:buSzPts val="1500"/>
              <a:buFont typeface="Arial"/>
              <a:buChar char="●"/>
              <a:tabLst/>
              <a:defRPr/>
            </a:pPr>
            <a:r>
              <a:rPr lang="en-US" sz="1500" b="1" dirty="0"/>
              <a:t>Market Design</a:t>
            </a:r>
            <a:r>
              <a:rPr lang="en-US" sz="1500" dirty="0"/>
              <a:t>: how do we set up a strategic environment so that if “players” follow a certain type of behavior, we get a desired outcome?</a:t>
            </a:r>
          </a:p>
          <a:p>
            <a:pPr marL="457200" lvl="0" indent="-323850" algn="l" rtl="0">
              <a:spcBef>
                <a:spcPts val="0"/>
              </a:spcBef>
              <a:spcAft>
                <a:spcPts val="0"/>
              </a:spcAft>
              <a:buSzPts val="1500"/>
              <a:buChar char="●"/>
            </a:pPr>
            <a:r>
              <a:rPr lang="en-US" sz="1500" dirty="0"/>
              <a:t>In market design, when all of the data is available, the problem simply reduces to an optimization problem that can be solved with well known techniques / procedures</a:t>
            </a:r>
          </a:p>
          <a:p>
            <a:pPr marL="914400" lvl="1" indent="-323850" algn="l" rtl="0">
              <a:spcBef>
                <a:spcPts val="0"/>
              </a:spcBef>
              <a:spcAft>
                <a:spcPts val="0"/>
              </a:spcAft>
              <a:buSzPts val="1500"/>
              <a:buChar char="○"/>
            </a:pPr>
            <a:r>
              <a:rPr lang="en-US" sz="1500" dirty="0"/>
              <a:t>Integer programming, linear programming, dynamic programming</a:t>
            </a:r>
            <a:endParaRPr lang="en-US" sz="1300" dirty="0"/>
          </a:p>
          <a:p>
            <a:pPr marL="457200" lvl="0" indent="-323850" algn="l" rtl="0">
              <a:spcBef>
                <a:spcPts val="0"/>
              </a:spcBef>
              <a:spcAft>
                <a:spcPts val="0"/>
              </a:spcAft>
              <a:buSzPts val="1500"/>
              <a:buChar char="●"/>
            </a:pPr>
            <a:r>
              <a:rPr lang="en-US" sz="1100" dirty="0"/>
              <a:t>The problem is that the real world is more fuzzy. Information is privately held, and we must utilize various incentive mechanisms to reveal information (like true billet rankings)</a:t>
            </a:r>
          </a:p>
          <a:p>
            <a:pPr marL="457200" lvl="0" indent="-323850" algn="l" rtl="0">
              <a:spcBef>
                <a:spcPts val="0"/>
              </a:spcBef>
              <a:spcAft>
                <a:spcPts val="0"/>
              </a:spcAft>
              <a:buSzPts val="1500"/>
              <a:buChar char="●"/>
            </a:pPr>
            <a:r>
              <a:rPr lang="en-US" sz="1100" dirty="0"/>
              <a:t>We need a </a:t>
            </a:r>
            <a:r>
              <a:rPr lang="en-US" sz="1100" b="1" dirty="0">
                <a:solidFill>
                  <a:schemeClr val="dk2"/>
                </a:solidFill>
              </a:rPr>
              <a:t>matching mechanism</a:t>
            </a:r>
            <a:r>
              <a:rPr lang="en-US" sz="1100" dirty="0"/>
              <a:t>: a mechanism that maps reported preferences into an assignment/matching.</a:t>
            </a:r>
          </a:p>
          <a:p>
            <a:pPr marL="457200" lvl="0" indent="-323850" algn="l" rtl="0">
              <a:spcBef>
                <a:spcPts val="0"/>
              </a:spcBef>
              <a:spcAft>
                <a:spcPts val="0"/>
              </a:spcAft>
              <a:buSzPts val="1500"/>
              <a:buChar char="●"/>
            </a:pPr>
            <a:r>
              <a:rPr lang="en-US" sz="1100" dirty="0"/>
              <a:t>So, let’s design a marketplace to assign officers to billets!</a:t>
            </a:r>
          </a:p>
          <a:p>
            <a:pPr marL="457200" lvl="0" indent="-323850" algn="l" rtl="0">
              <a:spcBef>
                <a:spcPts val="0"/>
              </a:spcBef>
              <a:spcAft>
                <a:spcPts val="0"/>
              </a:spcAft>
              <a:buSzPts val="1500"/>
              <a:buChar char="●"/>
            </a:pPr>
            <a:r>
              <a:rPr lang="en-US" sz="1100" dirty="0"/>
              <a:t>Goals? Efficiency, simplicity, fairness, and transparency</a:t>
            </a:r>
          </a:p>
          <a:p>
            <a:pPr marL="457200" lvl="0" indent="-323850" algn="l" rtl="0">
              <a:spcBef>
                <a:spcPts val="0"/>
              </a:spcBef>
              <a:spcAft>
                <a:spcPts val="0"/>
              </a:spcAft>
              <a:buSzPts val="1500"/>
              <a:buChar char="●"/>
            </a:pPr>
            <a:r>
              <a:rPr lang="en-US" sz="1100" dirty="0"/>
              <a:t>Two-sided matching problem!</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63480848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71F069DE-7DD7-151D-1F2A-67868A952AA8}"/>
            </a:ext>
          </a:extLst>
        </p:cNvPr>
        <p:cNvGrpSpPr/>
        <p:nvPr/>
      </p:nvGrpSpPr>
      <p:grpSpPr>
        <a:xfrm>
          <a:off x="0" y="0"/>
          <a:ext cx="0" cy="0"/>
          <a:chOff x="0" y="0"/>
          <a:chExt cx="0" cy="0"/>
        </a:xfrm>
      </p:grpSpPr>
      <p:sp>
        <p:nvSpPr>
          <p:cNvPr id="95" name="Google Shape;95;g10ee5137a53_0_234:notes">
            <a:extLst>
              <a:ext uri="{FF2B5EF4-FFF2-40B4-BE49-F238E27FC236}">
                <a16:creationId xmlns:a16="http://schemas.microsoft.com/office/drawing/2014/main" id="{1C0D9084-E73C-922F-C1F3-CA9BCD2891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0ee5137a53_0_234:notes">
            <a:extLst>
              <a:ext uri="{FF2B5EF4-FFF2-40B4-BE49-F238E27FC236}">
                <a16:creationId xmlns:a16="http://schemas.microsoft.com/office/drawing/2014/main" id="{CD22B802-B957-7D11-4B3C-41A159C2717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marR="0" lvl="0" indent="-323850" algn="l" defTabSz="914400" rtl="0" eaLnBrk="1" fontAlgn="auto" latinLnBrk="0" hangingPunct="1">
              <a:lnSpc>
                <a:spcPct val="100000"/>
              </a:lnSpc>
              <a:spcBef>
                <a:spcPts val="0"/>
              </a:spcBef>
              <a:spcAft>
                <a:spcPts val="0"/>
              </a:spcAft>
              <a:buClr>
                <a:srgbClr val="000000"/>
              </a:buClr>
              <a:buSzPts val="1500"/>
              <a:buFont typeface="Arial"/>
              <a:buChar char="●"/>
              <a:tabLst/>
              <a:defRPr/>
            </a:pPr>
            <a:r>
              <a:rPr lang="en-US" sz="1500" b="1" dirty="0"/>
              <a:t>Market Design</a:t>
            </a:r>
            <a:r>
              <a:rPr lang="en-US" sz="1500" dirty="0"/>
              <a:t>: how do we set up a strategic environment so that if “players” follow a certain type of behavior, we get a desired outcome?</a:t>
            </a:r>
          </a:p>
          <a:p>
            <a:pPr marL="457200" lvl="0" indent="-323850" algn="l" rtl="0">
              <a:spcBef>
                <a:spcPts val="0"/>
              </a:spcBef>
              <a:spcAft>
                <a:spcPts val="0"/>
              </a:spcAft>
              <a:buSzPts val="1500"/>
              <a:buChar char="●"/>
            </a:pPr>
            <a:r>
              <a:rPr lang="en-US" sz="1500" dirty="0"/>
              <a:t>In market design, when all of the data is available, the problem simply reduces to an optimization problem that can be solved with well known techniques / procedures</a:t>
            </a:r>
          </a:p>
          <a:p>
            <a:pPr marL="914400" lvl="1" indent="-323850" algn="l" rtl="0">
              <a:spcBef>
                <a:spcPts val="0"/>
              </a:spcBef>
              <a:spcAft>
                <a:spcPts val="0"/>
              </a:spcAft>
              <a:buSzPts val="1500"/>
              <a:buChar char="○"/>
            </a:pPr>
            <a:r>
              <a:rPr lang="en-US" sz="1500" dirty="0"/>
              <a:t>Integer programming, linear programming, dynamic programming</a:t>
            </a:r>
            <a:endParaRPr lang="en-US" sz="1300" dirty="0"/>
          </a:p>
          <a:p>
            <a:pPr marL="457200" lvl="0" indent="-323850" algn="l" rtl="0">
              <a:spcBef>
                <a:spcPts val="0"/>
              </a:spcBef>
              <a:spcAft>
                <a:spcPts val="0"/>
              </a:spcAft>
              <a:buSzPts val="1500"/>
              <a:buChar char="●"/>
            </a:pPr>
            <a:r>
              <a:rPr lang="en-US" sz="1100" dirty="0"/>
              <a:t>The problem is that the real world is more fuzzy. Information is privately held, and we must utilize various incentive mechanisms to reveal information (like true billet rankings)</a:t>
            </a:r>
          </a:p>
          <a:p>
            <a:pPr marL="457200" lvl="0" indent="-323850" algn="l" rtl="0">
              <a:spcBef>
                <a:spcPts val="0"/>
              </a:spcBef>
              <a:spcAft>
                <a:spcPts val="0"/>
              </a:spcAft>
              <a:buSzPts val="1500"/>
              <a:buChar char="●"/>
            </a:pPr>
            <a:r>
              <a:rPr lang="en-US" sz="1100" dirty="0"/>
              <a:t>We need a </a:t>
            </a:r>
            <a:r>
              <a:rPr lang="en-US" sz="1100" b="1" dirty="0">
                <a:solidFill>
                  <a:schemeClr val="dk2"/>
                </a:solidFill>
              </a:rPr>
              <a:t>matching mechanism</a:t>
            </a:r>
            <a:r>
              <a:rPr lang="en-US" sz="1100" dirty="0"/>
              <a:t>: a mechanism that maps reported preferences into an assignment/matching.</a:t>
            </a:r>
          </a:p>
          <a:p>
            <a:pPr marL="457200" lvl="0" indent="-323850" algn="l" rtl="0">
              <a:spcBef>
                <a:spcPts val="0"/>
              </a:spcBef>
              <a:spcAft>
                <a:spcPts val="0"/>
              </a:spcAft>
              <a:buSzPts val="1500"/>
              <a:buChar char="●"/>
            </a:pPr>
            <a:r>
              <a:rPr lang="en-US" sz="1100" dirty="0"/>
              <a:t>So, let’s design a marketplace to assign officers to billets!</a:t>
            </a:r>
          </a:p>
          <a:p>
            <a:pPr marL="457200" lvl="0" indent="-323850" algn="l" rtl="0">
              <a:spcBef>
                <a:spcPts val="0"/>
              </a:spcBef>
              <a:spcAft>
                <a:spcPts val="0"/>
              </a:spcAft>
              <a:buSzPts val="1500"/>
              <a:buChar char="●"/>
            </a:pPr>
            <a:r>
              <a:rPr lang="en-US" sz="1100" dirty="0"/>
              <a:t>Goals? Efficiency, simplicity, fairness, and transparency</a:t>
            </a:r>
          </a:p>
          <a:p>
            <a:pPr marL="457200" lvl="0" indent="-323850" algn="l" rtl="0">
              <a:spcBef>
                <a:spcPts val="0"/>
              </a:spcBef>
              <a:spcAft>
                <a:spcPts val="0"/>
              </a:spcAft>
              <a:buSzPts val="1500"/>
              <a:buChar char="●"/>
            </a:pPr>
            <a:r>
              <a:rPr lang="en-US" sz="1100" dirty="0"/>
              <a:t>Two-sided matching problem!</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67826917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80AA36D9-C053-3A4D-B197-86003C263DEF}"/>
            </a:ext>
          </a:extLst>
        </p:cNvPr>
        <p:cNvGrpSpPr/>
        <p:nvPr/>
      </p:nvGrpSpPr>
      <p:grpSpPr>
        <a:xfrm>
          <a:off x="0" y="0"/>
          <a:ext cx="0" cy="0"/>
          <a:chOff x="0" y="0"/>
          <a:chExt cx="0" cy="0"/>
        </a:xfrm>
      </p:grpSpPr>
      <p:sp>
        <p:nvSpPr>
          <p:cNvPr id="95" name="Google Shape;95;g10ee5137a53_0_234:notes">
            <a:extLst>
              <a:ext uri="{FF2B5EF4-FFF2-40B4-BE49-F238E27FC236}">
                <a16:creationId xmlns:a16="http://schemas.microsoft.com/office/drawing/2014/main" id="{99536597-7537-79C0-F4B2-383CAA6216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0ee5137a53_0_234:notes">
            <a:extLst>
              <a:ext uri="{FF2B5EF4-FFF2-40B4-BE49-F238E27FC236}">
                <a16:creationId xmlns:a16="http://schemas.microsoft.com/office/drawing/2014/main" id="{6D2CF63C-EA20-9631-2DC1-A45D3BFA72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1004933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18B6237B-183D-7FD3-5341-290C44ECEE9B}"/>
            </a:ext>
          </a:extLst>
        </p:cNvPr>
        <p:cNvGrpSpPr/>
        <p:nvPr/>
      </p:nvGrpSpPr>
      <p:grpSpPr>
        <a:xfrm>
          <a:off x="0" y="0"/>
          <a:ext cx="0" cy="0"/>
          <a:chOff x="0" y="0"/>
          <a:chExt cx="0" cy="0"/>
        </a:xfrm>
      </p:grpSpPr>
      <p:sp>
        <p:nvSpPr>
          <p:cNvPr id="95" name="Google Shape;95;g10ee5137a53_0_234:notes">
            <a:extLst>
              <a:ext uri="{FF2B5EF4-FFF2-40B4-BE49-F238E27FC236}">
                <a16:creationId xmlns:a16="http://schemas.microsoft.com/office/drawing/2014/main" id="{962D7215-4C6A-B71A-5399-EBCF02A7E3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0ee5137a53_0_234:notes">
            <a:extLst>
              <a:ext uri="{FF2B5EF4-FFF2-40B4-BE49-F238E27FC236}">
                <a16:creationId xmlns:a16="http://schemas.microsoft.com/office/drawing/2014/main" id="{85DF39B6-D4D3-FEF5-C51C-31B28A4317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marR="0" lvl="0" indent="-323850" algn="l" defTabSz="914400" rtl="0" eaLnBrk="1" fontAlgn="auto" latinLnBrk="0" hangingPunct="1">
              <a:lnSpc>
                <a:spcPct val="100000"/>
              </a:lnSpc>
              <a:spcBef>
                <a:spcPts val="0"/>
              </a:spcBef>
              <a:spcAft>
                <a:spcPts val="0"/>
              </a:spcAft>
              <a:buClr>
                <a:srgbClr val="000000"/>
              </a:buClr>
              <a:buSzPts val="1500"/>
              <a:buFont typeface="Arial"/>
              <a:buChar char="●"/>
              <a:tabLst/>
              <a:defRPr/>
            </a:pPr>
            <a:r>
              <a:rPr lang="en-US" sz="1500" b="1" dirty="0"/>
              <a:t>Market Design</a:t>
            </a:r>
            <a:r>
              <a:rPr lang="en-US" sz="1500" dirty="0"/>
              <a:t>: how do we set up a strategic environment so that if “players” follow a certain type of behavior, we get a desired outcome?</a:t>
            </a:r>
          </a:p>
          <a:p>
            <a:pPr marL="457200" lvl="0" indent="-323850" algn="l" rtl="0">
              <a:spcBef>
                <a:spcPts val="0"/>
              </a:spcBef>
              <a:spcAft>
                <a:spcPts val="0"/>
              </a:spcAft>
              <a:buSzPts val="1500"/>
              <a:buChar char="●"/>
            </a:pPr>
            <a:r>
              <a:rPr lang="en-US" sz="1500" dirty="0"/>
              <a:t>In market design, when all of the data is available, the problem simply reduces to an optimization problem that can be solved with well known techniques / procedures</a:t>
            </a:r>
          </a:p>
          <a:p>
            <a:pPr marL="914400" lvl="1" indent="-323850" algn="l" rtl="0">
              <a:spcBef>
                <a:spcPts val="0"/>
              </a:spcBef>
              <a:spcAft>
                <a:spcPts val="0"/>
              </a:spcAft>
              <a:buSzPts val="1500"/>
              <a:buChar char="○"/>
            </a:pPr>
            <a:r>
              <a:rPr lang="en-US" sz="1500" dirty="0"/>
              <a:t>Integer programming, linear programming, dynamic programming</a:t>
            </a:r>
            <a:endParaRPr lang="en-US" sz="1300" dirty="0"/>
          </a:p>
          <a:p>
            <a:pPr marL="457200" lvl="0" indent="-323850" algn="l" rtl="0">
              <a:spcBef>
                <a:spcPts val="0"/>
              </a:spcBef>
              <a:spcAft>
                <a:spcPts val="0"/>
              </a:spcAft>
              <a:buSzPts val="1500"/>
              <a:buChar char="●"/>
            </a:pPr>
            <a:r>
              <a:rPr lang="en-US" sz="1100" dirty="0"/>
              <a:t>The problem is that the real world is more fuzzy. Information is privately held, and we must utilize various incentive mechanisms to reveal information (like true billet rankings)</a:t>
            </a:r>
          </a:p>
          <a:p>
            <a:pPr marL="457200" lvl="0" indent="-323850" algn="l" rtl="0">
              <a:spcBef>
                <a:spcPts val="0"/>
              </a:spcBef>
              <a:spcAft>
                <a:spcPts val="0"/>
              </a:spcAft>
              <a:buSzPts val="1500"/>
              <a:buChar char="●"/>
            </a:pPr>
            <a:r>
              <a:rPr lang="en-US" sz="1100" dirty="0"/>
              <a:t>We need a </a:t>
            </a:r>
            <a:r>
              <a:rPr lang="en-US" sz="1100" b="1" dirty="0">
                <a:solidFill>
                  <a:schemeClr val="dk2"/>
                </a:solidFill>
              </a:rPr>
              <a:t>matching mechanism</a:t>
            </a:r>
            <a:r>
              <a:rPr lang="en-US" sz="1100" dirty="0"/>
              <a:t>: a mechanism that maps reported preferences into an assignment/matching.</a:t>
            </a:r>
          </a:p>
          <a:p>
            <a:pPr marL="457200" lvl="0" indent="-323850" algn="l" rtl="0">
              <a:spcBef>
                <a:spcPts val="0"/>
              </a:spcBef>
              <a:spcAft>
                <a:spcPts val="0"/>
              </a:spcAft>
              <a:buSzPts val="1500"/>
              <a:buChar char="●"/>
            </a:pPr>
            <a:r>
              <a:rPr lang="en-US" sz="1100" dirty="0"/>
              <a:t>So, let’s design a marketplace to assign officers to billets!</a:t>
            </a:r>
          </a:p>
          <a:p>
            <a:pPr marL="457200" lvl="0" indent="-323850" algn="l" rtl="0">
              <a:spcBef>
                <a:spcPts val="0"/>
              </a:spcBef>
              <a:spcAft>
                <a:spcPts val="0"/>
              </a:spcAft>
              <a:buSzPts val="1500"/>
              <a:buChar char="●"/>
            </a:pPr>
            <a:r>
              <a:rPr lang="en-US" sz="1100" dirty="0"/>
              <a:t>Goals? Efficiency, simplicity, fairness, and transparency</a:t>
            </a:r>
          </a:p>
          <a:p>
            <a:pPr marL="457200" lvl="0" indent="-323850" algn="l" rtl="0">
              <a:spcBef>
                <a:spcPts val="0"/>
              </a:spcBef>
              <a:spcAft>
                <a:spcPts val="0"/>
              </a:spcAft>
              <a:buSzPts val="1500"/>
              <a:buChar char="●"/>
            </a:pPr>
            <a:r>
              <a:rPr lang="en-US" sz="1100" dirty="0"/>
              <a:t>Two-sided matching problem!</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6036661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6CDA1A66-DD0B-0191-3FEC-DD901DCE8323}"/>
            </a:ext>
          </a:extLst>
        </p:cNvPr>
        <p:cNvGrpSpPr/>
        <p:nvPr/>
      </p:nvGrpSpPr>
      <p:grpSpPr>
        <a:xfrm>
          <a:off x="0" y="0"/>
          <a:ext cx="0" cy="0"/>
          <a:chOff x="0" y="0"/>
          <a:chExt cx="0" cy="0"/>
        </a:xfrm>
      </p:grpSpPr>
      <p:sp>
        <p:nvSpPr>
          <p:cNvPr id="95" name="Google Shape;95;g10ee5137a53_0_234:notes">
            <a:extLst>
              <a:ext uri="{FF2B5EF4-FFF2-40B4-BE49-F238E27FC236}">
                <a16:creationId xmlns:a16="http://schemas.microsoft.com/office/drawing/2014/main" id="{86602A3C-67CD-663D-9EB2-8AA3C51E61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0ee5137a53_0_234:notes">
            <a:extLst>
              <a:ext uri="{FF2B5EF4-FFF2-40B4-BE49-F238E27FC236}">
                <a16:creationId xmlns:a16="http://schemas.microsoft.com/office/drawing/2014/main" id="{F1CB4C5E-F792-C3BD-3D11-3566E9303E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marR="0" lvl="0" indent="-323850" algn="l" defTabSz="914400" rtl="0" eaLnBrk="1" fontAlgn="auto" latinLnBrk="0" hangingPunct="1">
              <a:lnSpc>
                <a:spcPct val="100000"/>
              </a:lnSpc>
              <a:spcBef>
                <a:spcPts val="0"/>
              </a:spcBef>
              <a:spcAft>
                <a:spcPts val="0"/>
              </a:spcAft>
              <a:buClr>
                <a:srgbClr val="000000"/>
              </a:buClr>
              <a:buSzPts val="1500"/>
              <a:buFont typeface="Arial"/>
              <a:buChar char="●"/>
              <a:tabLst/>
              <a:defRPr/>
            </a:pPr>
            <a:r>
              <a:rPr lang="en-US" sz="1500" b="1" dirty="0"/>
              <a:t>Market Design</a:t>
            </a:r>
            <a:r>
              <a:rPr lang="en-US" sz="1500" dirty="0"/>
              <a:t>: how do we set up a strategic environment so that if “players” follow a certain type of behavior, we get a desired outcome?</a:t>
            </a:r>
          </a:p>
          <a:p>
            <a:pPr marL="457200" lvl="0" indent="-323850" algn="l" rtl="0">
              <a:spcBef>
                <a:spcPts val="0"/>
              </a:spcBef>
              <a:spcAft>
                <a:spcPts val="0"/>
              </a:spcAft>
              <a:buSzPts val="1500"/>
              <a:buChar char="●"/>
            </a:pPr>
            <a:r>
              <a:rPr lang="en-US" sz="1500" dirty="0"/>
              <a:t>In market design, when all of the data is available, the problem simply reduces to an optimization problem that can be solved with well known techniques / procedures</a:t>
            </a:r>
          </a:p>
          <a:p>
            <a:pPr marL="914400" lvl="1" indent="-323850" algn="l" rtl="0">
              <a:spcBef>
                <a:spcPts val="0"/>
              </a:spcBef>
              <a:spcAft>
                <a:spcPts val="0"/>
              </a:spcAft>
              <a:buSzPts val="1500"/>
              <a:buChar char="○"/>
            </a:pPr>
            <a:r>
              <a:rPr lang="en-US" sz="1500" dirty="0"/>
              <a:t>Integer programming, linear programming, dynamic programming</a:t>
            </a:r>
            <a:endParaRPr lang="en-US" sz="1300" dirty="0"/>
          </a:p>
          <a:p>
            <a:pPr marL="457200" lvl="0" indent="-323850" algn="l" rtl="0">
              <a:spcBef>
                <a:spcPts val="0"/>
              </a:spcBef>
              <a:spcAft>
                <a:spcPts val="0"/>
              </a:spcAft>
              <a:buSzPts val="1500"/>
              <a:buChar char="●"/>
            </a:pPr>
            <a:r>
              <a:rPr lang="en-US" sz="1100" dirty="0"/>
              <a:t>The problem is that the real world is more fuzzy. Information is privately held, and we must utilize various incentive mechanisms to reveal information (like true billet rankings)</a:t>
            </a:r>
          </a:p>
          <a:p>
            <a:pPr marL="457200" lvl="0" indent="-323850" algn="l" rtl="0">
              <a:spcBef>
                <a:spcPts val="0"/>
              </a:spcBef>
              <a:spcAft>
                <a:spcPts val="0"/>
              </a:spcAft>
              <a:buSzPts val="1500"/>
              <a:buChar char="●"/>
            </a:pPr>
            <a:r>
              <a:rPr lang="en-US" sz="1100" dirty="0"/>
              <a:t>We need a </a:t>
            </a:r>
            <a:r>
              <a:rPr lang="en-US" sz="1100" b="1" dirty="0">
                <a:solidFill>
                  <a:schemeClr val="dk2"/>
                </a:solidFill>
              </a:rPr>
              <a:t>matching mechanism</a:t>
            </a:r>
            <a:r>
              <a:rPr lang="en-US" sz="1100" dirty="0"/>
              <a:t>: a mechanism that maps reported preferences into an assignment/matching.</a:t>
            </a:r>
          </a:p>
          <a:p>
            <a:pPr marL="457200" lvl="0" indent="-323850" algn="l" rtl="0">
              <a:spcBef>
                <a:spcPts val="0"/>
              </a:spcBef>
              <a:spcAft>
                <a:spcPts val="0"/>
              </a:spcAft>
              <a:buSzPts val="1500"/>
              <a:buChar char="●"/>
            </a:pPr>
            <a:r>
              <a:rPr lang="en-US" sz="1100" dirty="0"/>
              <a:t>So, let’s design a marketplace to assign officers to billets!</a:t>
            </a:r>
          </a:p>
          <a:p>
            <a:pPr marL="457200" lvl="0" indent="-323850" algn="l" rtl="0">
              <a:spcBef>
                <a:spcPts val="0"/>
              </a:spcBef>
              <a:spcAft>
                <a:spcPts val="0"/>
              </a:spcAft>
              <a:buSzPts val="1500"/>
              <a:buChar char="●"/>
            </a:pPr>
            <a:r>
              <a:rPr lang="en-US" sz="1100" dirty="0"/>
              <a:t>Goals? Efficiency, simplicity, fairness, and transparency</a:t>
            </a:r>
          </a:p>
          <a:p>
            <a:pPr marL="457200" lvl="0" indent="-323850" algn="l" rtl="0">
              <a:spcBef>
                <a:spcPts val="0"/>
              </a:spcBef>
              <a:spcAft>
                <a:spcPts val="0"/>
              </a:spcAft>
              <a:buSzPts val="1500"/>
              <a:buChar char="●"/>
            </a:pPr>
            <a:r>
              <a:rPr lang="en-US" sz="1100" dirty="0"/>
              <a:t>Two-sided matching problem!</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81568475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5DBF8D03-A073-0AAA-9642-0401B8DD5271}"/>
            </a:ext>
          </a:extLst>
        </p:cNvPr>
        <p:cNvGrpSpPr/>
        <p:nvPr/>
      </p:nvGrpSpPr>
      <p:grpSpPr>
        <a:xfrm>
          <a:off x="0" y="0"/>
          <a:ext cx="0" cy="0"/>
          <a:chOff x="0" y="0"/>
          <a:chExt cx="0" cy="0"/>
        </a:xfrm>
      </p:grpSpPr>
      <p:sp>
        <p:nvSpPr>
          <p:cNvPr id="160" name="Google Shape;160;g118a705859e_0_11:notes">
            <a:extLst>
              <a:ext uri="{FF2B5EF4-FFF2-40B4-BE49-F238E27FC236}">
                <a16:creationId xmlns:a16="http://schemas.microsoft.com/office/drawing/2014/main" id="{A55BB7AF-575C-EB17-5A5F-E313E01F96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118a705859e_0_11:notes">
            <a:extLst>
              <a:ext uri="{FF2B5EF4-FFF2-40B4-BE49-F238E27FC236}">
                <a16:creationId xmlns:a16="http://schemas.microsoft.com/office/drawing/2014/main" id="{A0477F3F-D2CF-2E10-1EFD-6211732908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517504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0ee5137a53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0ee5137a5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46050" lvl="0" indent="0" algn="l" rtl="0">
              <a:lnSpc>
                <a:spcPct val="115000"/>
              </a:lnSpc>
              <a:spcBef>
                <a:spcPts val="0"/>
              </a:spcBef>
              <a:spcAft>
                <a:spcPts val="0"/>
              </a:spcAft>
              <a:buClr>
                <a:srgbClr val="595959"/>
              </a:buClr>
              <a:buSzPts val="1300"/>
              <a:buFont typeface="Lato"/>
              <a:buNone/>
            </a:pPr>
            <a:r>
              <a:rPr lang="en-US" dirty="0"/>
              <a:t>DA algorithm</a:t>
            </a:r>
            <a:endParaRPr dirty="0"/>
          </a:p>
        </p:txBody>
      </p:sp>
    </p:spTree>
    <p:extLst>
      <p:ext uri="{BB962C8B-B14F-4D97-AF65-F5344CB8AC3E}">
        <p14:creationId xmlns:p14="http://schemas.microsoft.com/office/powerpoint/2010/main" val="327873498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118a705859e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18a705859e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0ee5137a53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0ee5137a5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46050" lvl="0" indent="0" algn="l" rtl="0">
              <a:lnSpc>
                <a:spcPct val="115000"/>
              </a:lnSpc>
              <a:spcBef>
                <a:spcPts val="0"/>
              </a:spcBef>
              <a:spcAft>
                <a:spcPts val="0"/>
              </a:spcAft>
              <a:buClr>
                <a:srgbClr val="595959"/>
              </a:buClr>
              <a:buSzPts val="1300"/>
              <a:buFont typeface="Lato"/>
              <a:buNone/>
            </a:pPr>
            <a:r>
              <a:rPr lang="en-US" dirty="0"/>
              <a:t>AY22 and AY23 and AY24 comparisons – AY = assignment year</a:t>
            </a:r>
            <a:endParaRPr dirty="0"/>
          </a:p>
        </p:txBody>
      </p:sp>
    </p:spTree>
    <p:extLst>
      <p:ext uri="{BB962C8B-B14F-4D97-AF65-F5344CB8AC3E}">
        <p14:creationId xmlns:p14="http://schemas.microsoft.com/office/powerpoint/2010/main" val="118224171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9A580821-2B7B-E6CB-B086-B327226DFCD7}"/>
            </a:ext>
          </a:extLst>
        </p:cNvPr>
        <p:cNvGrpSpPr/>
        <p:nvPr/>
      </p:nvGrpSpPr>
      <p:grpSpPr>
        <a:xfrm>
          <a:off x="0" y="0"/>
          <a:ext cx="0" cy="0"/>
          <a:chOff x="0" y="0"/>
          <a:chExt cx="0" cy="0"/>
        </a:xfrm>
      </p:grpSpPr>
      <p:sp>
        <p:nvSpPr>
          <p:cNvPr id="95" name="Google Shape;95;g10ee5137a53_0_234:notes">
            <a:extLst>
              <a:ext uri="{FF2B5EF4-FFF2-40B4-BE49-F238E27FC236}">
                <a16:creationId xmlns:a16="http://schemas.microsoft.com/office/drawing/2014/main" id="{7229B8A8-CBDD-F991-09F9-9B93E42689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0ee5137a53_0_234:notes">
            <a:extLst>
              <a:ext uri="{FF2B5EF4-FFF2-40B4-BE49-F238E27FC236}">
                <a16:creationId xmlns:a16="http://schemas.microsoft.com/office/drawing/2014/main" id="{F8A12A96-3AE0-AB86-BFA2-BFDE1B8B50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marR="0" lvl="0" indent="-323850" algn="l" defTabSz="914400" rtl="0" eaLnBrk="1" fontAlgn="auto" latinLnBrk="0" hangingPunct="1">
              <a:lnSpc>
                <a:spcPct val="100000"/>
              </a:lnSpc>
              <a:spcBef>
                <a:spcPts val="0"/>
              </a:spcBef>
              <a:spcAft>
                <a:spcPts val="0"/>
              </a:spcAft>
              <a:buClr>
                <a:srgbClr val="000000"/>
              </a:buClr>
              <a:buSzPts val="1500"/>
              <a:buFont typeface="Arial"/>
              <a:buChar char="●"/>
              <a:tabLst/>
              <a:defRPr/>
            </a:pPr>
            <a:r>
              <a:rPr lang="en-US" sz="1500" b="1" dirty="0"/>
              <a:t>Market Design</a:t>
            </a:r>
            <a:r>
              <a:rPr lang="en-US" sz="1500" dirty="0"/>
              <a:t>: how do we set up a strategic environment so that if “players” follow a certain type of behavior, we get a desired outcome?</a:t>
            </a:r>
          </a:p>
          <a:p>
            <a:pPr marL="457200" lvl="0" indent="-323850" algn="l" rtl="0">
              <a:spcBef>
                <a:spcPts val="0"/>
              </a:spcBef>
              <a:spcAft>
                <a:spcPts val="0"/>
              </a:spcAft>
              <a:buSzPts val="1500"/>
              <a:buChar char="●"/>
            </a:pPr>
            <a:r>
              <a:rPr lang="en-US" sz="1500" dirty="0"/>
              <a:t>In market design, when all of the data is available, the problem simply reduces to an optimization problem that can be solved with well known techniques / procedures</a:t>
            </a:r>
          </a:p>
          <a:p>
            <a:pPr marL="914400" lvl="1" indent="-323850" algn="l" rtl="0">
              <a:spcBef>
                <a:spcPts val="0"/>
              </a:spcBef>
              <a:spcAft>
                <a:spcPts val="0"/>
              </a:spcAft>
              <a:buSzPts val="1500"/>
              <a:buChar char="○"/>
            </a:pPr>
            <a:r>
              <a:rPr lang="en-US" sz="1500" dirty="0"/>
              <a:t>Integer programming, linear programming, dynamic programming</a:t>
            </a:r>
            <a:endParaRPr lang="en-US" sz="1300" dirty="0"/>
          </a:p>
          <a:p>
            <a:pPr marL="457200" lvl="0" indent="-323850" algn="l" rtl="0">
              <a:spcBef>
                <a:spcPts val="0"/>
              </a:spcBef>
              <a:spcAft>
                <a:spcPts val="0"/>
              </a:spcAft>
              <a:buSzPts val="1500"/>
              <a:buChar char="●"/>
            </a:pPr>
            <a:r>
              <a:rPr lang="en-US" sz="1100" dirty="0"/>
              <a:t>The problem is that the real world is more fuzzy. Information is privately held, and we must utilize various incentive mechanisms to reveal information (like true billet rankings)</a:t>
            </a:r>
          </a:p>
          <a:p>
            <a:pPr marL="457200" lvl="0" indent="-323850" algn="l" rtl="0">
              <a:spcBef>
                <a:spcPts val="0"/>
              </a:spcBef>
              <a:spcAft>
                <a:spcPts val="0"/>
              </a:spcAft>
              <a:buSzPts val="1500"/>
              <a:buChar char="●"/>
            </a:pPr>
            <a:r>
              <a:rPr lang="en-US" sz="1100" dirty="0"/>
              <a:t>We need a </a:t>
            </a:r>
            <a:r>
              <a:rPr lang="en-US" sz="1100" b="1" dirty="0">
                <a:solidFill>
                  <a:schemeClr val="dk2"/>
                </a:solidFill>
              </a:rPr>
              <a:t>matching mechanism</a:t>
            </a:r>
            <a:r>
              <a:rPr lang="en-US" sz="1100" dirty="0"/>
              <a:t>: a mechanism that maps reported preferences into an assignment/matching.</a:t>
            </a:r>
          </a:p>
          <a:p>
            <a:pPr marL="457200" lvl="0" indent="-323850" algn="l" rtl="0">
              <a:spcBef>
                <a:spcPts val="0"/>
              </a:spcBef>
              <a:spcAft>
                <a:spcPts val="0"/>
              </a:spcAft>
              <a:buSzPts val="1500"/>
              <a:buChar char="●"/>
            </a:pPr>
            <a:r>
              <a:rPr lang="en-US" sz="1100" dirty="0"/>
              <a:t>So, let’s design a marketplace to assign officers to billets!</a:t>
            </a:r>
          </a:p>
          <a:p>
            <a:pPr marL="457200" lvl="0" indent="-323850" algn="l" rtl="0">
              <a:spcBef>
                <a:spcPts val="0"/>
              </a:spcBef>
              <a:spcAft>
                <a:spcPts val="0"/>
              </a:spcAft>
              <a:buSzPts val="1500"/>
              <a:buChar char="●"/>
            </a:pPr>
            <a:r>
              <a:rPr lang="en-US" sz="1100" dirty="0"/>
              <a:t>Goals? Efficiency, simplicity, fairness, and transparency</a:t>
            </a:r>
          </a:p>
          <a:p>
            <a:pPr marL="457200" lvl="0" indent="-323850" algn="l" rtl="0">
              <a:spcBef>
                <a:spcPts val="0"/>
              </a:spcBef>
              <a:spcAft>
                <a:spcPts val="0"/>
              </a:spcAft>
              <a:buSzPts val="1500"/>
              <a:buChar char="●"/>
            </a:pPr>
            <a:r>
              <a:rPr lang="en-US" sz="1100" dirty="0"/>
              <a:t>Two-sided matching problem!</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62389152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0ee5137a53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0ee5137a5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46050" lvl="0" indent="0" algn="l" rtl="0">
              <a:lnSpc>
                <a:spcPct val="115000"/>
              </a:lnSpc>
              <a:spcBef>
                <a:spcPts val="0"/>
              </a:spcBef>
              <a:spcAft>
                <a:spcPts val="0"/>
              </a:spcAft>
              <a:buClr>
                <a:srgbClr val="595959"/>
              </a:buClr>
              <a:buSzPts val="1300"/>
              <a:buFont typeface="Lato"/>
              <a:buNone/>
            </a:pPr>
            <a:r>
              <a:rPr lang="en-US" dirty="0"/>
              <a:t>AY22 and AY23 and AY24 comparisons</a:t>
            </a:r>
            <a:endParaRPr dirty="0"/>
          </a:p>
        </p:txBody>
      </p:sp>
    </p:spTree>
    <p:extLst>
      <p:ext uri="{BB962C8B-B14F-4D97-AF65-F5344CB8AC3E}">
        <p14:creationId xmlns:p14="http://schemas.microsoft.com/office/powerpoint/2010/main" val="261201347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1140a572673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1140a572673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hyperlink" Target="https://en.wikipedia.org/wiki/Lattice_of_stable_matchings" TargetMode="External"/><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1.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40.png"/></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40.png"/></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3.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6.png"/></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4.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4.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hyperlink" Target="https://www.vannevarlabs.com/" TargetMode="External"/><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8" Type="http://schemas.openxmlformats.org/officeDocument/2006/relationships/hyperlink" Target="https://web.stanford.edu/~alroth/papers/GaleandShapley.revised.IJGT.pdf" TargetMode="External"/><Relationship Id="rId3" Type="http://schemas.openxmlformats.org/officeDocument/2006/relationships/hyperlink" Target="https://dl.acm.org/doi/abs/10.1145/2692375.2692379" TargetMode="External"/><Relationship Id="rId7" Type="http://schemas.openxmlformats.org/officeDocument/2006/relationships/hyperlink" Target="https://web.stanford.edu/~iashlagi/papers/ties-anr.pdf" TargetMode="External"/><Relationship Id="rId2" Type="http://schemas.openxmlformats.org/officeDocument/2006/relationships/notesSlide" Target="../notesSlides/notesSlide78.xml"/><Relationship Id="rId1" Type="http://schemas.openxmlformats.org/officeDocument/2006/relationships/slideLayout" Target="../slideLayouts/slideLayout3.xml"/><Relationship Id="rId6" Type="http://schemas.openxmlformats.org/officeDocument/2006/relationships/hyperlink" Target="https://www.nrmp.org/intro-to-the-match/how-matching-algorithm-works/" TargetMode="External"/><Relationship Id="rId5" Type="http://schemas.openxmlformats.org/officeDocument/2006/relationships/hyperlink" Target="http://assafromm.weebly.com/research.html" TargetMode="External"/><Relationship Id="rId4" Type="http://schemas.openxmlformats.org/officeDocument/2006/relationships/hyperlink" Target="https://scholar.google.com/scholar?hl=en&amp;as_sdt=0%2C5&amp;q=cadet+matching&amp;bt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9450" y="1322450"/>
            <a:ext cx="7688100" cy="1728178"/>
          </a:xfrm>
          <a:prstGeom prst="rect">
            <a:avLst/>
          </a:prstGeom>
        </p:spPr>
        <p:txBody>
          <a:bodyPr spcFirstLastPara="1" wrap="square" lIns="91425" tIns="91425" rIns="91425" bIns="91425" anchor="t" anchorCtr="0">
            <a:normAutofit/>
          </a:bodyPr>
          <a:lstStyle/>
          <a:p>
            <a:pPr lvl="0"/>
            <a:r>
              <a:rPr lang="en" sz="4000" dirty="0"/>
              <a:t>Market Design for U.S. Coast Guard Assignments</a:t>
            </a:r>
            <a:endParaRPr sz="2000" dirty="0"/>
          </a:p>
        </p:txBody>
      </p:sp>
      <p:sp>
        <p:nvSpPr>
          <p:cNvPr id="87" name="Google Shape;87;p13"/>
          <p:cNvSpPr txBox="1">
            <a:spLocks noGrp="1"/>
          </p:cNvSpPr>
          <p:nvPr>
            <p:ph type="subTitle" idx="1"/>
          </p:nvPr>
        </p:nvSpPr>
        <p:spPr>
          <a:xfrm>
            <a:off x="729450" y="3063087"/>
            <a:ext cx="7688100" cy="1673141"/>
          </a:xfrm>
          <a:prstGeom prst="rect">
            <a:avLst/>
          </a:prstGeom>
        </p:spPr>
        <p:txBody>
          <a:bodyPr spcFirstLastPara="1" wrap="square" lIns="91425" tIns="91425" rIns="91425" bIns="91425" anchor="t" anchorCtr="0">
            <a:normAutofit/>
          </a:bodyPr>
          <a:lstStyle/>
          <a:p>
            <a:pPr marL="0" indent="0"/>
            <a:r>
              <a:rPr lang="en" dirty="0"/>
              <a:t>LCDR Luke Carani, Data Scientist</a:t>
            </a:r>
          </a:p>
          <a:p>
            <a:pPr marL="0" indent="0"/>
            <a:r>
              <a:rPr lang="en" dirty="0"/>
              <a:t>Officer Personnel Management Division</a:t>
            </a:r>
          </a:p>
          <a:p>
            <a:pPr marL="0" indent="0"/>
            <a:r>
              <a:rPr lang="en" dirty="0"/>
              <a:t>Officer Assignments Branch (CG-PSC-OPM-2)</a:t>
            </a:r>
          </a:p>
          <a:p>
            <a:pPr marL="0" indent="0"/>
            <a:r>
              <a:rPr lang="en" dirty="0"/>
              <a:t>U.S. Coast Guard Reserve (USCGR)</a:t>
            </a:r>
          </a:p>
          <a:p>
            <a:pPr marL="0" indent="0"/>
            <a:endParaRPr lang="en" dirty="0"/>
          </a:p>
          <a:p>
            <a:pPr marL="0" indent="0"/>
            <a:r>
              <a:rPr lang="en" dirty="0"/>
              <a:t>Intermediate Deterministic Models, Thursday, February 12</a:t>
            </a:r>
            <a:r>
              <a:rPr lang="en" baseline="30000" dirty="0"/>
              <a:t>th</a:t>
            </a:r>
            <a:r>
              <a:rPr lang="en" dirty="0"/>
              <a:t>, 2026</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a:xfrm>
            <a:off x="729450" y="651138"/>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Intro</a:t>
            </a:r>
            <a:endParaRPr dirty="0"/>
          </a:p>
        </p:txBody>
      </p:sp>
      <p:sp>
        <p:nvSpPr>
          <p:cNvPr id="158" name="Google Shape;158;p25"/>
          <p:cNvSpPr txBox="1">
            <a:spLocks noGrp="1"/>
          </p:cNvSpPr>
          <p:nvPr>
            <p:ph type="body" idx="1"/>
          </p:nvPr>
        </p:nvSpPr>
        <p:spPr>
          <a:xfrm>
            <a:off x="729450" y="1316484"/>
            <a:ext cx="7489990" cy="3566412"/>
          </a:xfrm>
          <a:prstGeom prst="rect">
            <a:avLst/>
          </a:prstGeom>
        </p:spPr>
        <p:txBody>
          <a:bodyPr spcFirstLastPara="1" wrap="square" lIns="91425" tIns="91425" rIns="91425" bIns="91425" anchor="t" anchorCtr="0">
            <a:noAutofit/>
          </a:bodyPr>
          <a:lstStyle/>
          <a:p>
            <a:pPr marL="146050" indent="0">
              <a:buNone/>
            </a:pPr>
            <a:r>
              <a:rPr lang="en-US" sz="1800" dirty="0"/>
              <a:t>LCDR Luke Carani, USCGR</a:t>
            </a:r>
          </a:p>
          <a:p>
            <a:pPr marL="146050" indent="0">
              <a:buNone/>
            </a:pPr>
            <a:endParaRPr lang="en-US" sz="900" dirty="0"/>
          </a:p>
          <a:p>
            <a:pPr marL="146050" indent="0">
              <a:buNone/>
            </a:pPr>
            <a:r>
              <a:rPr lang="en-US" sz="1400" b="1" u="sng" dirty="0"/>
              <a:t>Career:</a:t>
            </a:r>
          </a:p>
          <a:p>
            <a:r>
              <a:rPr lang="en-US" sz="1400" dirty="0"/>
              <a:t>DWO/BO/1LT, USCGC ESCANABA </a:t>
            </a:r>
            <a:r>
              <a:rPr lang="en-US" sz="1400" b="1" dirty="0"/>
              <a:t>(2015 – 2017)</a:t>
            </a:r>
          </a:p>
          <a:p>
            <a:r>
              <a:rPr lang="en-US" sz="1400" dirty="0"/>
              <a:t>GEOINT Analyst, National Geospatial-Intelligence Agency </a:t>
            </a:r>
            <a:r>
              <a:rPr lang="en-US" sz="1400" b="1" dirty="0"/>
              <a:t>(2017 – 2020)</a:t>
            </a:r>
            <a:endParaRPr lang="en-US" sz="1400" dirty="0"/>
          </a:p>
          <a:p>
            <a:r>
              <a:rPr lang="en-US" sz="1400" dirty="0"/>
              <a:t>Grad School (ORDA PG / Adv Ed Program) </a:t>
            </a:r>
            <a:r>
              <a:rPr lang="en-US" sz="1400" b="1" dirty="0"/>
              <a:t>(2020 – 2022)</a:t>
            </a:r>
            <a:endParaRPr lang="en-US" sz="1400" dirty="0"/>
          </a:p>
          <a:p>
            <a:r>
              <a:rPr lang="en-US" sz="1400" dirty="0"/>
              <a:t>Data Scientist, Workforce Planning and Analytics Div (DCMS-DPR-22) </a:t>
            </a:r>
            <a:r>
              <a:rPr lang="en-US" sz="1400" b="1" dirty="0"/>
              <a:t>(2022 – 2024)</a:t>
            </a:r>
          </a:p>
          <a:p>
            <a:r>
              <a:rPr lang="en-US" sz="1400" dirty="0"/>
              <a:t>Data Scientist, OPM-2 </a:t>
            </a:r>
            <a:r>
              <a:rPr lang="en-US" sz="1400" b="1" dirty="0"/>
              <a:t>(2024 – Present, started reserves October 2025)</a:t>
            </a:r>
          </a:p>
          <a:p>
            <a:r>
              <a:rPr lang="en-US" sz="1400" dirty="0"/>
              <a:t>Forward Deployed Engineer, Vannevar </a:t>
            </a:r>
            <a:r>
              <a:rPr lang="en-US" sz="1400" b="1" dirty="0"/>
              <a:t>(2025 – Present) </a:t>
            </a:r>
            <a:endParaRPr lang="en-US" sz="1400" dirty="0"/>
          </a:p>
          <a:p>
            <a:pPr marL="146050" indent="0">
              <a:buNone/>
            </a:pPr>
            <a:endParaRPr lang="en-US" sz="500" dirty="0"/>
          </a:p>
          <a:p>
            <a:pPr marL="146050" indent="0">
              <a:buNone/>
            </a:pPr>
            <a:r>
              <a:rPr lang="en-US" sz="1400" b="1" u="sng" dirty="0"/>
              <a:t>Education:</a:t>
            </a:r>
            <a:endParaRPr lang="en-US" sz="1400" dirty="0"/>
          </a:p>
          <a:p>
            <a:r>
              <a:rPr lang="en-US" sz="1400" dirty="0"/>
              <a:t>US Coast Guard Academy, BS in Operations Research &amp; Computer Analysis, ‘15</a:t>
            </a:r>
          </a:p>
          <a:p>
            <a:r>
              <a:rPr lang="en-US" sz="1400" dirty="0"/>
              <a:t>National Intelligence University, MSTI in Cyber Intelligence &amp; Data Analytics, ‘20</a:t>
            </a:r>
          </a:p>
          <a:p>
            <a:r>
              <a:rPr lang="en-US" sz="1400" dirty="0"/>
              <a:t>Stanford University, MS in Management Science &amp; Engineering, ‘22</a:t>
            </a:r>
          </a:p>
        </p:txBody>
      </p:sp>
    </p:spTree>
    <p:extLst>
      <p:ext uri="{BB962C8B-B14F-4D97-AF65-F5344CB8AC3E}">
        <p14:creationId xmlns:p14="http://schemas.microsoft.com/office/powerpoint/2010/main" val="3815739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Agenda</a:t>
            </a:r>
          </a:p>
        </p:txBody>
      </p:sp>
      <p:sp>
        <p:nvSpPr>
          <p:cNvPr id="158" name="Google Shape;158;p25"/>
          <p:cNvSpPr txBox="1">
            <a:spLocks noGrp="1"/>
          </p:cNvSpPr>
          <p:nvPr>
            <p:ph type="body" idx="1"/>
          </p:nvPr>
        </p:nvSpPr>
        <p:spPr>
          <a:xfrm>
            <a:off x="729450" y="1926474"/>
            <a:ext cx="7489990" cy="2981588"/>
          </a:xfrm>
          <a:prstGeom prst="rect">
            <a:avLst/>
          </a:prstGeom>
        </p:spPr>
        <p:txBody>
          <a:bodyPr spcFirstLastPara="1" wrap="square" lIns="91425" tIns="91425" rIns="91425" bIns="91425" anchor="t" anchorCtr="0">
            <a:noAutofit/>
          </a:bodyPr>
          <a:lstStyle/>
          <a:p>
            <a:pPr marL="457200" lvl="0" indent="-311150" algn="l" rtl="0">
              <a:lnSpc>
                <a:spcPct val="100000"/>
              </a:lnSpc>
              <a:spcBef>
                <a:spcPts val="0"/>
              </a:spcBef>
              <a:spcAft>
                <a:spcPts val="0"/>
              </a:spcAft>
              <a:buSzPts val="1300"/>
              <a:buChar char="●"/>
            </a:pPr>
            <a:r>
              <a:rPr lang="en-US" sz="1600" dirty="0"/>
              <a:t>Background &amp; Context</a:t>
            </a:r>
          </a:p>
          <a:p>
            <a:pPr marL="457200" lvl="0" indent="-311150" algn="l" rtl="0">
              <a:lnSpc>
                <a:spcPct val="100000"/>
              </a:lnSpc>
              <a:spcBef>
                <a:spcPts val="0"/>
              </a:spcBef>
              <a:spcAft>
                <a:spcPts val="0"/>
              </a:spcAft>
              <a:buSzPts val="1300"/>
              <a:buChar char="●"/>
            </a:pPr>
            <a:r>
              <a:rPr lang="en-US" sz="1600" dirty="0"/>
              <a:t>Market Design Overview</a:t>
            </a:r>
          </a:p>
          <a:p>
            <a:pPr marL="457200" lvl="0" indent="-311150" algn="l" rtl="0">
              <a:lnSpc>
                <a:spcPct val="100000"/>
              </a:lnSpc>
              <a:spcBef>
                <a:spcPts val="0"/>
              </a:spcBef>
              <a:spcAft>
                <a:spcPts val="0"/>
              </a:spcAft>
              <a:buSzPts val="1300"/>
              <a:buChar char="●"/>
            </a:pPr>
            <a:r>
              <a:rPr lang="en-US" sz="1600" dirty="0"/>
              <a:t>2-sided Matching Algorithms (DA + TTC) </a:t>
            </a:r>
          </a:p>
          <a:p>
            <a:pPr marL="457200" lvl="0" indent="-311150" algn="l" rtl="0">
              <a:lnSpc>
                <a:spcPct val="100000"/>
              </a:lnSpc>
              <a:spcBef>
                <a:spcPts val="0"/>
              </a:spcBef>
              <a:spcAft>
                <a:spcPts val="0"/>
              </a:spcAft>
              <a:buSzPts val="1300"/>
              <a:buChar char="●"/>
            </a:pPr>
            <a:r>
              <a:rPr lang="en-US" sz="1600" dirty="0"/>
              <a:t>Toy Problem # 1 – DA</a:t>
            </a:r>
          </a:p>
          <a:p>
            <a:pPr marL="457200" lvl="0" indent="-311150" algn="l" rtl="0">
              <a:lnSpc>
                <a:spcPct val="100000"/>
              </a:lnSpc>
              <a:spcBef>
                <a:spcPts val="0"/>
              </a:spcBef>
              <a:spcAft>
                <a:spcPts val="0"/>
              </a:spcAft>
              <a:buSzPts val="1300"/>
              <a:buChar char="●"/>
            </a:pPr>
            <a:r>
              <a:rPr lang="en-US" sz="1600" dirty="0"/>
              <a:t>Toy Problem # 2 – TTC</a:t>
            </a:r>
          </a:p>
          <a:p>
            <a:pPr marL="457200" lvl="0" indent="-311150" algn="l" rtl="0">
              <a:lnSpc>
                <a:spcPct val="100000"/>
              </a:lnSpc>
              <a:spcBef>
                <a:spcPts val="0"/>
              </a:spcBef>
              <a:spcAft>
                <a:spcPts val="0"/>
              </a:spcAft>
              <a:buSzPts val="1300"/>
              <a:buChar char="●"/>
            </a:pPr>
            <a:r>
              <a:rPr lang="en-US" sz="1600" dirty="0"/>
              <a:t>Assignment Problem Framing (O5 and below)</a:t>
            </a:r>
          </a:p>
          <a:p>
            <a:pPr>
              <a:lnSpc>
                <a:spcPct val="100000"/>
              </a:lnSpc>
            </a:pPr>
            <a:r>
              <a:rPr lang="en-US" sz="1600" dirty="0"/>
              <a:t>Assignment Problem Framing (O6)</a:t>
            </a:r>
          </a:p>
          <a:p>
            <a:pPr>
              <a:lnSpc>
                <a:spcPct val="100000"/>
              </a:lnSpc>
            </a:pPr>
            <a:r>
              <a:rPr lang="en-US" sz="1600" dirty="0"/>
              <a:t>Assignment Problem Framing (New Accessions)</a:t>
            </a:r>
          </a:p>
          <a:p>
            <a:pPr marL="457200" lvl="0" indent="-311150" algn="l" rtl="0">
              <a:lnSpc>
                <a:spcPct val="100000"/>
              </a:lnSpc>
              <a:spcBef>
                <a:spcPts val="0"/>
              </a:spcBef>
              <a:spcAft>
                <a:spcPts val="0"/>
              </a:spcAft>
              <a:buSzPts val="1300"/>
              <a:buChar char="●"/>
            </a:pPr>
            <a:r>
              <a:rPr lang="en-US" sz="1600" dirty="0"/>
              <a:t>Further Reading</a:t>
            </a:r>
          </a:p>
        </p:txBody>
      </p:sp>
    </p:spTree>
    <p:extLst>
      <p:ext uri="{BB962C8B-B14F-4D97-AF65-F5344CB8AC3E}">
        <p14:creationId xmlns:p14="http://schemas.microsoft.com/office/powerpoint/2010/main" val="259580986"/>
      </p:ext>
    </p:extLst>
  </p:cSld>
  <p:clrMapOvr>
    <a:masterClrMapping/>
  </p:clrMapOvr>
  <mc:AlternateContent xmlns:mc="http://schemas.openxmlformats.org/markup-compatibility/2006" xmlns:p14="http://schemas.microsoft.com/office/powerpoint/2010/main">
    <mc:Choice Requires="p14">
      <p:transition spd="slow" p14:dur="2000" advTm="23751"/>
    </mc:Choice>
    <mc:Fallback xmlns="">
      <p:transition spd="slow" advTm="23751"/>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Background: Assignment Process</a:t>
            </a:r>
            <a:endParaRPr lang="en-US" dirty="0"/>
          </a:p>
        </p:txBody>
      </p:sp>
      <p:sp>
        <p:nvSpPr>
          <p:cNvPr id="158" name="Google Shape;158;p25"/>
          <p:cNvSpPr txBox="1">
            <a:spLocks noGrp="1"/>
          </p:cNvSpPr>
          <p:nvPr>
            <p:ph type="body" idx="1"/>
          </p:nvPr>
        </p:nvSpPr>
        <p:spPr>
          <a:xfrm>
            <a:off x="729450" y="1926474"/>
            <a:ext cx="7489990" cy="2981588"/>
          </a:xfrm>
          <a:prstGeom prst="rect">
            <a:avLst/>
          </a:prstGeom>
        </p:spPr>
        <p:txBody>
          <a:bodyPr spcFirstLastPara="1" wrap="square" lIns="91425" tIns="91425" rIns="91425" bIns="91425" anchor="t" anchorCtr="0">
            <a:noAutofit/>
          </a:bodyPr>
          <a:lstStyle/>
          <a:p>
            <a:r>
              <a:rPr lang="en-US" sz="1800" b="1" u="sng" dirty="0"/>
              <a:t>Assignment Officer (Detailer)</a:t>
            </a:r>
            <a:r>
              <a:rPr lang="en-US" sz="1800" b="1" dirty="0"/>
              <a:t> </a:t>
            </a:r>
            <a:r>
              <a:rPr lang="en-US" sz="1800" b="1" dirty="0">
                <a:sym typeface="Wingdings" panose="05000000000000000000" pitchFamily="2" charset="2"/>
              </a:rPr>
              <a:t> </a:t>
            </a:r>
            <a:r>
              <a:rPr lang="en-US" sz="1800" dirty="0"/>
              <a:t>make assignments of officers to new jobs</a:t>
            </a:r>
          </a:p>
          <a:p>
            <a:r>
              <a:rPr lang="en-US" sz="1800" dirty="0"/>
              <a:t>Divided by different “accounts” – afloat, aviation, prevention, intel, response, cyber, etc.</a:t>
            </a:r>
          </a:p>
          <a:p>
            <a:r>
              <a:rPr lang="en-US" sz="1800" b="1" u="sng" dirty="0"/>
              <a:t>E-Resume</a:t>
            </a:r>
            <a:r>
              <a:rPr lang="en-US" sz="1800" b="1" dirty="0"/>
              <a:t> </a:t>
            </a:r>
            <a:r>
              <a:rPr lang="en-US" sz="1800" b="1" dirty="0">
                <a:sym typeface="Wingdings" panose="05000000000000000000" pitchFamily="2" charset="2"/>
              </a:rPr>
              <a:t> </a:t>
            </a:r>
            <a:r>
              <a:rPr lang="en-US" sz="1800" dirty="0"/>
              <a:t>rank-ordered list of specific jobs (billets) an officer is interested in for their next assignment. Required to submit when “in play” or “up for rotation”</a:t>
            </a:r>
          </a:p>
        </p:txBody>
      </p:sp>
    </p:spTree>
    <p:extLst>
      <p:ext uri="{BB962C8B-B14F-4D97-AF65-F5344CB8AC3E}">
        <p14:creationId xmlns:p14="http://schemas.microsoft.com/office/powerpoint/2010/main" val="3689835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B247F234-89B7-22C9-E091-734B32DEB3F3}"/>
            </a:ext>
          </a:extLst>
        </p:cNvPr>
        <p:cNvGrpSpPr/>
        <p:nvPr/>
      </p:nvGrpSpPr>
      <p:grpSpPr>
        <a:xfrm>
          <a:off x="0" y="0"/>
          <a:ext cx="0" cy="0"/>
          <a:chOff x="0" y="0"/>
          <a:chExt cx="0" cy="0"/>
        </a:xfrm>
      </p:grpSpPr>
      <p:sp>
        <p:nvSpPr>
          <p:cNvPr id="157" name="Google Shape;157;p25">
            <a:extLst>
              <a:ext uri="{FF2B5EF4-FFF2-40B4-BE49-F238E27FC236}">
                <a16:creationId xmlns:a16="http://schemas.microsoft.com/office/drawing/2014/main" id="{FE0E5E5B-6724-9457-51A3-2429F7B67377}"/>
              </a:ext>
            </a:extLst>
          </p:cNvPr>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Background: Assignment Process</a:t>
            </a:r>
            <a:endParaRPr lang="en-US" dirty="0"/>
          </a:p>
        </p:txBody>
      </p:sp>
      <p:sp>
        <p:nvSpPr>
          <p:cNvPr id="158" name="Google Shape;158;p25">
            <a:extLst>
              <a:ext uri="{FF2B5EF4-FFF2-40B4-BE49-F238E27FC236}">
                <a16:creationId xmlns:a16="http://schemas.microsoft.com/office/drawing/2014/main" id="{005D1FB1-5573-E298-5341-897E6FD18A19}"/>
              </a:ext>
            </a:extLst>
          </p:cNvPr>
          <p:cNvSpPr txBox="1">
            <a:spLocks noGrp="1"/>
          </p:cNvSpPr>
          <p:nvPr>
            <p:ph type="body" idx="1"/>
          </p:nvPr>
        </p:nvSpPr>
        <p:spPr>
          <a:xfrm>
            <a:off x="729450" y="1926474"/>
            <a:ext cx="7489990" cy="2981588"/>
          </a:xfrm>
          <a:prstGeom prst="rect">
            <a:avLst/>
          </a:prstGeom>
        </p:spPr>
        <p:txBody>
          <a:bodyPr spcFirstLastPara="1" wrap="square" lIns="91425" tIns="91425" rIns="91425" bIns="91425" anchor="t" anchorCtr="0">
            <a:noAutofit/>
          </a:bodyPr>
          <a:lstStyle/>
          <a:p>
            <a:pPr marL="146050" indent="0">
              <a:buNone/>
            </a:pPr>
            <a:r>
              <a:rPr lang="en-US" sz="1800" dirty="0"/>
              <a:t>Three distinct groups:</a:t>
            </a:r>
          </a:p>
          <a:p>
            <a:pPr marL="946150" lvl="1" indent="-342900">
              <a:buFont typeface="+mj-lt"/>
              <a:buAutoNum type="arabicPeriod"/>
            </a:pPr>
            <a:r>
              <a:rPr lang="en-US" sz="1600" dirty="0"/>
              <a:t>New accessions (USCGA, OCS, DCO)</a:t>
            </a:r>
          </a:p>
          <a:p>
            <a:pPr marL="946150" lvl="1" indent="-342900">
              <a:buFont typeface="+mj-lt"/>
              <a:buAutoNum type="arabicPeriod"/>
            </a:pPr>
            <a:r>
              <a:rPr lang="en-US" sz="1600" dirty="0"/>
              <a:t>O5 and below</a:t>
            </a:r>
          </a:p>
          <a:p>
            <a:pPr marL="946150" lvl="1" indent="-342900">
              <a:buFont typeface="+mj-lt"/>
              <a:buAutoNum type="arabicPeriod"/>
            </a:pPr>
            <a:r>
              <a:rPr lang="en-US" sz="1600" dirty="0"/>
              <a:t>O6</a:t>
            </a:r>
          </a:p>
          <a:p>
            <a:r>
              <a:rPr lang="en-US" sz="1800" dirty="0"/>
              <a:t>Can think of these as three different “markets” for trying to assign the right person to the right job</a:t>
            </a:r>
          </a:p>
          <a:p>
            <a:r>
              <a:rPr lang="en-US" sz="1800" dirty="0"/>
              <a:t>Trying to achieve notion of “optimal” assignment: desired by member, good for career, good for the service, unit, program, etc.</a:t>
            </a:r>
          </a:p>
          <a:p>
            <a:r>
              <a:rPr lang="en-US" sz="1800" dirty="0"/>
              <a:t>Can we design a marketplace to achieve these outcomes?</a:t>
            </a:r>
          </a:p>
          <a:p>
            <a:endParaRPr lang="en-US" sz="1600" dirty="0"/>
          </a:p>
          <a:p>
            <a:endParaRPr lang="en-US" sz="1800" dirty="0"/>
          </a:p>
        </p:txBody>
      </p:sp>
    </p:spTree>
    <p:extLst>
      <p:ext uri="{BB962C8B-B14F-4D97-AF65-F5344CB8AC3E}">
        <p14:creationId xmlns:p14="http://schemas.microsoft.com/office/powerpoint/2010/main" val="3587004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a:xfrm>
            <a:off x="729449" y="1318650"/>
            <a:ext cx="8019343"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What is Market Design?</a:t>
            </a:r>
            <a:endParaRPr sz="2400" dirty="0"/>
          </a:p>
        </p:txBody>
      </p:sp>
      <p:sp>
        <p:nvSpPr>
          <p:cNvPr id="158" name="Google Shape;158;p25"/>
          <p:cNvSpPr txBox="1">
            <a:spLocks noGrp="1"/>
          </p:cNvSpPr>
          <p:nvPr>
            <p:ph type="body" idx="1"/>
          </p:nvPr>
        </p:nvSpPr>
        <p:spPr>
          <a:xfrm>
            <a:off x="729450" y="1926474"/>
            <a:ext cx="7489990" cy="2981588"/>
          </a:xfrm>
          <a:prstGeom prst="rect">
            <a:avLst/>
          </a:prstGeom>
        </p:spPr>
        <p:txBody>
          <a:bodyPr spcFirstLastPara="1" wrap="square" lIns="91425" tIns="91425" rIns="91425" bIns="91425" anchor="t" anchorCtr="0">
            <a:noAutofit/>
          </a:bodyPr>
          <a:lstStyle/>
          <a:p>
            <a:r>
              <a:rPr lang="en-US" sz="1800" dirty="0"/>
              <a:t>Market design: how can we construct an environment that incentivizes “players” (agents) to follow certain behaviors so that we achieve a desired outcome </a:t>
            </a:r>
          </a:p>
          <a:p>
            <a:r>
              <a:rPr lang="en-US" sz="1800" b="1" u="sng" dirty="0"/>
              <a:t>Behavior</a:t>
            </a:r>
            <a:r>
              <a:rPr lang="en-US" sz="1800" dirty="0"/>
              <a:t>: true (and exhaustive) preferences of officers</a:t>
            </a:r>
          </a:p>
          <a:p>
            <a:r>
              <a:rPr lang="en-US" sz="1800" b="1" u="sng" dirty="0"/>
              <a:t>Outcome</a:t>
            </a:r>
            <a:r>
              <a:rPr lang="en-US" sz="1800" dirty="0"/>
              <a:t>: accelerated, “quality” assignments that rank highly on each officer’s E-Resume</a:t>
            </a:r>
          </a:p>
          <a:p>
            <a:pPr marL="146050" indent="0">
              <a:buNone/>
            </a:pPr>
            <a:endParaRPr lang="en-US" sz="1800" dirty="0"/>
          </a:p>
        </p:txBody>
      </p:sp>
    </p:spTree>
    <p:extLst>
      <p:ext uri="{BB962C8B-B14F-4D97-AF65-F5344CB8AC3E}">
        <p14:creationId xmlns:p14="http://schemas.microsoft.com/office/powerpoint/2010/main" val="2560982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777419CC-40B8-6FD2-7F49-8008AD4CC301}"/>
            </a:ext>
          </a:extLst>
        </p:cNvPr>
        <p:cNvGrpSpPr/>
        <p:nvPr/>
      </p:nvGrpSpPr>
      <p:grpSpPr>
        <a:xfrm>
          <a:off x="0" y="0"/>
          <a:ext cx="0" cy="0"/>
          <a:chOff x="0" y="0"/>
          <a:chExt cx="0" cy="0"/>
        </a:xfrm>
      </p:grpSpPr>
      <p:sp>
        <p:nvSpPr>
          <p:cNvPr id="98" name="Google Shape;98;p15">
            <a:extLst>
              <a:ext uri="{FF2B5EF4-FFF2-40B4-BE49-F238E27FC236}">
                <a16:creationId xmlns:a16="http://schemas.microsoft.com/office/drawing/2014/main" id="{BDD51F47-DC27-EB5A-193E-899FFB766D9A}"/>
              </a:ext>
            </a:extLst>
          </p:cNvPr>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What is Market Design?</a:t>
            </a:r>
            <a:endParaRPr sz="2000" dirty="0"/>
          </a:p>
        </p:txBody>
      </p:sp>
      <p:sp>
        <p:nvSpPr>
          <p:cNvPr id="99" name="Google Shape;99;p15">
            <a:extLst>
              <a:ext uri="{FF2B5EF4-FFF2-40B4-BE49-F238E27FC236}">
                <a16:creationId xmlns:a16="http://schemas.microsoft.com/office/drawing/2014/main" id="{521516FB-9569-8373-A20F-79CFC8E1A335}"/>
              </a:ext>
            </a:extLst>
          </p:cNvPr>
          <p:cNvSpPr txBox="1">
            <a:spLocks noGrp="1"/>
          </p:cNvSpPr>
          <p:nvPr>
            <p:ph type="body" idx="1"/>
          </p:nvPr>
        </p:nvSpPr>
        <p:spPr>
          <a:xfrm>
            <a:off x="729450" y="1926475"/>
            <a:ext cx="4277716" cy="3042132"/>
          </a:xfrm>
          <a:prstGeom prst="rect">
            <a:avLst/>
          </a:prstGeom>
        </p:spPr>
        <p:txBody>
          <a:bodyPr spcFirstLastPara="1" wrap="square" lIns="91425" tIns="91425" rIns="91425" bIns="91425" anchor="t" anchorCtr="0">
            <a:noAutofit/>
          </a:bodyPr>
          <a:lstStyle/>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r>
              <a:rPr lang="en-US" sz="1600" dirty="0"/>
              <a:t>“Reverse Game Theory”</a:t>
            </a:r>
          </a:p>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r>
              <a:rPr lang="en-US" sz="1600" dirty="0"/>
              <a:t>Goals: </a:t>
            </a:r>
            <a:r>
              <a:rPr lang="en-US" sz="1600" b="1" dirty="0"/>
              <a:t>Fair, Repeatable, Equitable, Defendable, Interpretable </a:t>
            </a:r>
          </a:p>
        </p:txBody>
      </p:sp>
      <p:sp>
        <p:nvSpPr>
          <p:cNvPr id="2" name="TextBox 1">
            <a:extLst>
              <a:ext uri="{FF2B5EF4-FFF2-40B4-BE49-F238E27FC236}">
                <a16:creationId xmlns:a16="http://schemas.microsoft.com/office/drawing/2014/main" id="{BE32585F-F2C1-6BEE-C330-A4CC59909759}"/>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grpSp>
        <p:nvGrpSpPr>
          <p:cNvPr id="3" name="Group 2">
            <a:extLst>
              <a:ext uri="{FF2B5EF4-FFF2-40B4-BE49-F238E27FC236}">
                <a16:creationId xmlns:a16="http://schemas.microsoft.com/office/drawing/2014/main" id="{26AE6BEB-AE86-EE52-C894-AF76D82DD510}"/>
              </a:ext>
            </a:extLst>
          </p:cNvPr>
          <p:cNvGrpSpPr/>
          <p:nvPr/>
        </p:nvGrpSpPr>
        <p:grpSpPr>
          <a:xfrm>
            <a:off x="3923969" y="539750"/>
            <a:ext cx="6096000" cy="4064000"/>
            <a:chOff x="1633993" y="987157"/>
            <a:chExt cx="6096000" cy="4064000"/>
          </a:xfrm>
        </p:grpSpPr>
        <p:graphicFrame>
          <p:nvGraphicFramePr>
            <p:cNvPr id="4" name="Diagram 3">
              <a:extLst>
                <a:ext uri="{FF2B5EF4-FFF2-40B4-BE49-F238E27FC236}">
                  <a16:creationId xmlns:a16="http://schemas.microsoft.com/office/drawing/2014/main" id="{A88E6125-0813-FC47-A70A-0DC2C09FDCF9}"/>
                </a:ext>
              </a:extLst>
            </p:cNvPr>
            <p:cNvGraphicFramePr/>
            <p:nvPr/>
          </p:nvGraphicFramePr>
          <p:xfrm>
            <a:off x="1633993" y="987157"/>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F2DC3B35-5551-6551-C5D7-4400AECEE2B8}"/>
                </a:ext>
              </a:extLst>
            </p:cNvPr>
            <p:cNvSpPr txBox="1"/>
            <p:nvPr/>
          </p:nvSpPr>
          <p:spPr>
            <a:xfrm>
              <a:off x="4261902" y="3156667"/>
              <a:ext cx="779227" cy="523220"/>
            </a:xfrm>
            <a:prstGeom prst="rect">
              <a:avLst/>
            </a:prstGeom>
            <a:noFill/>
          </p:spPr>
          <p:txBody>
            <a:bodyPr wrap="square" rtlCol="0">
              <a:spAutoFit/>
            </a:bodyPr>
            <a:lstStyle/>
            <a:p>
              <a:pPr algn="ctr"/>
              <a:r>
                <a:rPr lang="en-US" b="1" dirty="0">
                  <a:solidFill>
                    <a:schemeClr val="tx1"/>
                  </a:solidFill>
                </a:rPr>
                <a:t>Market Design</a:t>
              </a:r>
            </a:p>
          </p:txBody>
        </p:sp>
      </p:grpSp>
    </p:spTree>
    <p:extLst>
      <p:ext uri="{BB962C8B-B14F-4D97-AF65-F5344CB8AC3E}">
        <p14:creationId xmlns:p14="http://schemas.microsoft.com/office/powerpoint/2010/main" val="3301196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D6CF96AA-56D7-694D-29FB-B37113AF32A2}"/>
            </a:ext>
          </a:extLst>
        </p:cNvPr>
        <p:cNvGrpSpPr/>
        <p:nvPr/>
      </p:nvGrpSpPr>
      <p:grpSpPr>
        <a:xfrm>
          <a:off x="0" y="0"/>
          <a:ext cx="0" cy="0"/>
          <a:chOff x="0" y="0"/>
          <a:chExt cx="0" cy="0"/>
        </a:xfrm>
      </p:grpSpPr>
      <p:sp>
        <p:nvSpPr>
          <p:cNvPr id="98" name="Google Shape;98;p15">
            <a:extLst>
              <a:ext uri="{FF2B5EF4-FFF2-40B4-BE49-F238E27FC236}">
                <a16:creationId xmlns:a16="http://schemas.microsoft.com/office/drawing/2014/main" id="{84F828C3-1C43-23A0-AAAE-3A2A3A34AD00}"/>
              </a:ext>
            </a:extLst>
          </p:cNvPr>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Why Market Design?</a:t>
            </a:r>
            <a:endParaRPr dirty="0"/>
          </a:p>
        </p:txBody>
      </p:sp>
      <p:sp>
        <p:nvSpPr>
          <p:cNvPr id="99" name="Google Shape;99;p15">
            <a:extLst>
              <a:ext uri="{FF2B5EF4-FFF2-40B4-BE49-F238E27FC236}">
                <a16:creationId xmlns:a16="http://schemas.microsoft.com/office/drawing/2014/main" id="{70BDE7DB-0B67-59B1-2A79-E700F89543CB}"/>
              </a:ext>
            </a:extLst>
          </p:cNvPr>
          <p:cNvSpPr txBox="1">
            <a:spLocks noGrp="1"/>
          </p:cNvSpPr>
          <p:nvPr>
            <p:ph type="body" idx="1"/>
          </p:nvPr>
        </p:nvSpPr>
        <p:spPr>
          <a:xfrm>
            <a:off x="729450" y="1926474"/>
            <a:ext cx="7688700" cy="2621877"/>
          </a:xfrm>
          <a:prstGeom prst="rect">
            <a:avLst/>
          </a:prstGeom>
        </p:spPr>
        <p:txBody>
          <a:bodyPr spcFirstLastPara="1" wrap="square" lIns="91425" tIns="91425" rIns="91425" bIns="91425" anchor="t" anchorCtr="0">
            <a:noAutofit/>
          </a:bodyPr>
          <a:lstStyle/>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r>
              <a:rPr lang="en-US" sz="1600" dirty="0"/>
              <a:t>When all data is available, the problem simply reduces to an optimization problem that we can solve with well known techniques (IP, LP, etc.)</a:t>
            </a:r>
          </a:p>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r>
              <a:rPr lang="en-US" sz="1600" dirty="0"/>
              <a:t>Real world is more fuzzy. Information is privately held</a:t>
            </a:r>
          </a:p>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r>
              <a:rPr lang="en-US" sz="1600" dirty="0"/>
              <a:t>Need to utilize incentive mechanisms to reveal information (“truthful”) and elicit “good” outcomes</a:t>
            </a:r>
          </a:p>
          <a:p>
            <a:pPr indent="-323850">
              <a:lnSpc>
                <a:spcPct val="150000"/>
              </a:lnSpc>
              <a:buSzPts val="1500"/>
              <a:buFont typeface="Arial"/>
              <a:buChar char="●"/>
              <a:defRPr/>
            </a:pPr>
            <a:r>
              <a:rPr lang="en-US" sz="1600" dirty="0"/>
              <a:t>Create a strategic environment in which we can algorithmically make “optimal” matchings in a 2-sided market</a:t>
            </a:r>
          </a:p>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endParaRPr lang="en-US" sz="1600" dirty="0"/>
          </a:p>
        </p:txBody>
      </p:sp>
      <p:sp>
        <p:nvSpPr>
          <p:cNvPr id="2" name="TextBox 1">
            <a:extLst>
              <a:ext uri="{FF2B5EF4-FFF2-40B4-BE49-F238E27FC236}">
                <a16:creationId xmlns:a16="http://schemas.microsoft.com/office/drawing/2014/main" id="{70282ACB-A93C-81B5-CA63-162D12523CFC}"/>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Tree>
    <p:extLst>
      <p:ext uri="{BB962C8B-B14F-4D97-AF65-F5344CB8AC3E}">
        <p14:creationId xmlns:p14="http://schemas.microsoft.com/office/powerpoint/2010/main" val="4241416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C859B56B-0B6A-2324-A086-B47EDCA77924}"/>
            </a:ext>
          </a:extLst>
        </p:cNvPr>
        <p:cNvGrpSpPr/>
        <p:nvPr/>
      </p:nvGrpSpPr>
      <p:grpSpPr>
        <a:xfrm>
          <a:off x="0" y="0"/>
          <a:ext cx="0" cy="0"/>
          <a:chOff x="0" y="0"/>
          <a:chExt cx="0" cy="0"/>
        </a:xfrm>
      </p:grpSpPr>
      <p:sp>
        <p:nvSpPr>
          <p:cNvPr id="98" name="Google Shape;98;p15">
            <a:extLst>
              <a:ext uri="{FF2B5EF4-FFF2-40B4-BE49-F238E27FC236}">
                <a16:creationId xmlns:a16="http://schemas.microsoft.com/office/drawing/2014/main" id="{4C62022C-B70D-B997-7309-39C2AF019931}"/>
              </a:ext>
            </a:extLst>
          </p:cNvPr>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dirty="0"/>
              <a:t>Models for Matching: algorithms for two-sided matching</a:t>
            </a:r>
            <a:endParaRPr sz="2000" dirty="0"/>
          </a:p>
        </p:txBody>
      </p:sp>
      <p:sp>
        <p:nvSpPr>
          <p:cNvPr id="99" name="Google Shape;99;p15">
            <a:extLst>
              <a:ext uri="{FF2B5EF4-FFF2-40B4-BE49-F238E27FC236}">
                <a16:creationId xmlns:a16="http://schemas.microsoft.com/office/drawing/2014/main" id="{A1B5AE1C-5EA1-F15B-C942-BF7299A6170F}"/>
              </a:ext>
            </a:extLst>
          </p:cNvPr>
          <p:cNvSpPr txBox="1">
            <a:spLocks noGrp="1"/>
          </p:cNvSpPr>
          <p:nvPr>
            <p:ph type="body" idx="1"/>
          </p:nvPr>
        </p:nvSpPr>
        <p:spPr>
          <a:xfrm>
            <a:off x="729450" y="1926475"/>
            <a:ext cx="7688700" cy="2261100"/>
          </a:xfrm>
          <a:prstGeom prst="rect">
            <a:avLst/>
          </a:prstGeom>
        </p:spPr>
        <p:txBody>
          <a:bodyPr spcFirstLastPara="1" wrap="square" lIns="91425" tIns="91425" rIns="91425" bIns="91425" anchor="t" anchorCtr="0">
            <a:noAutofit/>
          </a:bodyPr>
          <a:lstStyle/>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r>
              <a:rPr lang="en-US" sz="1800" dirty="0"/>
              <a:t>Deferred Acceptance (DA) (aka, Gale-Shapley) algorithm</a:t>
            </a:r>
          </a:p>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r>
              <a:rPr lang="en-US" sz="1800" dirty="0"/>
              <a:t>Top Trading Cycle (TTC) algorithm</a:t>
            </a:r>
          </a:p>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r>
              <a:rPr lang="en-US" sz="1800" dirty="0"/>
              <a:t>Many others and variations, but we’ll stick with these for today</a:t>
            </a:r>
          </a:p>
        </p:txBody>
      </p:sp>
      <p:sp>
        <p:nvSpPr>
          <p:cNvPr id="2" name="TextBox 1">
            <a:extLst>
              <a:ext uri="{FF2B5EF4-FFF2-40B4-BE49-F238E27FC236}">
                <a16:creationId xmlns:a16="http://schemas.microsoft.com/office/drawing/2014/main" id="{5721D6B9-FBB1-DAAB-C5FC-3C329C66F7FB}"/>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Tree>
    <p:extLst>
      <p:ext uri="{BB962C8B-B14F-4D97-AF65-F5344CB8AC3E}">
        <p14:creationId xmlns:p14="http://schemas.microsoft.com/office/powerpoint/2010/main" val="9332090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8D3B66CF-263A-FD4F-57A6-157E88360012}"/>
            </a:ext>
          </a:extLst>
        </p:cNvPr>
        <p:cNvGrpSpPr/>
        <p:nvPr/>
      </p:nvGrpSpPr>
      <p:grpSpPr>
        <a:xfrm>
          <a:off x="0" y="0"/>
          <a:ext cx="0" cy="0"/>
          <a:chOff x="0" y="0"/>
          <a:chExt cx="0" cy="0"/>
        </a:xfrm>
      </p:grpSpPr>
      <p:sp>
        <p:nvSpPr>
          <p:cNvPr id="157" name="Google Shape;157;p25">
            <a:extLst>
              <a:ext uri="{FF2B5EF4-FFF2-40B4-BE49-F238E27FC236}">
                <a16:creationId xmlns:a16="http://schemas.microsoft.com/office/drawing/2014/main" id="{8E49AD5D-DACA-CB48-5728-ED04671493D0}"/>
              </a:ext>
            </a:extLst>
          </p:cNvPr>
          <p:cNvSpPr txBox="1">
            <a:spLocks noGrp="1"/>
          </p:cNvSpPr>
          <p:nvPr>
            <p:ph type="title"/>
          </p:nvPr>
        </p:nvSpPr>
        <p:spPr>
          <a:xfrm>
            <a:off x="729449" y="1318650"/>
            <a:ext cx="8019343"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200" dirty="0"/>
              <a:t>Deferred Acceptance Algorithm</a:t>
            </a:r>
            <a:endParaRPr sz="2200" dirty="0"/>
          </a:p>
        </p:txBody>
      </p:sp>
      <mc:AlternateContent xmlns:mc="http://schemas.openxmlformats.org/markup-compatibility/2006" xmlns:a14="http://schemas.microsoft.com/office/drawing/2010/main">
        <mc:Choice Requires="a14">
          <p:sp>
            <p:nvSpPr>
              <p:cNvPr id="158" name="Google Shape;158;p25">
                <a:extLst>
                  <a:ext uri="{FF2B5EF4-FFF2-40B4-BE49-F238E27FC236}">
                    <a16:creationId xmlns:a16="http://schemas.microsoft.com/office/drawing/2014/main" id="{0490A707-CB47-C4E6-69D5-1FCA6C28B8CD}"/>
                  </a:ext>
                </a:extLst>
              </p:cNvPr>
              <p:cNvSpPr txBox="1">
                <a:spLocks noGrp="1"/>
              </p:cNvSpPr>
              <p:nvPr>
                <p:ph type="body" idx="1"/>
              </p:nvPr>
            </p:nvSpPr>
            <p:spPr>
              <a:xfrm>
                <a:off x="729450" y="1926474"/>
                <a:ext cx="7489990" cy="2981588"/>
              </a:xfrm>
              <a:prstGeom prst="rect">
                <a:avLst/>
              </a:prstGeom>
            </p:spPr>
            <p:txBody>
              <a:bodyPr spcFirstLastPara="1" wrap="square" lIns="91425" tIns="91425" rIns="91425" bIns="91425" anchor="t" anchorCtr="0">
                <a:noAutofit/>
              </a:bodyPr>
              <a:lstStyle/>
              <a:p>
                <a:pPr marL="146050" indent="0">
                  <a:buNone/>
                </a:pPr>
                <a:r>
                  <a:rPr lang="en-US" sz="1600" u="sng" dirty="0"/>
                  <a:t>Gale-Shapley AKA Deferred Acceptance AKA “Marriage Proposal” algorithm:</a:t>
                </a:r>
              </a:p>
              <a:p>
                <a:pPr marL="488950" lvl="0" indent="-342900" algn="l" rtl="0">
                  <a:lnSpc>
                    <a:spcPct val="115000"/>
                  </a:lnSpc>
                  <a:spcBef>
                    <a:spcPts val="0"/>
                  </a:spcBef>
                  <a:spcAft>
                    <a:spcPts val="0"/>
                  </a:spcAft>
                  <a:buClr>
                    <a:srgbClr val="595959"/>
                  </a:buClr>
                  <a:buSzPts val="1300"/>
                  <a:buFont typeface="+mj-lt"/>
                  <a:buAutoNum type="arabicPeriod"/>
                </a:pPr>
                <a:r>
                  <a:rPr lang="en-US" sz="1400" dirty="0"/>
                  <a:t>Each employee proposes to the highest remaining job on their list</a:t>
                </a:r>
              </a:p>
              <a:p>
                <a:pPr marL="488950" lvl="0" indent="-342900" algn="l" rtl="0">
                  <a:lnSpc>
                    <a:spcPct val="115000"/>
                  </a:lnSpc>
                  <a:spcBef>
                    <a:spcPts val="0"/>
                  </a:spcBef>
                  <a:spcAft>
                    <a:spcPts val="0"/>
                  </a:spcAft>
                  <a:buClr>
                    <a:srgbClr val="595959"/>
                  </a:buClr>
                  <a:buSzPts val="1300"/>
                  <a:buFont typeface="+mj-lt"/>
                  <a:buAutoNum type="arabicPeriod"/>
                </a:pPr>
                <a:r>
                  <a:rPr lang="en-US" sz="1400" dirty="0"/>
                  <a:t>Jobs tentatively accept proposals based on their preferred offer (forming "tentative matches"), and reject other offers, or all offers if none are acceptable</a:t>
                </a:r>
              </a:p>
              <a:p>
                <a:pPr marL="488950" lvl="0" indent="-342900" algn="l" rtl="0">
                  <a:lnSpc>
                    <a:spcPct val="115000"/>
                  </a:lnSpc>
                  <a:spcBef>
                    <a:spcPts val="0"/>
                  </a:spcBef>
                  <a:spcAft>
                    <a:spcPts val="0"/>
                  </a:spcAft>
                  <a:buClr>
                    <a:srgbClr val="595959"/>
                  </a:buClr>
                  <a:buSzPts val="1300"/>
                  <a:buFont typeface="+mj-lt"/>
                  <a:buAutoNum type="arabicPeriod"/>
                </a:pPr>
                <a:r>
                  <a:rPr lang="en-US" sz="1400" dirty="0"/>
                  <a:t>Each rejected employee removes that job from their list, and makes a new offer to the next highest job on their list</a:t>
                </a:r>
              </a:p>
              <a:p>
                <a:pPr marL="488950" lvl="0" indent="-342900" algn="l" rtl="0">
                  <a:lnSpc>
                    <a:spcPct val="115000"/>
                  </a:lnSpc>
                  <a:spcBef>
                    <a:spcPts val="0"/>
                  </a:spcBef>
                  <a:spcAft>
                    <a:spcPts val="0"/>
                  </a:spcAft>
                  <a:buClr>
                    <a:srgbClr val="595959"/>
                  </a:buClr>
                  <a:buSzPts val="1300"/>
                  <a:buFont typeface="+mj-lt"/>
                  <a:buAutoNum type="arabicPeriod"/>
                </a:pPr>
                <a:r>
                  <a:rPr lang="en-US" sz="1400" dirty="0"/>
                  <a:t>Go back to step 1 and repeat until there are no more offers or rejections (i.e., either all employees are matched OR we have exhausted all preference lists for all employees), at which point make permanent all tentative matches</a:t>
                </a:r>
              </a:p>
              <a:p>
                <a:pPr marL="146050" indent="0">
                  <a:buNone/>
                </a:pPr>
                <a:r>
                  <a:rPr lang="en-US" sz="1600" dirty="0"/>
                  <a:t>Is it fast? Run-time is </a:t>
                </a:r>
                <a14:m>
                  <m:oMath xmlns:m="http://schemas.openxmlformats.org/officeDocument/2006/math">
                    <m:sSup>
                      <m:sSupPr>
                        <m:ctrlPr>
                          <a:rPr lang="en-US" sz="1600" i="1" smtClean="0">
                            <a:latin typeface="Cambria Math" panose="02040503050406030204" pitchFamily="18" charset="0"/>
                          </a:rPr>
                        </m:ctrlPr>
                      </m:sSupPr>
                      <m:e>
                        <m:r>
                          <a:rPr lang="en-US" sz="1600" b="0" i="1" smtClean="0">
                            <a:latin typeface="Cambria Math" panose="02040503050406030204" pitchFamily="18" charset="0"/>
                          </a:rPr>
                          <m:t>𝑂</m:t>
                        </m:r>
                        <m:r>
                          <a:rPr lang="en-US" sz="1600" b="0" i="1" smtClean="0">
                            <a:latin typeface="Cambria Math" panose="02040503050406030204" pitchFamily="18" charset="0"/>
                          </a:rPr>
                          <m:t>(</m:t>
                        </m:r>
                        <m:r>
                          <a:rPr lang="en-US" sz="1600" b="0" i="1" smtClean="0">
                            <a:latin typeface="Cambria Math" panose="02040503050406030204" pitchFamily="18" charset="0"/>
                          </a:rPr>
                          <m:t>𝑛</m:t>
                        </m:r>
                      </m:e>
                      <m:sup>
                        <m:r>
                          <a:rPr lang="en-US" sz="1600" b="0" i="1" smtClean="0">
                            <a:latin typeface="Cambria Math" panose="02040503050406030204" pitchFamily="18" charset="0"/>
                          </a:rPr>
                          <m:t>2</m:t>
                        </m:r>
                      </m:sup>
                    </m:sSup>
                    <m:r>
                      <a:rPr lang="en-US" sz="1600" b="0" i="1" smtClean="0">
                        <a:latin typeface="Cambria Math" panose="02040503050406030204" pitchFamily="18" charset="0"/>
                      </a:rPr>
                      <m:t>)</m:t>
                    </m:r>
                  </m:oMath>
                </a14:m>
                <a:r>
                  <a:rPr lang="en-US" sz="1600" dirty="0"/>
                  <a:t> – this is linear in the input size (worst case exhaust everyone’s preference list)</a:t>
                </a:r>
              </a:p>
            </p:txBody>
          </p:sp>
        </mc:Choice>
        <mc:Fallback xmlns="">
          <p:sp>
            <p:nvSpPr>
              <p:cNvPr id="158" name="Google Shape;158;p25">
                <a:extLst>
                  <a:ext uri="{FF2B5EF4-FFF2-40B4-BE49-F238E27FC236}">
                    <a16:creationId xmlns:a16="http://schemas.microsoft.com/office/drawing/2014/main" id="{0490A707-CB47-C4E6-69D5-1FCA6C28B8CD}"/>
                  </a:ext>
                </a:extLst>
              </p:cNvPr>
              <p:cNvSpPr txBox="1">
                <a:spLocks noGrp="1" noRot="1" noChangeAspect="1" noMove="1" noResize="1" noEditPoints="1" noAdjustHandles="1" noChangeArrowheads="1" noChangeShapeType="1" noTextEdit="1"/>
              </p:cNvSpPr>
              <p:nvPr>
                <p:ph type="body" idx="1"/>
              </p:nvPr>
            </p:nvSpPr>
            <p:spPr>
              <a:xfrm>
                <a:off x="729450" y="1926474"/>
                <a:ext cx="7489990" cy="2981588"/>
              </a:xfrm>
              <a:prstGeom prst="rect">
                <a:avLst/>
              </a:prstGeom>
              <a:blipFill>
                <a:blip r:embed="rId3"/>
                <a:stretch>
                  <a:fillRect b="-613"/>
                </a:stretch>
              </a:blipFill>
            </p:spPr>
            <p:txBody>
              <a:bodyPr/>
              <a:lstStyle/>
              <a:p>
                <a:r>
                  <a:rPr lang="en-US">
                    <a:noFill/>
                  </a:rPr>
                  <a:t> </a:t>
                </a:r>
              </a:p>
            </p:txBody>
          </p:sp>
        </mc:Fallback>
      </mc:AlternateContent>
    </p:spTree>
    <p:extLst>
      <p:ext uri="{BB962C8B-B14F-4D97-AF65-F5344CB8AC3E}">
        <p14:creationId xmlns:p14="http://schemas.microsoft.com/office/powerpoint/2010/main" val="4119150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6"/>
          <p:cNvSpPr txBox="1">
            <a:spLocks noGrp="1"/>
          </p:cNvSpPr>
          <p:nvPr>
            <p:ph type="title"/>
          </p:nvPr>
        </p:nvSpPr>
        <p:spPr>
          <a:xfrm>
            <a:off x="1007000" y="25717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Toy Problem – Deferred Acceptance (DA)</a:t>
            </a:r>
            <a:endParaRPr dirty="0"/>
          </a:p>
        </p:txBody>
      </p:sp>
      <p:sp>
        <p:nvSpPr>
          <p:cNvPr id="2" name="TextBox 1">
            <a:extLst>
              <a:ext uri="{FF2B5EF4-FFF2-40B4-BE49-F238E27FC236}">
                <a16:creationId xmlns:a16="http://schemas.microsoft.com/office/drawing/2014/main" id="{307E61C9-3E80-8119-999D-CFCB087CBD77}"/>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Tree>
    <p:extLst>
      <p:ext uri="{BB962C8B-B14F-4D97-AF65-F5344CB8AC3E}">
        <p14:creationId xmlns:p14="http://schemas.microsoft.com/office/powerpoint/2010/main" val="23215067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Example</a:t>
            </a:r>
            <a:endParaRPr dirty="0"/>
          </a:p>
        </p:txBody>
      </p:sp>
      <p:sp>
        <p:nvSpPr>
          <p:cNvPr id="134" name="Google Shape;134;p21"/>
          <p:cNvSpPr txBox="1">
            <a:spLocks noGrp="1"/>
          </p:cNvSpPr>
          <p:nvPr>
            <p:ph type="body" idx="1"/>
          </p:nvPr>
        </p:nvSpPr>
        <p:spPr>
          <a:xfrm>
            <a:off x="729450" y="2078875"/>
            <a:ext cx="2681157" cy="22611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US" sz="1700" dirty="0"/>
              <a:t>e1 : j2, j1, j3</a:t>
            </a:r>
          </a:p>
          <a:p>
            <a:pPr marL="457200" lvl="0" indent="-336550" algn="l" rtl="0">
              <a:spcBef>
                <a:spcPts val="0"/>
              </a:spcBef>
              <a:spcAft>
                <a:spcPts val="0"/>
              </a:spcAft>
              <a:buSzPts val="1700"/>
              <a:buChar char="●"/>
            </a:pPr>
            <a:r>
              <a:rPr lang="en-US" sz="1700" dirty="0"/>
              <a:t>e2 : j1, j2, j3</a:t>
            </a:r>
          </a:p>
          <a:p>
            <a:pPr marL="457200" lvl="0" indent="-336550" algn="l" rtl="0">
              <a:spcBef>
                <a:spcPts val="0"/>
              </a:spcBef>
              <a:spcAft>
                <a:spcPts val="0"/>
              </a:spcAft>
              <a:buSzPts val="1700"/>
              <a:buChar char="●"/>
            </a:pPr>
            <a:r>
              <a:rPr lang="en-US" sz="1700" dirty="0"/>
              <a:t>e3 : j1, j2, j3</a:t>
            </a:r>
            <a:endParaRPr sz="1500" dirty="0"/>
          </a:p>
        </p:txBody>
      </p:sp>
      <p:sp>
        <p:nvSpPr>
          <p:cNvPr id="4" name="Google Shape;134;p21"/>
          <p:cNvSpPr txBox="1">
            <a:spLocks/>
          </p:cNvSpPr>
          <p:nvPr/>
        </p:nvSpPr>
        <p:spPr>
          <a:xfrm>
            <a:off x="5766434" y="2078875"/>
            <a:ext cx="2681157" cy="2261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indent="-336550">
              <a:buSzPts val="1700"/>
            </a:pPr>
            <a:r>
              <a:rPr lang="en-US" sz="1700" dirty="0"/>
              <a:t>j1 : e1, e2, e3</a:t>
            </a:r>
          </a:p>
          <a:p>
            <a:pPr indent="-336550">
              <a:buSzPts val="1700"/>
            </a:pPr>
            <a:r>
              <a:rPr lang="en-US" sz="1700" dirty="0"/>
              <a:t>j2 : e3, e1, e2</a:t>
            </a:r>
          </a:p>
          <a:p>
            <a:pPr indent="-336550">
              <a:buSzPts val="1700"/>
            </a:pPr>
            <a:r>
              <a:rPr lang="en-US" sz="1700" dirty="0"/>
              <a:t>j3 : e1, e2, e3</a:t>
            </a:r>
            <a:endParaRPr lang="en-US" sz="1500" dirty="0"/>
          </a:p>
        </p:txBody>
      </p:sp>
      <p:sp>
        <p:nvSpPr>
          <p:cNvPr id="2" name="TextBox 1">
            <a:extLst>
              <a:ext uri="{FF2B5EF4-FFF2-40B4-BE49-F238E27FC236}">
                <a16:creationId xmlns:a16="http://schemas.microsoft.com/office/drawing/2014/main" id="{29B2AB14-612B-7451-E1CD-D9AD5D4F901D}"/>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3" name="TextBox 2">
            <a:extLst>
              <a:ext uri="{FF2B5EF4-FFF2-40B4-BE49-F238E27FC236}">
                <a16:creationId xmlns:a16="http://schemas.microsoft.com/office/drawing/2014/main" id="{E5653A8C-CB7B-F980-31B6-75339BACA685}"/>
              </a:ext>
            </a:extLst>
          </p:cNvPr>
          <p:cNvSpPr txBox="1"/>
          <p:nvPr/>
        </p:nvSpPr>
        <p:spPr>
          <a:xfrm>
            <a:off x="168443" y="4195668"/>
            <a:ext cx="1515980" cy="738664"/>
          </a:xfrm>
          <a:prstGeom prst="rect">
            <a:avLst/>
          </a:prstGeom>
          <a:noFill/>
          <a:ln>
            <a:solidFill>
              <a:schemeClr val="bg2"/>
            </a:solidFill>
          </a:ln>
        </p:spPr>
        <p:txBody>
          <a:bodyPr wrap="square" rtlCol="0">
            <a:spAutoFit/>
          </a:bodyPr>
          <a:lstStyle/>
          <a:p>
            <a:r>
              <a:rPr lang="en-US" b="1" u="sng" dirty="0">
                <a:latin typeface="Lato" panose="020B0604020202020204" charset="0"/>
                <a:ea typeface="Lato" panose="020B0604020202020204" charset="0"/>
                <a:cs typeface="Lato" panose="020B0604020202020204" charset="0"/>
              </a:rPr>
              <a:t>Example: </a:t>
            </a:r>
          </a:p>
          <a:p>
            <a:r>
              <a:rPr lang="en-US" dirty="0">
                <a:latin typeface="Lato" panose="020B0604020202020204" charset="0"/>
                <a:ea typeface="Lato" panose="020B0604020202020204" charset="0"/>
                <a:cs typeface="Lato" panose="020B0604020202020204" charset="0"/>
              </a:rPr>
              <a:t>e1 = employee 1</a:t>
            </a:r>
          </a:p>
          <a:p>
            <a:r>
              <a:rPr lang="en-US" dirty="0">
                <a:latin typeface="Lato" panose="020B0604020202020204" charset="0"/>
                <a:ea typeface="Lato" panose="020B0604020202020204" charset="0"/>
                <a:cs typeface="Lato" panose="020B0604020202020204" charset="0"/>
              </a:rPr>
              <a:t>j1 = job 1</a:t>
            </a:r>
          </a:p>
        </p:txBody>
      </p:sp>
    </p:spTree>
    <p:extLst>
      <p:ext uri="{BB962C8B-B14F-4D97-AF65-F5344CB8AC3E}">
        <p14:creationId xmlns:p14="http://schemas.microsoft.com/office/powerpoint/2010/main" val="14490241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4" name="Google Shape;134;p21"/>
          <p:cNvSpPr txBox="1">
            <a:spLocks noGrp="1"/>
          </p:cNvSpPr>
          <p:nvPr>
            <p:ph type="body" idx="1"/>
          </p:nvPr>
        </p:nvSpPr>
        <p:spPr>
          <a:xfrm>
            <a:off x="70027" y="1269983"/>
            <a:ext cx="2681157" cy="22611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US" sz="1700" dirty="0"/>
              <a:t>e1 : j2, j1, j3</a:t>
            </a:r>
          </a:p>
          <a:p>
            <a:pPr marL="457200" lvl="0" indent="-336550" algn="l" rtl="0">
              <a:spcBef>
                <a:spcPts val="0"/>
              </a:spcBef>
              <a:spcAft>
                <a:spcPts val="0"/>
              </a:spcAft>
              <a:buSzPts val="1700"/>
              <a:buChar char="●"/>
            </a:pPr>
            <a:r>
              <a:rPr lang="en-US" sz="1700" dirty="0"/>
              <a:t>e2 : j1, j2, j3</a:t>
            </a:r>
          </a:p>
          <a:p>
            <a:pPr marL="457200" lvl="0" indent="-336550" algn="l" rtl="0">
              <a:spcBef>
                <a:spcPts val="0"/>
              </a:spcBef>
              <a:spcAft>
                <a:spcPts val="0"/>
              </a:spcAft>
              <a:buSzPts val="1700"/>
              <a:buChar char="●"/>
            </a:pPr>
            <a:r>
              <a:rPr lang="en-US" sz="1700" dirty="0"/>
              <a:t>e3 : j1, j2, j3</a:t>
            </a:r>
            <a:endParaRPr lang="en-US" sz="1500" dirty="0"/>
          </a:p>
        </p:txBody>
      </p:sp>
      <p:sp>
        <p:nvSpPr>
          <p:cNvPr id="4" name="Google Shape;134;p21"/>
          <p:cNvSpPr txBox="1">
            <a:spLocks/>
          </p:cNvSpPr>
          <p:nvPr/>
        </p:nvSpPr>
        <p:spPr>
          <a:xfrm>
            <a:off x="6462843" y="1269983"/>
            <a:ext cx="2681157" cy="2261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indent="-336550">
              <a:buSzPts val="1700"/>
            </a:pPr>
            <a:r>
              <a:rPr lang="en-US" sz="1700" dirty="0"/>
              <a:t>j1 : e1, e2, e3</a:t>
            </a:r>
          </a:p>
          <a:p>
            <a:pPr indent="-336550">
              <a:buSzPts val="1700"/>
            </a:pPr>
            <a:r>
              <a:rPr lang="en-US" sz="1700" dirty="0"/>
              <a:t>j2 : e3, e1, e2</a:t>
            </a:r>
          </a:p>
          <a:p>
            <a:pPr indent="-336550">
              <a:buSzPts val="1700"/>
            </a:pPr>
            <a:r>
              <a:rPr lang="en-US" sz="1700" dirty="0"/>
              <a:t>j3 : e1, e2, e3</a:t>
            </a:r>
            <a:endParaRPr lang="en-US" sz="1500" dirty="0"/>
          </a:p>
        </p:txBody>
      </p:sp>
      <p:grpSp>
        <p:nvGrpSpPr>
          <p:cNvPr id="7" name="Group 6"/>
          <p:cNvGrpSpPr/>
          <p:nvPr/>
        </p:nvGrpSpPr>
        <p:grpSpPr>
          <a:xfrm>
            <a:off x="2681636" y="2769576"/>
            <a:ext cx="473976" cy="365760"/>
            <a:chOff x="2189284" y="2769576"/>
            <a:chExt cx="473976" cy="365760"/>
          </a:xfrm>
        </p:grpSpPr>
        <p:sp>
          <p:nvSpPr>
            <p:cNvPr id="3" name="Rectangle 2"/>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6" name="TextBox 5"/>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e1</a:t>
              </a:r>
            </a:p>
          </p:txBody>
        </p:sp>
      </p:grpSp>
      <p:grpSp>
        <p:nvGrpSpPr>
          <p:cNvPr id="10" name="Group 9"/>
          <p:cNvGrpSpPr/>
          <p:nvPr/>
        </p:nvGrpSpPr>
        <p:grpSpPr>
          <a:xfrm>
            <a:off x="2681636" y="3340360"/>
            <a:ext cx="473976" cy="365760"/>
            <a:chOff x="2189284" y="2769576"/>
            <a:chExt cx="473976" cy="365760"/>
          </a:xfrm>
        </p:grpSpPr>
        <p:sp>
          <p:nvSpPr>
            <p:cNvPr id="11" name="Rectangle 10"/>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TextBox 11"/>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e2</a:t>
              </a:r>
            </a:p>
          </p:txBody>
        </p:sp>
      </p:grpSp>
      <p:grpSp>
        <p:nvGrpSpPr>
          <p:cNvPr id="13" name="Group 12"/>
          <p:cNvGrpSpPr/>
          <p:nvPr/>
        </p:nvGrpSpPr>
        <p:grpSpPr>
          <a:xfrm>
            <a:off x="2681636" y="3911143"/>
            <a:ext cx="473976" cy="365760"/>
            <a:chOff x="2189284" y="2769576"/>
            <a:chExt cx="473976" cy="365760"/>
          </a:xfrm>
        </p:grpSpPr>
        <p:sp>
          <p:nvSpPr>
            <p:cNvPr id="14" name="Rectangle 13"/>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5" name="TextBox 14"/>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e3</a:t>
              </a:r>
            </a:p>
          </p:txBody>
        </p:sp>
      </p:grpSp>
      <p:grpSp>
        <p:nvGrpSpPr>
          <p:cNvPr id="19" name="Group 18"/>
          <p:cNvGrpSpPr/>
          <p:nvPr/>
        </p:nvGrpSpPr>
        <p:grpSpPr>
          <a:xfrm>
            <a:off x="5530233" y="2769576"/>
            <a:ext cx="473976" cy="365760"/>
            <a:chOff x="2189284" y="2769576"/>
            <a:chExt cx="473976" cy="365760"/>
          </a:xfrm>
        </p:grpSpPr>
        <p:sp>
          <p:nvSpPr>
            <p:cNvPr id="20" name="Rectangle 19"/>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1" name="TextBox 20"/>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j1</a:t>
              </a:r>
            </a:p>
          </p:txBody>
        </p:sp>
      </p:grpSp>
      <p:grpSp>
        <p:nvGrpSpPr>
          <p:cNvPr id="22" name="Group 21"/>
          <p:cNvGrpSpPr/>
          <p:nvPr/>
        </p:nvGrpSpPr>
        <p:grpSpPr>
          <a:xfrm>
            <a:off x="5530233" y="3340360"/>
            <a:ext cx="473976" cy="365760"/>
            <a:chOff x="2189284" y="2769576"/>
            <a:chExt cx="473976" cy="365760"/>
          </a:xfrm>
        </p:grpSpPr>
        <p:sp>
          <p:nvSpPr>
            <p:cNvPr id="23" name="Rectangle 22"/>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4" name="TextBox 23"/>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j2</a:t>
              </a:r>
            </a:p>
          </p:txBody>
        </p:sp>
      </p:grpSp>
      <p:grpSp>
        <p:nvGrpSpPr>
          <p:cNvPr id="25" name="Group 24"/>
          <p:cNvGrpSpPr/>
          <p:nvPr/>
        </p:nvGrpSpPr>
        <p:grpSpPr>
          <a:xfrm>
            <a:off x="5530233" y="3911143"/>
            <a:ext cx="473976" cy="365760"/>
            <a:chOff x="2189284" y="2769576"/>
            <a:chExt cx="473976" cy="365760"/>
          </a:xfrm>
        </p:grpSpPr>
        <p:sp>
          <p:nvSpPr>
            <p:cNvPr id="26" name="Rectangle 25"/>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7" name="TextBox 26"/>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j3</a:t>
              </a:r>
            </a:p>
          </p:txBody>
        </p:sp>
      </p:grpSp>
      <p:sp>
        <p:nvSpPr>
          <p:cNvPr id="2" name="TextBox 1">
            <a:extLst>
              <a:ext uri="{FF2B5EF4-FFF2-40B4-BE49-F238E27FC236}">
                <a16:creationId xmlns:a16="http://schemas.microsoft.com/office/drawing/2014/main" id="{E2D9326C-DBF7-925D-6E6C-6C3F98C2B98D}"/>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5" name="TextBox 4">
            <a:extLst>
              <a:ext uri="{FF2B5EF4-FFF2-40B4-BE49-F238E27FC236}">
                <a16:creationId xmlns:a16="http://schemas.microsoft.com/office/drawing/2014/main" id="{E6D91897-EB98-EBD4-0875-AFFB4E530226}"/>
              </a:ext>
            </a:extLst>
          </p:cNvPr>
          <p:cNvSpPr txBox="1"/>
          <p:nvPr/>
        </p:nvSpPr>
        <p:spPr>
          <a:xfrm>
            <a:off x="168443" y="4195668"/>
            <a:ext cx="1515980" cy="738664"/>
          </a:xfrm>
          <a:prstGeom prst="rect">
            <a:avLst/>
          </a:prstGeom>
          <a:noFill/>
          <a:ln>
            <a:solidFill>
              <a:schemeClr val="bg2"/>
            </a:solidFill>
          </a:ln>
        </p:spPr>
        <p:txBody>
          <a:bodyPr wrap="square" rtlCol="0">
            <a:spAutoFit/>
          </a:bodyPr>
          <a:lstStyle/>
          <a:p>
            <a:r>
              <a:rPr lang="en-US" b="1" u="sng" dirty="0">
                <a:latin typeface="Lato" panose="020B0604020202020204" charset="0"/>
                <a:ea typeface="Lato" panose="020B0604020202020204" charset="0"/>
                <a:cs typeface="Lato" panose="020B0604020202020204" charset="0"/>
              </a:rPr>
              <a:t>Example: </a:t>
            </a:r>
          </a:p>
          <a:p>
            <a:r>
              <a:rPr lang="en-US" dirty="0">
                <a:latin typeface="Lato" panose="020B0604020202020204" charset="0"/>
                <a:ea typeface="Lato" panose="020B0604020202020204" charset="0"/>
                <a:cs typeface="Lato" panose="020B0604020202020204" charset="0"/>
              </a:rPr>
              <a:t>e1 = employee 1</a:t>
            </a:r>
          </a:p>
          <a:p>
            <a:r>
              <a:rPr lang="en-US" dirty="0">
                <a:latin typeface="Lato" panose="020B0604020202020204" charset="0"/>
                <a:ea typeface="Lato" panose="020B0604020202020204" charset="0"/>
                <a:cs typeface="Lato" panose="020B0604020202020204" charset="0"/>
              </a:rPr>
              <a:t>j1 = job 1</a:t>
            </a:r>
          </a:p>
        </p:txBody>
      </p:sp>
    </p:spTree>
    <p:extLst>
      <p:ext uri="{BB962C8B-B14F-4D97-AF65-F5344CB8AC3E}">
        <p14:creationId xmlns:p14="http://schemas.microsoft.com/office/powerpoint/2010/main" val="16552977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4" name="Google Shape;134;p21"/>
          <p:cNvSpPr txBox="1">
            <a:spLocks noGrp="1"/>
          </p:cNvSpPr>
          <p:nvPr>
            <p:ph type="body" idx="1"/>
          </p:nvPr>
        </p:nvSpPr>
        <p:spPr>
          <a:xfrm>
            <a:off x="70027" y="1269983"/>
            <a:ext cx="2681157" cy="22611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US" sz="1700" b="1" dirty="0"/>
              <a:t>e1 : j2, j1, j3</a:t>
            </a:r>
          </a:p>
          <a:p>
            <a:pPr marL="457200" lvl="0" indent="-336550" algn="l" rtl="0">
              <a:spcBef>
                <a:spcPts val="0"/>
              </a:spcBef>
              <a:spcAft>
                <a:spcPts val="0"/>
              </a:spcAft>
              <a:buSzPts val="1700"/>
              <a:buChar char="●"/>
            </a:pPr>
            <a:r>
              <a:rPr lang="en-US" sz="1700" dirty="0"/>
              <a:t>e2 : j1, j2, j3</a:t>
            </a:r>
          </a:p>
          <a:p>
            <a:pPr marL="457200" lvl="0" indent="-336550" algn="l" rtl="0">
              <a:spcBef>
                <a:spcPts val="0"/>
              </a:spcBef>
              <a:spcAft>
                <a:spcPts val="0"/>
              </a:spcAft>
              <a:buSzPts val="1700"/>
              <a:buChar char="●"/>
            </a:pPr>
            <a:r>
              <a:rPr lang="en-US" sz="1700" dirty="0"/>
              <a:t>e3 : j1, j2, j3</a:t>
            </a:r>
            <a:endParaRPr lang="en-US" sz="1500" dirty="0"/>
          </a:p>
        </p:txBody>
      </p:sp>
      <p:sp>
        <p:nvSpPr>
          <p:cNvPr id="4" name="Google Shape;134;p21"/>
          <p:cNvSpPr txBox="1">
            <a:spLocks/>
          </p:cNvSpPr>
          <p:nvPr/>
        </p:nvSpPr>
        <p:spPr>
          <a:xfrm>
            <a:off x="6462843" y="1269983"/>
            <a:ext cx="2681157" cy="2261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indent="-336550">
              <a:buSzPts val="1700"/>
            </a:pPr>
            <a:r>
              <a:rPr lang="en-US" sz="1700" dirty="0"/>
              <a:t>j1 : e1, e2, e3</a:t>
            </a:r>
          </a:p>
          <a:p>
            <a:pPr indent="-336550">
              <a:buSzPts val="1700"/>
            </a:pPr>
            <a:r>
              <a:rPr lang="en-US" sz="1700" dirty="0"/>
              <a:t>j2 : e3, e1, e2</a:t>
            </a:r>
          </a:p>
          <a:p>
            <a:pPr indent="-336550">
              <a:buSzPts val="1700"/>
            </a:pPr>
            <a:r>
              <a:rPr lang="en-US" sz="1700" dirty="0"/>
              <a:t>j3 : e1, e2, e3</a:t>
            </a:r>
            <a:endParaRPr lang="en-US" sz="1500" dirty="0"/>
          </a:p>
        </p:txBody>
      </p:sp>
      <p:grpSp>
        <p:nvGrpSpPr>
          <p:cNvPr id="7" name="Group 6"/>
          <p:cNvGrpSpPr/>
          <p:nvPr/>
        </p:nvGrpSpPr>
        <p:grpSpPr>
          <a:xfrm>
            <a:off x="2681636" y="2769576"/>
            <a:ext cx="473976" cy="365760"/>
            <a:chOff x="2189284" y="2769576"/>
            <a:chExt cx="473976" cy="365760"/>
          </a:xfrm>
        </p:grpSpPr>
        <p:sp>
          <p:nvSpPr>
            <p:cNvPr id="3" name="Rectangle 2"/>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6" name="TextBox 5"/>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e1</a:t>
              </a:r>
            </a:p>
          </p:txBody>
        </p:sp>
      </p:grpSp>
      <p:grpSp>
        <p:nvGrpSpPr>
          <p:cNvPr id="10" name="Group 9"/>
          <p:cNvGrpSpPr/>
          <p:nvPr/>
        </p:nvGrpSpPr>
        <p:grpSpPr>
          <a:xfrm>
            <a:off x="2681636" y="3340360"/>
            <a:ext cx="473976" cy="365760"/>
            <a:chOff x="2189284" y="2769576"/>
            <a:chExt cx="473976" cy="365760"/>
          </a:xfrm>
        </p:grpSpPr>
        <p:sp>
          <p:nvSpPr>
            <p:cNvPr id="11" name="Rectangle 10"/>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TextBox 11"/>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e2</a:t>
              </a:r>
            </a:p>
          </p:txBody>
        </p:sp>
      </p:grpSp>
      <p:grpSp>
        <p:nvGrpSpPr>
          <p:cNvPr id="13" name="Group 12"/>
          <p:cNvGrpSpPr/>
          <p:nvPr/>
        </p:nvGrpSpPr>
        <p:grpSpPr>
          <a:xfrm>
            <a:off x="2681636" y="3911143"/>
            <a:ext cx="473976" cy="365760"/>
            <a:chOff x="2189284" y="2769576"/>
            <a:chExt cx="473976" cy="365760"/>
          </a:xfrm>
        </p:grpSpPr>
        <p:sp>
          <p:nvSpPr>
            <p:cNvPr id="14" name="Rectangle 13"/>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5" name="TextBox 14"/>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e3</a:t>
              </a:r>
            </a:p>
          </p:txBody>
        </p:sp>
      </p:grpSp>
      <p:grpSp>
        <p:nvGrpSpPr>
          <p:cNvPr id="19" name="Group 18"/>
          <p:cNvGrpSpPr/>
          <p:nvPr/>
        </p:nvGrpSpPr>
        <p:grpSpPr>
          <a:xfrm>
            <a:off x="5530233" y="2769576"/>
            <a:ext cx="473976" cy="365760"/>
            <a:chOff x="2189284" y="2769576"/>
            <a:chExt cx="473976" cy="365760"/>
          </a:xfrm>
        </p:grpSpPr>
        <p:sp>
          <p:nvSpPr>
            <p:cNvPr id="20" name="Rectangle 19"/>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1" name="TextBox 20"/>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j1</a:t>
              </a:r>
            </a:p>
          </p:txBody>
        </p:sp>
      </p:grpSp>
      <p:grpSp>
        <p:nvGrpSpPr>
          <p:cNvPr id="22" name="Group 21"/>
          <p:cNvGrpSpPr/>
          <p:nvPr/>
        </p:nvGrpSpPr>
        <p:grpSpPr>
          <a:xfrm>
            <a:off x="5530233" y="3340360"/>
            <a:ext cx="473976" cy="365760"/>
            <a:chOff x="2189284" y="2769576"/>
            <a:chExt cx="473976" cy="365760"/>
          </a:xfrm>
        </p:grpSpPr>
        <p:sp>
          <p:nvSpPr>
            <p:cNvPr id="23" name="Rectangle 22"/>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4" name="TextBox 23"/>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j2</a:t>
              </a:r>
            </a:p>
          </p:txBody>
        </p:sp>
      </p:grpSp>
      <p:grpSp>
        <p:nvGrpSpPr>
          <p:cNvPr id="25" name="Group 24"/>
          <p:cNvGrpSpPr/>
          <p:nvPr/>
        </p:nvGrpSpPr>
        <p:grpSpPr>
          <a:xfrm>
            <a:off x="5530233" y="3911143"/>
            <a:ext cx="473976" cy="365760"/>
            <a:chOff x="2189284" y="2769576"/>
            <a:chExt cx="473976" cy="365760"/>
          </a:xfrm>
        </p:grpSpPr>
        <p:sp>
          <p:nvSpPr>
            <p:cNvPr id="26" name="Rectangle 25"/>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7" name="TextBox 26"/>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j3</a:t>
              </a:r>
            </a:p>
          </p:txBody>
        </p:sp>
      </p:grpSp>
      <p:cxnSp>
        <p:nvCxnSpPr>
          <p:cNvPr id="5" name="Straight Connector 4"/>
          <p:cNvCxnSpPr>
            <a:cxnSpLocks/>
            <a:endCxn id="24" idx="1"/>
          </p:cNvCxnSpPr>
          <p:nvPr/>
        </p:nvCxnSpPr>
        <p:spPr>
          <a:xfrm>
            <a:off x="3047396" y="2963008"/>
            <a:ext cx="2482837" cy="560232"/>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B3FEFF7C-332B-C1CB-335C-6EA4F3E6783F}"/>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8" name="TextBox 7">
            <a:extLst>
              <a:ext uri="{FF2B5EF4-FFF2-40B4-BE49-F238E27FC236}">
                <a16:creationId xmlns:a16="http://schemas.microsoft.com/office/drawing/2014/main" id="{A9B547ED-5946-A2B6-B898-E03E67667140}"/>
              </a:ext>
            </a:extLst>
          </p:cNvPr>
          <p:cNvSpPr txBox="1"/>
          <p:nvPr/>
        </p:nvSpPr>
        <p:spPr>
          <a:xfrm>
            <a:off x="168443" y="4195668"/>
            <a:ext cx="1515980" cy="738664"/>
          </a:xfrm>
          <a:prstGeom prst="rect">
            <a:avLst/>
          </a:prstGeom>
          <a:noFill/>
          <a:ln>
            <a:solidFill>
              <a:schemeClr val="bg2"/>
            </a:solidFill>
          </a:ln>
        </p:spPr>
        <p:txBody>
          <a:bodyPr wrap="square" rtlCol="0">
            <a:spAutoFit/>
          </a:bodyPr>
          <a:lstStyle/>
          <a:p>
            <a:r>
              <a:rPr lang="en-US" b="1" u="sng" dirty="0">
                <a:latin typeface="Lato" panose="020B0604020202020204" charset="0"/>
                <a:ea typeface="Lato" panose="020B0604020202020204" charset="0"/>
                <a:cs typeface="Lato" panose="020B0604020202020204" charset="0"/>
              </a:rPr>
              <a:t>Example: </a:t>
            </a:r>
          </a:p>
          <a:p>
            <a:r>
              <a:rPr lang="en-US" dirty="0">
                <a:latin typeface="Lato" panose="020B0604020202020204" charset="0"/>
                <a:ea typeface="Lato" panose="020B0604020202020204" charset="0"/>
                <a:cs typeface="Lato" panose="020B0604020202020204" charset="0"/>
              </a:rPr>
              <a:t>e1 = employee 1</a:t>
            </a:r>
          </a:p>
          <a:p>
            <a:r>
              <a:rPr lang="en-US" dirty="0">
                <a:latin typeface="Lato" panose="020B0604020202020204" charset="0"/>
                <a:ea typeface="Lato" panose="020B0604020202020204" charset="0"/>
                <a:cs typeface="Lato" panose="020B0604020202020204" charset="0"/>
              </a:rPr>
              <a:t>j1 = job 1</a:t>
            </a:r>
          </a:p>
        </p:txBody>
      </p:sp>
    </p:spTree>
    <p:extLst>
      <p:ext uri="{BB962C8B-B14F-4D97-AF65-F5344CB8AC3E}">
        <p14:creationId xmlns:p14="http://schemas.microsoft.com/office/powerpoint/2010/main" val="41192206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6C28090D-622D-E72F-F3A9-754ECF9A1AC5}"/>
            </a:ext>
          </a:extLst>
        </p:cNvPr>
        <p:cNvGrpSpPr/>
        <p:nvPr/>
      </p:nvGrpSpPr>
      <p:grpSpPr>
        <a:xfrm>
          <a:off x="0" y="0"/>
          <a:ext cx="0" cy="0"/>
          <a:chOff x="0" y="0"/>
          <a:chExt cx="0" cy="0"/>
        </a:xfrm>
      </p:grpSpPr>
      <p:sp>
        <p:nvSpPr>
          <p:cNvPr id="134" name="Google Shape;134;p21">
            <a:extLst>
              <a:ext uri="{FF2B5EF4-FFF2-40B4-BE49-F238E27FC236}">
                <a16:creationId xmlns:a16="http://schemas.microsoft.com/office/drawing/2014/main" id="{D2D0A23F-CD1F-53CA-C978-AEA3894754C9}"/>
              </a:ext>
            </a:extLst>
          </p:cNvPr>
          <p:cNvSpPr txBox="1">
            <a:spLocks noGrp="1"/>
          </p:cNvSpPr>
          <p:nvPr>
            <p:ph type="body" idx="1"/>
          </p:nvPr>
        </p:nvSpPr>
        <p:spPr>
          <a:xfrm>
            <a:off x="70027" y="1269983"/>
            <a:ext cx="2681157" cy="22611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US" sz="1700" dirty="0">
                <a:solidFill>
                  <a:srgbClr val="00B050"/>
                </a:solidFill>
              </a:rPr>
              <a:t>e1 : </a:t>
            </a:r>
            <a:r>
              <a:rPr lang="en-US" sz="1700" u="sng" dirty="0">
                <a:solidFill>
                  <a:srgbClr val="00B050"/>
                </a:solidFill>
              </a:rPr>
              <a:t>j2</a:t>
            </a:r>
            <a:r>
              <a:rPr lang="en-US" sz="1700" dirty="0">
                <a:solidFill>
                  <a:srgbClr val="00B050"/>
                </a:solidFill>
              </a:rPr>
              <a:t>, j1, j3</a:t>
            </a:r>
          </a:p>
          <a:p>
            <a:pPr marL="457200" lvl="0" indent="-336550" algn="l" rtl="0">
              <a:spcBef>
                <a:spcPts val="0"/>
              </a:spcBef>
              <a:spcAft>
                <a:spcPts val="0"/>
              </a:spcAft>
              <a:buSzPts val="1700"/>
              <a:buChar char="●"/>
            </a:pPr>
            <a:r>
              <a:rPr lang="en-US" sz="1700" dirty="0"/>
              <a:t>e2 : j1, j2, j3</a:t>
            </a:r>
          </a:p>
          <a:p>
            <a:pPr marL="457200" lvl="0" indent="-336550" algn="l" rtl="0">
              <a:spcBef>
                <a:spcPts val="0"/>
              </a:spcBef>
              <a:spcAft>
                <a:spcPts val="0"/>
              </a:spcAft>
              <a:buSzPts val="1700"/>
              <a:buChar char="●"/>
            </a:pPr>
            <a:r>
              <a:rPr lang="en-US" sz="1700" dirty="0"/>
              <a:t>e3 : j1, j2, j3</a:t>
            </a:r>
            <a:endParaRPr lang="en-US" sz="1500" dirty="0"/>
          </a:p>
        </p:txBody>
      </p:sp>
      <p:sp>
        <p:nvSpPr>
          <p:cNvPr id="4" name="Google Shape;134;p21">
            <a:extLst>
              <a:ext uri="{FF2B5EF4-FFF2-40B4-BE49-F238E27FC236}">
                <a16:creationId xmlns:a16="http://schemas.microsoft.com/office/drawing/2014/main" id="{3E5FDBAD-661C-ACA2-1C82-09E56B093F23}"/>
              </a:ext>
            </a:extLst>
          </p:cNvPr>
          <p:cNvSpPr txBox="1">
            <a:spLocks/>
          </p:cNvSpPr>
          <p:nvPr/>
        </p:nvSpPr>
        <p:spPr>
          <a:xfrm>
            <a:off x="6462843" y="1269983"/>
            <a:ext cx="2681157" cy="2261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indent="-336550">
              <a:buSzPts val="1700"/>
            </a:pPr>
            <a:r>
              <a:rPr lang="en-US" sz="1700" dirty="0"/>
              <a:t>j1 : e1, e2, e3</a:t>
            </a:r>
          </a:p>
          <a:p>
            <a:pPr indent="-336550">
              <a:buSzPts val="1700"/>
            </a:pPr>
            <a:r>
              <a:rPr lang="en-US" sz="1700" dirty="0">
                <a:solidFill>
                  <a:srgbClr val="00B050"/>
                </a:solidFill>
              </a:rPr>
              <a:t>j2 : e3, </a:t>
            </a:r>
            <a:r>
              <a:rPr lang="en-US" sz="1700" u="sng" dirty="0">
                <a:solidFill>
                  <a:srgbClr val="00B050"/>
                </a:solidFill>
              </a:rPr>
              <a:t>e1</a:t>
            </a:r>
            <a:r>
              <a:rPr lang="en-US" sz="1700" dirty="0">
                <a:solidFill>
                  <a:srgbClr val="00B050"/>
                </a:solidFill>
              </a:rPr>
              <a:t>, e2</a:t>
            </a:r>
          </a:p>
          <a:p>
            <a:pPr indent="-336550">
              <a:buSzPts val="1700"/>
            </a:pPr>
            <a:r>
              <a:rPr lang="en-US" sz="1700" dirty="0"/>
              <a:t>j3 : e1, e2, e3</a:t>
            </a:r>
            <a:endParaRPr lang="en-US" sz="1500" dirty="0"/>
          </a:p>
        </p:txBody>
      </p:sp>
      <p:grpSp>
        <p:nvGrpSpPr>
          <p:cNvPr id="7" name="Group 6">
            <a:extLst>
              <a:ext uri="{FF2B5EF4-FFF2-40B4-BE49-F238E27FC236}">
                <a16:creationId xmlns:a16="http://schemas.microsoft.com/office/drawing/2014/main" id="{12A97A74-7556-6A6B-A781-96DD9FF0F3BC}"/>
              </a:ext>
            </a:extLst>
          </p:cNvPr>
          <p:cNvGrpSpPr/>
          <p:nvPr/>
        </p:nvGrpSpPr>
        <p:grpSpPr>
          <a:xfrm>
            <a:off x="2681636" y="2769576"/>
            <a:ext cx="473976" cy="365760"/>
            <a:chOff x="2189284" y="2769576"/>
            <a:chExt cx="473976" cy="365760"/>
          </a:xfrm>
        </p:grpSpPr>
        <p:sp>
          <p:nvSpPr>
            <p:cNvPr id="3" name="Rectangle 2">
              <a:extLst>
                <a:ext uri="{FF2B5EF4-FFF2-40B4-BE49-F238E27FC236}">
                  <a16:creationId xmlns:a16="http://schemas.microsoft.com/office/drawing/2014/main" id="{FDE8ABE1-E666-F22B-0568-9AC39F00C457}"/>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185EF84F-695B-7509-5C8F-8979726D9B89}"/>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e1</a:t>
              </a:r>
            </a:p>
          </p:txBody>
        </p:sp>
      </p:grpSp>
      <p:grpSp>
        <p:nvGrpSpPr>
          <p:cNvPr id="10" name="Group 9">
            <a:extLst>
              <a:ext uri="{FF2B5EF4-FFF2-40B4-BE49-F238E27FC236}">
                <a16:creationId xmlns:a16="http://schemas.microsoft.com/office/drawing/2014/main" id="{C9957ACB-BBF7-925B-2A5A-607AC9A60739}"/>
              </a:ext>
            </a:extLst>
          </p:cNvPr>
          <p:cNvGrpSpPr/>
          <p:nvPr/>
        </p:nvGrpSpPr>
        <p:grpSpPr>
          <a:xfrm>
            <a:off x="2681636" y="3340360"/>
            <a:ext cx="473976" cy="365760"/>
            <a:chOff x="2189284" y="2769576"/>
            <a:chExt cx="473976" cy="365760"/>
          </a:xfrm>
        </p:grpSpPr>
        <p:sp>
          <p:nvSpPr>
            <p:cNvPr id="11" name="Rectangle 10">
              <a:extLst>
                <a:ext uri="{FF2B5EF4-FFF2-40B4-BE49-F238E27FC236}">
                  <a16:creationId xmlns:a16="http://schemas.microsoft.com/office/drawing/2014/main" id="{E37A648A-A53F-3D05-342D-DD52349F7718}"/>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TextBox 11">
              <a:extLst>
                <a:ext uri="{FF2B5EF4-FFF2-40B4-BE49-F238E27FC236}">
                  <a16:creationId xmlns:a16="http://schemas.microsoft.com/office/drawing/2014/main" id="{1DD73561-1AD7-BC9E-9B1A-2B0BF3D7D199}"/>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e2</a:t>
              </a:r>
            </a:p>
          </p:txBody>
        </p:sp>
      </p:grpSp>
      <p:grpSp>
        <p:nvGrpSpPr>
          <p:cNvPr id="13" name="Group 12">
            <a:extLst>
              <a:ext uri="{FF2B5EF4-FFF2-40B4-BE49-F238E27FC236}">
                <a16:creationId xmlns:a16="http://schemas.microsoft.com/office/drawing/2014/main" id="{E3A760E6-5E78-F85F-6730-C4ED18781158}"/>
              </a:ext>
            </a:extLst>
          </p:cNvPr>
          <p:cNvGrpSpPr/>
          <p:nvPr/>
        </p:nvGrpSpPr>
        <p:grpSpPr>
          <a:xfrm>
            <a:off x="2681636" y="3911143"/>
            <a:ext cx="473976" cy="365760"/>
            <a:chOff x="2189284" y="2769576"/>
            <a:chExt cx="473976" cy="365760"/>
          </a:xfrm>
        </p:grpSpPr>
        <p:sp>
          <p:nvSpPr>
            <p:cNvPr id="14" name="Rectangle 13">
              <a:extLst>
                <a:ext uri="{FF2B5EF4-FFF2-40B4-BE49-F238E27FC236}">
                  <a16:creationId xmlns:a16="http://schemas.microsoft.com/office/drawing/2014/main" id="{254DC06C-6EC3-7975-FDF0-94CDC157E865}"/>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42B4D5D8-DBE2-201E-57E6-84B841132883}"/>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e3</a:t>
              </a:r>
            </a:p>
          </p:txBody>
        </p:sp>
      </p:grpSp>
      <p:grpSp>
        <p:nvGrpSpPr>
          <p:cNvPr id="19" name="Group 18">
            <a:extLst>
              <a:ext uri="{FF2B5EF4-FFF2-40B4-BE49-F238E27FC236}">
                <a16:creationId xmlns:a16="http://schemas.microsoft.com/office/drawing/2014/main" id="{BD230AB3-C0A7-F8FF-59C8-0C72ECEAEEF3}"/>
              </a:ext>
            </a:extLst>
          </p:cNvPr>
          <p:cNvGrpSpPr/>
          <p:nvPr/>
        </p:nvGrpSpPr>
        <p:grpSpPr>
          <a:xfrm>
            <a:off x="5530233" y="2769576"/>
            <a:ext cx="473976" cy="365760"/>
            <a:chOff x="2189284" y="2769576"/>
            <a:chExt cx="473976" cy="365760"/>
          </a:xfrm>
        </p:grpSpPr>
        <p:sp>
          <p:nvSpPr>
            <p:cNvPr id="20" name="Rectangle 19">
              <a:extLst>
                <a:ext uri="{FF2B5EF4-FFF2-40B4-BE49-F238E27FC236}">
                  <a16:creationId xmlns:a16="http://schemas.microsoft.com/office/drawing/2014/main" id="{83C19A2B-1601-0A68-F6DC-E39CC7AF0A7D}"/>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1" name="TextBox 20">
              <a:extLst>
                <a:ext uri="{FF2B5EF4-FFF2-40B4-BE49-F238E27FC236}">
                  <a16:creationId xmlns:a16="http://schemas.microsoft.com/office/drawing/2014/main" id="{56B19B15-CA77-39C0-CF57-4D9B92DA3918}"/>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j1</a:t>
              </a:r>
            </a:p>
          </p:txBody>
        </p:sp>
      </p:grpSp>
      <p:grpSp>
        <p:nvGrpSpPr>
          <p:cNvPr id="22" name="Group 21">
            <a:extLst>
              <a:ext uri="{FF2B5EF4-FFF2-40B4-BE49-F238E27FC236}">
                <a16:creationId xmlns:a16="http://schemas.microsoft.com/office/drawing/2014/main" id="{A84A6A70-2255-CA1D-50B3-685E31E56AF2}"/>
              </a:ext>
            </a:extLst>
          </p:cNvPr>
          <p:cNvGrpSpPr/>
          <p:nvPr/>
        </p:nvGrpSpPr>
        <p:grpSpPr>
          <a:xfrm>
            <a:off x="5530233" y="3340360"/>
            <a:ext cx="473976" cy="365760"/>
            <a:chOff x="2189284" y="2769576"/>
            <a:chExt cx="473976" cy="365760"/>
          </a:xfrm>
        </p:grpSpPr>
        <p:sp>
          <p:nvSpPr>
            <p:cNvPr id="23" name="Rectangle 22">
              <a:extLst>
                <a:ext uri="{FF2B5EF4-FFF2-40B4-BE49-F238E27FC236}">
                  <a16:creationId xmlns:a16="http://schemas.microsoft.com/office/drawing/2014/main" id="{0349F97B-D057-3AE9-EBBF-14F45FBD9A54}"/>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BCA4F9DD-968B-8EE6-0659-0EE9582CD191}"/>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j2</a:t>
              </a:r>
            </a:p>
          </p:txBody>
        </p:sp>
      </p:grpSp>
      <p:grpSp>
        <p:nvGrpSpPr>
          <p:cNvPr id="25" name="Group 24">
            <a:extLst>
              <a:ext uri="{FF2B5EF4-FFF2-40B4-BE49-F238E27FC236}">
                <a16:creationId xmlns:a16="http://schemas.microsoft.com/office/drawing/2014/main" id="{A7FEA6E2-843A-A5B2-27FA-50E1D36B75B2}"/>
              </a:ext>
            </a:extLst>
          </p:cNvPr>
          <p:cNvGrpSpPr/>
          <p:nvPr/>
        </p:nvGrpSpPr>
        <p:grpSpPr>
          <a:xfrm>
            <a:off x="5530233" y="3911143"/>
            <a:ext cx="473976" cy="365760"/>
            <a:chOff x="2189284" y="2769576"/>
            <a:chExt cx="473976" cy="365760"/>
          </a:xfrm>
        </p:grpSpPr>
        <p:sp>
          <p:nvSpPr>
            <p:cNvPr id="26" name="Rectangle 25">
              <a:extLst>
                <a:ext uri="{FF2B5EF4-FFF2-40B4-BE49-F238E27FC236}">
                  <a16:creationId xmlns:a16="http://schemas.microsoft.com/office/drawing/2014/main" id="{05F87AC2-708B-3BF8-2D7C-889181F23DCE}"/>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7" name="TextBox 26">
              <a:extLst>
                <a:ext uri="{FF2B5EF4-FFF2-40B4-BE49-F238E27FC236}">
                  <a16:creationId xmlns:a16="http://schemas.microsoft.com/office/drawing/2014/main" id="{58E4EA8E-3999-13B9-3E86-913E8D5662B3}"/>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j3</a:t>
              </a:r>
            </a:p>
          </p:txBody>
        </p:sp>
      </p:grpSp>
      <p:cxnSp>
        <p:nvCxnSpPr>
          <p:cNvPr id="5" name="Straight Connector 4">
            <a:extLst>
              <a:ext uri="{FF2B5EF4-FFF2-40B4-BE49-F238E27FC236}">
                <a16:creationId xmlns:a16="http://schemas.microsoft.com/office/drawing/2014/main" id="{7AF84F9B-6182-DB02-172C-D180046E4230}"/>
              </a:ext>
            </a:extLst>
          </p:cNvPr>
          <p:cNvCxnSpPr>
            <a:cxnSpLocks/>
            <a:endCxn id="24" idx="1"/>
          </p:cNvCxnSpPr>
          <p:nvPr/>
        </p:nvCxnSpPr>
        <p:spPr>
          <a:xfrm>
            <a:off x="3047396" y="2963008"/>
            <a:ext cx="2482837" cy="560232"/>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E74B567-5960-EE66-12F4-6DA4F9E1EE97}"/>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8" name="TextBox 7">
            <a:extLst>
              <a:ext uri="{FF2B5EF4-FFF2-40B4-BE49-F238E27FC236}">
                <a16:creationId xmlns:a16="http://schemas.microsoft.com/office/drawing/2014/main" id="{16078CD2-6FFC-EBFE-4B22-AF31F47B41BF}"/>
              </a:ext>
            </a:extLst>
          </p:cNvPr>
          <p:cNvSpPr txBox="1"/>
          <p:nvPr/>
        </p:nvSpPr>
        <p:spPr>
          <a:xfrm>
            <a:off x="168443" y="4195668"/>
            <a:ext cx="1515980" cy="738664"/>
          </a:xfrm>
          <a:prstGeom prst="rect">
            <a:avLst/>
          </a:prstGeom>
          <a:noFill/>
          <a:ln>
            <a:solidFill>
              <a:schemeClr val="bg2"/>
            </a:solidFill>
          </a:ln>
        </p:spPr>
        <p:txBody>
          <a:bodyPr wrap="square" rtlCol="0">
            <a:spAutoFit/>
          </a:bodyPr>
          <a:lstStyle/>
          <a:p>
            <a:r>
              <a:rPr lang="en-US" b="1" u="sng" dirty="0">
                <a:latin typeface="Lato" panose="020B0604020202020204" charset="0"/>
                <a:ea typeface="Lato" panose="020B0604020202020204" charset="0"/>
                <a:cs typeface="Lato" panose="020B0604020202020204" charset="0"/>
              </a:rPr>
              <a:t>Example: </a:t>
            </a:r>
          </a:p>
          <a:p>
            <a:r>
              <a:rPr lang="en-US" dirty="0">
                <a:latin typeface="Lato" panose="020B0604020202020204" charset="0"/>
                <a:ea typeface="Lato" panose="020B0604020202020204" charset="0"/>
                <a:cs typeface="Lato" panose="020B0604020202020204" charset="0"/>
              </a:rPr>
              <a:t>e1 = employee 1</a:t>
            </a:r>
          </a:p>
          <a:p>
            <a:r>
              <a:rPr lang="en-US" dirty="0">
                <a:latin typeface="Lato" panose="020B0604020202020204" charset="0"/>
                <a:ea typeface="Lato" panose="020B0604020202020204" charset="0"/>
                <a:cs typeface="Lato" panose="020B0604020202020204" charset="0"/>
              </a:rPr>
              <a:t>j1 = job 1</a:t>
            </a:r>
          </a:p>
        </p:txBody>
      </p:sp>
    </p:spTree>
    <p:extLst>
      <p:ext uri="{BB962C8B-B14F-4D97-AF65-F5344CB8AC3E}">
        <p14:creationId xmlns:p14="http://schemas.microsoft.com/office/powerpoint/2010/main" val="17789769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AC63F4A4-428B-4ACD-20FB-D3CE80033BE7}"/>
            </a:ext>
          </a:extLst>
        </p:cNvPr>
        <p:cNvGrpSpPr/>
        <p:nvPr/>
      </p:nvGrpSpPr>
      <p:grpSpPr>
        <a:xfrm>
          <a:off x="0" y="0"/>
          <a:ext cx="0" cy="0"/>
          <a:chOff x="0" y="0"/>
          <a:chExt cx="0" cy="0"/>
        </a:xfrm>
      </p:grpSpPr>
      <p:sp>
        <p:nvSpPr>
          <p:cNvPr id="134" name="Google Shape;134;p21">
            <a:extLst>
              <a:ext uri="{FF2B5EF4-FFF2-40B4-BE49-F238E27FC236}">
                <a16:creationId xmlns:a16="http://schemas.microsoft.com/office/drawing/2014/main" id="{CD5E2B85-3168-C9B9-328B-CD1F8E3776ED}"/>
              </a:ext>
            </a:extLst>
          </p:cNvPr>
          <p:cNvSpPr txBox="1">
            <a:spLocks noGrp="1"/>
          </p:cNvSpPr>
          <p:nvPr>
            <p:ph type="body" idx="1"/>
          </p:nvPr>
        </p:nvSpPr>
        <p:spPr>
          <a:xfrm>
            <a:off x="70027" y="1269983"/>
            <a:ext cx="2681157" cy="22611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US" sz="1700" dirty="0">
                <a:solidFill>
                  <a:srgbClr val="00B050"/>
                </a:solidFill>
              </a:rPr>
              <a:t>e1 : </a:t>
            </a:r>
            <a:r>
              <a:rPr lang="en-US" sz="1700" u="sng" dirty="0">
                <a:solidFill>
                  <a:srgbClr val="00B050"/>
                </a:solidFill>
              </a:rPr>
              <a:t>j2</a:t>
            </a:r>
            <a:r>
              <a:rPr lang="en-US" sz="1700" dirty="0">
                <a:solidFill>
                  <a:srgbClr val="00B050"/>
                </a:solidFill>
              </a:rPr>
              <a:t>, j1, j3</a:t>
            </a:r>
          </a:p>
          <a:p>
            <a:pPr marL="457200" lvl="0" indent="-336550" algn="l" rtl="0">
              <a:spcBef>
                <a:spcPts val="0"/>
              </a:spcBef>
              <a:spcAft>
                <a:spcPts val="0"/>
              </a:spcAft>
              <a:buSzPts val="1700"/>
              <a:buChar char="●"/>
            </a:pPr>
            <a:r>
              <a:rPr lang="en-US" sz="1700" b="1" dirty="0"/>
              <a:t>e2 : j1, j2, j3</a:t>
            </a:r>
          </a:p>
          <a:p>
            <a:pPr marL="457200" lvl="0" indent="-336550" algn="l" rtl="0">
              <a:spcBef>
                <a:spcPts val="0"/>
              </a:spcBef>
              <a:spcAft>
                <a:spcPts val="0"/>
              </a:spcAft>
              <a:buSzPts val="1700"/>
              <a:buChar char="●"/>
            </a:pPr>
            <a:r>
              <a:rPr lang="en-US" sz="1700" dirty="0"/>
              <a:t>e3 : j1, j2, j3</a:t>
            </a:r>
            <a:endParaRPr lang="en-US" sz="1500" dirty="0"/>
          </a:p>
        </p:txBody>
      </p:sp>
      <p:sp>
        <p:nvSpPr>
          <p:cNvPr id="4" name="Google Shape;134;p21">
            <a:extLst>
              <a:ext uri="{FF2B5EF4-FFF2-40B4-BE49-F238E27FC236}">
                <a16:creationId xmlns:a16="http://schemas.microsoft.com/office/drawing/2014/main" id="{56CDC4DC-F464-4BEC-F865-612F2C044406}"/>
              </a:ext>
            </a:extLst>
          </p:cNvPr>
          <p:cNvSpPr txBox="1">
            <a:spLocks/>
          </p:cNvSpPr>
          <p:nvPr/>
        </p:nvSpPr>
        <p:spPr>
          <a:xfrm>
            <a:off x="6462843" y="1269983"/>
            <a:ext cx="2681157" cy="2261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indent="-336550">
              <a:buSzPts val="1700"/>
            </a:pPr>
            <a:r>
              <a:rPr lang="en-US" sz="1700" dirty="0"/>
              <a:t>j1 : e1, e2, e3</a:t>
            </a:r>
          </a:p>
          <a:p>
            <a:pPr indent="-336550">
              <a:buSzPts val="1700"/>
            </a:pPr>
            <a:r>
              <a:rPr lang="en-US" sz="1700" dirty="0">
                <a:solidFill>
                  <a:srgbClr val="00B050"/>
                </a:solidFill>
              </a:rPr>
              <a:t>j2 : e3, </a:t>
            </a:r>
            <a:r>
              <a:rPr lang="en-US" sz="1700" u="sng" dirty="0">
                <a:solidFill>
                  <a:srgbClr val="00B050"/>
                </a:solidFill>
              </a:rPr>
              <a:t>e1</a:t>
            </a:r>
            <a:r>
              <a:rPr lang="en-US" sz="1700" dirty="0">
                <a:solidFill>
                  <a:srgbClr val="00B050"/>
                </a:solidFill>
              </a:rPr>
              <a:t>, e2</a:t>
            </a:r>
          </a:p>
          <a:p>
            <a:pPr indent="-336550">
              <a:buSzPts val="1700"/>
            </a:pPr>
            <a:r>
              <a:rPr lang="en-US" sz="1700" dirty="0"/>
              <a:t>j3 : e1, e2, e3</a:t>
            </a:r>
            <a:endParaRPr lang="en-US" sz="1500" dirty="0"/>
          </a:p>
        </p:txBody>
      </p:sp>
      <p:grpSp>
        <p:nvGrpSpPr>
          <p:cNvPr id="7" name="Group 6">
            <a:extLst>
              <a:ext uri="{FF2B5EF4-FFF2-40B4-BE49-F238E27FC236}">
                <a16:creationId xmlns:a16="http://schemas.microsoft.com/office/drawing/2014/main" id="{B6012EF1-C9BB-531A-B966-3D417D26D5D5}"/>
              </a:ext>
            </a:extLst>
          </p:cNvPr>
          <p:cNvGrpSpPr/>
          <p:nvPr/>
        </p:nvGrpSpPr>
        <p:grpSpPr>
          <a:xfrm>
            <a:off x="2681636" y="2769576"/>
            <a:ext cx="473976" cy="365760"/>
            <a:chOff x="2189284" y="2769576"/>
            <a:chExt cx="473976" cy="365760"/>
          </a:xfrm>
        </p:grpSpPr>
        <p:sp>
          <p:nvSpPr>
            <p:cNvPr id="3" name="Rectangle 2">
              <a:extLst>
                <a:ext uri="{FF2B5EF4-FFF2-40B4-BE49-F238E27FC236}">
                  <a16:creationId xmlns:a16="http://schemas.microsoft.com/office/drawing/2014/main" id="{134D6899-4EAC-C33A-C33A-DD9BE4CA3B5D}"/>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85AC8644-49F6-1C49-861E-F177FBF2FFDC}"/>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e1</a:t>
              </a:r>
            </a:p>
          </p:txBody>
        </p:sp>
      </p:grpSp>
      <p:grpSp>
        <p:nvGrpSpPr>
          <p:cNvPr id="10" name="Group 9">
            <a:extLst>
              <a:ext uri="{FF2B5EF4-FFF2-40B4-BE49-F238E27FC236}">
                <a16:creationId xmlns:a16="http://schemas.microsoft.com/office/drawing/2014/main" id="{81A08D85-78C2-6CF9-F4CF-65E67C258359}"/>
              </a:ext>
            </a:extLst>
          </p:cNvPr>
          <p:cNvGrpSpPr/>
          <p:nvPr/>
        </p:nvGrpSpPr>
        <p:grpSpPr>
          <a:xfrm>
            <a:off x="2681636" y="3340360"/>
            <a:ext cx="473976" cy="365760"/>
            <a:chOff x="2189284" y="2769576"/>
            <a:chExt cx="473976" cy="365760"/>
          </a:xfrm>
        </p:grpSpPr>
        <p:sp>
          <p:nvSpPr>
            <p:cNvPr id="11" name="Rectangle 10">
              <a:extLst>
                <a:ext uri="{FF2B5EF4-FFF2-40B4-BE49-F238E27FC236}">
                  <a16:creationId xmlns:a16="http://schemas.microsoft.com/office/drawing/2014/main" id="{D0C8A478-B84A-BBB7-50AE-D537C880B572}"/>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TextBox 11">
              <a:extLst>
                <a:ext uri="{FF2B5EF4-FFF2-40B4-BE49-F238E27FC236}">
                  <a16:creationId xmlns:a16="http://schemas.microsoft.com/office/drawing/2014/main" id="{A2B0A7CE-1A9A-8970-A38F-8A31A102D912}"/>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e2</a:t>
              </a:r>
            </a:p>
          </p:txBody>
        </p:sp>
      </p:grpSp>
      <p:grpSp>
        <p:nvGrpSpPr>
          <p:cNvPr id="13" name="Group 12">
            <a:extLst>
              <a:ext uri="{FF2B5EF4-FFF2-40B4-BE49-F238E27FC236}">
                <a16:creationId xmlns:a16="http://schemas.microsoft.com/office/drawing/2014/main" id="{7535DC43-27C4-9A9A-ECF4-C45973C9A477}"/>
              </a:ext>
            </a:extLst>
          </p:cNvPr>
          <p:cNvGrpSpPr/>
          <p:nvPr/>
        </p:nvGrpSpPr>
        <p:grpSpPr>
          <a:xfrm>
            <a:off x="2681636" y="3911143"/>
            <a:ext cx="473976" cy="365760"/>
            <a:chOff x="2189284" y="2769576"/>
            <a:chExt cx="473976" cy="365760"/>
          </a:xfrm>
        </p:grpSpPr>
        <p:sp>
          <p:nvSpPr>
            <p:cNvPr id="14" name="Rectangle 13">
              <a:extLst>
                <a:ext uri="{FF2B5EF4-FFF2-40B4-BE49-F238E27FC236}">
                  <a16:creationId xmlns:a16="http://schemas.microsoft.com/office/drawing/2014/main" id="{E4697B39-772C-4A54-D025-20348DE1C95B}"/>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DEB8217E-3492-A31E-DDE4-F93055A6304A}"/>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e3</a:t>
              </a:r>
            </a:p>
          </p:txBody>
        </p:sp>
      </p:grpSp>
      <p:grpSp>
        <p:nvGrpSpPr>
          <p:cNvPr id="19" name="Group 18">
            <a:extLst>
              <a:ext uri="{FF2B5EF4-FFF2-40B4-BE49-F238E27FC236}">
                <a16:creationId xmlns:a16="http://schemas.microsoft.com/office/drawing/2014/main" id="{0471895E-F645-423D-518C-AC496DE60674}"/>
              </a:ext>
            </a:extLst>
          </p:cNvPr>
          <p:cNvGrpSpPr/>
          <p:nvPr/>
        </p:nvGrpSpPr>
        <p:grpSpPr>
          <a:xfrm>
            <a:off x="5530233" y="2769576"/>
            <a:ext cx="473976" cy="365760"/>
            <a:chOff x="2189284" y="2769576"/>
            <a:chExt cx="473976" cy="365760"/>
          </a:xfrm>
        </p:grpSpPr>
        <p:sp>
          <p:nvSpPr>
            <p:cNvPr id="20" name="Rectangle 19">
              <a:extLst>
                <a:ext uri="{FF2B5EF4-FFF2-40B4-BE49-F238E27FC236}">
                  <a16:creationId xmlns:a16="http://schemas.microsoft.com/office/drawing/2014/main" id="{E1A04AC3-7699-73C2-7A6D-207719BC4A92}"/>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1" name="TextBox 20">
              <a:extLst>
                <a:ext uri="{FF2B5EF4-FFF2-40B4-BE49-F238E27FC236}">
                  <a16:creationId xmlns:a16="http://schemas.microsoft.com/office/drawing/2014/main" id="{B03AEEA5-05DC-4B9D-5D02-37700403DBD6}"/>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j1</a:t>
              </a:r>
            </a:p>
          </p:txBody>
        </p:sp>
      </p:grpSp>
      <p:grpSp>
        <p:nvGrpSpPr>
          <p:cNvPr id="22" name="Group 21">
            <a:extLst>
              <a:ext uri="{FF2B5EF4-FFF2-40B4-BE49-F238E27FC236}">
                <a16:creationId xmlns:a16="http://schemas.microsoft.com/office/drawing/2014/main" id="{396E1FE8-79ED-ADA7-2248-695A084572B1}"/>
              </a:ext>
            </a:extLst>
          </p:cNvPr>
          <p:cNvGrpSpPr/>
          <p:nvPr/>
        </p:nvGrpSpPr>
        <p:grpSpPr>
          <a:xfrm>
            <a:off x="5530233" y="3340360"/>
            <a:ext cx="473976" cy="365760"/>
            <a:chOff x="2189284" y="2769576"/>
            <a:chExt cx="473976" cy="365760"/>
          </a:xfrm>
        </p:grpSpPr>
        <p:sp>
          <p:nvSpPr>
            <p:cNvPr id="23" name="Rectangle 22">
              <a:extLst>
                <a:ext uri="{FF2B5EF4-FFF2-40B4-BE49-F238E27FC236}">
                  <a16:creationId xmlns:a16="http://schemas.microsoft.com/office/drawing/2014/main" id="{17C23831-2452-756F-8976-D5ABFBF8C4AA}"/>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D86B804C-BF0C-1451-A233-EFCF03881616}"/>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j2</a:t>
              </a:r>
            </a:p>
          </p:txBody>
        </p:sp>
      </p:grpSp>
      <p:grpSp>
        <p:nvGrpSpPr>
          <p:cNvPr id="25" name="Group 24">
            <a:extLst>
              <a:ext uri="{FF2B5EF4-FFF2-40B4-BE49-F238E27FC236}">
                <a16:creationId xmlns:a16="http://schemas.microsoft.com/office/drawing/2014/main" id="{42EAB3DD-4ED8-0436-9F06-A8B98CD1DE06}"/>
              </a:ext>
            </a:extLst>
          </p:cNvPr>
          <p:cNvGrpSpPr/>
          <p:nvPr/>
        </p:nvGrpSpPr>
        <p:grpSpPr>
          <a:xfrm>
            <a:off x="5530233" y="3911143"/>
            <a:ext cx="473976" cy="365760"/>
            <a:chOff x="2189284" y="2769576"/>
            <a:chExt cx="473976" cy="365760"/>
          </a:xfrm>
        </p:grpSpPr>
        <p:sp>
          <p:nvSpPr>
            <p:cNvPr id="26" name="Rectangle 25">
              <a:extLst>
                <a:ext uri="{FF2B5EF4-FFF2-40B4-BE49-F238E27FC236}">
                  <a16:creationId xmlns:a16="http://schemas.microsoft.com/office/drawing/2014/main" id="{A3514763-C92E-180B-25BC-CCB30C3A0A9A}"/>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7" name="TextBox 26">
              <a:extLst>
                <a:ext uri="{FF2B5EF4-FFF2-40B4-BE49-F238E27FC236}">
                  <a16:creationId xmlns:a16="http://schemas.microsoft.com/office/drawing/2014/main" id="{9BDAB40F-79A3-FCB9-B3F1-BBA6FFB9AE54}"/>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j3</a:t>
              </a:r>
            </a:p>
          </p:txBody>
        </p:sp>
      </p:grpSp>
      <p:cxnSp>
        <p:nvCxnSpPr>
          <p:cNvPr id="5" name="Straight Connector 4">
            <a:extLst>
              <a:ext uri="{FF2B5EF4-FFF2-40B4-BE49-F238E27FC236}">
                <a16:creationId xmlns:a16="http://schemas.microsoft.com/office/drawing/2014/main" id="{F4731718-AA13-C2B9-181C-9EB6AC579049}"/>
              </a:ext>
            </a:extLst>
          </p:cNvPr>
          <p:cNvCxnSpPr>
            <a:cxnSpLocks/>
            <a:endCxn id="24" idx="1"/>
          </p:cNvCxnSpPr>
          <p:nvPr/>
        </p:nvCxnSpPr>
        <p:spPr>
          <a:xfrm>
            <a:off x="3047396" y="2963008"/>
            <a:ext cx="2482837" cy="560232"/>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522CF8F4-0EC4-A588-3596-19303A8FD40C}"/>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8" name="TextBox 7">
            <a:extLst>
              <a:ext uri="{FF2B5EF4-FFF2-40B4-BE49-F238E27FC236}">
                <a16:creationId xmlns:a16="http://schemas.microsoft.com/office/drawing/2014/main" id="{E3EDA650-C891-EC68-1E9F-3C3F707EE735}"/>
              </a:ext>
            </a:extLst>
          </p:cNvPr>
          <p:cNvSpPr txBox="1"/>
          <p:nvPr/>
        </p:nvSpPr>
        <p:spPr>
          <a:xfrm>
            <a:off x="168443" y="4195668"/>
            <a:ext cx="1515980" cy="738664"/>
          </a:xfrm>
          <a:prstGeom prst="rect">
            <a:avLst/>
          </a:prstGeom>
          <a:noFill/>
          <a:ln>
            <a:solidFill>
              <a:schemeClr val="bg2"/>
            </a:solidFill>
          </a:ln>
        </p:spPr>
        <p:txBody>
          <a:bodyPr wrap="square" rtlCol="0">
            <a:spAutoFit/>
          </a:bodyPr>
          <a:lstStyle/>
          <a:p>
            <a:r>
              <a:rPr lang="en-US" b="1" u="sng" dirty="0">
                <a:latin typeface="Lato" panose="020B0604020202020204" charset="0"/>
                <a:ea typeface="Lato" panose="020B0604020202020204" charset="0"/>
                <a:cs typeface="Lato" panose="020B0604020202020204" charset="0"/>
              </a:rPr>
              <a:t>Example: </a:t>
            </a:r>
          </a:p>
          <a:p>
            <a:r>
              <a:rPr lang="en-US" dirty="0">
                <a:latin typeface="Lato" panose="020B0604020202020204" charset="0"/>
                <a:ea typeface="Lato" panose="020B0604020202020204" charset="0"/>
                <a:cs typeface="Lato" panose="020B0604020202020204" charset="0"/>
              </a:rPr>
              <a:t>e1 = employee 1</a:t>
            </a:r>
          </a:p>
          <a:p>
            <a:r>
              <a:rPr lang="en-US" dirty="0">
                <a:latin typeface="Lato" panose="020B0604020202020204" charset="0"/>
                <a:ea typeface="Lato" panose="020B0604020202020204" charset="0"/>
                <a:cs typeface="Lato" panose="020B0604020202020204" charset="0"/>
              </a:rPr>
              <a:t>j1 = job 1</a:t>
            </a:r>
          </a:p>
        </p:txBody>
      </p:sp>
      <p:cxnSp>
        <p:nvCxnSpPr>
          <p:cNvPr id="9" name="Straight Connector 8">
            <a:extLst>
              <a:ext uri="{FF2B5EF4-FFF2-40B4-BE49-F238E27FC236}">
                <a16:creationId xmlns:a16="http://schemas.microsoft.com/office/drawing/2014/main" id="{8B018FC5-CC0A-BA57-B253-6306F7179C6A}"/>
              </a:ext>
            </a:extLst>
          </p:cNvPr>
          <p:cNvCxnSpPr>
            <a:cxnSpLocks/>
            <a:endCxn id="21" idx="1"/>
          </p:cNvCxnSpPr>
          <p:nvPr/>
        </p:nvCxnSpPr>
        <p:spPr>
          <a:xfrm flipV="1">
            <a:off x="3047396" y="2952456"/>
            <a:ext cx="2482837" cy="547068"/>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10569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1DF4A2B0-B1F2-4FAB-C79D-A95DD44B154C}"/>
            </a:ext>
          </a:extLst>
        </p:cNvPr>
        <p:cNvGrpSpPr/>
        <p:nvPr/>
      </p:nvGrpSpPr>
      <p:grpSpPr>
        <a:xfrm>
          <a:off x="0" y="0"/>
          <a:ext cx="0" cy="0"/>
          <a:chOff x="0" y="0"/>
          <a:chExt cx="0" cy="0"/>
        </a:xfrm>
      </p:grpSpPr>
      <p:sp>
        <p:nvSpPr>
          <p:cNvPr id="134" name="Google Shape;134;p21">
            <a:extLst>
              <a:ext uri="{FF2B5EF4-FFF2-40B4-BE49-F238E27FC236}">
                <a16:creationId xmlns:a16="http://schemas.microsoft.com/office/drawing/2014/main" id="{0FF46BFC-955B-B2D5-BCCE-BED3DF5D036F}"/>
              </a:ext>
            </a:extLst>
          </p:cNvPr>
          <p:cNvSpPr txBox="1">
            <a:spLocks noGrp="1"/>
          </p:cNvSpPr>
          <p:nvPr>
            <p:ph type="body" idx="1"/>
          </p:nvPr>
        </p:nvSpPr>
        <p:spPr>
          <a:xfrm>
            <a:off x="70027" y="1269983"/>
            <a:ext cx="2681157" cy="22611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US" sz="1700" dirty="0">
                <a:solidFill>
                  <a:srgbClr val="00B050"/>
                </a:solidFill>
              </a:rPr>
              <a:t>e1 : </a:t>
            </a:r>
            <a:r>
              <a:rPr lang="en-US" sz="1700" u="sng" dirty="0">
                <a:solidFill>
                  <a:srgbClr val="00B050"/>
                </a:solidFill>
              </a:rPr>
              <a:t>j2</a:t>
            </a:r>
            <a:r>
              <a:rPr lang="en-US" sz="1700" dirty="0">
                <a:solidFill>
                  <a:srgbClr val="00B050"/>
                </a:solidFill>
              </a:rPr>
              <a:t>, j1, j3</a:t>
            </a:r>
          </a:p>
          <a:p>
            <a:pPr marL="457200" lvl="0" indent="-336550" algn="l" rtl="0">
              <a:spcBef>
                <a:spcPts val="0"/>
              </a:spcBef>
              <a:spcAft>
                <a:spcPts val="0"/>
              </a:spcAft>
              <a:buSzPts val="1700"/>
              <a:buChar char="●"/>
            </a:pPr>
            <a:r>
              <a:rPr lang="en-US" sz="1700" dirty="0">
                <a:solidFill>
                  <a:srgbClr val="00B050"/>
                </a:solidFill>
              </a:rPr>
              <a:t>e2 : </a:t>
            </a:r>
            <a:r>
              <a:rPr lang="en-US" sz="1700" u="sng" dirty="0">
                <a:solidFill>
                  <a:srgbClr val="00B050"/>
                </a:solidFill>
              </a:rPr>
              <a:t>j1</a:t>
            </a:r>
            <a:r>
              <a:rPr lang="en-US" sz="1700" dirty="0">
                <a:solidFill>
                  <a:srgbClr val="00B050"/>
                </a:solidFill>
              </a:rPr>
              <a:t>, j2, j3</a:t>
            </a:r>
          </a:p>
          <a:p>
            <a:pPr marL="457200" lvl="0" indent="-336550" algn="l" rtl="0">
              <a:spcBef>
                <a:spcPts val="0"/>
              </a:spcBef>
              <a:spcAft>
                <a:spcPts val="0"/>
              </a:spcAft>
              <a:buSzPts val="1700"/>
              <a:buChar char="●"/>
            </a:pPr>
            <a:r>
              <a:rPr lang="en-US" sz="1700" dirty="0"/>
              <a:t>e3 : j1, j2, j3</a:t>
            </a:r>
            <a:endParaRPr lang="en-US" sz="1500" dirty="0"/>
          </a:p>
        </p:txBody>
      </p:sp>
      <p:sp>
        <p:nvSpPr>
          <p:cNvPr id="4" name="Google Shape;134;p21">
            <a:extLst>
              <a:ext uri="{FF2B5EF4-FFF2-40B4-BE49-F238E27FC236}">
                <a16:creationId xmlns:a16="http://schemas.microsoft.com/office/drawing/2014/main" id="{5F64B8FB-895B-62D2-9711-1A7668B7BC94}"/>
              </a:ext>
            </a:extLst>
          </p:cNvPr>
          <p:cNvSpPr txBox="1">
            <a:spLocks/>
          </p:cNvSpPr>
          <p:nvPr/>
        </p:nvSpPr>
        <p:spPr>
          <a:xfrm>
            <a:off x="6462843" y="1269983"/>
            <a:ext cx="2681157" cy="2261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indent="-336550">
              <a:buSzPts val="1700"/>
            </a:pPr>
            <a:r>
              <a:rPr lang="en-US" sz="1700" dirty="0">
                <a:solidFill>
                  <a:srgbClr val="00B050"/>
                </a:solidFill>
              </a:rPr>
              <a:t>j1 : e1, </a:t>
            </a:r>
            <a:r>
              <a:rPr lang="en-US" sz="1700" u="sng" dirty="0">
                <a:solidFill>
                  <a:srgbClr val="00B050"/>
                </a:solidFill>
              </a:rPr>
              <a:t>e2</a:t>
            </a:r>
            <a:r>
              <a:rPr lang="en-US" sz="1700" dirty="0">
                <a:solidFill>
                  <a:srgbClr val="00B050"/>
                </a:solidFill>
              </a:rPr>
              <a:t>, e3</a:t>
            </a:r>
          </a:p>
          <a:p>
            <a:pPr indent="-336550">
              <a:buSzPts val="1700"/>
            </a:pPr>
            <a:r>
              <a:rPr lang="en-US" sz="1700" dirty="0">
                <a:solidFill>
                  <a:srgbClr val="00B050"/>
                </a:solidFill>
              </a:rPr>
              <a:t>j2 : e3, </a:t>
            </a:r>
            <a:r>
              <a:rPr lang="en-US" sz="1700" u="sng" dirty="0">
                <a:solidFill>
                  <a:srgbClr val="00B050"/>
                </a:solidFill>
              </a:rPr>
              <a:t>e1</a:t>
            </a:r>
            <a:r>
              <a:rPr lang="en-US" sz="1700" dirty="0">
                <a:solidFill>
                  <a:srgbClr val="00B050"/>
                </a:solidFill>
              </a:rPr>
              <a:t>, e2</a:t>
            </a:r>
          </a:p>
          <a:p>
            <a:pPr indent="-336550">
              <a:buSzPts val="1700"/>
            </a:pPr>
            <a:r>
              <a:rPr lang="en-US" sz="1700" dirty="0"/>
              <a:t>j3 : e1, e2, e3</a:t>
            </a:r>
            <a:endParaRPr lang="en-US" sz="1500" dirty="0"/>
          </a:p>
        </p:txBody>
      </p:sp>
      <p:grpSp>
        <p:nvGrpSpPr>
          <p:cNvPr id="7" name="Group 6">
            <a:extLst>
              <a:ext uri="{FF2B5EF4-FFF2-40B4-BE49-F238E27FC236}">
                <a16:creationId xmlns:a16="http://schemas.microsoft.com/office/drawing/2014/main" id="{BB77F737-3B84-F6A7-FE89-FE5672A33F5C}"/>
              </a:ext>
            </a:extLst>
          </p:cNvPr>
          <p:cNvGrpSpPr/>
          <p:nvPr/>
        </p:nvGrpSpPr>
        <p:grpSpPr>
          <a:xfrm>
            <a:off x="2681636" y="2769576"/>
            <a:ext cx="473976" cy="365760"/>
            <a:chOff x="2189284" y="2769576"/>
            <a:chExt cx="473976" cy="365760"/>
          </a:xfrm>
        </p:grpSpPr>
        <p:sp>
          <p:nvSpPr>
            <p:cNvPr id="3" name="Rectangle 2">
              <a:extLst>
                <a:ext uri="{FF2B5EF4-FFF2-40B4-BE49-F238E27FC236}">
                  <a16:creationId xmlns:a16="http://schemas.microsoft.com/office/drawing/2014/main" id="{88CA11FD-074A-5C3F-0FD6-C4810224B7D6}"/>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B7140764-31F0-8173-5514-1C4F52A28AF4}"/>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e1</a:t>
              </a:r>
            </a:p>
          </p:txBody>
        </p:sp>
      </p:grpSp>
      <p:grpSp>
        <p:nvGrpSpPr>
          <p:cNvPr id="10" name="Group 9">
            <a:extLst>
              <a:ext uri="{FF2B5EF4-FFF2-40B4-BE49-F238E27FC236}">
                <a16:creationId xmlns:a16="http://schemas.microsoft.com/office/drawing/2014/main" id="{21CC543E-788B-A86A-E9F1-3CDBD7B4E256}"/>
              </a:ext>
            </a:extLst>
          </p:cNvPr>
          <p:cNvGrpSpPr/>
          <p:nvPr/>
        </p:nvGrpSpPr>
        <p:grpSpPr>
          <a:xfrm>
            <a:off x="2681636" y="3340360"/>
            <a:ext cx="473976" cy="365760"/>
            <a:chOff x="2189284" y="2769576"/>
            <a:chExt cx="473976" cy="365760"/>
          </a:xfrm>
        </p:grpSpPr>
        <p:sp>
          <p:nvSpPr>
            <p:cNvPr id="11" name="Rectangle 10">
              <a:extLst>
                <a:ext uri="{FF2B5EF4-FFF2-40B4-BE49-F238E27FC236}">
                  <a16:creationId xmlns:a16="http://schemas.microsoft.com/office/drawing/2014/main" id="{179B11A6-0CCF-E21C-402E-5A62476CB69F}"/>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TextBox 11">
              <a:extLst>
                <a:ext uri="{FF2B5EF4-FFF2-40B4-BE49-F238E27FC236}">
                  <a16:creationId xmlns:a16="http://schemas.microsoft.com/office/drawing/2014/main" id="{A8E4B80E-D488-1F90-A113-83A52B78DB46}"/>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e2</a:t>
              </a:r>
            </a:p>
          </p:txBody>
        </p:sp>
      </p:grpSp>
      <p:grpSp>
        <p:nvGrpSpPr>
          <p:cNvPr id="13" name="Group 12">
            <a:extLst>
              <a:ext uri="{FF2B5EF4-FFF2-40B4-BE49-F238E27FC236}">
                <a16:creationId xmlns:a16="http://schemas.microsoft.com/office/drawing/2014/main" id="{FC416279-4E4E-E5F5-518B-89D8E1A91018}"/>
              </a:ext>
            </a:extLst>
          </p:cNvPr>
          <p:cNvGrpSpPr/>
          <p:nvPr/>
        </p:nvGrpSpPr>
        <p:grpSpPr>
          <a:xfrm>
            <a:off x="2681636" y="3911143"/>
            <a:ext cx="473976" cy="365760"/>
            <a:chOff x="2189284" y="2769576"/>
            <a:chExt cx="473976" cy="365760"/>
          </a:xfrm>
        </p:grpSpPr>
        <p:sp>
          <p:nvSpPr>
            <p:cNvPr id="14" name="Rectangle 13">
              <a:extLst>
                <a:ext uri="{FF2B5EF4-FFF2-40B4-BE49-F238E27FC236}">
                  <a16:creationId xmlns:a16="http://schemas.microsoft.com/office/drawing/2014/main" id="{11A1CD88-6F2B-91FD-51CF-9AF57C36D73E}"/>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FA925E85-7398-6A07-67AA-F31943C4F004}"/>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e3</a:t>
              </a:r>
            </a:p>
          </p:txBody>
        </p:sp>
      </p:grpSp>
      <p:grpSp>
        <p:nvGrpSpPr>
          <p:cNvPr id="19" name="Group 18">
            <a:extLst>
              <a:ext uri="{FF2B5EF4-FFF2-40B4-BE49-F238E27FC236}">
                <a16:creationId xmlns:a16="http://schemas.microsoft.com/office/drawing/2014/main" id="{9EEC64F1-74F9-9FD1-4BEA-3EEBDB770BC4}"/>
              </a:ext>
            </a:extLst>
          </p:cNvPr>
          <p:cNvGrpSpPr/>
          <p:nvPr/>
        </p:nvGrpSpPr>
        <p:grpSpPr>
          <a:xfrm>
            <a:off x="5530233" y="2769576"/>
            <a:ext cx="473976" cy="365760"/>
            <a:chOff x="2189284" y="2769576"/>
            <a:chExt cx="473976" cy="365760"/>
          </a:xfrm>
        </p:grpSpPr>
        <p:sp>
          <p:nvSpPr>
            <p:cNvPr id="20" name="Rectangle 19">
              <a:extLst>
                <a:ext uri="{FF2B5EF4-FFF2-40B4-BE49-F238E27FC236}">
                  <a16:creationId xmlns:a16="http://schemas.microsoft.com/office/drawing/2014/main" id="{F1CC3AFA-E4C5-C77A-F6CE-332B94AE0090}"/>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1" name="TextBox 20">
              <a:extLst>
                <a:ext uri="{FF2B5EF4-FFF2-40B4-BE49-F238E27FC236}">
                  <a16:creationId xmlns:a16="http://schemas.microsoft.com/office/drawing/2014/main" id="{D89EC876-5A20-F3D7-10AC-B6B937E80B68}"/>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j1</a:t>
              </a:r>
            </a:p>
          </p:txBody>
        </p:sp>
      </p:grpSp>
      <p:grpSp>
        <p:nvGrpSpPr>
          <p:cNvPr id="22" name="Group 21">
            <a:extLst>
              <a:ext uri="{FF2B5EF4-FFF2-40B4-BE49-F238E27FC236}">
                <a16:creationId xmlns:a16="http://schemas.microsoft.com/office/drawing/2014/main" id="{1EE043D2-A7F0-171C-AEB6-09AD3117A554}"/>
              </a:ext>
            </a:extLst>
          </p:cNvPr>
          <p:cNvGrpSpPr/>
          <p:nvPr/>
        </p:nvGrpSpPr>
        <p:grpSpPr>
          <a:xfrm>
            <a:off x="5530233" y="3340360"/>
            <a:ext cx="473976" cy="365760"/>
            <a:chOff x="2189284" y="2769576"/>
            <a:chExt cx="473976" cy="365760"/>
          </a:xfrm>
        </p:grpSpPr>
        <p:sp>
          <p:nvSpPr>
            <p:cNvPr id="23" name="Rectangle 22">
              <a:extLst>
                <a:ext uri="{FF2B5EF4-FFF2-40B4-BE49-F238E27FC236}">
                  <a16:creationId xmlns:a16="http://schemas.microsoft.com/office/drawing/2014/main" id="{EB351646-117F-33D9-9E6D-095F24E0380B}"/>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A385C49D-A59C-8F85-5190-F3F85BBF767A}"/>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j2</a:t>
              </a:r>
            </a:p>
          </p:txBody>
        </p:sp>
      </p:grpSp>
      <p:grpSp>
        <p:nvGrpSpPr>
          <p:cNvPr id="25" name="Group 24">
            <a:extLst>
              <a:ext uri="{FF2B5EF4-FFF2-40B4-BE49-F238E27FC236}">
                <a16:creationId xmlns:a16="http://schemas.microsoft.com/office/drawing/2014/main" id="{FF40EA86-92BE-1897-09EC-22FE01F549E5}"/>
              </a:ext>
            </a:extLst>
          </p:cNvPr>
          <p:cNvGrpSpPr/>
          <p:nvPr/>
        </p:nvGrpSpPr>
        <p:grpSpPr>
          <a:xfrm>
            <a:off x="5530233" y="3911143"/>
            <a:ext cx="473976" cy="365760"/>
            <a:chOff x="2189284" y="2769576"/>
            <a:chExt cx="473976" cy="365760"/>
          </a:xfrm>
        </p:grpSpPr>
        <p:sp>
          <p:nvSpPr>
            <p:cNvPr id="26" name="Rectangle 25">
              <a:extLst>
                <a:ext uri="{FF2B5EF4-FFF2-40B4-BE49-F238E27FC236}">
                  <a16:creationId xmlns:a16="http://schemas.microsoft.com/office/drawing/2014/main" id="{B300F0F8-22A8-D5B4-4A02-6B2EC5795EF7}"/>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7" name="TextBox 26">
              <a:extLst>
                <a:ext uri="{FF2B5EF4-FFF2-40B4-BE49-F238E27FC236}">
                  <a16:creationId xmlns:a16="http://schemas.microsoft.com/office/drawing/2014/main" id="{5BF3B25F-4820-FFC4-9158-DE49E625718A}"/>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j3</a:t>
              </a:r>
            </a:p>
          </p:txBody>
        </p:sp>
      </p:grpSp>
      <p:cxnSp>
        <p:nvCxnSpPr>
          <p:cNvPr id="5" name="Straight Connector 4">
            <a:extLst>
              <a:ext uri="{FF2B5EF4-FFF2-40B4-BE49-F238E27FC236}">
                <a16:creationId xmlns:a16="http://schemas.microsoft.com/office/drawing/2014/main" id="{049F07BA-61E8-20EB-E50D-0F6192660CBF}"/>
              </a:ext>
            </a:extLst>
          </p:cNvPr>
          <p:cNvCxnSpPr>
            <a:cxnSpLocks/>
            <a:endCxn id="24" idx="1"/>
          </p:cNvCxnSpPr>
          <p:nvPr/>
        </p:nvCxnSpPr>
        <p:spPr>
          <a:xfrm>
            <a:off x="3047396" y="2963008"/>
            <a:ext cx="2482837" cy="560232"/>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8BA4BC73-8E4C-AB6F-64DD-BAF79FA41E78}"/>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8" name="TextBox 7">
            <a:extLst>
              <a:ext uri="{FF2B5EF4-FFF2-40B4-BE49-F238E27FC236}">
                <a16:creationId xmlns:a16="http://schemas.microsoft.com/office/drawing/2014/main" id="{75B79D84-A0DC-8A1D-02C7-ED0342ABE2AF}"/>
              </a:ext>
            </a:extLst>
          </p:cNvPr>
          <p:cNvSpPr txBox="1"/>
          <p:nvPr/>
        </p:nvSpPr>
        <p:spPr>
          <a:xfrm>
            <a:off x="168443" y="4195668"/>
            <a:ext cx="1515980" cy="738664"/>
          </a:xfrm>
          <a:prstGeom prst="rect">
            <a:avLst/>
          </a:prstGeom>
          <a:noFill/>
          <a:ln>
            <a:solidFill>
              <a:schemeClr val="bg2"/>
            </a:solidFill>
          </a:ln>
        </p:spPr>
        <p:txBody>
          <a:bodyPr wrap="square" rtlCol="0">
            <a:spAutoFit/>
          </a:bodyPr>
          <a:lstStyle/>
          <a:p>
            <a:r>
              <a:rPr lang="en-US" b="1" u="sng" dirty="0">
                <a:latin typeface="Lato" panose="020B0604020202020204" charset="0"/>
                <a:ea typeface="Lato" panose="020B0604020202020204" charset="0"/>
                <a:cs typeface="Lato" panose="020B0604020202020204" charset="0"/>
              </a:rPr>
              <a:t>Example: </a:t>
            </a:r>
          </a:p>
          <a:p>
            <a:r>
              <a:rPr lang="en-US" dirty="0">
                <a:latin typeface="Lato" panose="020B0604020202020204" charset="0"/>
                <a:ea typeface="Lato" panose="020B0604020202020204" charset="0"/>
                <a:cs typeface="Lato" panose="020B0604020202020204" charset="0"/>
              </a:rPr>
              <a:t>e1 = employee 1</a:t>
            </a:r>
          </a:p>
          <a:p>
            <a:r>
              <a:rPr lang="en-US" dirty="0">
                <a:latin typeface="Lato" panose="020B0604020202020204" charset="0"/>
                <a:ea typeface="Lato" panose="020B0604020202020204" charset="0"/>
                <a:cs typeface="Lato" panose="020B0604020202020204" charset="0"/>
              </a:rPr>
              <a:t>j1 = job 1</a:t>
            </a:r>
          </a:p>
        </p:txBody>
      </p:sp>
      <p:cxnSp>
        <p:nvCxnSpPr>
          <p:cNvPr id="9" name="Straight Connector 8">
            <a:extLst>
              <a:ext uri="{FF2B5EF4-FFF2-40B4-BE49-F238E27FC236}">
                <a16:creationId xmlns:a16="http://schemas.microsoft.com/office/drawing/2014/main" id="{77D7E5D3-2CC1-052B-2948-4F8473730C44}"/>
              </a:ext>
            </a:extLst>
          </p:cNvPr>
          <p:cNvCxnSpPr>
            <a:cxnSpLocks/>
            <a:endCxn id="21" idx="1"/>
          </p:cNvCxnSpPr>
          <p:nvPr/>
        </p:nvCxnSpPr>
        <p:spPr>
          <a:xfrm flipV="1">
            <a:off x="3047396" y="2952456"/>
            <a:ext cx="2482837" cy="547068"/>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46821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F958F164-9F11-29DC-ECFD-3C382A0A295C}"/>
            </a:ext>
          </a:extLst>
        </p:cNvPr>
        <p:cNvGrpSpPr/>
        <p:nvPr/>
      </p:nvGrpSpPr>
      <p:grpSpPr>
        <a:xfrm>
          <a:off x="0" y="0"/>
          <a:ext cx="0" cy="0"/>
          <a:chOff x="0" y="0"/>
          <a:chExt cx="0" cy="0"/>
        </a:xfrm>
      </p:grpSpPr>
      <p:sp>
        <p:nvSpPr>
          <p:cNvPr id="134" name="Google Shape;134;p21">
            <a:extLst>
              <a:ext uri="{FF2B5EF4-FFF2-40B4-BE49-F238E27FC236}">
                <a16:creationId xmlns:a16="http://schemas.microsoft.com/office/drawing/2014/main" id="{572790D8-183F-1244-BC3D-BD9AC0CA3FB4}"/>
              </a:ext>
            </a:extLst>
          </p:cNvPr>
          <p:cNvSpPr txBox="1">
            <a:spLocks noGrp="1"/>
          </p:cNvSpPr>
          <p:nvPr>
            <p:ph type="body" idx="1"/>
          </p:nvPr>
        </p:nvSpPr>
        <p:spPr>
          <a:xfrm>
            <a:off x="70027" y="1269983"/>
            <a:ext cx="2681157" cy="22611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US" sz="1700" dirty="0">
                <a:solidFill>
                  <a:srgbClr val="00B050"/>
                </a:solidFill>
              </a:rPr>
              <a:t>e1 : </a:t>
            </a:r>
            <a:r>
              <a:rPr lang="en-US" sz="1700" u="sng" dirty="0">
                <a:solidFill>
                  <a:srgbClr val="00B050"/>
                </a:solidFill>
              </a:rPr>
              <a:t>j2</a:t>
            </a:r>
            <a:r>
              <a:rPr lang="en-US" sz="1700" dirty="0">
                <a:solidFill>
                  <a:srgbClr val="00B050"/>
                </a:solidFill>
              </a:rPr>
              <a:t>, j1, j3</a:t>
            </a:r>
          </a:p>
          <a:p>
            <a:pPr marL="457200" lvl="0" indent="-336550" algn="l" rtl="0">
              <a:spcBef>
                <a:spcPts val="0"/>
              </a:spcBef>
              <a:spcAft>
                <a:spcPts val="0"/>
              </a:spcAft>
              <a:buSzPts val="1700"/>
              <a:buChar char="●"/>
            </a:pPr>
            <a:r>
              <a:rPr lang="en-US" sz="1700" dirty="0">
                <a:solidFill>
                  <a:srgbClr val="00B050"/>
                </a:solidFill>
              </a:rPr>
              <a:t>e2 : </a:t>
            </a:r>
            <a:r>
              <a:rPr lang="en-US" sz="1700" u="sng" dirty="0">
                <a:solidFill>
                  <a:srgbClr val="00B050"/>
                </a:solidFill>
              </a:rPr>
              <a:t>j1</a:t>
            </a:r>
            <a:r>
              <a:rPr lang="en-US" sz="1700" dirty="0">
                <a:solidFill>
                  <a:srgbClr val="00B050"/>
                </a:solidFill>
              </a:rPr>
              <a:t>, j2, j3</a:t>
            </a:r>
          </a:p>
          <a:p>
            <a:pPr marL="457200" lvl="0" indent="-336550" algn="l" rtl="0">
              <a:spcBef>
                <a:spcPts val="0"/>
              </a:spcBef>
              <a:spcAft>
                <a:spcPts val="0"/>
              </a:spcAft>
              <a:buSzPts val="1700"/>
              <a:buChar char="●"/>
            </a:pPr>
            <a:r>
              <a:rPr lang="en-US" sz="1700" b="1" dirty="0"/>
              <a:t>e3 : j1, j2, j3</a:t>
            </a:r>
            <a:endParaRPr lang="en-US" sz="1500" b="1" dirty="0"/>
          </a:p>
        </p:txBody>
      </p:sp>
      <p:sp>
        <p:nvSpPr>
          <p:cNvPr id="4" name="Google Shape;134;p21">
            <a:extLst>
              <a:ext uri="{FF2B5EF4-FFF2-40B4-BE49-F238E27FC236}">
                <a16:creationId xmlns:a16="http://schemas.microsoft.com/office/drawing/2014/main" id="{E02D5C76-0908-48FA-A428-E836BCDD7D14}"/>
              </a:ext>
            </a:extLst>
          </p:cNvPr>
          <p:cNvSpPr txBox="1">
            <a:spLocks/>
          </p:cNvSpPr>
          <p:nvPr/>
        </p:nvSpPr>
        <p:spPr>
          <a:xfrm>
            <a:off x="6462843" y="1269983"/>
            <a:ext cx="2681157" cy="2261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indent="-336550">
              <a:buSzPts val="1700"/>
            </a:pPr>
            <a:r>
              <a:rPr lang="en-US" sz="1700" dirty="0">
                <a:solidFill>
                  <a:srgbClr val="00B050"/>
                </a:solidFill>
              </a:rPr>
              <a:t>j1 : e1, </a:t>
            </a:r>
            <a:r>
              <a:rPr lang="en-US" sz="1700" u="sng" dirty="0">
                <a:solidFill>
                  <a:srgbClr val="00B050"/>
                </a:solidFill>
              </a:rPr>
              <a:t>e2</a:t>
            </a:r>
            <a:r>
              <a:rPr lang="en-US" sz="1700" dirty="0">
                <a:solidFill>
                  <a:srgbClr val="00B050"/>
                </a:solidFill>
              </a:rPr>
              <a:t>, e3</a:t>
            </a:r>
          </a:p>
          <a:p>
            <a:pPr indent="-336550">
              <a:buSzPts val="1700"/>
            </a:pPr>
            <a:r>
              <a:rPr lang="en-US" sz="1700" dirty="0">
                <a:solidFill>
                  <a:srgbClr val="00B050"/>
                </a:solidFill>
              </a:rPr>
              <a:t>j2 : e3, </a:t>
            </a:r>
            <a:r>
              <a:rPr lang="en-US" sz="1700" u="sng" dirty="0">
                <a:solidFill>
                  <a:srgbClr val="00B050"/>
                </a:solidFill>
              </a:rPr>
              <a:t>e1</a:t>
            </a:r>
            <a:r>
              <a:rPr lang="en-US" sz="1700" dirty="0">
                <a:solidFill>
                  <a:srgbClr val="00B050"/>
                </a:solidFill>
              </a:rPr>
              <a:t>, e2</a:t>
            </a:r>
          </a:p>
          <a:p>
            <a:pPr indent="-336550">
              <a:buSzPts val="1700"/>
            </a:pPr>
            <a:r>
              <a:rPr lang="en-US" sz="1700" dirty="0"/>
              <a:t>j3 : e1, e2, e3</a:t>
            </a:r>
            <a:endParaRPr lang="en-US" sz="1500" dirty="0"/>
          </a:p>
        </p:txBody>
      </p:sp>
      <p:grpSp>
        <p:nvGrpSpPr>
          <p:cNvPr id="7" name="Group 6">
            <a:extLst>
              <a:ext uri="{FF2B5EF4-FFF2-40B4-BE49-F238E27FC236}">
                <a16:creationId xmlns:a16="http://schemas.microsoft.com/office/drawing/2014/main" id="{3CD8B12B-CC05-6F14-2ADC-AB9AA638ADFF}"/>
              </a:ext>
            </a:extLst>
          </p:cNvPr>
          <p:cNvGrpSpPr/>
          <p:nvPr/>
        </p:nvGrpSpPr>
        <p:grpSpPr>
          <a:xfrm>
            <a:off x="2681636" y="2769576"/>
            <a:ext cx="473976" cy="365760"/>
            <a:chOff x="2189284" y="2769576"/>
            <a:chExt cx="473976" cy="365760"/>
          </a:xfrm>
        </p:grpSpPr>
        <p:sp>
          <p:nvSpPr>
            <p:cNvPr id="3" name="Rectangle 2">
              <a:extLst>
                <a:ext uri="{FF2B5EF4-FFF2-40B4-BE49-F238E27FC236}">
                  <a16:creationId xmlns:a16="http://schemas.microsoft.com/office/drawing/2014/main" id="{8DEE3032-8237-37F2-A1AA-B5DCF2B2BB6D}"/>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7A1A6D40-DAAC-D027-4C2A-2927B07BE98F}"/>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e1</a:t>
              </a:r>
            </a:p>
          </p:txBody>
        </p:sp>
      </p:grpSp>
      <p:grpSp>
        <p:nvGrpSpPr>
          <p:cNvPr id="10" name="Group 9">
            <a:extLst>
              <a:ext uri="{FF2B5EF4-FFF2-40B4-BE49-F238E27FC236}">
                <a16:creationId xmlns:a16="http://schemas.microsoft.com/office/drawing/2014/main" id="{7B64C4A3-16C0-73DB-6C69-4FA9B25626D9}"/>
              </a:ext>
            </a:extLst>
          </p:cNvPr>
          <p:cNvGrpSpPr/>
          <p:nvPr/>
        </p:nvGrpSpPr>
        <p:grpSpPr>
          <a:xfrm>
            <a:off x="2681636" y="3340360"/>
            <a:ext cx="473976" cy="365760"/>
            <a:chOff x="2189284" y="2769576"/>
            <a:chExt cx="473976" cy="365760"/>
          </a:xfrm>
        </p:grpSpPr>
        <p:sp>
          <p:nvSpPr>
            <p:cNvPr id="11" name="Rectangle 10">
              <a:extLst>
                <a:ext uri="{FF2B5EF4-FFF2-40B4-BE49-F238E27FC236}">
                  <a16:creationId xmlns:a16="http://schemas.microsoft.com/office/drawing/2014/main" id="{65A33B70-15EC-DFDC-24C7-7AEC9E3F1BA1}"/>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TextBox 11">
              <a:extLst>
                <a:ext uri="{FF2B5EF4-FFF2-40B4-BE49-F238E27FC236}">
                  <a16:creationId xmlns:a16="http://schemas.microsoft.com/office/drawing/2014/main" id="{3A061419-0F34-DC31-1448-49DA4A1CD63C}"/>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e2</a:t>
              </a:r>
            </a:p>
          </p:txBody>
        </p:sp>
      </p:grpSp>
      <p:grpSp>
        <p:nvGrpSpPr>
          <p:cNvPr id="13" name="Group 12">
            <a:extLst>
              <a:ext uri="{FF2B5EF4-FFF2-40B4-BE49-F238E27FC236}">
                <a16:creationId xmlns:a16="http://schemas.microsoft.com/office/drawing/2014/main" id="{E73CF249-72D6-E3FE-278A-6232BC396403}"/>
              </a:ext>
            </a:extLst>
          </p:cNvPr>
          <p:cNvGrpSpPr/>
          <p:nvPr/>
        </p:nvGrpSpPr>
        <p:grpSpPr>
          <a:xfrm>
            <a:off x="2681636" y="3911143"/>
            <a:ext cx="473976" cy="365760"/>
            <a:chOff x="2189284" y="2769576"/>
            <a:chExt cx="473976" cy="365760"/>
          </a:xfrm>
        </p:grpSpPr>
        <p:sp>
          <p:nvSpPr>
            <p:cNvPr id="14" name="Rectangle 13">
              <a:extLst>
                <a:ext uri="{FF2B5EF4-FFF2-40B4-BE49-F238E27FC236}">
                  <a16:creationId xmlns:a16="http://schemas.microsoft.com/office/drawing/2014/main" id="{850D3783-CC72-F170-DC6A-D5F2D7740CAE}"/>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E5492579-20BC-B1C8-C853-029C8ECE8A6F}"/>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e3</a:t>
              </a:r>
            </a:p>
          </p:txBody>
        </p:sp>
      </p:grpSp>
      <p:grpSp>
        <p:nvGrpSpPr>
          <p:cNvPr id="19" name="Group 18">
            <a:extLst>
              <a:ext uri="{FF2B5EF4-FFF2-40B4-BE49-F238E27FC236}">
                <a16:creationId xmlns:a16="http://schemas.microsoft.com/office/drawing/2014/main" id="{A3E90DBD-655A-6D1F-B55B-C89D0C90D062}"/>
              </a:ext>
            </a:extLst>
          </p:cNvPr>
          <p:cNvGrpSpPr/>
          <p:nvPr/>
        </p:nvGrpSpPr>
        <p:grpSpPr>
          <a:xfrm>
            <a:off x="5530233" y="2769576"/>
            <a:ext cx="473976" cy="365760"/>
            <a:chOff x="2189284" y="2769576"/>
            <a:chExt cx="473976" cy="365760"/>
          </a:xfrm>
        </p:grpSpPr>
        <p:sp>
          <p:nvSpPr>
            <p:cNvPr id="20" name="Rectangle 19">
              <a:extLst>
                <a:ext uri="{FF2B5EF4-FFF2-40B4-BE49-F238E27FC236}">
                  <a16:creationId xmlns:a16="http://schemas.microsoft.com/office/drawing/2014/main" id="{A47330A1-4E26-91A0-567A-6BBB0980B2B5}"/>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1" name="TextBox 20">
              <a:extLst>
                <a:ext uri="{FF2B5EF4-FFF2-40B4-BE49-F238E27FC236}">
                  <a16:creationId xmlns:a16="http://schemas.microsoft.com/office/drawing/2014/main" id="{C7E8189B-1A79-BF9B-A95E-9DF1DC4ABCCD}"/>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j1</a:t>
              </a:r>
            </a:p>
          </p:txBody>
        </p:sp>
      </p:grpSp>
      <p:grpSp>
        <p:nvGrpSpPr>
          <p:cNvPr id="22" name="Group 21">
            <a:extLst>
              <a:ext uri="{FF2B5EF4-FFF2-40B4-BE49-F238E27FC236}">
                <a16:creationId xmlns:a16="http://schemas.microsoft.com/office/drawing/2014/main" id="{E7CB8C14-A679-1AF2-32DA-68586FB16B85}"/>
              </a:ext>
            </a:extLst>
          </p:cNvPr>
          <p:cNvGrpSpPr/>
          <p:nvPr/>
        </p:nvGrpSpPr>
        <p:grpSpPr>
          <a:xfrm>
            <a:off x="5530233" y="3340360"/>
            <a:ext cx="473976" cy="365760"/>
            <a:chOff x="2189284" y="2769576"/>
            <a:chExt cx="473976" cy="365760"/>
          </a:xfrm>
        </p:grpSpPr>
        <p:sp>
          <p:nvSpPr>
            <p:cNvPr id="23" name="Rectangle 22">
              <a:extLst>
                <a:ext uri="{FF2B5EF4-FFF2-40B4-BE49-F238E27FC236}">
                  <a16:creationId xmlns:a16="http://schemas.microsoft.com/office/drawing/2014/main" id="{94F5CC05-570F-14B3-93D8-E8A019147374}"/>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B9F3C6E1-7253-1EF7-07B3-F3E9637B1B8A}"/>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j2</a:t>
              </a:r>
            </a:p>
          </p:txBody>
        </p:sp>
      </p:grpSp>
      <p:grpSp>
        <p:nvGrpSpPr>
          <p:cNvPr id="25" name="Group 24">
            <a:extLst>
              <a:ext uri="{FF2B5EF4-FFF2-40B4-BE49-F238E27FC236}">
                <a16:creationId xmlns:a16="http://schemas.microsoft.com/office/drawing/2014/main" id="{B2E95A92-C7D3-8419-4F38-7E4BACD2697F}"/>
              </a:ext>
            </a:extLst>
          </p:cNvPr>
          <p:cNvGrpSpPr/>
          <p:nvPr/>
        </p:nvGrpSpPr>
        <p:grpSpPr>
          <a:xfrm>
            <a:off x="5530233" y="3911143"/>
            <a:ext cx="473976" cy="365760"/>
            <a:chOff x="2189284" y="2769576"/>
            <a:chExt cx="473976" cy="365760"/>
          </a:xfrm>
        </p:grpSpPr>
        <p:sp>
          <p:nvSpPr>
            <p:cNvPr id="26" name="Rectangle 25">
              <a:extLst>
                <a:ext uri="{FF2B5EF4-FFF2-40B4-BE49-F238E27FC236}">
                  <a16:creationId xmlns:a16="http://schemas.microsoft.com/office/drawing/2014/main" id="{78EA8633-1E9B-E372-C049-B33C9DC55D72}"/>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7" name="TextBox 26">
              <a:extLst>
                <a:ext uri="{FF2B5EF4-FFF2-40B4-BE49-F238E27FC236}">
                  <a16:creationId xmlns:a16="http://schemas.microsoft.com/office/drawing/2014/main" id="{702C0AB4-797A-89CE-BAFC-D2B034AE8DEE}"/>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j3</a:t>
              </a:r>
            </a:p>
          </p:txBody>
        </p:sp>
      </p:grpSp>
      <p:cxnSp>
        <p:nvCxnSpPr>
          <p:cNvPr id="5" name="Straight Connector 4">
            <a:extLst>
              <a:ext uri="{FF2B5EF4-FFF2-40B4-BE49-F238E27FC236}">
                <a16:creationId xmlns:a16="http://schemas.microsoft.com/office/drawing/2014/main" id="{17413D38-02D1-25DD-559C-A42663DE1AFC}"/>
              </a:ext>
            </a:extLst>
          </p:cNvPr>
          <p:cNvCxnSpPr>
            <a:cxnSpLocks/>
            <a:endCxn id="24" idx="1"/>
          </p:cNvCxnSpPr>
          <p:nvPr/>
        </p:nvCxnSpPr>
        <p:spPr>
          <a:xfrm>
            <a:off x="3047396" y="2963008"/>
            <a:ext cx="2482837" cy="560232"/>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B09230A-393B-12A2-361D-A791B8DCDD7E}"/>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8" name="TextBox 7">
            <a:extLst>
              <a:ext uri="{FF2B5EF4-FFF2-40B4-BE49-F238E27FC236}">
                <a16:creationId xmlns:a16="http://schemas.microsoft.com/office/drawing/2014/main" id="{113368A1-9831-C6AE-93DB-28015BF57D6A}"/>
              </a:ext>
            </a:extLst>
          </p:cNvPr>
          <p:cNvSpPr txBox="1"/>
          <p:nvPr/>
        </p:nvSpPr>
        <p:spPr>
          <a:xfrm>
            <a:off x="168443" y="4195668"/>
            <a:ext cx="1515980" cy="738664"/>
          </a:xfrm>
          <a:prstGeom prst="rect">
            <a:avLst/>
          </a:prstGeom>
          <a:noFill/>
          <a:ln>
            <a:solidFill>
              <a:schemeClr val="bg2"/>
            </a:solidFill>
          </a:ln>
        </p:spPr>
        <p:txBody>
          <a:bodyPr wrap="square" rtlCol="0">
            <a:spAutoFit/>
          </a:bodyPr>
          <a:lstStyle/>
          <a:p>
            <a:r>
              <a:rPr lang="en-US" b="1" u="sng" dirty="0">
                <a:latin typeface="Lato" panose="020B0604020202020204" charset="0"/>
                <a:ea typeface="Lato" panose="020B0604020202020204" charset="0"/>
                <a:cs typeface="Lato" panose="020B0604020202020204" charset="0"/>
              </a:rPr>
              <a:t>Example: </a:t>
            </a:r>
          </a:p>
          <a:p>
            <a:r>
              <a:rPr lang="en-US" dirty="0">
                <a:latin typeface="Lato" panose="020B0604020202020204" charset="0"/>
                <a:ea typeface="Lato" panose="020B0604020202020204" charset="0"/>
                <a:cs typeface="Lato" panose="020B0604020202020204" charset="0"/>
              </a:rPr>
              <a:t>e1 = employee 1</a:t>
            </a:r>
          </a:p>
          <a:p>
            <a:r>
              <a:rPr lang="en-US" dirty="0">
                <a:latin typeface="Lato" panose="020B0604020202020204" charset="0"/>
                <a:ea typeface="Lato" panose="020B0604020202020204" charset="0"/>
                <a:cs typeface="Lato" panose="020B0604020202020204" charset="0"/>
              </a:rPr>
              <a:t>j1 = job 1</a:t>
            </a:r>
          </a:p>
        </p:txBody>
      </p:sp>
      <p:cxnSp>
        <p:nvCxnSpPr>
          <p:cNvPr id="9" name="Straight Connector 8">
            <a:extLst>
              <a:ext uri="{FF2B5EF4-FFF2-40B4-BE49-F238E27FC236}">
                <a16:creationId xmlns:a16="http://schemas.microsoft.com/office/drawing/2014/main" id="{276F2D53-0358-034F-9272-1E82EE5E24F2}"/>
              </a:ext>
            </a:extLst>
          </p:cNvPr>
          <p:cNvCxnSpPr>
            <a:cxnSpLocks/>
            <a:endCxn id="21" idx="1"/>
          </p:cNvCxnSpPr>
          <p:nvPr/>
        </p:nvCxnSpPr>
        <p:spPr>
          <a:xfrm flipV="1">
            <a:off x="3047396" y="2952456"/>
            <a:ext cx="2482837" cy="547068"/>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8A58F2A-1DF2-2160-D966-EE1E0E892F71}"/>
              </a:ext>
            </a:extLst>
          </p:cNvPr>
          <p:cNvCxnSpPr>
            <a:cxnSpLocks/>
            <a:endCxn id="21" idx="1"/>
          </p:cNvCxnSpPr>
          <p:nvPr/>
        </p:nvCxnSpPr>
        <p:spPr>
          <a:xfrm flipV="1">
            <a:off x="3047396" y="2952456"/>
            <a:ext cx="2482837" cy="1154461"/>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28341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175785FF-766E-3EBC-5702-59FFE2E3AFC2}"/>
            </a:ext>
          </a:extLst>
        </p:cNvPr>
        <p:cNvGrpSpPr/>
        <p:nvPr/>
      </p:nvGrpSpPr>
      <p:grpSpPr>
        <a:xfrm>
          <a:off x="0" y="0"/>
          <a:ext cx="0" cy="0"/>
          <a:chOff x="0" y="0"/>
          <a:chExt cx="0" cy="0"/>
        </a:xfrm>
      </p:grpSpPr>
      <p:sp>
        <p:nvSpPr>
          <p:cNvPr id="134" name="Google Shape;134;p21">
            <a:extLst>
              <a:ext uri="{FF2B5EF4-FFF2-40B4-BE49-F238E27FC236}">
                <a16:creationId xmlns:a16="http://schemas.microsoft.com/office/drawing/2014/main" id="{FA23DBAD-EBB0-0ABF-8EA2-E763C62943F3}"/>
              </a:ext>
            </a:extLst>
          </p:cNvPr>
          <p:cNvSpPr txBox="1">
            <a:spLocks noGrp="1"/>
          </p:cNvSpPr>
          <p:nvPr>
            <p:ph type="body" idx="1"/>
          </p:nvPr>
        </p:nvSpPr>
        <p:spPr>
          <a:xfrm>
            <a:off x="70027" y="1269983"/>
            <a:ext cx="2681157" cy="22611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US" sz="1700" dirty="0">
                <a:solidFill>
                  <a:srgbClr val="00B050"/>
                </a:solidFill>
              </a:rPr>
              <a:t>e1 : </a:t>
            </a:r>
            <a:r>
              <a:rPr lang="en-US" sz="1700" u="sng" dirty="0">
                <a:solidFill>
                  <a:srgbClr val="00B050"/>
                </a:solidFill>
              </a:rPr>
              <a:t>j2</a:t>
            </a:r>
            <a:r>
              <a:rPr lang="en-US" sz="1700" dirty="0">
                <a:solidFill>
                  <a:srgbClr val="00B050"/>
                </a:solidFill>
              </a:rPr>
              <a:t>, j1, j3</a:t>
            </a:r>
          </a:p>
          <a:p>
            <a:pPr marL="457200" lvl="0" indent="-336550" algn="l" rtl="0">
              <a:spcBef>
                <a:spcPts val="0"/>
              </a:spcBef>
              <a:spcAft>
                <a:spcPts val="0"/>
              </a:spcAft>
              <a:buSzPts val="1700"/>
              <a:buChar char="●"/>
            </a:pPr>
            <a:r>
              <a:rPr lang="en-US" sz="1700" dirty="0">
                <a:solidFill>
                  <a:srgbClr val="00B050"/>
                </a:solidFill>
              </a:rPr>
              <a:t>e2 : </a:t>
            </a:r>
            <a:r>
              <a:rPr lang="en-US" sz="1700" u="sng" dirty="0">
                <a:solidFill>
                  <a:srgbClr val="00B050"/>
                </a:solidFill>
              </a:rPr>
              <a:t>j1</a:t>
            </a:r>
            <a:r>
              <a:rPr lang="en-US" sz="1700" dirty="0">
                <a:solidFill>
                  <a:srgbClr val="00B050"/>
                </a:solidFill>
              </a:rPr>
              <a:t>, j2, j3</a:t>
            </a:r>
          </a:p>
          <a:p>
            <a:pPr marL="457200" lvl="0" indent="-336550" algn="l" rtl="0">
              <a:spcBef>
                <a:spcPts val="0"/>
              </a:spcBef>
              <a:spcAft>
                <a:spcPts val="0"/>
              </a:spcAft>
              <a:buSzPts val="1700"/>
              <a:buChar char="●"/>
            </a:pPr>
            <a:r>
              <a:rPr lang="en-US" sz="1700" b="1" dirty="0"/>
              <a:t>e3 : j1, j2, j3</a:t>
            </a:r>
            <a:endParaRPr lang="en-US" sz="1500" b="1" dirty="0"/>
          </a:p>
        </p:txBody>
      </p:sp>
      <p:sp>
        <p:nvSpPr>
          <p:cNvPr id="4" name="Google Shape;134;p21">
            <a:extLst>
              <a:ext uri="{FF2B5EF4-FFF2-40B4-BE49-F238E27FC236}">
                <a16:creationId xmlns:a16="http://schemas.microsoft.com/office/drawing/2014/main" id="{04588A59-1167-BD3C-0098-AE568C4F1CF0}"/>
              </a:ext>
            </a:extLst>
          </p:cNvPr>
          <p:cNvSpPr txBox="1">
            <a:spLocks/>
          </p:cNvSpPr>
          <p:nvPr/>
        </p:nvSpPr>
        <p:spPr>
          <a:xfrm>
            <a:off x="6462843" y="1269983"/>
            <a:ext cx="2681157" cy="2261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indent="-336550">
              <a:buSzPts val="1700"/>
            </a:pPr>
            <a:r>
              <a:rPr lang="en-US" sz="1700" dirty="0">
                <a:solidFill>
                  <a:srgbClr val="00B050"/>
                </a:solidFill>
              </a:rPr>
              <a:t>j1 : e1, </a:t>
            </a:r>
            <a:r>
              <a:rPr lang="en-US" sz="1700" u="sng" dirty="0">
                <a:solidFill>
                  <a:srgbClr val="00B050"/>
                </a:solidFill>
              </a:rPr>
              <a:t>e2</a:t>
            </a:r>
            <a:r>
              <a:rPr lang="en-US" sz="1700" dirty="0">
                <a:solidFill>
                  <a:srgbClr val="00B050"/>
                </a:solidFill>
              </a:rPr>
              <a:t>, e3</a:t>
            </a:r>
          </a:p>
          <a:p>
            <a:pPr indent="-336550">
              <a:buSzPts val="1700"/>
            </a:pPr>
            <a:r>
              <a:rPr lang="en-US" sz="1700" dirty="0">
                <a:solidFill>
                  <a:srgbClr val="00B050"/>
                </a:solidFill>
              </a:rPr>
              <a:t>j2 : e3, </a:t>
            </a:r>
            <a:r>
              <a:rPr lang="en-US" sz="1700" u="sng" dirty="0">
                <a:solidFill>
                  <a:srgbClr val="00B050"/>
                </a:solidFill>
              </a:rPr>
              <a:t>e1</a:t>
            </a:r>
            <a:r>
              <a:rPr lang="en-US" sz="1700" dirty="0">
                <a:solidFill>
                  <a:srgbClr val="00B050"/>
                </a:solidFill>
              </a:rPr>
              <a:t>, e2</a:t>
            </a:r>
          </a:p>
          <a:p>
            <a:pPr indent="-336550">
              <a:buSzPts val="1700"/>
            </a:pPr>
            <a:r>
              <a:rPr lang="en-US" sz="1700" dirty="0"/>
              <a:t>j3 : e1, e2, e3</a:t>
            </a:r>
            <a:endParaRPr lang="en-US" sz="1500" dirty="0"/>
          </a:p>
        </p:txBody>
      </p:sp>
      <p:grpSp>
        <p:nvGrpSpPr>
          <p:cNvPr id="7" name="Group 6">
            <a:extLst>
              <a:ext uri="{FF2B5EF4-FFF2-40B4-BE49-F238E27FC236}">
                <a16:creationId xmlns:a16="http://schemas.microsoft.com/office/drawing/2014/main" id="{2A6E26D2-15A7-B862-BD9B-7D75A24442FC}"/>
              </a:ext>
            </a:extLst>
          </p:cNvPr>
          <p:cNvGrpSpPr/>
          <p:nvPr/>
        </p:nvGrpSpPr>
        <p:grpSpPr>
          <a:xfrm>
            <a:off x="2681636" y="2769576"/>
            <a:ext cx="473976" cy="365760"/>
            <a:chOff x="2189284" y="2769576"/>
            <a:chExt cx="473976" cy="365760"/>
          </a:xfrm>
        </p:grpSpPr>
        <p:sp>
          <p:nvSpPr>
            <p:cNvPr id="3" name="Rectangle 2">
              <a:extLst>
                <a:ext uri="{FF2B5EF4-FFF2-40B4-BE49-F238E27FC236}">
                  <a16:creationId xmlns:a16="http://schemas.microsoft.com/office/drawing/2014/main" id="{A448A969-8FDD-004E-D3DD-9536FACFF2DA}"/>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BC45C221-E389-DBC0-7CC9-311CA1E408C1}"/>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e1</a:t>
              </a:r>
            </a:p>
          </p:txBody>
        </p:sp>
      </p:grpSp>
      <p:grpSp>
        <p:nvGrpSpPr>
          <p:cNvPr id="10" name="Group 9">
            <a:extLst>
              <a:ext uri="{FF2B5EF4-FFF2-40B4-BE49-F238E27FC236}">
                <a16:creationId xmlns:a16="http://schemas.microsoft.com/office/drawing/2014/main" id="{E567BEA5-1845-A20B-E592-D1C434B4BB01}"/>
              </a:ext>
            </a:extLst>
          </p:cNvPr>
          <p:cNvGrpSpPr/>
          <p:nvPr/>
        </p:nvGrpSpPr>
        <p:grpSpPr>
          <a:xfrm>
            <a:off x="2681636" y="3340360"/>
            <a:ext cx="473976" cy="365760"/>
            <a:chOff x="2189284" y="2769576"/>
            <a:chExt cx="473976" cy="365760"/>
          </a:xfrm>
        </p:grpSpPr>
        <p:sp>
          <p:nvSpPr>
            <p:cNvPr id="11" name="Rectangle 10">
              <a:extLst>
                <a:ext uri="{FF2B5EF4-FFF2-40B4-BE49-F238E27FC236}">
                  <a16:creationId xmlns:a16="http://schemas.microsoft.com/office/drawing/2014/main" id="{EFE31812-2835-9B32-D2AB-F8D508C389E7}"/>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TextBox 11">
              <a:extLst>
                <a:ext uri="{FF2B5EF4-FFF2-40B4-BE49-F238E27FC236}">
                  <a16:creationId xmlns:a16="http://schemas.microsoft.com/office/drawing/2014/main" id="{21D19B95-7390-C0C5-DBBE-5174D45E0BA4}"/>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e2</a:t>
              </a:r>
            </a:p>
          </p:txBody>
        </p:sp>
      </p:grpSp>
      <p:grpSp>
        <p:nvGrpSpPr>
          <p:cNvPr id="13" name="Group 12">
            <a:extLst>
              <a:ext uri="{FF2B5EF4-FFF2-40B4-BE49-F238E27FC236}">
                <a16:creationId xmlns:a16="http://schemas.microsoft.com/office/drawing/2014/main" id="{71CB984C-083A-A5B0-B9B3-26BFB0C30A74}"/>
              </a:ext>
            </a:extLst>
          </p:cNvPr>
          <p:cNvGrpSpPr/>
          <p:nvPr/>
        </p:nvGrpSpPr>
        <p:grpSpPr>
          <a:xfrm>
            <a:off x="2681636" y="3911143"/>
            <a:ext cx="473976" cy="365760"/>
            <a:chOff x="2189284" y="2769576"/>
            <a:chExt cx="473976" cy="365760"/>
          </a:xfrm>
        </p:grpSpPr>
        <p:sp>
          <p:nvSpPr>
            <p:cNvPr id="14" name="Rectangle 13">
              <a:extLst>
                <a:ext uri="{FF2B5EF4-FFF2-40B4-BE49-F238E27FC236}">
                  <a16:creationId xmlns:a16="http://schemas.microsoft.com/office/drawing/2014/main" id="{0F4A5C00-0731-B5D7-2F8B-BDF04E9534D2}"/>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60E53F3A-2326-F17B-AD9B-6F6C4D84C89F}"/>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e3</a:t>
              </a:r>
            </a:p>
          </p:txBody>
        </p:sp>
      </p:grpSp>
      <p:grpSp>
        <p:nvGrpSpPr>
          <p:cNvPr id="19" name="Group 18">
            <a:extLst>
              <a:ext uri="{FF2B5EF4-FFF2-40B4-BE49-F238E27FC236}">
                <a16:creationId xmlns:a16="http://schemas.microsoft.com/office/drawing/2014/main" id="{E772BC40-31B6-AD92-BFCE-1D8B1A89938C}"/>
              </a:ext>
            </a:extLst>
          </p:cNvPr>
          <p:cNvGrpSpPr/>
          <p:nvPr/>
        </p:nvGrpSpPr>
        <p:grpSpPr>
          <a:xfrm>
            <a:off x="5530233" y="2769576"/>
            <a:ext cx="473976" cy="365760"/>
            <a:chOff x="2189284" y="2769576"/>
            <a:chExt cx="473976" cy="365760"/>
          </a:xfrm>
        </p:grpSpPr>
        <p:sp>
          <p:nvSpPr>
            <p:cNvPr id="20" name="Rectangle 19">
              <a:extLst>
                <a:ext uri="{FF2B5EF4-FFF2-40B4-BE49-F238E27FC236}">
                  <a16:creationId xmlns:a16="http://schemas.microsoft.com/office/drawing/2014/main" id="{58361140-982D-BE61-2550-0DB32A979C4B}"/>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1" name="TextBox 20">
              <a:extLst>
                <a:ext uri="{FF2B5EF4-FFF2-40B4-BE49-F238E27FC236}">
                  <a16:creationId xmlns:a16="http://schemas.microsoft.com/office/drawing/2014/main" id="{63B9361B-D86F-DBD5-9526-89E7C3D07F8D}"/>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j1</a:t>
              </a:r>
            </a:p>
          </p:txBody>
        </p:sp>
      </p:grpSp>
      <p:grpSp>
        <p:nvGrpSpPr>
          <p:cNvPr id="22" name="Group 21">
            <a:extLst>
              <a:ext uri="{FF2B5EF4-FFF2-40B4-BE49-F238E27FC236}">
                <a16:creationId xmlns:a16="http://schemas.microsoft.com/office/drawing/2014/main" id="{438E6475-3311-E904-C89C-E26C68DE645A}"/>
              </a:ext>
            </a:extLst>
          </p:cNvPr>
          <p:cNvGrpSpPr/>
          <p:nvPr/>
        </p:nvGrpSpPr>
        <p:grpSpPr>
          <a:xfrm>
            <a:off x="5530233" y="3340360"/>
            <a:ext cx="473976" cy="365760"/>
            <a:chOff x="2189284" y="2769576"/>
            <a:chExt cx="473976" cy="365760"/>
          </a:xfrm>
        </p:grpSpPr>
        <p:sp>
          <p:nvSpPr>
            <p:cNvPr id="23" name="Rectangle 22">
              <a:extLst>
                <a:ext uri="{FF2B5EF4-FFF2-40B4-BE49-F238E27FC236}">
                  <a16:creationId xmlns:a16="http://schemas.microsoft.com/office/drawing/2014/main" id="{CB079FD2-8872-FB81-900A-E4295E7DE7B6}"/>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3CACCD6A-CF72-B72D-CF64-0F5F2E8B8CE9}"/>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j2</a:t>
              </a:r>
            </a:p>
          </p:txBody>
        </p:sp>
      </p:grpSp>
      <p:grpSp>
        <p:nvGrpSpPr>
          <p:cNvPr id="25" name="Group 24">
            <a:extLst>
              <a:ext uri="{FF2B5EF4-FFF2-40B4-BE49-F238E27FC236}">
                <a16:creationId xmlns:a16="http://schemas.microsoft.com/office/drawing/2014/main" id="{33F8D4F9-4344-BA3F-1D5C-AA5FCCA54847}"/>
              </a:ext>
            </a:extLst>
          </p:cNvPr>
          <p:cNvGrpSpPr/>
          <p:nvPr/>
        </p:nvGrpSpPr>
        <p:grpSpPr>
          <a:xfrm>
            <a:off x="5530233" y="3911143"/>
            <a:ext cx="473976" cy="365760"/>
            <a:chOff x="2189284" y="2769576"/>
            <a:chExt cx="473976" cy="365760"/>
          </a:xfrm>
        </p:grpSpPr>
        <p:sp>
          <p:nvSpPr>
            <p:cNvPr id="26" name="Rectangle 25">
              <a:extLst>
                <a:ext uri="{FF2B5EF4-FFF2-40B4-BE49-F238E27FC236}">
                  <a16:creationId xmlns:a16="http://schemas.microsoft.com/office/drawing/2014/main" id="{2FBA909D-21CB-2577-4ACD-9D37E0377D4C}"/>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7" name="TextBox 26">
              <a:extLst>
                <a:ext uri="{FF2B5EF4-FFF2-40B4-BE49-F238E27FC236}">
                  <a16:creationId xmlns:a16="http://schemas.microsoft.com/office/drawing/2014/main" id="{13C73158-21EE-C193-752B-25A384E06D55}"/>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j3</a:t>
              </a:r>
            </a:p>
          </p:txBody>
        </p:sp>
      </p:grpSp>
      <p:cxnSp>
        <p:nvCxnSpPr>
          <p:cNvPr id="5" name="Straight Connector 4">
            <a:extLst>
              <a:ext uri="{FF2B5EF4-FFF2-40B4-BE49-F238E27FC236}">
                <a16:creationId xmlns:a16="http://schemas.microsoft.com/office/drawing/2014/main" id="{609B83A7-1A9E-02B1-3DFE-852B9C639949}"/>
              </a:ext>
            </a:extLst>
          </p:cNvPr>
          <p:cNvCxnSpPr>
            <a:cxnSpLocks/>
            <a:endCxn id="24" idx="1"/>
          </p:cNvCxnSpPr>
          <p:nvPr/>
        </p:nvCxnSpPr>
        <p:spPr>
          <a:xfrm>
            <a:off x="3047396" y="2963008"/>
            <a:ext cx="2482837" cy="560232"/>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E3678261-E8A3-BFD2-BD83-75F5DB15A5DF}"/>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8" name="TextBox 7">
            <a:extLst>
              <a:ext uri="{FF2B5EF4-FFF2-40B4-BE49-F238E27FC236}">
                <a16:creationId xmlns:a16="http://schemas.microsoft.com/office/drawing/2014/main" id="{0B71B9CA-8B62-03F1-CE86-446DFCEA6C5F}"/>
              </a:ext>
            </a:extLst>
          </p:cNvPr>
          <p:cNvSpPr txBox="1"/>
          <p:nvPr/>
        </p:nvSpPr>
        <p:spPr>
          <a:xfrm>
            <a:off x="168443" y="4195668"/>
            <a:ext cx="1515980" cy="738664"/>
          </a:xfrm>
          <a:prstGeom prst="rect">
            <a:avLst/>
          </a:prstGeom>
          <a:noFill/>
          <a:ln>
            <a:solidFill>
              <a:schemeClr val="bg2"/>
            </a:solidFill>
          </a:ln>
        </p:spPr>
        <p:txBody>
          <a:bodyPr wrap="square" rtlCol="0">
            <a:spAutoFit/>
          </a:bodyPr>
          <a:lstStyle/>
          <a:p>
            <a:r>
              <a:rPr lang="en-US" b="1" u="sng" dirty="0">
                <a:latin typeface="Lato" panose="020B0604020202020204" charset="0"/>
                <a:ea typeface="Lato" panose="020B0604020202020204" charset="0"/>
                <a:cs typeface="Lato" panose="020B0604020202020204" charset="0"/>
              </a:rPr>
              <a:t>Example: </a:t>
            </a:r>
          </a:p>
          <a:p>
            <a:r>
              <a:rPr lang="en-US" dirty="0">
                <a:latin typeface="Lato" panose="020B0604020202020204" charset="0"/>
                <a:ea typeface="Lato" panose="020B0604020202020204" charset="0"/>
                <a:cs typeface="Lato" panose="020B0604020202020204" charset="0"/>
              </a:rPr>
              <a:t>e1 = employee 1</a:t>
            </a:r>
          </a:p>
          <a:p>
            <a:r>
              <a:rPr lang="en-US" dirty="0">
                <a:latin typeface="Lato" panose="020B0604020202020204" charset="0"/>
                <a:ea typeface="Lato" panose="020B0604020202020204" charset="0"/>
                <a:cs typeface="Lato" panose="020B0604020202020204" charset="0"/>
              </a:rPr>
              <a:t>j1 = job 1</a:t>
            </a:r>
          </a:p>
        </p:txBody>
      </p:sp>
      <p:cxnSp>
        <p:nvCxnSpPr>
          <p:cNvPr id="9" name="Straight Connector 8">
            <a:extLst>
              <a:ext uri="{FF2B5EF4-FFF2-40B4-BE49-F238E27FC236}">
                <a16:creationId xmlns:a16="http://schemas.microsoft.com/office/drawing/2014/main" id="{B990A631-4B6D-4DC9-BA00-529B1C03F0D7}"/>
              </a:ext>
            </a:extLst>
          </p:cNvPr>
          <p:cNvCxnSpPr>
            <a:cxnSpLocks/>
            <a:endCxn id="21" idx="1"/>
          </p:cNvCxnSpPr>
          <p:nvPr/>
        </p:nvCxnSpPr>
        <p:spPr>
          <a:xfrm flipV="1">
            <a:off x="3047396" y="2952456"/>
            <a:ext cx="2482837" cy="547068"/>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096A11F-9D31-BD59-3A29-10F4447A1A34}"/>
              </a:ext>
            </a:extLst>
          </p:cNvPr>
          <p:cNvCxnSpPr>
            <a:cxnSpLocks/>
            <a:endCxn id="21" idx="1"/>
          </p:cNvCxnSpPr>
          <p:nvPr/>
        </p:nvCxnSpPr>
        <p:spPr>
          <a:xfrm flipV="1">
            <a:off x="3047396" y="2952456"/>
            <a:ext cx="2482837" cy="1154461"/>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Cross 16">
            <a:extLst>
              <a:ext uri="{FF2B5EF4-FFF2-40B4-BE49-F238E27FC236}">
                <a16:creationId xmlns:a16="http://schemas.microsoft.com/office/drawing/2014/main" id="{096D206E-C80C-8D44-575D-EB9C756FDD98}"/>
              </a:ext>
            </a:extLst>
          </p:cNvPr>
          <p:cNvSpPr/>
          <p:nvPr/>
        </p:nvSpPr>
        <p:spPr>
          <a:xfrm rot="18839074">
            <a:off x="2499331" y="1737245"/>
            <a:ext cx="3578966" cy="3571988"/>
          </a:xfrm>
          <a:prstGeom prst="plus">
            <a:avLst>
              <a:gd name="adj" fmla="val 48100"/>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937555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394FA802-BDE1-CCBF-BEC4-1C249F810F8A}"/>
            </a:ext>
          </a:extLst>
        </p:cNvPr>
        <p:cNvGrpSpPr/>
        <p:nvPr/>
      </p:nvGrpSpPr>
      <p:grpSpPr>
        <a:xfrm>
          <a:off x="0" y="0"/>
          <a:ext cx="0" cy="0"/>
          <a:chOff x="0" y="0"/>
          <a:chExt cx="0" cy="0"/>
        </a:xfrm>
      </p:grpSpPr>
      <p:sp>
        <p:nvSpPr>
          <p:cNvPr id="134" name="Google Shape;134;p21">
            <a:extLst>
              <a:ext uri="{FF2B5EF4-FFF2-40B4-BE49-F238E27FC236}">
                <a16:creationId xmlns:a16="http://schemas.microsoft.com/office/drawing/2014/main" id="{EB708B91-106E-10E6-D3AD-A982622056E1}"/>
              </a:ext>
            </a:extLst>
          </p:cNvPr>
          <p:cNvSpPr txBox="1">
            <a:spLocks noGrp="1"/>
          </p:cNvSpPr>
          <p:nvPr>
            <p:ph type="body" idx="1"/>
          </p:nvPr>
        </p:nvSpPr>
        <p:spPr>
          <a:xfrm>
            <a:off x="70027" y="1269983"/>
            <a:ext cx="2681157" cy="22611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US" sz="1700" dirty="0">
                <a:solidFill>
                  <a:srgbClr val="00B050"/>
                </a:solidFill>
              </a:rPr>
              <a:t>e1 : </a:t>
            </a:r>
            <a:r>
              <a:rPr lang="en-US" sz="1700" u="sng" dirty="0">
                <a:solidFill>
                  <a:srgbClr val="00B050"/>
                </a:solidFill>
              </a:rPr>
              <a:t>j2</a:t>
            </a:r>
            <a:r>
              <a:rPr lang="en-US" sz="1700" dirty="0">
                <a:solidFill>
                  <a:srgbClr val="00B050"/>
                </a:solidFill>
              </a:rPr>
              <a:t>, j1, j3</a:t>
            </a:r>
          </a:p>
          <a:p>
            <a:pPr marL="457200" lvl="0" indent="-336550" algn="l" rtl="0">
              <a:spcBef>
                <a:spcPts val="0"/>
              </a:spcBef>
              <a:spcAft>
                <a:spcPts val="0"/>
              </a:spcAft>
              <a:buSzPts val="1700"/>
              <a:buChar char="●"/>
            </a:pPr>
            <a:r>
              <a:rPr lang="en-US" sz="1700" dirty="0">
                <a:solidFill>
                  <a:srgbClr val="00B050"/>
                </a:solidFill>
              </a:rPr>
              <a:t>e2 : </a:t>
            </a:r>
            <a:r>
              <a:rPr lang="en-US" sz="1700" u="sng" dirty="0">
                <a:solidFill>
                  <a:srgbClr val="00B050"/>
                </a:solidFill>
              </a:rPr>
              <a:t>j1</a:t>
            </a:r>
            <a:r>
              <a:rPr lang="en-US" sz="1700" dirty="0">
                <a:solidFill>
                  <a:srgbClr val="00B050"/>
                </a:solidFill>
              </a:rPr>
              <a:t>, j2, j3</a:t>
            </a:r>
          </a:p>
          <a:p>
            <a:pPr marL="457200" lvl="0" indent="-336550" algn="l" rtl="0">
              <a:spcBef>
                <a:spcPts val="0"/>
              </a:spcBef>
              <a:spcAft>
                <a:spcPts val="0"/>
              </a:spcAft>
              <a:buSzPts val="1700"/>
              <a:buChar char="●"/>
            </a:pPr>
            <a:r>
              <a:rPr lang="en-US" sz="1700" b="1" dirty="0"/>
              <a:t>e3 : </a:t>
            </a:r>
            <a:r>
              <a:rPr lang="en-US" sz="1700" b="1" strike="sngStrike" dirty="0"/>
              <a:t>j1</a:t>
            </a:r>
            <a:r>
              <a:rPr lang="en-US" sz="1700" b="1" dirty="0"/>
              <a:t>, j2, j3</a:t>
            </a:r>
            <a:endParaRPr lang="en-US" sz="1500" b="1" dirty="0"/>
          </a:p>
        </p:txBody>
      </p:sp>
      <p:sp>
        <p:nvSpPr>
          <p:cNvPr id="4" name="Google Shape;134;p21">
            <a:extLst>
              <a:ext uri="{FF2B5EF4-FFF2-40B4-BE49-F238E27FC236}">
                <a16:creationId xmlns:a16="http://schemas.microsoft.com/office/drawing/2014/main" id="{DD720ADA-C445-1ACE-B3DD-5B5A6A85DD0D}"/>
              </a:ext>
            </a:extLst>
          </p:cNvPr>
          <p:cNvSpPr txBox="1">
            <a:spLocks/>
          </p:cNvSpPr>
          <p:nvPr/>
        </p:nvSpPr>
        <p:spPr>
          <a:xfrm>
            <a:off x="6462843" y="1269983"/>
            <a:ext cx="2681157" cy="2261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indent="-336550">
              <a:buSzPts val="1700"/>
            </a:pPr>
            <a:r>
              <a:rPr lang="en-US" sz="1700" dirty="0">
                <a:solidFill>
                  <a:srgbClr val="00B050"/>
                </a:solidFill>
              </a:rPr>
              <a:t>j1 : e1, </a:t>
            </a:r>
            <a:r>
              <a:rPr lang="en-US" sz="1700" u="sng" dirty="0">
                <a:solidFill>
                  <a:srgbClr val="00B050"/>
                </a:solidFill>
              </a:rPr>
              <a:t>e2</a:t>
            </a:r>
            <a:r>
              <a:rPr lang="en-US" sz="1700" dirty="0">
                <a:solidFill>
                  <a:srgbClr val="00B050"/>
                </a:solidFill>
              </a:rPr>
              <a:t>, </a:t>
            </a:r>
            <a:r>
              <a:rPr lang="en-US" sz="1700" strike="sngStrike" dirty="0">
                <a:solidFill>
                  <a:srgbClr val="00B050"/>
                </a:solidFill>
              </a:rPr>
              <a:t>e3</a:t>
            </a:r>
          </a:p>
          <a:p>
            <a:pPr indent="-336550">
              <a:buSzPts val="1700"/>
            </a:pPr>
            <a:r>
              <a:rPr lang="en-US" sz="1700" dirty="0">
                <a:solidFill>
                  <a:srgbClr val="00B050"/>
                </a:solidFill>
              </a:rPr>
              <a:t>j2 : e3, </a:t>
            </a:r>
            <a:r>
              <a:rPr lang="en-US" sz="1700" u="sng" dirty="0">
                <a:solidFill>
                  <a:srgbClr val="00B050"/>
                </a:solidFill>
              </a:rPr>
              <a:t>e1</a:t>
            </a:r>
            <a:r>
              <a:rPr lang="en-US" sz="1700" dirty="0">
                <a:solidFill>
                  <a:srgbClr val="00B050"/>
                </a:solidFill>
              </a:rPr>
              <a:t>, e2</a:t>
            </a:r>
          </a:p>
          <a:p>
            <a:pPr indent="-336550">
              <a:buSzPts val="1700"/>
            </a:pPr>
            <a:r>
              <a:rPr lang="en-US" sz="1700" dirty="0"/>
              <a:t>j3 : e1, e2, e3</a:t>
            </a:r>
            <a:endParaRPr lang="en-US" sz="1500" dirty="0"/>
          </a:p>
        </p:txBody>
      </p:sp>
      <p:grpSp>
        <p:nvGrpSpPr>
          <p:cNvPr id="7" name="Group 6">
            <a:extLst>
              <a:ext uri="{FF2B5EF4-FFF2-40B4-BE49-F238E27FC236}">
                <a16:creationId xmlns:a16="http://schemas.microsoft.com/office/drawing/2014/main" id="{7D3AA16C-7188-91F0-FEC6-64148C87DFC2}"/>
              </a:ext>
            </a:extLst>
          </p:cNvPr>
          <p:cNvGrpSpPr/>
          <p:nvPr/>
        </p:nvGrpSpPr>
        <p:grpSpPr>
          <a:xfrm>
            <a:off x="2681636" y="2769576"/>
            <a:ext cx="473976" cy="365760"/>
            <a:chOff x="2189284" y="2769576"/>
            <a:chExt cx="473976" cy="365760"/>
          </a:xfrm>
        </p:grpSpPr>
        <p:sp>
          <p:nvSpPr>
            <p:cNvPr id="3" name="Rectangle 2">
              <a:extLst>
                <a:ext uri="{FF2B5EF4-FFF2-40B4-BE49-F238E27FC236}">
                  <a16:creationId xmlns:a16="http://schemas.microsoft.com/office/drawing/2014/main" id="{42990E18-1F06-8543-58CE-8B321AE954AE}"/>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EE237D26-9783-75DB-81D9-2441BCB19E74}"/>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e1</a:t>
              </a:r>
            </a:p>
          </p:txBody>
        </p:sp>
      </p:grpSp>
      <p:grpSp>
        <p:nvGrpSpPr>
          <p:cNvPr id="10" name="Group 9">
            <a:extLst>
              <a:ext uri="{FF2B5EF4-FFF2-40B4-BE49-F238E27FC236}">
                <a16:creationId xmlns:a16="http://schemas.microsoft.com/office/drawing/2014/main" id="{266A3BD6-5123-2A66-7C11-EE4341954F55}"/>
              </a:ext>
            </a:extLst>
          </p:cNvPr>
          <p:cNvGrpSpPr/>
          <p:nvPr/>
        </p:nvGrpSpPr>
        <p:grpSpPr>
          <a:xfrm>
            <a:off x="2681636" y="3340360"/>
            <a:ext cx="473976" cy="365760"/>
            <a:chOff x="2189284" y="2769576"/>
            <a:chExt cx="473976" cy="365760"/>
          </a:xfrm>
        </p:grpSpPr>
        <p:sp>
          <p:nvSpPr>
            <p:cNvPr id="11" name="Rectangle 10">
              <a:extLst>
                <a:ext uri="{FF2B5EF4-FFF2-40B4-BE49-F238E27FC236}">
                  <a16:creationId xmlns:a16="http://schemas.microsoft.com/office/drawing/2014/main" id="{5DD21DBF-8BF4-A543-F315-DAD0D21C2186}"/>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TextBox 11">
              <a:extLst>
                <a:ext uri="{FF2B5EF4-FFF2-40B4-BE49-F238E27FC236}">
                  <a16:creationId xmlns:a16="http://schemas.microsoft.com/office/drawing/2014/main" id="{A5EE24F8-717B-628E-7658-E1460508E812}"/>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e2</a:t>
              </a:r>
            </a:p>
          </p:txBody>
        </p:sp>
      </p:grpSp>
      <p:grpSp>
        <p:nvGrpSpPr>
          <p:cNvPr id="13" name="Group 12">
            <a:extLst>
              <a:ext uri="{FF2B5EF4-FFF2-40B4-BE49-F238E27FC236}">
                <a16:creationId xmlns:a16="http://schemas.microsoft.com/office/drawing/2014/main" id="{A5684CE1-359C-28BA-6C89-DFB3E69F6015}"/>
              </a:ext>
            </a:extLst>
          </p:cNvPr>
          <p:cNvGrpSpPr/>
          <p:nvPr/>
        </p:nvGrpSpPr>
        <p:grpSpPr>
          <a:xfrm>
            <a:off x="2681636" y="3911143"/>
            <a:ext cx="473976" cy="365760"/>
            <a:chOff x="2189284" y="2769576"/>
            <a:chExt cx="473976" cy="365760"/>
          </a:xfrm>
        </p:grpSpPr>
        <p:sp>
          <p:nvSpPr>
            <p:cNvPr id="14" name="Rectangle 13">
              <a:extLst>
                <a:ext uri="{FF2B5EF4-FFF2-40B4-BE49-F238E27FC236}">
                  <a16:creationId xmlns:a16="http://schemas.microsoft.com/office/drawing/2014/main" id="{B4B5DAD8-DFBF-1372-E442-40A12B02E3FB}"/>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DD7A9C0F-2C2C-1AA5-6422-3DE9F1B197F3}"/>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e3</a:t>
              </a:r>
            </a:p>
          </p:txBody>
        </p:sp>
      </p:grpSp>
      <p:grpSp>
        <p:nvGrpSpPr>
          <p:cNvPr id="19" name="Group 18">
            <a:extLst>
              <a:ext uri="{FF2B5EF4-FFF2-40B4-BE49-F238E27FC236}">
                <a16:creationId xmlns:a16="http://schemas.microsoft.com/office/drawing/2014/main" id="{44FFBEE8-552E-C2D7-DE1B-F3B8DAB046BC}"/>
              </a:ext>
            </a:extLst>
          </p:cNvPr>
          <p:cNvGrpSpPr/>
          <p:nvPr/>
        </p:nvGrpSpPr>
        <p:grpSpPr>
          <a:xfrm>
            <a:off x="5530233" y="2769576"/>
            <a:ext cx="473976" cy="365760"/>
            <a:chOff x="2189284" y="2769576"/>
            <a:chExt cx="473976" cy="365760"/>
          </a:xfrm>
        </p:grpSpPr>
        <p:sp>
          <p:nvSpPr>
            <p:cNvPr id="20" name="Rectangle 19">
              <a:extLst>
                <a:ext uri="{FF2B5EF4-FFF2-40B4-BE49-F238E27FC236}">
                  <a16:creationId xmlns:a16="http://schemas.microsoft.com/office/drawing/2014/main" id="{2E6354CD-8B7E-107D-F000-812806525242}"/>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1" name="TextBox 20">
              <a:extLst>
                <a:ext uri="{FF2B5EF4-FFF2-40B4-BE49-F238E27FC236}">
                  <a16:creationId xmlns:a16="http://schemas.microsoft.com/office/drawing/2014/main" id="{410F962F-1287-4F18-FB93-B462D0B0A8E0}"/>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j1</a:t>
              </a:r>
            </a:p>
          </p:txBody>
        </p:sp>
      </p:grpSp>
      <p:grpSp>
        <p:nvGrpSpPr>
          <p:cNvPr id="22" name="Group 21">
            <a:extLst>
              <a:ext uri="{FF2B5EF4-FFF2-40B4-BE49-F238E27FC236}">
                <a16:creationId xmlns:a16="http://schemas.microsoft.com/office/drawing/2014/main" id="{51EF1176-5D4B-4D23-371D-049E4564537E}"/>
              </a:ext>
            </a:extLst>
          </p:cNvPr>
          <p:cNvGrpSpPr/>
          <p:nvPr/>
        </p:nvGrpSpPr>
        <p:grpSpPr>
          <a:xfrm>
            <a:off x="5530233" y="3340360"/>
            <a:ext cx="473976" cy="365760"/>
            <a:chOff x="2189284" y="2769576"/>
            <a:chExt cx="473976" cy="365760"/>
          </a:xfrm>
        </p:grpSpPr>
        <p:sp>
          <p:nvSpPr>
            <p:cNvPr id="23" name="Rectangle 22">
              <a:extLst>
                <a:ext uri="{FF2B5EF4-FFF2-40B4-BE49-F238E27FC236}">
                  <a16:creationId xmlns:a16="http://schemas.microsoft.com/office/drawing/2014/main" id="{30E55E33-4FED-ED38-5581-20D3192F2DFF}"/>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3E5CD60E-7DAF-933D-5368-0EEDD84437E6}"/>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j2</a:t>
              </a:r>
            </a:p>
          </p:txBody>
        </p:sp>
      </p:grpSp>
      <p:grpSp>
        <p:nvGrpSpPr>
          <p:cNvPr id="25" name="Group 24">
            <a:extLst>
              <a:ext uri="{FF2B5EF4-FFF2-40B4-BE49-F238E27FC236}">
                <a16:creationId xmlns:a16="http://schemas.microsoft.com/office/drawing/2014/main" id="{41E26D50-70CE-B477-D5C9-F9CC649ABF72}"/>
              </a:ext>
            </a:extLst>
          </p:cNvPr>
          <p:cNvGrpSpPr/>
          <p:nvPr/>
        </p:nvGrpSpPr>
        <p:grpSpPr>
          <a:xfrm>
            <a:off x="5530233" y="3911143"/>
            <a:ext cx="473976" cy="365760"/>
            <a:chOff x="2189284" y="2769576"/>
            <a:chExt cx="473976" cy="365760"/>
          </a:xfrm>
        </p:grpSpPr>
        <p:sp>
          <p:nvSpPr>
            <p:cNvPr id="26" name="Rectangle 25">
              <a:extLst>
                <a:ext uri="{FF2B5EF4-FFF2-40B4-BE49-F238E27FC236}">
                  <a16:creationId xmlns:a16="http://schemas.microsoft.com/office/drawing/2014/main" id="{6E15B52D-DAA9-36E4-B382-9EABD6DF993E}"/>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7" name="TextBox 26">
              <a:extLst>
                <a:ext uri="{FF2B5EF4-FFF2-40B4-BE49-F238E27FC236}">
                  <a16:creationId xmlns:a16="http://schemas.microsoft.com/office/drawing/2014/main" id="{DE984090-5960-A4DF-F844-140FE2B3042E}"/>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j3</a:t>
              </a:r>
            </a:p>
          </p:txBody>
        </p:sp>
      </p:grpSp>
      <p:cxnSp>
        <p:nvCxnSpPr>
          <p:cNvPr id="5" name="Straight Connector 4">
            <a:extLst>
              <a:ext uri="{FF2B5EF4-FFF2-40B4-BE49-F238E27FC236}">
                <a16:creationId xmlns:a16="http://schemas.microsoft.com/office/drawing/2014/main" id="{0B2C775A-DCBD-ED64-D577-4C4F4BFC663A}"/>
              </a:ext>
            </a:extLst>
          </p:cNvPr>
          <p:cNvCxnSpPr>
            <a:cxnSpLocks/>
            <a:endCxn id="24" idx="1"/>
          </p:cNvCxnSpPr>
          <p:nvPr/>
        </p:nvCxnSpPr>
        <p:spPr>
          <a:xfrm>
            <a:off x="3047396" y="2963008"/>
            <a:ext cx="2482837" cy="560232"/>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D9732A78-83A5-897F-FECB-73D987D2F366}"/>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8" name="TextBox 7">
            <a:extLst>
              <a:ext uri="{FF2B5EF4-FFF2-40B4-BE49-F238E27FC236}">
                <a16:creationId xmlns:a16="http://schemas.microsoft.com/office/drawing/2014/main" id="{99509C92-DD46-18DB-1863-2001AD18CA91}"/>
              </a:ext>
            </a:extLst>
          </p:cNvPr>
          <p:cNvSpPr txBox="1"/>
          <p:nvPr/>
        </p:nvSpPr>
        <p:spPr>
          <a:xfrm>
            <a:off x="168443" y="4195668"/>
            <a:ext cx="1515980" cy="738664"/>
          </a:xfrm>
          <a:prstGeom prst="rect">
            <a:avLst/>
          </a:prstGeom>
          <a:noFill/>
          <a:ln>
            <a:solidFill>
              <a:schemeClr val="bg2"/>
            </a:solidFill>
          </a:ln>
        </p:spPr>
        <p:txBody>
          <a:bodyPr wrap="square" rtlCol="0">
            <a:spAutoFit/>
          </a:bodyPr>
          <a:lstStyle/>
          <a:p>
            <a:r>
              <a:rPr lang="en-US" b="1" u="sng" dirty="0">
                <a:latin typeface="Lato" panose="020B0604020202020204" charset="0"/>
                <a:ea typeface="Lato" panose="020B0604020202020204" charset="0"/>
                <a:cs typeface="Lato" panose="020B0604020202020204" charset="0"/>
              </a:rPr>
              <a:t>Example: </a:t>
            </a:r>
          </a:p>
          <a:p>
            <a:r>
              <a:rPr lang="en-US" dirty="0">
                <a:latin typeface="Lato" panose="020B0604020202020204" charset="0"/>
                <a:ea typeface="Lato" panose="020B0604020202020204" charset="0"/>
                <a:cs typeface="Lato" panose="020B0604020202020204" charset="0"/>
              </a:rPr>
              <a:t>e1 = employee 1</a:t>
            </a:r>
          </a:p>
          <a:p>
            <a:r>
              <a:rPr lang="en-US" dirty="0">
                <a:latin typeface="Lato" panose="020B0604020202020204" charset="0"/>
                <a:ea typeface="Lato" panose="020B0604020202020204" charset="0"/>
                <a:cs typeface="Lato" panose="020B0604020202020204" charset="0"/>
              </a:rPr>
              <a:t>j1 = job 1</a:t>
            </a:r>
          </a:p>
        </p:txBody>
      </p:sp>
      <p:cxnSp>
        <p:nvCxnSpPr>
          <p:cNvPr id="9" name="Straight Connector 8">
            <a:extLst>
              <a:ext uri="{FF2B5EF4-FFF2-40B4-BE49-F238E27FC236}">
                <a16:creationId xmlns:a16="http://schemas.microsoft.com/office/drawing/2014/main" id="{9D0DF6CA-28C9-DD4D-EC8C-C9CDA116B472}"/>
              </a:ext>
            </a:extLst>
          </p:cNvPr>
          <p:cNvCxnSpPr>
            <a:cxnSpLocks/>
            <a:endCxn id="21" idx="1"/>
          </p:cNvCxnSpPr>
          <p:nvPr/>
        </p:nvCxnSpPr>
        <p:spPr>
          <a:xfrm flipV="1">
            <a:off x="3047396" y="2952456"/>
            <a:ext cx="2482837" cy="547068"/>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ACE169A-EEEF-2B9E-7BAA-C90BE5794917}"/>
              </a:ext>
            </a:extLst>
          </p:cNvPr>
          <p:cNvCxnSpPr>
            <a:cxnSpLocks/>
            <a:endCxn id="24" idx="1"/>
          </p:cNvCxnSpPr>
          <p:nvPr/>
        </p:nvCxnSpPr>
        <p:spPr>
          <a:xfrm flipV="1">
            <a:off x="3047396" y="3523240"/>
            <a:ext cx="2482837" cy="583677"/>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49431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6142D080-9FFA-9B99-00E4-29962A2ED669}"/>
            </a:ext>
          </a:extLst>
        </p:cNvPr>
        <p:cNvGrpSpPr/>
        <p:nvPr/>
      </p:nvGrpSpPr>
      <p:grpSpPr>
        <a:xfrm>
          <a:off x="0" y="0"/>
          <a:ext cx="0" cy="0"/>
          <a:chOff x="0" y="0"/>
          <a:chExt cx="0" cy="0"/>
        </a:xfrm>
      </p:grpSpPr>
      <p:sp>
        <p:nvSpPr>
          <p:cNvPr id="134" name="Google Shape;134;p21">
            <a:extLst>
              <a:ext uri="{FF2B5EF4-FFF2-40B4-BE49-F238E27FC236}">
                <a16:creationId xmlns:a16="http://schemas.microsoft.com/office/drawing/2014/main" id="{5638EB49-B954-6BDE-FED5-465212B03567}"/>
              </a:ext>
            </a:extLst>
          </p:cNvPr>
          <p:cNvSpPr txBox="1">
            <a:spLocks noGrp="1"/>
          </p:cNvSpPr>
          <p:nvPr>
            <p:ph type="body" idx="1"/>
          </p:nvPr>
        </p:nvSpPr>
        <p:spPr>
          <a:xfrm>
            <a:off x="70027" y="1269983"/>
            <a:ext cx="2681157" cy="22611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US" sz="1700" dirty="0">
                <a:solidFill>
                  <a:srgbClr val="00B050"/>
                </a:solidFill>
              </a:rPr>
              <a:t>e1 : </a:t>
            </a:r>
            <a:r>
              <a:rPr lang="en-US" sz="1700" u="sng" dirty="0">
                <a:solidFill>
                  <a:srgbClr val="00B050"/>
                </a:solidFill>
              </a:rPr>
              <a:t>j2</a:t>
            </a:r>
            <a:r>
              <a:rPr lang="en-US" sz="1700" dirty="0">
                <a:solidFill>
                  <a:srgbClr val="00B050"/>
                </a:solidFill>
              </a:rPr>
              <a:t>, j1, j3</a:t>
            </a:r>
          </a:p>
          <a:p>
            <a:pPr marL="457200" lvl="0" indent="-336550" algn="l" rtl="0">
              <a:spcBef>
                <a:spcPts val="0"/>
              </a:spcBef>
              <a:spcAft>
                <a:spcPts val="0"/>
              </a:spcAft>
              <a:buSzPts val="1700"/>
              <a:buChar char="●"/>
            </a:pPr>
            <a:r>
              <a:rPr lang="en-US" sz="1700" dirty="0">
                <a:solidFill>
                  <a:srgbClr val="00B050"/>
                </a:solidFill>
              </a:rPr>
              <a:t>e2 : </a:t>
            </a:r>
            <a:r>
              <a:rPr lang="en-US" sz="1700" u="sng" dirty="0">
                <a:solidFill>
                  <a:srgbClr val="00B050"/>
                </a:solidFill>
              </a:rPr>
              <a:t>j1</a:t>
            </a:r>
            <a:r>
              <a:rPr lang="en-US" sz="1700" dirty="0">
                <a:solidFill>
                  <a:srgbClr val="00B050"/>
                </a:solidFill>
              </a:rPr>
              <a:t>, j2, j3</a:t>
            </a:r>
          </a:p>
          <a:p>
            <a:pPr marL="457200" lvl="0" indent="-336550" algn="l" rtl="0">
              <a:spcBef>
                <a:spcPts val="0"/>
              </a:spcBef>
              <a:spcAft>
                <a:spcPts val="0"/>
              </a:spcAft>
              <a:buSzPts val="1700"/>
              <a:buChar char="●"/>
            </a:pPr>
            <a:r>
              <a:rPr lang="en-US" sz="1700" b="1" dirty="0"/>
              <a:t>e3 : </a:t>
            </a:r>
            <a:r>
              <a:rPr lang="en-US" sz="1700" b="1" strike="sngStrike" dirty="0"/>
              <a:t>j1</a:t>
            </a:r>
            <a:r>
              <a:rPr lang="en-US" sz="1700" b="1" dirty="0"/>
              <a:t>, j2, j3</a:t>
            </a:r>
            <a:endParaRPr lang="en-US" sz="1500" b="1" dirty="0"/>
          </a:p>
        </p:txBody>
      </p:sp>
      <p:sp>
        <p:nvSpPr>
          <p:cNvPr id="4" name="Google Shape;134;p21">
            <a:extLst>
              <a:ext uri="{FF2B5EF4-FFF2-40B4-BE49-F238E27FC236}">
                <a16:creationId xmlns:a16="http://schemas.microsoft.com/office/drawing/2014/main" id="{C903FF4F-F3FA-7E0F-9496-069593C1E660}"/>
              </a:ext>
            </a:extLst>
          </p:cNvPr>
          <p:cNvSpPr txBox="1">
            <a:spLocks/>
          </p:cNvSpPr>
          <p:nvPr/>
        </p:nvSpPr>
        <p:spPr>
          <a:xfrm>
            <a:off x="6462843" y="1269983"/>
            <a:ext cx="2681157" cy="2261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indent="-336550">
              <a:buSzPts val="1700"/>
            </a:pPr>
            <a:r>
              <a:rPr lang="en-US" sz="1700" dirty="0">
                <a:solidFill>
                  <a:srgbClr val="00B050"/>
                </a:solidFill>
              </a:rPr>
              <a:t>j1 : e1, </a:t>
            </a:r>
            <a:r>
              <a:rPr lang="en-US" sz="1700" u="sng" dirty="0">
                <a:solidFill>
                  <a:srgbClr val="00B050"/>
                </a:solidFill>
              </a:rPr>
              <a:t>e2</a:t>
            </a:r>
            <a:r>
              <a:rPr lang="en-US" sz="1700" dirty="0">
                <a:solidFill>
                  <a:srgbClr val="00B050"/>
                </a:solidFill>
              </a:rPr>
              <a:t>, </a:t>
            </a:r>
            <a:r>
              <a:rPr lang="en-US" sz="1700" strike="sngStrike" dirty="0">
                <a:solidFill>
                  <a:srgbClr val="00B050"/>
                </a:solidFill>
              </a:rPr>
              <a:t>e3</a:t>
            </a:r>
          </a:p>
          <a:p>
            <a:pPr indent="-336550">
              <a:buSzPts val="1700"/>
            </a:pPr>
            <a:r>
              <a:rPr lang="en-US" sz="1700" dirty="0">
                <a:solidFill>
                  <a:srgbClr val="00B050"/>
                </a:solidFill>
              </a:rPr>
              <a:t>j2 : e3, </a:t>
            </a:r>
            <a:r>
              <a:rPr lang="en-US" sz="1700" u="sng" dirty="0">
                <a:solidFill>
                  <a:srgbClr val="00B050"/>
                </a:solidFill>
              </a:rPr>
              <a:t>e1</a:t>
            </a:r>
            <a:r>
              <a:rPr lang="en-US" sz="1700" dirty="0">
                <a:solidFill>
                  <a:srgbClr val="00B050"/>
                </a:solidFill>
              </a:rPr>
              <a:t>, e2</a:t>
            </a:r>
          </a:p>
          <a:p>
            <a:pPr indent="-336550">
              <a:buSzPts val="1700"/>
            </a:pPr>
            <a:r>
              <a:rPr lang="en-US" sz="1700" dirty="0"/>
              <a:t>j3 : e1, e2, e3</a:t>
            </a:r>
            <a:endParaRPr lang="en-US" sz="1500" dirty="0"/>
          </a:p>
        </p:txBody>
      </p:sp>
      <p:grpSp>
        <p:nvGrpSpPr>
          <p:cNvPr id="7" name="Group 6">
            <a:extLst>
              <a:ext uri="{FF2B5EF4-FFF2-40B4-BE49-F238E27FC236}">
                <a16:creationId xmlns:a16="http://schemas.microsoft.com/office/drawing/2014/main" id="{E8F52E3E-7663-24AA-3437-D3943C71781B}"/>
              </a:ext>
            </a:extLst>
          </p:cNvPr>
          <p:cNvGrpSpPr/>
          <p:nvPr/>
        </p:nvGrpSpPr>
        <p:grpSpPr>
          <a:xfrm>
            <a:off x="2681636" y="2769576"/>
            <a:ext cx="473976" cy="365760"/>
            <a:chOff x="2189284" y="2769576"/>
            <a:chExt cx="473976" cy="365760"/>
          </a:xfrm>
        </p:grpSpPr>
        <p:sp>
          <p:nvSpPr>
            <p:cNvPr id="3" name="Rectangle 2">
              <a:extLst>
                <a:ext uri="{FF2B5EF4-FFF2-40B4-BE49-F238E27FC236}">
                  <a16:creationId xmlns:a16="http://schemas.microsoft.com/office/drawing/2014/main" id="{6403D7F8-86F7-EF7F-48E9-4895B1534E93}"/>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8CAE14B8-4FF7-DEC7-2FB1-4EE4D484E61B}"/>
                </a:ext>
              </a:extLst>
            </p:cNvPr>
            <p:cNvSpPr txBox="1"/>
            <p:nvPr/>
          </p:nvSpPr>
          <p:spPr>
            <a:xfrm>
              <a:off x="2189284" y="2798567"/>
              <a:ext cx="473976" cy="307777"/>
            </a:xfrm>
            <a:prstGeom prst="rect">
              <a:avLst/>
            </a:prstGeom>
            <a:noFill/>
          </p:spPr>
          <p:txBody>
            <a:bodyPr wrap="square" rtlCol="0">
              <a:spAutoFit/>
            </a:bodyPr>
            <a:lstStyle/>
            <a:p>
              <a:r>
                <a:rPr lang="en-US" dirty="0">
                  <a:solidFill>
                    <a:srgbClr val="FF0000"/>
                  </a:solidFill>
                  <a:latin typeface="Lato" panose="020B0604020202020204" charset="0"/>
                  <a:ea typeface="Lato" panose="020B0604020202020204" charset="0"/>
                  <a:cs typeface="Lato" panose="020B0604020202020204" charset="0"/>
                </a:rPr>
                <a:t>e1!</a:t>
              </a:r>
            </a:p>
          </p:txBody>
        </p:sp>
      </p:grpSp>
      <p:grpSp>
        <p:nvGrpSpPr>
          <p:cNvPr id="10" name="Group 9">
            <a:extLst>
              <a:ext uri="{FF2B5EF4-FFF2-40B4-BE49-F238E27FC236}">
                <a16:creationId xmlns:a16="http://schemas.microsoft.com/office/drawing/2014/main" id="{051BFB91-B8E4-C45E-6883-F00652CC456B}"/>
              </a:ext>
            </a:extLst>
          </p:cNvPr>
          <p:cNvGrpSpPr/>
          <p:nvPr/>
        </p:nvGrpSpPr>
        <p:grpSpPr>
          <a:xfrm>
            <a:off x="2681636" y="3340360"/>
            <a:ext cx="473976" cy="365760"/>
            <a:chOff x="2189284" y="2769576"/>
            <a:chExt cx="473976" cy="365760"/>
          </a:xfrm>
        </p:grpSpPr>
        <p:sp>
          <p:nvSpPr>
            <p:cNvPr id="11" name="Rectangle 10">
              <a:extLst>
                <a:ext uri="{FF2B5EF4-FFF2-40B4-BE49-F238E27FC236}">
                  <a16:creationId xmlns:a16="http://schemas.microsoft.com/office/drawing/2014/main" id="{02F85D68-D607-E9BC-29D2-E7132463BA04}"/>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TextBox 11">
              <a:extLst>
                <a:ext uri="{FF2B5EF4-FFF2-40B4-BE49-F238E27FC236}">
                  <a16:creationId xmlns:a16="http://schemas.microsoft.com/office/drawing/2014/main" id="{0C07A32D-3447-A636-0B23-F860D397E1A0}"/>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e2</a:t>
              </a:r>
            </a:p>
          </p:txBody>
        </p:sp>
      </p:grpSp>
      <p:grpSp>
        <p:nvGrpSpPr>
          <p:cNvPr id="13" name="Group 12">
            <a:extLst>
              <a:ext uri="{FF2B5EF4-FFF2-40B4-BE49-F238E27FC236}">
                <a16:creationId xmlns:a16="http://schemas.microsoft.com/office/drawing/2014/main" id="{618E0F51-21D6-1826-B34B-9A2C854F481F}"/>
              </a:ext>
            </a:extLst>
          </p:cNvPr>
          <p:cNvGrpSpPr/>
          <p:nvPr/>
        </p:nvGrpSpPr>
        <p:grpSpPr>
          <a:xfrm>
            <a:off x="2681636" y="3911143"/>
            <a:ext cx="473976" cy="365760"/>
            <a:chOff x="2189284" y="2769576"/>
            <a:chExt cx="473976" cy="365760"/>
          </a:xfrm>
        </p:grpSpPr>
        <p:sp>
          <p:nvSpPr>
            <p:cNvPr id="14" name="Rectangle 13">
              <a:extLst>
                <a:ext uri="{FF2B5EF4-FFF2-40B4-BE49-F238E27FC236}">
                  <a16:creationId xmlns:a16="http://schemas.microsoft.com/office/drawing/2014/main" id="{A501B211-A44E-4307-91ED-F52D1A41D2D0}"/>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9D3260DD-9E73-E26E-CA23-74D041790A64}"/>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e3</a:t>
              </a:r>
            </a:p>
          </p:txBody>
        </p:sp>
      </p:grpSp>
      <p:grpSp>
        <p:nvGrpSpPr>
          <p:cNvPr id="19" name="Group 18">
            <a:extLst>
              <a:ext uri="{FF2B5EF4-FFF2-40B4-BE49-F238E27FC236}">
                <a16:creationId xmlns:a16="http://schemas.microsoft.com/office/drawing/2014/main" id="{B59F77FC-4683-3BC1-F850-46854ACFE12F}"/>
              </a:ext>
            </a:extLst>
          </p:cNvPr>
          <p:cNvGrpSpPr/>
          <p:nvPr/>
        </p:nvGrpSpPr>
        <p:grpSpPr>
          <a:xfrm>
            <a:off x="5530233" y="2769576"/>
            <a:ext cx="473976" cy="365760"/>
            <a:chOff x="2189284" y="2769576"/>
            <a:chExt cx="473976" cy="365760"/>
          </a:xfrm>
        </p:grpSpPr>
        <p:sp>
          <p:nvSpPr>
            <p:cNvPr id="20" name="Rectangle 19">
              <a:extLst>
                <a:ext uri="{FF2B5EF4-FFF2-40B4-BE49-F238E27FC236}">
                  <a16:creationId xmlns:a16="http://schemas.microsoft.com/office/drawing/2014/main" id="{D4BDB44B-4051-49FF-C5FC-4A515133DB4C}"/>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1" name="TextBox 20">
              <a:extLst>
                <a:ext uri="{FF2B5EF4-FFF2-40B4-BE49-F238E27FC236}">
                  <a16:creationId xmlns:a16="http://schemas.microsoft.com/office/drawing/2014/main" id="{95DB11BA-2AF9-C324-A7F5-DBAAA8BA6AB4}"/>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j1</a:t>
              </a:r>
            </a:p>
          </p:txBody>
        </p:sp>
      </p:grpSp>
      <p:grpSp>
        <p:nvGrpSpPr>
          <p:cNvPr id="22" name="Group 21">
            <a:extLst>
              <a:ext uri="{FF2B5EF4-FFF2-40B4-BE49-F238E27FC236}">
                <a16:creationId xmlns:a16="http://schemas.microsoft.com/office/drawing/2014/main" id="{D671CBE3-C053-7976-BB57-E7E15ABD721D}"/>
              </a:ext>
            </a:extLst>
          </p:cNvPr>
          <p:cNvGrpSpPr/>
          <p:nvPr/>
        </p:nvGrpSpPr>
        <p:grpSpPr>
          <a:xfrm>
            <a:off x="5530233" y="3340360"/>
            <a:ext cx="473976" cy="365760"/>
            <a:chOff x="2189284" y="2769576"/>
            <a:chExt cx="473976" cy="365760"/>
          </a:xfrm>
        </p:grpSpPr>
        <p:sp>
          <p:nvSpPr>
            <p:cNvPr id="23" name="Rectangle 22">
              <a:extLst>
                <a:ext uri="{FF2B5EF4-FFF2-40B4-BE49-F238E27FC236}">
                  <a16:creationId xmlns:a16="http://schemas.microsoft.com/office/drawing/2014/main" id="{060F40B4-6493-5AAD-B77C-97C5275AA3FB}"/>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7E178978-3CD8-681F-F128-9FFE163A072A}"/>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j2</a:t>
              </a:r>
            </a:p>
          </p:txBody>
        </p:sp>
      </p:grpSp>
      <p:grpSp>
        <p:nvGrpSpPr>
          <p:cNvPr id="25" name="Group 24">
            <a:extLst>
              <a:ext uri="{FF2B5EF4-FFF2-40B4-BE49-F238E27FC236}">
                <a16:creationId xmlns:a16="http://schemas.microsoft.com/office/drawing/2014/main" id="{C401ED45-BCC6-926B-D457-B30228EF1924}"/>
              </a:ext>
            </a:extLst>
          </p:cNvPr>
          <p:cNvGrpSpPr/>
          <p:nvPr/>
        </p:nvGrpSpPr>
        <p:grpSpPr>
          <a:xfrm>
            <a:off x="5530233" y="3911143"/>
            <a:ext cx="473976" cy="365760"/>
            <a:chOff x="2189284" y="2769576"/>
            <a:chExt cx="473976" cy="365760"/>
          </a:xfrm>
        </p:grpSpPr>
        <p:sp>
          <p:nvSpPr>
            <p:cNvPr id="26" name="Rectangle 25">
              <a:extLst>
                <a:ext uri="{FF2B5EF4-FFF2-40B4-BE49-F238E27FC236}">
                  <a16:creationId xmlns:a16="http://schemas.microsoft.com/office/drawing/2014/main" id="{D56DB414-1D41-5A78-E3AB-75A7CEFB4103}"/>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7" name="TextBox 26">
              <a:extLst>
                <a:ext uri="{FF2B5EF4-FFF2-40B4-BE49-F238E27FC236}">
                  <a16:creationId xmlns:a16="http://schemas.microsoft.com/office/drawing/2014/main" id="{CE9B718A-6BD4-0765-8EFA-76EDF01CB216}"/>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j3</a:t>
              </a:r>
            </a:p>
          </p:txBody>
        </p:sp>
      </p:grpSp>
      <p:cxnSp>
        <p:nvCxnSpPr>
          <p:cNvPr id="5" name="Straight Connector 4">
            <a:extLst>
              <a:ext uri="{FF2B5EF4-FFF2-40B4-BE49-F238E27FC236}">
                <a16:creationId xmlns:a16="http://schemas.microsoft.com/office/drawing/2014/main" id="{3DE4CF25-8C8E-6F02-68C6-4B6971D62E24}"/>
              </a:ext>
            </a:extLst>
          </p:cNvPr>
          <p:cNvCxnSpPr>
            <a:cxnSpLocks/>
            <a:endCxn id="24" idx="1"/>
          </p:cNvCxnSpPr>
          <p:nvPr/>
        </p:nvCxnSpPr>
        <p:spPr>
          <a:xfrm>
            <a:off x="3047396" y="2963008"/>
            <a:ext cx="2482837" cy="560232"/>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50BDDEE6-2DF3-C6D3-FBBC-9A9F38170F89}"/>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8" name="TextBox 7">
            <a:extLst>
              <a:ext uri="{FF2B5EF4-FFF2-40B4-BE49-F238E27FC236}">
                <a16:creationId xmlns:a16="http://schemas.microsoft.com/office/drawing/2014/main" id="{EFAA8620-10DE-D49E-9EC3-6097D675C1C0}"/>
              </a:ext>
            </a:extLst>
          </p:cNvPr>
          <p:cNvSpPr txBox="1"/>
          <p:nvPr/>
        </p:nvSpPr>
        <p:spPr>
          <a:xfrm>
            <a:off x="168443" y="4195668"/>
            <a:ext cx="1515980" cy="738664"/>
          </a:xfrm>
          <a:prstGeom prst="rect">
            <a:avLst/>
          </a:prstGeom>
          <a:noFill/>
          <a:ln>
            <a:solidFill>
              <a:schemeClr val="bg2"/>
            </a:solidFill>
          </a:ln>
        </p:spPr>
        <p:txBody>
          <a:bodyPr wrap="square" rtlCol="0">
            <a:spAutoFit/>
          </a:bodyPr>
          <a:lstStyle/>
          <a:p>
            <a:r>
              <a:rPr lang="en-US" b="1" u="sng" dirty="0">
                <a:latin typeface="Lato" panose="020B0604020202020204" charset="0"/>
                <a:ea typeface="Lato" panose="020B0604020202020204" charset="0"/>
                <a:cs typeface="Lato" panose="020B0604020202020204" charset="0"/>
              </a:rPr>
              <a:t>Example: </a:t>
            </a:r>
          </a:p>
          <a:p>
            <a:r>
              <a:rPr lang="en-US" dirty="0">
                <a:latin typeface="Lato" panose="020B0604020202020204" charset="0"/>
                <a:ea typeface="Lato" panose="020B0604020202020204" charset="0"/>
                <a:cs typeface="Lato" panose="020B0604020202020204" charset="0"/>
              </a:rPr>
              <a:t>e1 = employee 1</a:t>
            </a:r>
          </a:p>
          <a:p>
            <a:r>
              <a:rPr lang="en-US" dirty="0">
                <a:latin typeface="Lato" panose="020B0604020202020204" charset="0"/>
                <a:ea typeface="Lato" panose="020B0604020202020204" charset="0"/>
                <a:cs typeface="Lato" panose="020B0604020202020204" charset="0"/>
              </a:rPr>
              <a:t>j1 = job 1</a:t>
            </a:r>
          </a:p>
        </p:txBody>
      </p:sp>
      <p:cxnSp>
        <p:nvCxnSpPr>
          <p:cNvPr id="9" name="Straight Connector 8">
            <a:extLst>
              <a:ext uri="{FF2B5EF4-FFF2-40B4-BE49-F238E27FC236}">
                <a16:creationId xmlns:a16="http://schemas.microsoft.com/office/drawing/2014/main" id="{122665A7-F709-000B-0811-E0B1F1DF240C}"/>
              </a:ext>
            </a:extLst>
          </p:cNvPr>
          <p:cNvCxnSpPr>
            <a:cxnSpLocks/>
            <a:endCxn id="21" idx="1"/>
          </p:cNvCxnSpPr>
          <p:nvPr/>
        </p:nvCxnSpPr>
        <p:spPr>
          <a:xfrm flipV="1">
            <a:off x="3047396" y="2952456"/>
            <a:ext cx="2482837" cy="547068"/>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DD7CCB7-AD48-4255-D2B6-A066CCE6251D}"/>
              </a:ext>
            </a:extLst>
          </p:cNvPr>
          <p:cNvCxnSpPr>
            <a:cxnSpLocks/>
            <a:endCxn id="24" idx="1"/>
          </p:cNvCxnSpPr>
          <p:nvPr/>
        </p:nvCxnSpPr>
        <p:spPr>
          <a:xfrm flipV="1">
            <a:off x="3047396" y="3523240"/>
            <a:ext cx="2482837" cy="583677"/>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48372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D85956EB-040D-410D-11C5-0397B7D399DD}"/>
            </a:ext>
          </a:extLst>
        </p:cNvPr>
        <p:cNvGrpSpPr/>
        <p:nvPr/>
      </p:nvGrpSpPr>
      <p:grpSpPr>
        <a:xfrm>
          <a:off x="0" y="0"/>
          <a:ext cx="0" cy="0"/>
          <a:chOff x="0" y="0"/>
          <a:chExt cx="0" cy="0"/>
        </a:xfrm>
      </p:grpSpPr>
      <p:sp>
        <p:nvSpPr>
          <p:cNvPr id="134" name="Google Shape;134;p21">
            <a:extLst>
              <a:ext uri="{FF2B5EF4-FFF2-40B4-BE49-F238E27FC236}">
                <a16:creationId xmlns:a16="http://schemas.microsoft.com/office/drawing/2014/main" id="{644D9C05-C231-0918-B3D0-B13F83DD6341}"/>
              </a:ext>
            </a:extLst>
          </p:cNvPr>
          <p:cNvSpPr txBox="1">
            <a:spLocks noGrp="1"/>
          </p:cNvSpPr>
          <p:nvPr>
            <p:ph type="body" idx="1"/>
          </p:nvPr>
        </p:nvSpPr>
        <p:spPr>
          <a:xfrm>
            <a:off x="70027" y="1269983"/>
            <a:ext cx="2681157" cy="22611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US" sz="1700" b="1" dirty="0"/>
              <a:t>e1 : </a:t>
            </a:r>
            <a:r>
              <a:rPr lang="en-US" sz="1700" b="1" strike="sngStrike" dirty="0"/>
              <a:t>j2</a:t>
            </a:r>
            <a:r>
              <a:rPr lang="en-US" sz="1700" b="1" dirty="0"/>
              <a:t>, j1, j3</a:t>
            </a:r>
          </a:p>
          <a:p>
            <a:pPr marL="457200" lvl="0" indent="-336550" algn="l" rtl="0">
              <a:spcBef>
                <a:spcPts val="0"/>
              </a:spcBef>
              <a:spcAft>
                <a:spcPts val="0"/>
              </a:spcAft>
              <a:buSzPts val="1700"/>
              <a:buChar char="●"/>
            </a:pPr>
            <a:r>
              <a:rPr lang="en-US" sz="1700" dirty="0">
                <a:solidFill>
                  <a:srgbClr val="00B050"/>
                </a:solidFill>
              </a:rPr>
              <a:t>e2 : </a:t>
            </a:r>
            <a:r>
              <a:rPr lang="en-US" sz="1700" u="sng" dirty="0">
                <a:solidFill>
                  <a:srgbClr val="00B050"/>
                </a:solidFill>
              </a:rPr>
              <a:t>j1</a:t>
            </a:r>
            <a:r>
              <a:rPr lang="en-US" sz="1700" dirty="0">
                <a:solidFill>
                  <a:srgbClr val="00B050"/>
                </a:solidFill>
              </a:rPr>
              <a:t>, j2, j3</a:t>
            </a:r>
          </a:p>
          <a:p>
            <a:pPr marL="457200" lvl="0" indent="-336550" algn="l" rtl="0">
              <a:spcBef>
                <a:spcPts val="0"/>
              </a:spcBef>
              <a:spcAft>
                <a:spcPts val="0"/>
              </a:spcAft>
              <a:buSzPts val="1700"/>
              <a:buChar char="●"/>
            </a:pPr>
            <a:r>
              <a:rPr lang="en-US" sz="1700" dirty="0">
                <a:solidFill>
                  <a:srgbClr val="00B050"/>
                </a:solidFill>
              </a:rPr>
              <a:t>e3 : </a:t>
            </a:r>
            <a:r>
              <a:rPr lang="en-US" sz="1700" strike="sngStrike" dirty="0">
                <a:solidFill>
                  <a:srgbClr val="00B050"/>
                </a:solidFill>
              </a:rPr>
              <a:t>j1</a:t>
            </a:r>
            <a:r>
              <a:rPr lang="en-US" sz="1700" dirty="0">
                <a:solidFill>
                  <a:srgbClr val="00B050"/>
                </a:solidFill>
              </a:rPr>
              <a:t>, </a:t>
            </a:r>
            <a:r>
              <a:rPr lang="en-US" sz="1700" u="sng" dirty="0">
                <a:solidFill>
                  <a:srgbClr val="00B050"/>
                </a:solidFill>
              </a:rPr>
              <a:t>j2</a:t>
            </a:r>
            <a:r>
              <a:rPr lang="en-US" sz="1700" dirty="0">
                <a:solidFill>
                  <a:srgbClr val="00B050"/>
                </a:solidFill>
              </a:rPr>
              <a:t>, j3</a:t>
            </a:r>
            <a:endParaRPr lang="en-US" sz="1500" dirty="0">
              <a:solidFill>
                <a:srgbClr val="00B050"/>
              </a:solidFill>
            </a:endParaRPr>
          </a:p>
        </p:txBody>
      </p:sp>
      <p:sp>
        <p:nvSpPr>
          <p:cNvPr id="4" name="Google Shape;134;p21">
            <a:extLst>
              <a:ext uri="{FF2B5EF4-FFF2-40B4-BE49-F238E27FC236}">
                <a16:creationId xmlns:a16="http://schemas.microsoft.com/office/drawing/2014/main" id="{EFA35951-2DA2-B986-1235-E64E0F70C3A2}"/>
              </a:ext>
            </a:extLst>
          </p:cNvPr>
          <p:cNvSpPr txBox="1">
            <a:spLocks/>
          </p:cNvSpPr>
          <p:nvPr/>
        </p:nvSpPr>
        <p:spPr>
          <a:xfrm>
            <a:off x="6462843" y="1269983"/>
            <a:ext cx="2681157" cy="2261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indent="-336550">
              <a:buSzPts val="1700"/>
            </a:pPr>
            <a:r>
              <a:rPr lang="en-US" sz="1700" dirty="0">
                <a:solidFill>
                  <a:srgbClr val="00B050"/>
                </a:solidFill>
              </a:rPr>
              <a:t>j1 : e1, </a:t>
            </a:r>
            <a:r>
              <a:rPr lang="en-US" sz="1700" u="sng" dirty="0">
                <a:solidFill>
                  <a:srgbClr val="00B050"/>
                </a:solidFill>
              </a:rPr>
              <a:t>e2</a:t>
            </a:r>
            <a:r>
              <a:rPr lang="en-US" sz="1700" dirty="0">
                <a:solidFill>
                  <a:srgbClr val="00B050"/>
                </a:solidFill>
              </a:rPr>
              <a:t>, </a:t>
            </a:r>
            <a:r>
              <a:rPr lang="en-US" sz="1700" strike="sngStrike" dirty="0">
                <a:solidFill>
                  <a:srgbClr val="00B050"/>
                </a:solidFill>
              </a:rPr>
              <a:t>e3</a:t>
            </a:r>
          </a:p>
          <a:p>
            <a:pPr indent="-336550">
              <a:buSzPts val="1700"/>
            </a:pPr>
            <a:r>
              <a:rPr lang="en-US" sz="1700" dirty="0">
                <a:solidFill>
                  <a:srgbClr val="00B050"/>
                </a:solidFill>
              </a:rPr>
              <a:t>j2 : </a:t>
            </a:r>
            <a:r>
              <a:rPr lang="en-US" sz="1700" u="sng" dirty="0">
                <a:solidFill>
                  <a:srgbClr val="00B050"/>
                </a:solidFill>
              </a:rPr>
              <a:t>e3</a:t>
            </a:r>
            <a:r>
              <a:rPr lang="en-US" sz="1700" dirty="0">
                <a:solidFill>
                  <a:srgbClr val="00B050"/>
                </a:solidFill>
              </a:rPr>
              <a:t>, </a:t>
            </a:r>
            <a:r>
              <a:rPr lang="en-US" sz="1700" strike="sngStrike" dirty="0">
                <a:solidFill>
                  <a:srgbClr val="00B050"/>
                </a:solidFill>
              </a:rPr>
              <a:t>e1</a:t>
            </a:r>
            <a:r>
              <a:rPr lang="en-US" sz="1700" dirty="0">
                <a:solidFill>
                  <a:srgbClr val="00B050"/>
                </a:solidFill>
              </a:rPr>
              <a:t>, e2</a:t>
            </a:r>
          </a:p>
          <a:p>
            <a:pPr indent="-336550">
              <a:buSzPts val="1700"/>
            </a:pPr>
            <a:r>
              <a:rPr lang="en-US" sz="1700" dirty="0"/>
              <a:t>j3 : e1, e2, e3</a:t>
            </a:r>
            <a:endParaRPr lang="en-US" sz="1500" dirty="0"/>
          </a:p>
        </p:txBody>
      </p:sp>
      <p:grpSp>
        <p:nvGrpSpPr>
          <p:cNvPr id="7" name="Group 6">
            <a:extLst>
              <a:ext uri="{FF2B5EF4-FFF2-40B4-BE49-F238E27FC236}">
                <a16:creationId xmlns:a16="http://schemas.microsoft.com/office/drawing/2014/main" id="{5D87BDD6-118A-7CC1-F8A3-5D8EE3C879D0}"/>
              </a:ext>
            </a:extLst>
          </p:cNvPr>
          <p:cNvGrpSpPr/>
          <p:nvPr/>
        </p:nvGrpSpPr>
        <p:grpSpPr>
          <a:xfrm>
            <a:off x="2681636" y="2769576"/>
            <a:ext cx="473976" cy="365760"/>
            <a:chOff x="2189284" y="2769576"/>
            <a:chExt cx="473976" cy="365760"/>
          </a:xfrm>
        </p:grpSpPr>
        <p:sp>
          <p:nvSpPr>
            <p:cNvPr id="3" name="Rectangle 2">
              <a:extLst>
                <a:ext uri="{FF2B5EF4-FFF2-40B4-BE49-F238E27FC236}">
                  <a16:creationId xmlns:a16="http://schemas.microsoft.com/office/drawing/2014/main" id="{5E36EC17-43E6-C234-4A8A-99613A30BF89}"/>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8AAF6938-B2E8-D84E-1A54-D61315507678}"/>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e1</a:t>
              </a:r>
              <a:endParaRPr lang="en-US" dirty="0">
                <a:solidFill>
                  <a:srgbClr val="FF0000"/>
                </a:solidFill>
                <a:latin typeface="Lato" panose="020B0604020202020204" charset="0"/>
                <a:ea typeface="Lato" panose="020B0604020202020204" charset="0"/>
                <a:cs typeface="Lato" panose="020B0604020202020204" charset="0"/>
              </a:endParaRPr>
            </a:p>
          </p:txBody>
        </p:sp>
      </p:grpSp>
      <p:grpSp>
        <p:nvGrpSpPr>
          <p:cNvPr id="10" name="Group 9">
            <a:extLst>
              <a:ext uri="{FF2B5EF4-FFF2-40B4-BE49-F238E27FC236}">
                <a16:creationId xmlns:a16="http://schemas.microsoft.com/office/drawing/2014/main" id="{650F5975-307B-864F-CF82-6C42A84A4C14}"/>
              </a:ext>
            </a:extLst>
          </p:cNvPr>
          <p:cNvGrpSpPr/>
          <p:nvPr/>
        </p:nvGrpSpPr>
        <p:grpSpPr>
          <a:xfrm>
            <a:off x="2681636" y="3340360"/>
            <a:ext cx="473976" cy="365760"/>
            <a:chOff x="2189284" y="2769576"/>
            <a:chExt cx="473976" cy="365760"/>
          </a:xfrm>
        </p:grpSpPr>
        <p:sp>
          <p:nvSpPr>
            <p:cNvPr id="11" name="Rectangle 10">
              <a:extLst>
                <a:ext uri="{FF2B5EF4-FFF2-40B4-BE49-F238E27FC236}">
                  <a16:creationId xmlns:a16="http://schemas.microsoft.com/office/drawing/2014/main" id="{9981BC32-C29F-2378-5CE8-428EC97BA8D2}"/>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TextBox 11">
              <a:extLst>
                <a:ext uri="{FF2B5EF4-FFF2-40B4-BE49-F238E27FC236}">
                  <a16:creationId xmlns:a16="http://schemas.microsoft.com/office/drawing/2014/main" id="{D95D0D81-94D4-3A85-9ED8-B029C03D5C28}"/>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e2</a:t>
              </a:r>
            </a:p>
          </p:txBody>
        </p:sp>
      </p:grpSp>
      <p:grpSp>
        <p:nvGrpSpPr>
          <p:cNvPr id="13" name="Group 12">
            <a:extLst>
              <a:ext uri="{FF2B5EF4-FFF2-40B4-BE49-F238E27FC236}">
                <a16:creationId xmlns:a16="http://schemas.microsoft.com/office/drawing/2014/main" id="{20E5DA33-4CC9-5308-89B7-B492C45361D7}"/>
              </a:ext>
            </a:extLst>
          </p:cNvPr>
          <p:cNvGrpSpPr/>
          <p:nvPr/>
        </p:nvGrpSpPr>
        <p:grpSpPr>
          <a:xfrm>
            <a:off x="2681636" y="3911143"/>
            <a:ext cx="473976" cy="365760"/>
            <a:chOff x="2189284" y="2769576"/>
            <a:chExt cx="473976" cy="365760"/>
          </a:xfrm>
        </p:grpSpPr>
        <p:sp>
          <p:nvSpPr>
            <p:cNvPr id="14" name="Rectangle 13">
              <a:extLst>
                <a:ext uri="{FF2B5EF4-FFF2-40B4-BE49-F238E27FC236}">
                  <a16:creationId xmlns:a16="http://schemas.microsoft.com/office/drawing/2014/main" id="{532473EB-88AF-37E7-4DC5-C91B598E33DA}"/>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81F644B6-69B0-1653-D5A8-E15EBA9385E3}"/>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e3</a:t>
              </a:r>
            </a:p>
          </p:txBody>
        </p:sp>
      </p:grpSp>
      <p:grpSp>
        <p:nvGrpSpPr>
          <p:cNvPr id="19" name="Group 18">
            <a:extLst>
              <a:ext uri="{FF2B5EF4-FFF2-40B4-BE49-F238E27FC236}">
                <a16:creationId xmlns:a16="http://schemas.microsoft.com/office/drawing/2014/main" id="{F23D56E7-8A5C-6470-B3A4-B47767EB875A}"/>
              </a:ext>
            </a:extLst>
          </p:cNvPr>
          <p:cNvGrpSpPr/>
          <p:nvPr/>
        </p:nvGrpSpPr>
        <p:grpSpPr>
          <a:xfrm>
            <a:off x="5530233" y="2769576"/>
            <a:ext cx="473976" cy="365760"/>
            <a:chOff x="2189284" y="2769576"/>
            <a:chExt cx="473976" cy="365760"/>
          </a:xfrm>
        </p:grpSpPr>
        <p:sp>
          <p:nvSpPr>
            <p:cNvPr id="20" name="Rectangle 19">
              <a:extLst>
                <a:ext uri="{FF2B5EF4-FFF2-40B4-BE49-F238E27FC236}">
                  <a16:creationId xmlns:a16="http://schemas.microsoft.com/office/drawing/2014/main" id="{5589BD4D-ABBD-541C-CE60-45702EAA5A2E}"/>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1" name="TextBox 20">
              <a:extLst>
                <a:ext uri="{FF2B5EF4-FFF2-40B4-BE49-F238E27FC236}">
                  <a16:creationId xmlns:a16="http://schemas.microsoft.com/office/drawing/2014/main" id="{284368CF-C8B1-A874-A4BA-C02F4D1692E9}"/>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j1</a:t>
              </a:r>
            </a:p>
          </p:txBody>
        </p:sp>
      </p:grpSp>
      <p:grpSp>
        <p:nvGrpSpPr>
          <p:cNvPr id="22" name="Group 21">
            <a:extLst>
              <a:ext uri="{FF2B5EF4-FFF2-40B4-BE49-F238E27FC236}">
                <a16:creationId xmlns:a16="http://schemas.microsoft.com/office/drawing/2014/main" id="{5BEB86FA-9E99-7324-F3FA-73653AF00CBD}"/>
              </a:ext>
            </a:extLst>
          </p:cNvPr>
          <p:cNvGrpSpPr/>
          <p:nvPr/>
        </p:nvGrpSpPr>
        <p:grpSpPr>
          <a:xfrm>
            <a:off x="5530233" y="3340360"/>
            <a:ext cx="473976" cy="365760"/>
            <a:chOff x="2189284" y="2769576"/>
            <a:chExt cx="473976" cy="365760"/>
          </a:xfrm>
        </p:grpSpPr>
        <p:sp>
          <p:nvSpPr>
            <p:cNvPr id="23" name="Rectangle 22">
              <a:extLst>
                <a:ext uri="{FF2B5EF4-FFF2-40B4-BE49-F238E27FC236}">
                  <a16:creationId xmlns:a16="http://schemas.microsoft.com/office/drawing/2014/main" id="{E09EEA6F-0990-5010-57E4-5B6230606B89}"/>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073DFDFF-39CA-B309-594F-0DE5D353B3A0}"/>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j2</a:t>
              </a:r>
            </a:p>
          </p:txBody>
        </p:sp>
      </p:grpSp>
      <p:grpSp>
        <p:nvGrpSpPr>
          <p:cNvPr id="25" name="Group 24">
            <a:extLst>
              <a:ext uri="{FF2B5EF4-FFF2-40B4-BE49-F238E27FC236}">
                <a16:creationId xmlns:a16="http://schemas.microsoft.com/office/drawing/2014/main" id="{6A48D138-82A2-D555-64C7-EA4E3174296D}"/>
              </a:ext>
            </a:extLst>
          </p:cNvPr>
          <p:cNvGrpSpPr/>
          <p:nvPr/>
        </p:nvGrpSpPr>
        <p:grpSpPr>
          <a:xfrm>
            <a:off x="5530233" y="3911143"/>
            <a:ext cx="473976" cy="365760"/>
            <a:chOff x="2189284" y="2769576"/>
            <a:chExt cx="473976" cy="365760"/>
          </a:xfrm>
        </p:grpSpPr>
        <p:sp>
          <p:nvSpPr>
            <p:cNvPr id="26" name="Rectangle 25">
              <a:extLst>
                <a:ext uri="{FF2B5EF4-FFF2-40B4-BE49-F238E27FC236}">
                  <a16:creationId xmlns:a16="http://schemas.microsoft.com/office/drawing/2014/main" id="{5F4ED150-7F84-BD78-98D1-A13FE9F9BA5B}"/>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7" name="TextBox 26">
              <a:extLst>
                <a:ext uri="{FF2B5EF4-FFF2-40B4-BE49-F238E27FC236}">
                  <a16:creationId xmlns:a16="http://schemas.microsoft.com/office/drawing/2014/main" id="{866C0A4F-FA70-573B-83E4-9D0753831193}"/>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j3</a:t>
              </a:r>
            </a:p>
          </p:txBody>
        </p:sp>
      </p:grpSp>
      <p:sp>
        <p:nvSpPr>
          <p:cNvPr id="2" name="TextBox 1">
            <a:extLst>
              <a:ext uri="{FF2B5EF4-FFF2-40B4-BE49-F238E27FC236}">
                <a16:creationId xmlns:a16="http://schemas.microsoft.com/office/drawing/2014/main" id="{48378DFB-248E-B50D-9A3E-8236BD4C0687}"/>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8" name="TextBox 7">
            <a:extLst>
              <a:ext uri="{FF2B5EF4-FFF2-40B4-BE49-F238E27FC236}">
                <a16:creationId xmlns:a16="http://schemas.microsoft.com/office/drawing/2014/main" id="{A8AE5878-44F2-118E-E29D-EFF2E96E85A0}"/>
              </a:ext>
            </a:extLst>
          </p:cNvPr>
          <p:cNvSpPr txBox="1"/>
          <p:nvPr/>
        </p:nvSpPr>
        <p:spPr>
          <a:xfrm>
            <a:off x="168443" y="4195668"/>
            <a:ext cx="1515980" cy="738664"/>
          </a:xfrm>
          <a:prstGeom prst="rect">
            <a:avLst/>
          </a:prstGeom>
          <a:noFill/>
          <a:ln>
            <a:solidFill>
              <a:schemeClr val="bg2"/>
            </a:solidFill>
          </a:ln>
        </p:spPr>
        <p:txBody>
          <a:bodyPr wrap="square" rtlCol="0">
            <a:spAutoFit/>
          </a:bodyPr>
          <a:lstStyle/>
          <a:p>
            <a:r>
              <a:rPr lang="en-US" b="1" u="sng" dirty="0">
                <a:latin typeface="Lato" panose="020B0604020202020204" charset="0"/>
                <a:ea typeface="Lato" panose="020B0604020202020204" charset="0"/>
                <a:cs typeface="Lato" panose="020B0604020202020204" charset="0"/>
              </a:rPr>
              <a:t>Example: </a:t>
            </a:r>
          </a:p>
          <a:p>
            <a:r>
              <a:rPr lang="en-US" dirty="0">
                <a:latin typeface="Lato" panose="020B0604020202020204" charset="0"/>
                <a:ea typeface="Lato" panose="020B0604020202020204" charset="0"/>
                <a:cs typeface="Lato" panose="020B0604020202020204" charset="0"/>
              </a:rPr>
              <a:t>e1 = employee 1</a:t>
            </a:r>
          </a:p>
          <a:p>
            <a:r>
              <a:rPr lang="en-US" dirty="0">
                <a:latin typeface="Lato" panose="020B0604020202020204" charset="0"/>
                <a:ea typeface="Lato" panose="020B0604020202020204" charset="0"/>
                <a:cs typeface="Lato" panose="020B0604020202020204" charset="0"/>
              </a:rPr>
              <a:t>j1 = job 1</a:t>
            </a:r>
          </a:p>
        </p:txBody>
      </p:sp>
      <p:cxnSp>
        <p:nvCxnSpPr>
          <p:cNvPr id="9" name="Straight Connector 8">
            <a:extLst>
              <a:ext uri="{FF2B5EF4-FFF2-40B4-BE49-F238E27FC236}">
                <a16:creationId xmlns:a16="http://schemas.microsoft.com/office/drawing/2014/main" id="{C2F55384-9719-7C05-42E8-5F2E7431036F}"/>
              </a:ext>
            </a:extLst>
          </p:cNvPr>
          <p:cNvCxnSpPr>
            <a:cxnSpLocks/>
            <a:endCxn id="21" idx="1"/>
          </p:cNvCxnSpPr>
          <p:nvPr/>
        </p:nvCxnSpPr>
        <p:spPr>
          <a:xfrm flipV="1">
            <a:off x="3047396" y="2952456"/>
            <a:ext cx="2482837" cy="547068"/>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E52611A-2F35-DA7B-99C9-B97ABEA89266}"/>
              </a:ext>
            </a:extLst>
          </p:cNvPr>
          <p:cNvCxnSpPr>
            <a:cxnSpLocks/>
            <a:endCxn id="24" idx="1"/>
          </p:cNvCxnSpPr>
          <p:nvPr/>
        </p:nvCxnSpPr>
        <p:spPr>
          <a:xfrm flipV="1">
            <a:off x="3047396" y="3523240"/>
            <a:ext cx="2482837" cy="583677"/>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33873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7D37D871-E3E0-50B0-D9B4-B31963B9F3E1}"/>
            </a:ext>
          </a:extLst>
        </p:cNvPr>
        <p:cNvGrpSpPr/>
        <p:nvPr/>
      </p:nvGrpSpPr>
      <p:grpSpPr>
        <a:xfrm>
          <a:off x="0" y="0"/>
          <a:ext cx="0" cy="0"/>
          <a:chOff x="0" y="0"/>
          <a:chExt cx="0" cy="0"/>
        </a:xfrm>
      </p:grpSpPr>
      <p:sp>
        <p:nvSpPr>
          <p:cNvPr id="134" name="Google Shape;134;p21">
            <a:extLst>
              <a:ext uri="{FF2B5EF4-FFF2-40B4-BE49-F238E27FC236}">
                <a16:creationId xmlns:a16="http://schemas.microsoft.com/office/drawing/2014/main" id="{B7D9A63A-D95C-E048-E94F-E152F91640DF}"/>
              </a:ext>
            </a:extLst>
          </p:cNvPr>
          <p:cNvSpPr txBox="1">
            <a:spLocks noGrp="1"/>
          </p:cNvSpPr>
          <p:nvPr>
            <p:ph type="body" idx="1"/>
          </p:nvPr>
        </p:nvSpPr>
        <p:spPr>
          <a:xfrm>
            <a:off x="70027" y="1269983"/>
            <a:ext cx="2681157" cy="22611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US" sz="1700" b="1" dirty="0"/>
              <a:t>e1 : </a:t>
            </a:r>
            <a:r>
              <a:rPr lang="en-US" sz="1700" b="1" strike="sngStrike" dirty="0"/>
              <a:t>j2</a:t>
            </a:r>
            <a:r>
              <a:rPr lang="en-US" sz="1700" b="1" dirty="0"/>
              <a:t>, j1, j3</a:t>
            </a:r>
          </a:p>
          <a:p>
            <a:pPr marL="457200" lvl="0" indent="-336550" algn="l" rtl="0">
              <a:spcBef>
                <a:spcPts val="0"/>
              </a:spcBef>
              <a:spcAft>
                <a:spcPts val="0"/>
              </a:spcAft>
              <a:buSzPts val="1700"/>
              <a:buChar char="●"/>
            </a:pPr>
            <a:r>
              <a:rPr lang="en-US" sz="1700" dirty="0">
                <a:solidFill>
                  <a:srgbClr val="00B050"/>
                </a:solidFill>
              </a:rPr>
              <a:t>e2 : </a:t>
            </a:r>
            <a:r>
              <a:rPr lang="en-US" sz="1700" u="sng" dirty="0">
                <a:solidFill>
                  <a:srgbClr val="00B050"/>
                </a:solidFill>
              </a:rPr>
              <a:t>j1</a:t>
            </a:r>
            <a:r>
              <a:rPr lang="en-US" sz="1700" dirty="0">
                <a:solidFill>
                  <a:srgbClr val="00B050"/>
                </a:solidFill>
              </a:rPr>
              <a:t>, j2, j3</a:t>
            </a:r>
          </a:p>
          <a:p>
            <a:pPr marL="457200" lvl="0" indent="-336550" algn="l" rtl="0">
              <a:spcBef>
                <a:spcPts val="0"/>
              </a:spcBef>
              <a:spcAft>
                <a:spcPts val="0"/>
              </a:spcAft>
              <a:buSzPts val="1700"/>
              <a:buChar char="●"/>
            </a:pPr>
            <a:r>
              <a:rPr lang="en-US" sz="1700" dirty="0">
                <a:solidFill>
                  <a:srgbClr val="00B050"/>
                </a:solidFill>
              </a:rPr>
              <a:t>e3 : </a:t>
            </a:r>
            <a:r>
              <a:rPr lang="en-US" sz="1700" strike="sngStrike" dirty="0">
                <a:solidFill>
                  <a:srgbClr val="00B050"/>
                </a:solidFill>
              </a:rPr>
              <a:t>j1</a:t>
            </a:r>
            <a:r>
              <a:rPr lang="en-US" sz="1700" dirty="0">
                <a:solidFill>
                  <a:srgbClr val="00B050"/>
                </a:solidFill>
              </a:rPr>
              <a:t>, </a:t>
            </a:r>
            <a:r>
              <a:rPr lang="en-US" sz="1700" u="sng" dirty="0">
                <a:solidFill>
                  <a:srgbClr val="00B050"/>
                </a:solidFill>
              </a:rPr>
              <a:t>j2</a:t>
            </a:r>
            <a:r>
              <a:rPr lang="en-US" sz="1700" dirty="0">
                <a:solidFill>
                  <a:srgbClr val="00B050"/>
                </a:solidFill>
              </a:rPr>
              <a:t>, j3</a:t>
            </a:r>
            <a:endParaRPr lang="en-US" sz="1500" dirty="0">
              <a:solidFill>
                <a:srgbClr val="00B050"/>
              </a:solidFill>
            </a:endParaRPr>
          </a:p>
        </p:txBody>
      </p:sp>
      <p:sp>
        <p:nvSpPr>
          <p:cNvPr id="4" name="Google Shape;134;p21">
            <a:extLst>
              <a:ext uri="{FF2B5EF4-FFF2-40B4-BE49-F238E27FC236}">
                <a16:creationId xmlns:a16="http://schemas.microsoft.com/office/drawing/2014/main" id="{311E2123-F366-2C20-F9DC-938CEFFB81E8}"/>
              </a:ext>
            </a:extLst>
          </p:cNvPr>
          <p:cNvSpPr txBox="1">
            <a:spLocks/>
          </p:cNvSpPr>
          <p:nvPr/>
        </p:nvSpPr>
        <p:spPr>
          <a:xfrm>
            <a:off x="6462843" y="1269983"/>
            <a:ext cx="2681157" cy="2261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indent="-336550">
              <a:buSzPts val="1700"/>
            </a:pPr>
            <a:r>
              <a:rPr lang="en-US" sz="1700" dirty="0">
                <a:solidFill>
                  <a:srgbClr val="00B050"/>
                </a:solidFill>
              </a:rPr>
              <a:t>j1 : e1, </a:t>
            </a:r>
            <a:r>
              <a:rPr lang="en-US" sz="1700" u="sng" dirty="0">
                <a:solidFill>
                  <a:srgbClr val="00B050"/>
                </a:solidFill>
              </a:rPr>
              <a:t>e2</a:t>
            </a:r>
            <a:r>
              <a:rPr lang="en-US" sz="1700" dirty="0">
                <a:solidFill>
                  <a:srgbClr val="00B050"/>
                </a:solidFill>
              </a:rPr>
              <a:t>, </a:t>
            </a:r>
            <a:r>
              <a:rPr lang="en-US" sz="1700" strike="sngStrike" dirty="0">
                <a:solidFill>
                  <a:srgbClr val="00B050"/>
                </a:solidFill>
              </a:rPr>
              <a:t>e3</a:t>
            </a:r>
          </a:p>
          <a:p>
            <a:pPr indent="-336550">
              <a:buSzPts val="1700"/>
            </a:pPr>
            <a:r>
              <a:rPr lang="en-US" sz="1700" dirty="0">
                <a:solidFill>
                  <a:srgbClr val="00B050"/>
                </a:solidFill>
              </a:rPr>
              <a:t>j2 : </a:t>
            </a:r>
            <a:r>
              <a:rPr lang="en-US" sz="1700" u="sng" dirty="0">
                <a:solidFill>
                  <a:srgbClr val="00B050"/>
                </a:solidFill>
              </a:rPr>
              <a:t>e3</a:t>
            </a:r>
            <a:r>
              <a:rPr lang="en-US" sz="1700" dirty="0">
                <a:solidFill>
                  <a:srgbClr val="00B050"/>
                </a:solidFill>
              </a:rPr>
              <a:t>, </a:t>
            </a:r>
            <a:r>
              <a:rPr lang="en-US" sz="1700" strike="sngStrike" dirty="0">
                <a:solidFill>
                  <a:srgbClr val="00B050"/>
                </a:solidFill>
              </a:rPr>
              <a:t>e1</a:t>
            </a:r>
            <a:r>
              <a:rPr lang="en-US" sz="1700" dirty="0">
                <a:solidFill>
                  <a:srgbClr val="00B050"/>
                </a:solidFill>
              </a:rPr>
              <a:t>, e2</a:t>
            </a:r>
          </a:p>
          <a:p>
            <a:pPr indent="-336550">
              <a:buSzPts val="1700"/>
            </a:pPr>
            <a:r>
              <a:rPr lang="en-US" sz="1700" dirty="0"/>
              <a:t>j3 : e1, e2, e3</a:t>
            </a:r>
            <a:endParaRPr lang="en-US" sz="1500" dirty="0"/>
          </a:p>
        </p:txBody>
      </p:sp>
      <p:grpSp>
        <p:nvGrpSpPr>
          <p:cNvPr id="7" name="Group 6">
            <a:extLst>
              <a:ext uri="{FF2B5EF4-FFF2-40B4-BE49-F238E27FC236}">
                <a16:creationId xmlns:a16="http://schemas.microsoft.com/office/drawing/2014/main" id="{718ACB21-E3C4-A58E-B220-88779F951945}"/>
              </a:ext>
            </a:extLst>
          </p:cNvPr>
          <p:cNvGrpSpPr/>
          <p:nvPr/>
        </p:nvGrpSpPr>
        <p:grpSpPr>
          <a:xfrm>
            <a:off x="2681636" y="2769576"/>
            <a:ext cx="473976" cy="365760"/>
            <a:chOff x="2189284" y="2769576"/>
            <a:chExt cx="473976" cy="365760"/>
          </a:xfrm>
        </p:grpSpPr>
        <p:sp>
          <p:nvSpPr>
            <p:cNvPr id="3" name="Rectangle 2">
              <a:extLst>
                <a:ext uri="{FF2B5EF4-FFF2-40B4-BE49-F238E27FC236}">
                  <a16:creationId xmlns:a16="http://schemas.microsoft.com/office/drawing/2014/main" id="{815385F5-ED97-C923-5CDE-3C88E75B86B2}"/>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17B79892-4F5F-5B60-EB33-31FB8650FA9E}"/>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e1</a:t>
              </a:r>
              <a:endParaRPr lang="en-US" dirty="0">
                <a:solidFill>
                  <a:srgbClr val="FF0000"/>
                </a:solidFill>
                <a:latin typeface="Lato" panose="020B0604020202020204" charset="0"/>
                <a:ea typeface="Lato" panose="020B0604020202020204" charset="0"/>
                <a:cs typeface="Lato" panose="020B0604020202020204" charset="0"/>
              </a:endParaRPr>
            </a:p>
          </p:txBody>
        </p:sp>
      </p:grpSp>
      <p:grpSp>
        <p:nvGrpSpPr>
          <p:cNvPr id="10" name="Group 9">
            <a:extLst>
              <a:ext uri="{FF2B5EF4-FFF2-40B4-BE49-F238E27FC236}">
                <a16:creationId xmlns:a16="http://schemas.microsoft.com/office/drawing/2014/main" id="{073ABEED-AE93-031B-B1FC-EDFA9BE9DA62}"/>
              </a:ext>
            </a:extLst>
          </p:cNvPr>
          <p:cNvGrpSpPr/>
          <p:nvPr/>
        </p:nvGrpSpPr>
        <p:grpSpPr>
          <a:xfrm>
            <a:off x="2681636" y="3340360"/>
            <a:ext cx="473976" cy="365760"/>
            <a:chOff x="2189284" y="2769576"/>
            <a:chExt cx="473976" cy="365760"/>
          </a:xfrm>
        </p:grpSpPr>
        <p:sp>
          <p:nvSpPr>
            <p:cNvPr id="11" name="Rectangle 10">
              <a:extLst>
                <a:ext uri="{FF2B5EF4-FFF2-40B4-BE49-F238E27FC236}">
                  <a16:creationId xmlns:a16="http://schemas.microsoft.com/office/drawing/2014/main" id="{4273768A-FA44-8699-4F99-CC5F0F46E5F0}"/>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TextBox 11">
              <a:extLst>
                <a:ext uri="{FF2B5EF4-FFF2-40B4-BE49-F238E27FC236}">
                  <a16:creationId xmlns:a16="http://schemas.microsoft.com/office/drawing/2014/main" id="{77BACEFB-A33E-A025-6B2D-3CF23C4E23B2}"/>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e2</a:t>
              </a:r>
            </a:p>
          </p:txBody>
        </p:sp>
      </p:grpSp>
      <p:grpSp>
        <p:nvGrpSpPr>
          <p:cNvPr id="13" name="Group 12">
            <a:extLst>
              <a:ext uri="{FF2B5EF4-FFF2-40B4-BE49-F238E27FC236}">
                <a16:creationId xmlns:a16="http://schemas.microsoft.com/office/drawing/2014/main" id="{58C94FBD-8723-EC49-EDD6-342AB05B22EB}"/>
              </a:ext>
            </a:extLst>
          </p:cNvPr>
          <p:cNvGrpSpPr/>
          <p:nvPr/>
        </p:nvGrpSpPr>
        <p:grpSpPr>
          <a:xfrm>
            <a:off x="2681636" y="3911143"/>
            <a:ext cx="473976" cy="365760"/>
            <a:chOff x="2189284" y="2769576"/>
            <a:chExt cx="473976" cy="365760"/>
          </a:xfrm>
        </p:grpSpPr>
        <p:sp>
          <p:nvSpPr>
            <p:cNvPr id="14" name="Rectangle 13">
              <a:extLst>
                <a:ext uri="{FF2B5EF4-FFF2-40B4-BE49-F238E27FC236}">
                  <a16:creationId xmlns:a16="http://schemas.microsoft.com/office/drawing/2014/main" id="{13AF317D-CC9F-B6BE-FCE5-AC3F2958E567}"/>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45F89A84-C734-45E0-9251-00AA51F5E035}"/>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e3</a:t>
              </a:r>
            </a:p>
          </p:txBody>
        </p:sp>
      </p:grpSp>
      <p:grpSp>
        <p:nvGrpSpPr>
          <p:cNvPr id="19" name="Group 18">
            <a:extLst>
              <a:ext uri="{FF2B5EF4-FFF2-40B4-BE49-F238E27FC236}">
                <a16:creationId xmlns:a16="http://schemas.microsoft.com/office/drawing/2014/main" id="{B7190C33-4C54-32B9-E967-2AF41A68C19B}"/>
              </a:ext>
            </a:extLst>
          </p:cNvPr>
          <p:cNvGrpSpPr/>
          <p:nvPr/>
        </p:nvGrpSpPr>
        <p:grpSpPr>
          <a:xfrm>
            <a:off x="5530233" y="2769576"/>
            <a:ext cx="473976" cy="365760"/>
            <a:chOff x="2189284" y="2769576"/>
            <a:chExt cx="473976" cy="365760"/>
          </a:xfrm>
        </p:grpSpPr>
        <p:sp>
          <p:nvSpPr>
            <p:cNvPr id="20" name="Rectangle 19">
              <a:extLst>
                <a:ext uri="{FF2B5EF4-FFF2-40B4-BE49-F238E27FC236}">
                  <a16:creationId xmlns:a16="http://schemas.microsoft.com/office/drawing/2014/main" id="{84AA288A-592F-BF72-1531-8545A23D961C}"/>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1" name="TextBox 20">
              <a:extLst>
                <a:ext uri="{FF2B5EF4-FFF2-40B4-BE49-F238E27FC236}">
                  <a16:creationId xmlns:a16="http://schemas.microsoft.com/office/drawing/2014/main" id="{6F90932F-A0E7-1559-6C30-92EF63BEE412}"/>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j1</a:t>
              </a:r>
            </a:p>
          </p:txBody>
        </p:sp>
      </p:grpSp>
      <p:grpSp>
        <p:nvGrpSpPr>
          <p:cNvPr id="22" name="Group 21">
            <a:extLst>
              <a:ext uri="{FF2B5EF4-FFF2-40B4-BE49-F238E27FC236}">
                <a16:creationId xmlns:a16="http://schemas.microsoft.com/office/drawing/2014/main" id="{6D4C4A79-7764-7648-3D69-5F6C4C08431A}"/>
              </a:ext>
            </a:extLst>
          </p:cNvPr>
          <p:cNvGrpSpPr/>
          <p:nvPr/>
        </p:nvGrpSpPr>
        <p:grpSpPr>
          <a:xfrm>
            <a:off x="5530233" y="3340360"/>
            <a:ext cx="473976" cy="365760"/>
            <a:chOff x="2189284" y="2769576"/>
            <a:chExt cx="473976" cy="365760"/>
          </a:xfrm>
        </p:grpSpPr>
        <p:sp>
          <p:nvSpPr>
            <p:cNvPr id="23" name="Rectangle 22">
              <a:extLst>
                <a:ext uri="{FF2B5EF4-FFF2-40B4-BE49-F238E27FC236}">
                  <a16:creationId xmlns:a16="http://schemas.microsoft.com/office/drawing/2014/main" id="{AB9D6382-DF99-1591-A249-E929D4CFF1CB}"/>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08FDDA7F-B2AA-DB85-AC90-4EF6340FF747}"/>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j2</a:t>
              </a:r>
            </a:p>
          </p:txBody>
        </p:sp>
      </p:grpSp>
      <p:grpSp>
        <p:nvGrpSpPr>
          <p:cNvPr id="25" name="Group 24">
            <a:extLst>
              <a:ext uri="{FF2B5EF4-FFF2-40B4-BE49-F238E27FC236}">
                <a16:creationId xmlns:a16="http://schemas.microsoft.com/office/drawing/2014/main" id="{A78C8524-A7A2-6511-7B7E-028728BF100F}"/>
              </a:ext>
            </a:extLst>
          </p:cNvPr>
          <p:cNvGrpSpPr/>
          <p:nvPr/>
        </p:nvGrpSpPr>
        <p:grpSpPr>
          <a:xfrm>
            <a:off x="5530233" y="3911143"/>
            <a:ext cx="473976" cy="365760"/>
            <a:chOff x="2189284" y="2769576"/>
            <a:chExt cx="473976" cy="365760"/>
          </a:xfrm>
        </p:grpSpPr>
        <p:sp>
          <p:nvSpPr>
            <p:cNvPr id="26" name="Rectangle 25">
              <a:extLst>
                <a:ext uri="{FF2B5EF4-FFF2-40B4-BE49-F238E27FC236}">
                  <a16:creationId xmlns:a16="http://schemas.microsoft.com/office/drawing/2014/main" id="{5B6A19B2-9D30-7E15-A107-95D9D4B3ADB6}"/>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7" name="TextBox 26">
              <a:extLst>
                <a:ext uri="{FF2B5EF4-FFF2-40B4-BE49-F238E27FC236}">
                  <a16:creationId xmlns:a16="http://schemas.microsoft.com/office/drawing/2014/main" id="{413ADA52-A9A9-3948-9858-82C91092674F}"/>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j3</a:t>
              </a:r>
            </a:p>
          </p:txBody>
        </p:sp>
      </p:grpSp>
      <p:sp>
        <p:nvSpPr>
          <p:cNvPr id="2" name="TextBox 1">
            <a:extLst>
              <a:ext uri="{FF2B5EF4-FFF2-40B4-BE49-F238E27FC236}">
                <a16:creationId xmlns:a16="http://schemas.microsoft.com/office/drawing/2014/main" id="{905AA5EA-0FC1-A447-E9F3-8A858F11BA3E}"/>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8" name="TextBox 7">
            <a:extLst>
              <a:ext uri="{FF2B5EF4-FFF2-40B4-BE49-F238E27FC236}">
                <a16:creationId xmlns:a16="http://schemas.microsoft.com/office/drawing/2014/main" id="{E536ED2B-5DE0-6C87-8577-21DA6AD07339}"/>
              </a:ext>
            </a:extLst>
          </p:cNvPr>
          <p:cNvSpPr txBox="1"/>
          <p:nvPr/>
        </p:nvSpPr>
        <p:spPr>
          <a:xfrm>
            <a:off x="168443" y="4195668"/>
            <a:ext cx="1515980" cy="738664"/>
          </a:xfrm>
          <a:prstGeom prst="rect">
            <a:avLst/>
          </a:prstGeom>
          <a:noFill/>
          <a:ln>
            <a:solidFill>
              <a:schemeClr val="bg2"/>
            </a:solidFill>
          </a:ln>
        </p:spPr>
        <p:txBody>
          <a:bodyPr wrap="square" rtlCol="0">
            <a:spAutoFit/>
          </a:bodyPr>
          <a:lstStyle/>
          <a:p>
            <a:r>
              <a:rPr lang="en-US" b="1" u="sng" dirty="0">
                <a:latin typeface="Lato" panose="020B0604020202020204" charset="0"/>
                <a:ea typeface="Lato" panose="020B0604020202020204" charset="0"/>
                <a:cs typeface="Lato" panose="020B0604020202020204" charset="0"/>
              </a:rPr>
              <a:t>Example: </a:t>
            </a:r>
          </a:p>
          <a:p>
            <a:r>
              <a:rPr lang="en-US" dirty="0">
                <a:latin typeface="Lato" panose="020B0604020202020204" charset="0"/>
                <a:ea typeface="Lato" panose="020B0604020202020204" charset="0"/>
                <a:cs typeface="Lato" panose="020B0604020202020204" charset="0"/>
              </a:rPr>
              <a:t>e1 = employee 1</a:t>
            </a:r>
          </a:p>
          <a:p>
            <a:r>
              <a:rPr lang="en-US" dirty="0">
                <a:latin typeface="Lato" panose="020B0604020202020204" charset="0"/>
                <a:ea typeface="Lato" panose="020B0604020202020204" charset="0"/>
                <a:cs typeface="Lato" panose="020B0604020202020204" charset="0"/>
              </a:rPr>
              <a:t>j1 = job 1</a:t>
            </a:r>
          </a:p>
        </p:txBody>
      </p:sp>
      <p:cxnSp>
        <p:nvCxnSpPr>
          <p:cNvPr id="9" name="Straight Connector 8">
            <a:extLst>
              <a:ext uri="{FF2B5EF4-FFF2-40B4-BE49-F238E27FC236}">
                <a16:creationId xmlns:a16="http://schemas.microsoft.com/office/drawing/2014/main" id="{02DA4500-86C1-9083-D8D1-2A9F219C64DC}"/>
              </a:ext>
            </a:extLst>
          </p:cNvPr>
          <p:cNvCxnSpPr>
            <a:cxnSpLocks/>
            <a:endCxn id="21" idx="1"/>
          </p:cNvCxnSpPr>
          <p:nvPr/>
        </p:nvCxnSpPr>
        <p:spPr>
          <a:xfrm flipV="1">
            <a:off x="3047396" y="2952456"/>
            <a:ext cx="2482837" cy="547068"/>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6E9482D-D690-7815-A29D-D2F30EAAE867}"/>
              </a:ext>
            </a:extLst>
          </p:cNvPr>
          <p:cNvCxnSpPr>
            <a:cxnSpLocks/>
            <a:endCxn id="24" idx="1"/>
          </p:cNvCxnSpPr>
          <p:nvPr/>
        </p:nvCxnSpPr>
        <p:spPr>
          <a:xfrm flipV="1">
            <a:off x="3047396" y="3523240"/>
            <a:ext cx="2482837" cy="583677"/>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2FD3AE2-DBAF-671D-F1D7-4A32B947E0C1}"/>
              </a:ext>
            </a:extLst>
          </p:cNvPr>
          <p:cNvCxnSpPr>
            <a:cxnSpLocks/>
            <a:endCxn id="21" idx="1"/>
          </p:cNvCxnSpPr>
          <p:nvPr/>
        </p:nvCxnSpPr>
        <p:spPr>
          <a:xfrm>
            <a:off x="3047396" y="2952455"/>
            <a:ext cx="2482837" cy="1"/>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02503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F73005C9-D831-A703-2464-07F81DBB4D76}"/>
            </a:ext>
          </a:extLst>
        </p:cNvPr>
        <p:cNvGrpSpPr/>
        <p:nvPr/>
      </p:nvGrpSpPr>
      <p:grpSpPr>
        <a:xfrm>
          <a:off x="0" y="0"/>
          <a:ext cx="0" cy="0"/>
          <a:chOff x="0" y="0"/>
          <a:chExt cx="0" cy="0"/>
        </a:xfrm>
      </p:grpSpPr>
      <p:sp>
        <p:nvSpPr>
          <p:cNvPr id="134" name="Google Shape;134;p21">
            <a:extLst>
              <a:ext uri="{FF2B5EF4-FFF2-40B4-BE49-F238E27FC236}">
                <a16:creationId xmlns:a16="http://schemas.microsoft.com/office/drawing/2014/main" id="{0E729A2D-C05F-C24B-8062-696CB8A4D73B}"/>
              </a:ext>
            </a:extLst>
          </p:cNvPr>
          <p:cNvSpPr txBox="1">
            <a:spLocks noGrp="1"/>
          </p:cNvSpPr>
          <p:nvPr>
            <p:ph type="body" idx="1"/>
          </p:nvPr>
        </p:nvSpPr>
        <p:spPr>
          <a:xfrm>
            <a:off x="70027" y="1269983"/>
            <a:ext cx="2681157" cy="22611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US" sz="1700" b="1" dirty="0"/>
              <a:t>e1 : </a:t>
            </a:r>
            <a:r>
              <a:rPr lang="en-US" sz="1700" b="1" strike="sngStrike" dirty="0"/>
              <a:t>j2</a:t>
            </a:r>
            <a:r>
              <a:rPr lang="en-US" sz="1700" b="1" dirty="0"/>
              <a:t>, j1, j3</a:t>
            </a:r>
          </a:p>
          <a:p>
            <a:pPr marL="457200" lvl="0" indent="-336550" algn="l" rtl="0">
              <a:spcBef>
                <a:spcPts val="0"/>
              </a:spcBef>
              <a:spcAft>
                <a:spcPts val="0"/>
              </a:spcAft>
              <a:buSzPts val="1700"/>
              <a:buChar char="●"/>
            </a:pPr>
            <a:r>
              <a:rPr lang="en-US" sz="1700" dirty="0">
                <a:solidFill>
                  <a:srgbClr val="00B050"/>
                </a:solidFill>
              </a:rPr>
              <a:t>e2 : </a:t>
            </a:r>
            <a:r>
              <a:rPr lang="en-US" sz="1700" u="sng" dirty="0">
                <a:solidFill>
                  <a:srgbClr val="00B050"/>
                </a:solidFill>
              </a:rPr>
              <a:t>j1</a:t>
            </a:r>
            <a:r>
              <a:rPr lang="en-US" sz="1700" dirty="0">
                <a:solidFill>
                  <a:srgbClr val="00B050"/>
                </a:solidFill>
              </a:rPr>
              <a:t>, j2, j3</a:t>
            </a:r>
          </a:p>
          <a:p>
            <a:pPr marL="457200" lvl="0" indent="-336550" algn="l" rtl="0">
              <a:spcBef>
                <a:spcPts val="0"/>
              </a:spcBef>
              <a:spcAft>
                <a:spcPts val="0"/>
              </a:spcAft>
              <a:buSzPts val="1700"/>
              <a:buChar char="●"/>
            </a:pPr>
            <a:r>
              <a:rPr lang="en-US" sz="1700" dirty="0">
                <a:solidFill>
                  <a:srgbClr val="00B050"/>
                </a:solidFill>
              </a:rPr>
              <a:t>e3 : </a:t>
            </a:r>
            <a:r>
              <a:rPr lang="en-US" sz="1700" strike="sngStrike" dirty="0">
                <a:solidFill>
                  <a:srgbClr val="00B050"/>
                </a:solidFill>
              </a:rPr>
              <a:t>j1</a:t>
            </a:r>
            <a:r>
              <a:rPr lang="en-US" sz="1700" dirty="0">
                <a:solidFill>
                  <a:srgbClr val="00B050"/>
                </a:solidFill>
              </a:rPr>
              <a:t>, </a:t>
            </a:r>
            <a:r>
              <a:rPr lang="en-US" sz="1700" u="sng" dirty="0">
                <a:solidFill>
                  <a:srgbClr val="00B050"/>
                </a:solidFill>
              </a:rPr>
              <a:t>j2</a:t>
            </a:r>
            <a:r>
              <a:rPr lang="en-US" sz="1700" dirty="0">
                <a:solidFill>
                  <a:srgbClr val="00B050"/>
                </a:solidFill>
              </a:rPr>
              <a:t>, j3</a:t>
            </a:r>
            <a:endParaRPr lang="en-US" sz="1500" dirty="0">
              <a:solidFill>
                <a:srgbClr val="00B050"/>
              </a:solidFill>
            </a:endParaRPr>
          </a:p>
        </p:txBody>
      </p:sp>
      <p:sp>
        <p:nvSpPr>
          <p:cNvPr id="4" name="Google Shape;134;p21">
            <a:extLst>
              <a:ext uri="{FF2B5EF4-FFF2-40B4-BE49-F238E27FC236}">
                <a16:creationId xmlns:a16="http://schemas.microsoft.com/office/drawing/2014/main" id="{A37FBE6B-86C9-43E7-94B4-7A89DF5060E0}"/>
              </a:ext>
            </a:extLst>
          </p:cNvPr>
          <p:cNvSpPr txBox="1">
            <a:spLocks/>
          </p:cNvSpPr>
          <p:nvPr/>
        </p:nvSpPr>
        <p:spPr>
          <a:xfrm>
            <a:off x="6462843" y="1269983"/>
            <a:ext cx="2681157" cy="2261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indent="-336550">
              <a:buSzPts val="1700"/>
            </a:pPr>
            <a:r>
              <a:rPr lang="en-US" sz="1700" dirty="0">
                <a:solidFill>
                  <a:srgbClr val="00B050"/>
                </a:solidFill>
              </a:rPr>
              <a:t>j1 : e1, </a:t>
            </a:r>
            <a:r>
              <a:rPr lang="en-US" sz="1700" u="sng" dirty="0">
                <a:solidFill>
                  <a:srgbClr val="00B050"/>
                </a:solidFill>
              </a:rPr>
              <a:t>e2</a:t>
            </a:r>
            <a:r>
              <a:rPr lang="en-US" sz="1700" dirty="0">
                <a:solidFill>
                  <a:srgbClr val="00B050"/>
                </a:solidFill>
              </a:rPr>
              <a:t>, </a:t>
            </a:r>
            <a:r>
              <a:rPr lang="en-US" sz="1700" strike="sngStrike" dirty="0">
                <a:solidFill>
                  <a:srgbClr val="00B050"/>
                </a:solidFill>
              </a:rPr>
              <a:t>e3</a:t>
            </a:r>
          </a:p>
          <a:p>
            <a:pPr indent="-336550">
              <a:buSzPts val="1700"/>
            </a:pPr>
            <a:r>
              <a:rPr lang="en-US" sz="1700" dirty="0">
                <a:solidFill>
                  <a:srgbClr val="00B050"/>
                </a:solidFill>
              </a:rPr>
              <a:t>j2 : </a:t>
            </a:r>
            <a:r>
              <a:rPr lang="en-US" sz="1700" u="sng" dirty="0">
                <a:solidFill>
                  <a:srgbClr val="00B050"/>
                </a:solidFill>
              </a:rPr>
              <a:t>e3</a:t>
            </a:r>
            <a:r>
              <a:rPr lang="en-US" sz="1700" dirty="0">
                <a:solidFill>
                  <a:srgbClr val="00B050"/>
                </a:solidFill>
              </a:rPr>
              <a:t>, </a:t>
            </a:r>
            <a:r>
              <a:rPr lang="en-US" sz="1700" strike="sngStrike" dirty="0">
                <a:solidFill>
                  <a:srgbClr val="00B050"/>
                </a:solidFill>
              </a:rPr>
              <a:t>e1</a:t>
            </a:r>
            <a:r>
              <a:rPr lang="en-US" sz="1700" dirty="0">
                <a:solidFill>
                  <a:srgbClr val="00B050"/>
                </a:solidFill>
              </a:rPr>
              <a:t>, e2</a:t>
            </a:r>
          </a:p>
          <a:p>
            <a:pPr indent="-336550">
              <a:buSzPts val="1700"/>
            </a:pPr>
            <a:r>
              <a:rPr lang="en-US" sz="1700" dirty="0"/>
              <a:t>j3 : e1, e2, e3</a:t>
            </a:r>
            <a:endParaRPr lang="en-US" sz="1500" dirty="0"/>
          </a:p>
        </p:txBody>
      </p:sp>
      <p:grpSp>
        <p:nvGrpSpPr>
          <p:cNvPr id="7" name="Group 6">
            <a:extLst>
              <a:ext uri="{FF2B5EF4-FFF2-40B4-BE49-F238E27FC236}">
                <a16:creationId xmlns:a16="http://schemas.microsoft.com/office/drawing/2014/main" id="{473D0B46-13A5-C90C-07B6-1625861D0274}"/>
              </a:ext>
            </a:extLst>
          </p:cNvPr>
          <p:cNvGrpSpPr/>
          <p:nvPr/>
        </p:nvGrpSpPr>
        <p:grpSpPr>
          <a:xfrm>
            <a:off x="2681636" y="2769576"/>
            <a:ext cx="473976" cy="365760"/>
            <a:chOff x="2189284" y="2769576"/>
            <a:chExt cx="473976" cy="365760"/>
          </a:xfrm>
        </p:grpSpPr>
        <p:sp>
          <p:nvSpPr>
            <p:cNvPr id="3" name="Rectangle 2">
              <a:extLst>
                <a:ext uri="{FF2B5EF4-FFF2-40B4-BE49-F238E27FC236}">
                  <a16:creationId xmlns:a16="http://schemas.microsoft.com/office/drawing/2014/main" id="{49F60FC4-8C23-4FF7-B56A-EAC6CFEDC412}"/>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DA180D54-9C5B-4D17-B878-1256A2C141E2}"/>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e1</a:t>
              </a:r>
              <a:endParaRPr lang="en-US" dirty="0">
                <a:solidFill>
                  <a:srgbClr val="FF0000"/>
                </a:solidFill>
                <a:latin typeface="Lato" panose="020B0604020202020204" charset="0"/>
                <a:ea typeface="Lato" panose="020B0604020202020204" charset="0"/>
                <a:cs typeface="Lato" panose="020B0604020202020204" charset="0"/>
              </a:endParaRPr>
            </a:p>
          </p:txBody>
        </p:sp>
      </p:grpSp>
      <p:grpSp>
        <p:nvGrpSpPr>
          <p:cNvPr id="10" name="Group 9">
            <a:extLst>
              <a:ext uri="{FF2B5EF4-FFF2-40B4-BE49-F238E27FC236}">
                <a16:creationId xmlns:a16="http://schemas.microsoft.com/office/drawing/2014/main" id="{FFA2F0C5-6F29-C5F0-98E8-DF614995FDC6}"/>
              </a:ext>
            </a:extLst>
          </p:cNvPr>
          <p:cNvGrpSpPr/>
          <p:nvPr/>
        </p:nvGrpSpPr>
        <p:grpSpPr>
          <a:xfrm>
            <a:off x="2681636" y="3340360"/>
            <a:ext cx="473976" cy="365760"/>
            <a:chOff x="2189284" y="2769576"/>
            <a:chExt cx="473976" cy="365760"/>
          </a:xfrm>
        </p:grpSpPr>
        <p:sp>
          <p:nvSpPr>
            <p:cNvPr id="11" name="Rectangle 10">
              <a:extLst>
                <a:ext uri="{FF2B5EF4-FFF2-40B4-BE49-F238E27FC236}">
                  <a16:creationId xmlns:a16="http://schemas.microsoft.com/office/drawing/2014/main" id="{5B56B62E-0529-CB2B-7B96-1141708D6E33}"/>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TextBox 11">
              <a:extLst>
                <a:ext uri="{FF2B5EF4-FFF2-40B4-BE49-F238E27FC236}">
                  <a16:creationId xmlns:a16="http://schemas.microsoft.com/office/drawing/2014/main" id="{E0A8F4FB-3B05-BC0D-3CA1-9A8C50FDD154}"/>
                </a:ext>
              </a:extLst>
            </p:cNvPr>
            <p:cNvSpPr txBox="1"/>
            <p:nvPr/>
          </p:nvSpPr>
          <p:spPr>
            <a:xfrm>
              <a:off x="2189284" y="2798567"/>
              <a:ext cx="473976" cy="307777"/>
            </a:xfrm>
            <a:prstGeom prst="rect">
              <a:avLst/>
            </a:prstGeom>
            <a:noFill/>
          </p:spPr>
          <p:txBody>
            <a:bodyPr wrap="square" rtlCol="0">
              <a:spAutoFit/>
            </a:bodyPr>
            <a:lstStyle/>
            <a:p>
              <a:r>
                <a:rPr lang="en-US" dirty="0">
                  <a:solidFill>
                    <a:srgbClr val="FF0000"/>
                  </a:solidFill>
                  <a:latin typeface="Lato" panose="020B0604020202020204" charset="0"/>
                  <a:ea typeface="Lato" panose="020B0604020202020204" charset="0"/>
                  <a:cs typeface="Lato" panose="020B0604020202020204" charset="0"/>
                </a:rPr>
                <a:t>e2!</a:t>
              </a:r>
            </a:p>
          </p:txBody>
        </p:sp>
      </p:grpSp>
      <p:grpSp>
        <p:nvGrpSpPr>
          <p:cNvPr id="13" name="Group 12">
            <a:extLst>
              <a:ext uri="{FF2B5EF4-FFF2-40B4-BE49-F238E27FC236}">
                <a16:creationId xmlns:a16="http://schemas.microsoft.com/office/drawing/2014/main" id="{040C9A8B-CBD5-4CC5-7FBB-7FB21A567E66}"/>
              </a:ext>
            </a:extLst>
          </p:cNvPr>
          <p:cNvGrpSpPr/>
          <p:nvPr/>
        </p:nvGrpSpPr>
        <p:grpSpPr>
          <a:xfrm>
            <a:off x="2681636" y="3911143"/>
            <a:ext cx="473976" cy="365760"/>
            <a:chOff x="2189284" y="2769576"/>
            <a:chExt cx="473976" cy="365760"/>
          </a:xfrm>
        </p:grpSpPr>
        <p:sp>
          <p:nvSpPr>
            <p:cNvPr id="14" name="Rectangle 13">
              <a:extLst>
                <a:ext uri="{FF2B5EF4-FFF2-40B4-BE49-F238E27FC236}">
                  <a16:creationId xmlns:a16="http://schemas.microsoft.com/office/drawing/2014/main" id="{ABC9C948-3757-D263-0202-DB370EEF55D4}"/>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1717BDE3-94AE-C342-2B93-E699C1B71FFE}"/>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e3</a:t>
              </a:r>
            </a:p>
          </p:txBody>
        </p:sp>
      </p:grpSp>
      <p:grpSp>
        <p:nvGrpSpPr>
          <p:cNvPr id="19" name="Group 18">
            <a:extLst>
              <a:ext uri="{FF2B5EF4-FFF2-40B4-BE49-F238E27FC236}">
                <a16:creationId xmlns:a16="http://schemas.microsoft.com/office/drawing/2014/main" id="{E202F1D1-C320-1039-21DD-100234A111F5}"/>
              </a:ext>
            </a:extLst>
          </p:cNvPr>
          <p:cNvGrpSpPr/>
          <p:nvPr/>
        </p:nvGrpSpPr>
        <p:grpSpPr>
          <a:xfrm>
            <a:off x="5530233" y="2769576"/>
            <a:ext cx="473976" cy="365760"/>
            <a:chOff x="2189284" y="2769576"/>
            <a:chExt cx="473976" cy="365760"/>
          </a:xfrm>
        </p:grpSpPr>
        <p:sp>
          <p:nvSpPr>
            <p:cNvPr id="20" name="Rectangle 19">
              <a:extLst>
                <a:ext uri="{FF2B5EF4-FFF2-40B4-BE49-F238E27FC236}">
                  <a16:creationId xmlns:a16="http://schemas.microsoft.com/office/drawing/2014/main" id="{AC427607-6B62-7D8F-A1FA-D86FEBB7E4D2}"/>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1" name="TextBox 20">
              <a:extLst>
                <a:ext uri="{FF2B5EF4-FFF2-40B4-BE49-F238E27FC236}">
                  <a16:creationId xmlns:a16="http://schemas.microsoft.com/office/drawing/2014/main" id="{B94556F7-20D2-D448-B4E6-E9AA5B84E013}"/>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j1</a:t>
              </a:r>
            </a:p>
          </p:txBody>
        </p:sp>
      </p:grpSp>
      <p:grpSp>
        <p:nvGrpSpPr>
          <p:cNvPr id="22" name="Group 21">
            <a:extLst>
              <a:ext uri="{FF2B5EF4-FFF2-40B4-BE49-F238E27FC236}">
                <a16:creationId xmlns:a16="http://schemas.microsoft.com/office/drawing/2014/main" id="{13E5BD10-01C5-6953-2853-0206D0F6AF8D}"/>
              </a:ext>
            </a:extLst>
          </p:cNvPr>
          <p:cNvGrpSpPr/>
          <p:nvPr/>
        </p:nvGrpSpPr>
        <p:grpSpPr>
          <a:xfrm>
            <a:off x="5530233" y="3340360"/>
            <a:ext cx="473976" cy="365760"/>
            <a:chOff x="2189284" y="2769576"/>
            <a:chExt cx="473976" cy="365760"/>
          </a:xfrm>
        </p:grpSpPr>
        <p:sp>
          <p:nvSpPr>
            <p:cNvPr id="23" name="Rectangle 22">
              <a:extLst>
                <a:ext uri="{FF2B5EF4-FFF2-40B4-BE49-F238E27FC236}">
                  <a16:creationId xmlns:a16="http://schemas.microsoft.com/office/drawing/2014/main" id="{8965360E-D78E-68EA-4D05-C43687CFE40B}"/>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D07959FE-7219-0F28-A632-939ADAA3417C}"/>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j2</a:t>
              </a:r>
            </a:p>
          </p:txBody>
        </p:sp>
      </p:grpSp>
      <p:grpSp>
        <p:nvGrpSpPr>
          <p:cNvPr id="25" name="Group 24">
            <a:extLst>
              <a:ext uri="{FF2B5EF4-FFF2-40B4-BE49-F238E27FC236}">
                <a16:creationId xmlns:a16="http://schemas.microsoft.com/office/drawing/2014/main" id="{25699F1A-C501-F81B-97C8-3A0622E5AC5F}"/>
              </a:ext>
            </a:extLst>
          </p:cNvPr>
          <p:cNvGrpSpPr/>
          <p:nvPr/>
        </p:nvGrpSpPr>
        <p:grpSpPr>
          <a:xfrm>
            <a:off x="5530233" y="3911143"/>
            <a:ext cx="473976" cy="365760"/>
            <a:chOff x="2189284" y="2769576"/>
            <a:chExt cx="473976" cy="365760"/>
          </a:xfrm>
        </p:grpSpPr>
        <p:sp>
          <p:nvSpPr>
            <p:cNvPr id="26" name="Rectangle 25">
              <a:extLst>
                <a:ext uri="{FF2B5EF4-FFF2-40B4-BE49-F238E27FC236}">
                  <a16:creationId xmlns:a16="http://schemas.microsoft.com/office/drawing/2014/main" id="{AF71B04B-DF4D-76E0-6475-8A08FF592CCE}"/>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7" name="TextBox 26">
              <a:extLst>
                <a:ext uri="{FF2B5EF4-FFF2-40B4-BE49-F238E27FC236}">
                  <a16:creationId xmlns:a16="http://schemas.microsoft.com/office/drawing/2014/main" id="{7565995B-0AE9-2B38-FF84-A55D3FCA6776}"/>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j3</a:t>
              </a:r>
            </a:p>
          </p:txBody>
        </p:sp>
      </p:grpSp>
      <p:sp>
        <p:nvSpPr>
          <p:cNvPr id="2" name="TextBox 1">
            <a:extLst>
              <a:ext uri="{FF2B5EF4-FFF2-40B4-BE49-F238E27FC236}">
                <a16:creationId xmlns:a16="http://schemas.microsoft.com/office/drawing/2014/main" id="{E535933B-C1B4-A36A-7B74-2D199E5CBF85}"/>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8" name="TextBox 7">
            <a:extLst>
              <a:ext uri="{FF2B5EF4-FFF2-40B4-BE49-F238E27FC236}">
                <a16:creationId xmlns:a16="http://schemas.microsoft.com/office/drawing/2014/main" id="{65EC400B-95E1-3456-47C4-20AC724844A6}"/>
              </a:ext>
            </a:extLst>
          </p:cNvPr>
          <p:cNvSpPr txBox="1"/>
          <p:nvPr/>
        </p:nvSpPr>
        <p:spPr>
          <a:xfrm>
            <a:off x="168443" y="4195668"/>
            <a:ext cx="1515980" cy="738664"/>
          </a:xfrm>
          <a:prstGeom prst="rect">
            <a:avLst/>
          </a:prstGeom>
          <a:noFill/>
          <a:ln>
            <a:solidFill>
              <a:schemeClr val="bg2"/>
            </a:solidFill>
          </a:ln>
        </p:spPr>
        <p:txBody>
          <a:bodyPr wrap="square" rtlCol="0">
            <a:spAutoFit/>
          </a:bodyPr>
          <a:lstStyle/>
          <a:p>
            <a:r>
              <a:rPr lang="en-US" b="1" u="sng" dirty="0">
                <a:latin typeface="Lato" panose="020B0604020202020204" charset="0"/>
                <a:ea typeface="Lato" panose="020B0604020202020204" charset="0"/>
                <a:cs typeface="Lato" panose="020B0604020202020204" charset="0"/>
              </a:rPr>
              <a:t>Example: </a:t>
            </a:r>
          </a:p>
          <a:p>
            <a:r>
              <a:rPr lang="en-US" dirty="0">
                <a:latin typeface="Lato" panose="020B0604020202020204" charset="0"/>
                <a:ea typeface="Lato" panose="020B0604020202020204" charset="0"/>
                <a:cs typeface="Lato" panose="020B0604020202020204" charset="0"/>
              </a:rPr>
              <a:t>e1 = employee 1</a:t>
            </a:r>
          </a:p>
          <a:p>
            <a:r>
              <a:rPr lang="en-US" dirty="0">
                <a:latin typeface="Lato" panose="020B0604020202020204" charset="0"/>
                <a:ea typeface="Lato" panose="020B0604020202020204" charset="0"/>
                <a:cs typeface="Lato" panose="020B0604020202020204" charset="0"/>
              </a:rPr>
              <a:t>j1 = job 1</a:t>
            </a:r>
          </a:p>
        </p:txBody>
      </p:sp>
      <p:cxnSp>
        <p:nvCxnSpPr>
          <p:cNvPr id="9" name="Straight Connector 8">
            <a:extLst>
              <a:ext uri="{FF2B5EF4-FFF2-40B4-BE49-F238E27FC236}">
                <a16:creationId xmlns:a16="http://schemas.microsoft.com/office/drawing/2014/main" id="{90F8F51E-D254-95D4-22FD-87D146AF9139}"/>
              </a:ext>
            </a:extLst>
          </p:cNvPr>
          <p:cNvCxnSpPr>
            <a:cxnSpLocks/>
            <a:endCxn id="21" idx="1"/>
          </p:cNvCxnSpPr>
          <p:nvPr/>
        </p:nvCxnSpPr>
        <p:spPr>
          <a:xfrm flipV="1">
            <a:off x="3047396" y="2952456"/>
            <a:ext cx="2482837" cy="547068"/>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7A97157-2E5B-0F09-58B2-A6637F0E96B5}"/>
              </a:ext>
            </a:extLst>
          </p:cNvPr>
          <p:cNvCxnSpPr>
            <a:cxnSpLocks/>
            <a:endCxn id="24" idx="1"/>
          </p:cNvCxnSpPr>
          <p:nvPr/>
        </p:nvCxnSpPr>
        <p:spPr>
          <a:xfrm flipV="1">
            <a:off x="3047396" y="3523240"/>
            <a:ext cx="2482837" cy="583677"/>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6600E50-9732-58CE-8070-E2601CC32EF6}"/>
              </a:ext>
            </a:extLst>
          </p:cNvPr>
          <p:cNvCxnSpPr>
            <a:cxnSpLocks/>
            <a:endCxn id="21" idx="1"/>
          </p:cNvCxnSpPr>
          <p:nvPr/>
        </p:nvCxnSpPr>
        <p:spPr>
          <a:xfrm>
            <a:off x="3047396" y="2952455"/>
            <a:ext cx="2482837" cy="1"/>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00283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CB8E451F-03C0-CF81-FC90-1C1C5EE926ED}"/>
            </a:ext>
          </a:extLst>
        </p:cNvPr>
        <p:cNvGrpSpPr/>
        <p:nvPr/>
      </p:nvGrpSpPr>
      <p:grpSpPr>
        <a:xfrm>
          <a:off x="0" y="0"/>
          <a:ext cx="0" cy="0"/>
          <a:chOff x="0" y="0"/>
          <a:chExt cx="0" cy="0"/>
        </a:xfrm>
      </p:grpSpPr>
      <p:sp>
        <p:nvSpPr>
          <p:cNvPr id="134" name="Google Shape;134;p21">
            <a:extLst>
              <a:ext uri="{FF2B5EF4-FFF2-40B4-BE49-F238E27FC236}">
                <a16:creationId xmlns:a16="http://schemas.microsoft.com/office/drawing/2014/main" id="{828F8F5F-C97B-31BC-31F7-DCAAAFE43139}"/>
              </a:ext>
            </a:extLst>
          </p:cNvPr>
          <p:cNvSpPr txBox="1">
            <a:spLocks noGrp="1"/>
          </p:cNvSpPr>
          <p:nvPr>
            <p:ph type="body" idx="1"/>
          </p:nvPr>
        </p:nvSpPr>
        <p:spPr>
          <a:xfrm>
            <a:off x="70027" y="1269983"/>
            <a:ext cx="2681157" cy="22611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US" sz="1700" dirty="0">
                <a:solidFill>
                  <a:srgbClr val="00B050"/>
                </a:solidFill>
              </a:rPr>
              <a:t>e1 : </a:t>
            </a:r>
            <a:r>
              <a:rPr lang="en-US" sz="1700" strike="sngStrike" dirty="0">
                <a:solidFill>
                  <a:srgbClr val="00B050"/>
                </a:solidFill>
              </a:rPr>
              <a:t>j2</a:t>
            </a:r>
            <a:r>
              <a:rPr lang="en-US" sz="1700" dirty="0">
                <a:solidFill>
                  <a:srgbClr val="00B050"/>
                </a:solidFill>
              </a:rPr>
              <a:t>, </a:t>
            </a:r>
            <a:r>
              <a:rPr lang="en-US" sz="1700" u="sng" dirty="0">
                <a:solidFill>
                  <a:srgbClr val="00B050"/>
                </a:solidFill>
              </a:rPr>
              <a:t>j1</a:t>
            </a:r>
            <a:r>
              <a:rPr lang="en-US" sz="1700" dirty="0">
                <a:solidFill>
                  <a:srgbClr val="00B050"/>
                </a:solidFill>
              </a:rPr>
              <a:t>, j3</a:t>
            </a:r>
          </a:p>
          <a:p>
            <a:pPr marL="457200" lvl="0" indent="-336550" algn="l" rtl="0">
              <a:spcBef>
                <a:spcPts val="0"/>
              </a:spcBef>
              <a:spcAft>
                <a:spcPts val="0"/>
              </a:spcAft>
              <a:buSzPts val="1700"/>
              <a:buChar char="●"/>
            </a:pPr>
            <a:r>
              <a:rPr lang="en-US" sz="1700" dirty="0"/>
              <a:t>e2 : </a:t>
            </a:r>
            <a:r>
              <a:rPr lang="en-US" sz="1700" strike="sngStrike" dirty="0"/>
              <a:t>j1</a:t>
            </a:r>
            <a:r>
              <a:rPr lang="en-US" sz="1700" dirty="0"/>
              <a:t>, j2, j3</a:t>
            </a:r>
          </a:p>
          <a:p>
            <a:pPr marL="457200" lvl="0" indent="-336550" algn="l" rtl="0">
              <a:spcBef>
                <a:spcPts val="0"/>
              </a:spcBef>
              <a:spcAft>
                <a:spcPts val="0"/>
              </a:spcAft>
              <a:buSzPts val="1700"/>
              <a:buChar char="●"/>
            </a:pPr>
            <a:r>
              <a:rPr lang="en-US" sz="1700" dirty="0">
                <a:solidFill>
                  <a:srgbClr val="00B050"/>
                </a:solidFill>
              </a:rPr>
              <a:t>e3 : </a:t>
            </a:r>
            <a:r>
              <a:rPr lang="en-US" sz="1700" strike="sngStrike" dirty="0">
                <a:solidFill>
                  <a:srgbClr val="00B050"/>
                </a:solidFill>
              </a:rPr>
              <a:t>j1</a:t>
            </a:r>
            <a:r>
              <a:rPr lang="en-US" sz="1700" dirty="0">
                <a:solidFill>
                  <a:srgbClr val="00B050"/>
                </a:solidFill>
              </a:rPr>
              <a:t>, </a:t>
            </a:r>
            <a:r>
              <a:rPr lang="en-US" sz="1700" u="sng" dirty="0">
                <a:solidFill>
                  <a:srgbClr val="00B050"/>
                </a:solidFill>
              </a:rPr>
              <a:t>j2</a:t>
            </a:r>
            <a:r>
              <a:rPr lang="en-US" sz="1700" dirty="0">
                <a:solidFill>
                  <a:srgbClr val="00B050"/>
                </a:solidFill>
              </a:rPr>
              <a:t>, j3</a:t>
            </a:r>
            <a:endParaRPr lang="en-US" sz="1500" dirty="0">
              <a:solidFill>
                <a:srgbClr val="00B050"/>
              </a:solidFill>
            </a:endParaRPr>
          </a:p>
        </p:txBody>
      </p:sp>
      <p:sp>
        <p:nvSpPr>
          <p:cNvPr id="4" name="Google Shape;134;p21">
            <a:extLst>
              <a:ext uri="{FF2B5EF4-FFF2-40B4-BE49-F238E27FC236}">
                <a16:creationId xmlns:a16="http://schemas.microsoft.com/office/drawing/2014/main" id="{26A89183-0CD7-7A74-E794-74C42F9889CC}"/>
              </a:ext>
            </a:extLst>
          </p:cNvPr>
          <p:cNvSpPr txBox="1">
            <a:spLocks/>
          </p:cNvSpPr>
          <p:nvPr/>
        </p:nvSpPr>
        <p:spPr>
          <a:xfrm>
            <a:off x="6462843" y="1269983"/>
            <a:ext cx="2681157" cy="2261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indent="-336550">
              <a:buSzPts val="1700"/>
            </a:pPr>
            <a:r>
              <a:rPr lang="en-US" sz="1700" dirty="0">
                <a:solidFill>
                  <a:srgbClr val="00B050"/>
                </a:solidFill>
              </a:rPr>
              <a:t>j1 : </a:t>
            </a:r>
            <a:r>
              <a:rPr lang="en-US" sz="1700" u="sng" dirty="0">
                <a:solidFill>
                  <a:srgbClr val="00B050"/>
                </a:solidFill>
              </a:rPr>
              <a:t>e1</a:t>
            </a:r>
            <a:r>
              <a:rPr lang="en-US" sz="1700" dirty="0">
                <a:solidFill>
                  <a:srgbClr val="00B050"/>
                </a:solidFill>
              </a:rPr>
              <a:t>, </a:t>
            </a:r>
            <a:r>
              <a:rPr lang="en-US" sz="1700" strike="sngStrike" dirty="0">
                <a:solidFill>
                  <a:srgbClr val="00B050"/>
                </a:solidFill>
              </a:rPr>
              <a:t>e2</a:t>
            </a:r>
            <a:r>
              <a:rPr lang="en-US" sz="1700" dirty="0">
                <a:solidFill>
                  <a:srgbClr val="00B050"/>
                </a:solidFill>
              </a:rPr>
              <a:t>, </a:t>
            </a:r>
            <a:r>
              <a:rPr lang="en-US" sz="1700" strike="sngStrike" dirty="0">
                <a:solidFill>
                  <a:srgbClr val="00B050"/>
                </a:solidFill>
              </a:rPr>
              <a:t>e3</a:t>
            </a:r>
          </a:p>
          <a:p>
            <a:pPr indent="-336550">
              <a:buSzPts val="1700"/>
            </a:pPr>
            <a:r>
              <a:rPr lang="en-US" sz="1700" dirty="0">
                <a:solidFill>
                  <a:srgbClr val="00B050"/>
                </a:solidFill>
              </a:rPr>
              <a:t>j2 : </a:t>
            </a:r>
            <a:r>
              <a:rPr lang="en-US" sz="1700" u="sng" dirty="0">
                <a:solidFill>
                  <a:srgbClr val="00B050"/>
                </a:solidFill>
              </a:rPr>
              <a:t>e3</a:t>
            </a:r>
            <a:r>
              <a:rPr lang="en-US" sz="1700" dirty="0">
                <a:solidFill>
                  <a:srgbClr val="00B050"/>
                </a:solidFill>
              </a:rPr>
              <a:t>, </a:t>
            </a:r>
            <a:r>
              <a:rPr lang="en-US" sz="1700" strike="sngStrike" dirty="0">
                <a:solidFill>
                  <a:srgbClr val="00B050"/>
                </a:solidFill>
              </a:rPr>
              <a:t>e1</a:t>
            </a:r>
            <a:r>
              <a:rPr lang="en-US" sz="1700" dirty="0">
                <a:solidFill>
                  <a:srgbClr val="00B050"/>
                </a:solidFill>
              </a:rPr>
              <a:t>, e2</a:t>
            </a:r>
          </a:p>
          <a:p>
            <a:pPr indent="-336550">
              <a:buSzPts val="1700"/>
            </a:pPr>
            <a:r>
              <a:rPr lang="en-US" sz="1700" dirty="0"/>
              <a:t>j3 : e1, e2, e3</a:t>
            </a:r>
            <a:endParaRPr lang="en-US" sz="1500" dirty="0"/>
          </a:p>
        </p:txBody>
      </p:sp>
      <p:grpSp>
        <p:nvGrpSpPr>
          <p:cNvPr id="7" name="Group 6">
            <a:extLst>
              <a:ext uri="{FF2B5EF4-FFF2-40B4-BE49-F238E27FC236}">
                <a16:creationId xmlns:a16="http://schemas.microsoft.com/office/drawing/2014/main" id="{4B095E43-A688-CAE6-821F-826EC37FFC74}"/>
              </a:ext>
            </a:extLst>
          </p:cNvPr>
          <p:cNvGrpSpPr/>
          <p:nvPr/>
        </p:nvGrpSpPr>
        <p:grpSpPr>
          <a:xfrm>
            <a:off x="2681636" y="2769576"/>
            <a:ext cx="473976" cy="365760"/>
            <a:chOff x="2189284" y="2769576"/>
            <a:chExt cx="473976" cy="365760"/>
          </a:xfrm>
        </p:grpSpPr>
        <p:sp>
          <p:nvSpPr>
            <p:cNvPr id="3" name="Rectangle 2">
              <a:extLst>
                <a:ext uri="{FF2B5EF4-FFF2-40B4-BE49-F238E27FC236}">
                  <a16:creationId xmlns:a16="http://schemas.microsoft.com/office/drawing/2014/main" id="{A0888571-D936-6058-769E-BC6B22278E20}"/>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10300C92-0E7B-7B5E-676E-D456E12797FE}"/>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e1</a:t>
              </a:r>
              <a:endParaRPr lang="en-US" dirty="0">
                <a:solidFill>
                  <a:srgbClr val="FF0000"/>
                </a:solidFill>
                <a:latin typeface="Lato" panose="020B0604020202020204" charset="0"/>
                <a:ea typeface="Lato" panose="020B0604020202020204" charset="0"/>
                <a:cs typeface="Lato" panose="020B0604020202020204" charset="0"/>
              </a:endParaRPr>
            </a:p>
          </p:txBody>
        </p:sp>
      </p:grpSp>
      <p:grpSp>
        <p:nvGrpSpPr>
          <p:cNvPr id="10" name="Group 9">
            <a:extLst>
              <a:ext uri="{FF2B5EF4-FFF2-40B4-BE49-F238E27FC236}">
                <a16:creationId xmlns:a16="http://schemas.microsoft.com/office/drawing/2014/main" id="{0194D462-E2D1-AFFA-A322-9980DB70A7FA}"/>
              </a:ext>
            </a:extLst>
          </p:cNvPr>
          <p:cNvGrpSpPr/>
          <p:nvPr/>
        </p:nvGrpSpPr>
        <p:grpSpPr>
          <a:xfrm>
            <a:off x="2681636" y="3340360"/>
            <a:ext cx="473976" cy="365760"/>
            <a:chOff x="2189284" y="2769576"/>
            <a:chExt cx="473976" cy="365760"/>
          </a:xfrm>
        </p:grpSpPr>
        <p:sp>
          <p:nvSpPr>
            <p:cNvPr id="11" name="Rectangle 10">
              <a:extLst>
                <a:ext uri="{FF2B5EF4-FFF2-40B4-BE49-F238E27FC236}">
                  <a16:creationId xmlns:a16="http://schemas.microsoft.com/office/drawing/2014/main" id="{DDB904FC-3F83-7684-3D77-943355B45139}"/>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TextBox 11">
              <a:extLst>
                <a:ext uri="{FF2B5EF4-FFF2-40B4-BE49-F238E27FC236}">
                  <a16:creationId xmlns:a16="http://schemas.microsoft.com/office/drawing/2014/main" id="{40BBEDE1-FB9A-888B-0811-807B7F32F18D}"/>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e2</a:t>
              </a:r>
            </a:p>
          </p:txBody>
        </p:sp>
      </p:grpSp>
      <p:grpSp>
        <p:nvGrpSpPr>
          <p:cNvPr id="13" name="Group 12">
            <a:extLst>
              <a:ext uri="{FF2B5EF4-FFF2-40B4-BE49-F238E27FC236}">
                <a16:creationId xmlns:a16="http://schemas.microsoft.com/office/drawing/2014/main" id="{DCD1E953-F0D5-A67A-6420-4ED7BFC72BAB}"/>
              </a:ext>
            </a:extLst>
          </p:cNvPr>
          <p:cNvGrpSpPr/>
          <p:nvPr/>
        </p:nvGrpSpPr>
        <p:grpSpPr>
          <a:xfrm>
            <a:off x="2681636" y="3911143"/>
            <a:ext cx="473976" cy="365760"/>
            <a:chOff x="2189284" y="2769576"/>
            <a:chExt cx="473976" cy="365760"/>
          </a:xfrm>
        </p:grpSpPr>
        <p:sp>
          <p:nvSpPr>
            <p:cNvPr id="14" name="Rectangle 13">
              <a:extLst>
                <a:ext uri="{FF2B5EF4-FFF2-40B4-BE49-F238E27FC236}">
                  <a16:creationId xmlns:a16="http://schemas.microsoft.com/office/drawing/2014/main" id="{5CB0ACD0-3C4B-AD7C-D127-4535768520E1}"/>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A3EBF7C0-DC2B-E3D9-AF41-3C1A7C136D24}"/>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e3</a:t>
              </a:r>
            </a:p>
          </p:txBody>
        </p:sp>
      </p:grpSp>
      <p:grpSp>
        <p:nvGrpSpPr>
          <p:cNvPr id="19" name="Group 18">
            <a:extLst>
              <a:ext uri="{FF2B5EF4-FFF2-40B4-BE49-F238E27FC236}">
                <a16:creationId xmlns:a16="http://schemas.microsoft.com/office/drawing/2014/main" id="{50F35CC7-82FB-A2C9-BE2B-6C8871DCAED6}"/>
              </a:ext>
            </a:extLst>
          </p:cNvPr>
          <p:cNvGrpSpPr/>
          <p:nvPr/>
        </p:nvGrpSpPr>
        <p:grpSpPr>
          <a:xfrm>
            <a:off x="5530233" y="2769576"/>
            <a:ext cx="473976" cy="365760"/>
            <a:chOff x="2189284" y="2769576"/>
            <a:chExt cx="473976" cy="365760"/>
          </a:xfrm>
        </p:grpSpPr>
        <p:sp>
          <p:nvSpPr>
            <p:cNvPr id="20" name="Rectangle 19">
              <a:extLst>
                <a:ext uri="{FF2B5EF4-FFF2-40B4-BE49-F238E27FC236}">
                  <a16:creationId xmlns:a16="http://schemas.microsoft.com/office/drawing/2014/main" id="{3E0C6ECF-5291-CC64-E08E-9FB5DDCBA825}"/>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1" name="TextBox 20">
              <a:extLst>
                <a:ext uri="{FF2B5EF4-FFF2-40B4-BE49-F238E27FC236}">
                  <a16:creationId xmlns:a16="http://schemas.microsoft.com/office/drawing/2014/main" id="{24AE95CA-A281-E50E-C699-F758928ED9B5}"/>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j1</a:t>
              </a:r>
            </a:p>
          </p:txBody>
        </p:sp>
      </p:grpSp>
      <p:grpSp>
        <p:nvGrpSpPr>
          <p:cNvPr id="22" name="Group 21">
            <a:extLst>
              <a:ext uri="{FF2B5EF4-FFF2-40B4-BE49-F238E27FC236}">
                <a16:creationId xmlns:a16="http://schemas.microsoft.com/office/drawing/2014/main" id="{4DB81C68-247E-B320-7656-AA9FE0175424}"/>
              </a:ext>
            </a:extLst>
          </p:cNvPr>
          <p:cNvGrpSpPr/>
          <p:nvPr/>
        </p:nvGrpSpPr>
        <p:grpSpPr>
          <a:xfrm>
            <a:off x="5530233" y="3340360"/>
            <a:ext cx="473976" cy="365760"/>
            <a:chOff x="2189284" y="2769576"/>
            <a:chExt cx="473976" cy="365760"/>
          </a:xfrm>
        </p:grpSpPr>
        <p:sp>
          <p:nvSpPr>
            <p:cNvPr id="23" name="Rectangle 22">
              <a:extLst>
                <a:ext uri="{FF2B5EF4-FFF2-40B4-BE49-F238E27FC236}">
                  <a16:creationId xmlns:a16="http://schemas.microsoft.com/office/drawing/2014/main" id="{0EADD72F-77D9-F1B0-15FF-A148B59EEEE9}"/>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8635D67E-F55E-A322-DD7D-657F21E1820E}"/>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j2</a:t>
              </a:r>
            </a:p>
          </p:txBody>
        </p:sp>
      </p:grpSp>
      <p:grpSp>
        <p:nvGrpSpPr>
          <p:cNvPr id="25" name="Group 24">
            <a:extLst>
              <a:ext uri="{FF2B5EF4-FFF2-40B4-BE49-F238E27FC236}">
                <a16:creationId xmlns:a16="http://schemas.microsoft.com/office/drawing/2014/main" id="{DE662B7B-786F-4F4B-BE4D-06D17F59FF7F}"/>
              </a:ext>
            </a:extLst>
          </p:cNvPr>
          <p:cNvGrpSpPr/>
          <p:nvPr/>
        </p:nvGrpSpPr>
        <p:grpSpPr>
          <a:xfrm>
            <a:off x="5530233" y="3911143"/>
            <a:ext cx="473976" cy="365760"/>
            <a:chOff x="2189284" y="2769576"/>
            <a:chExt cx="473976" cy="365760"/>
          </a:xfrm>
        </p:grpSpPr>
        <p:sp>
          <p:nvSpPr>
            <p:cNvPr id="26" name="Rectangle 25">
              <a:extLst>
                <a:ext uri="{FF2B5EF4-FFF2-40B4-BE49-F238E27FC236}">
                  <a16:creationId xmlns:a16="http://schemas.microsoft.com/office/drawing/2014/main" id="{FAC361CB-62C7-F1AC-C2DA-2F3FA0E9CD59}"/>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7" name="TextBox 26">
              <a:extLst>
                <a:ext uri="{FF2B5EF4-FFF2-40B4-BE49-F238E27FC236}">
                  <a16:creationId xmlns:a16="http://schemas.microsoft.com/office/drawing/2014/main" id="{550A15BB-60C5-F534-A2C4-0CBE925EBFBA}"/>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j3</a:t>
              </a:r>
            </a:p>
          </p:txBody>
        </p:sp>
      </p:grpSp>
      <p:sp>
        <p:nvSpPr>
          <p:cNvPr id="2" name="TextBox 1">
            <a:extLst>
              <a:ext uri="{FF2B5EF4-FFF2-40B4-BE49-F238E27FC236}">
                <a16:creationId xmlns:a16="http://schemas.microsoft.com/office/drawing/2014/main" id="{59A3F867-6ECE-763B-4F2E-05B86CC35FDC}"/>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8" name="TextBox 7">
            <a:extLst>
              <a:ext uri="{FF2B5EF4-FFF2-40B4-BE49-F238E27FC236}">
                <a16:creationId xmlns:a16="http://schemas.microsoft.com/office/drawing/2014/main" id="{F16BE9E9-A75A-137A-CB53-867AAF60B5BD}"/>
              </a:ext>
            </a:extLst>
          </p:cNvPr>
          <p:cNvSpPr txBox="1"/>
          <p:nvPr/>
        </p:nvSpPr>
        <p:spPr>
          <a:xfrm>
            <a:off x="168443" y="4195668"/>
            <a:ext cx="1515980" cy="738664"/>
          </a:xfrm>
          <a:prstGeom prst="rect">
            <a:avLst/>
          </a:prstGeom>
          <a:noFill/>
          <a:ln>
            <a:solidFill>
              <a:schemeClr val="bg2"/>
            </a:solidFill>
          </a:ln>
        </p:spPr>
        <p:txBody>
          <a:bodyPr wrap="square" rtlCol="0">
            <a:spAutoFit/>
          </a:bodyPr>
          <a:lstStyle/>
          <a:p>
            <a:r>
              <a:rPr lang="en-US" b="1" u="sng" dirty="0">
                <a:latin typeface="Lato" panose="020B0604020202020204" charset="0"/>
                <a:ea typeface="Lato" panose="020B0604020202020204" charset="0"/>
                <a:cs typeface="Lato" panose="020B0604020202020204" charset="0"/>
              </a:rPr>
              <a:t>Example: </a:t>
            </a:r>
          </a:p>
          <a:p>
            <a:r>
              <a:rPr lang="en-US" dirty="0">
                <a:latin typeface="Lato" panose="020B0604020202020204" charset="0"/>
                <a:ea typeface="Lato" panose="020B0604020202020204" charset="0"/>
                <a:cs typeface="Lato" panose="020B0604020202020204" charset="0"/>
              </a:rPr>
              <a:t>e1 = employee 1</a:t>
            </a:r>
          </a:p>
          <a:p>
            <a:r>
              <a:rPr lang="en-US" dirty="0">
                <a:latin typeface="Lato" panose="020B0604020202020204" charset="0"/>
                <a:ea typeface="Lato" panose="020B0604020202020204" charset="0"/>
                <a:cs typeface="Lato" panose="020B0604020202020204" charset="0"/>
              </a:rPr>
              <a:t>j1 = job 1</a:t>
            </a:r>
          </a:p>
        </p:txBody>
      </p:sp>
      <p:cxnSp>
        <p:nvCxnSpPr>
          <p:cNvPr id="16" name="Straight Connector 15">
            <a:extLst>
              <a:ext uri="{FF2B5EF4-FFF2-40B4-BE49-F238E27FC236}">
                <a16:creationId xmlns:a16="http://schemas.microsoft.com/office/drawing/2014/main" id="{A055AB99-7630-BA19-0E13-6D490E14AB0B}"/>
              </a:ext>
            </a:extLst>
          </p:cNvPr>
          <p:cNvCxnSpPr>
            <a:cxnSpLocks/>
            <a:endCxn id="24" idx="1"/>
          </p:cNvCxnSpPr>
          <p:nvPr/>
        </p:nvCxnSpPr>
        <p:spPr>
          <a:xfrm flipV="1">
            <a:off x="3047396" y="3523240"/>
            <a:ext cx="2482837" cy="583677"/>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44FD6066-645B-EA3A-E20F-AA78510D8443}"/>
              </a:ext>
            </a:extLst>
          </p:cNvPr>
          <p:cNvCxnSpPr>
            <a:cxnSpLocks/>
            <a:endCxn id="21" idx="1"/>
          </p:cNvCxnSpPr>
          <p:nvPr/>
        </p:nvCxnSpPr>
        <p:spPr>
          <a:xfrm>
            <a:off x="3047396" y="2952455"/>
            <a:ext cx="2482837" cy="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07559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34D53272-F3B2-B5AE-886B-AA3BE4C7C1A7}"/>
            </a:ext>
          </a:extLst>
        </p:cNvPr>
        <p:cNvGrpSpPr/>
        <p:nvPr/>
      </p:nvGrpSpPr>
      <p:grpSpPr>
        <a:xfrm>
          <a:off x="0" y="0"/>
          <a:ext cx="0" cy="0"/>
          <a:chOff x="0" y="0"/>
          <a:chExt cx="0" cy="0"/>
        </a:xfrm>
      </p:grpSpPr>
      <p:sp>
        <p:nvSpPr>
          <p:cNvPr id="134" name="Google Shape;134;p21">
            <a:extLst>
              <a:ext uri="{FF2B5EF4-FFF2-40B4-BE49-F238E27FC236}">
                <a16:creationId xmlns:a16="http://schemas.microsoft.com/office/drawing/2014/main" id="{89867397-542E-1F6A-1DCB-3C628FBDA411}"/>
              </a:ext>
            </a:extLst>
          </p:cNvPr>
          <p:cNvSpPr txBox="1">
            <a:spLocks noGrp="1"/>
          </p:cNvSpPr>
          <p:nvPr>
            <p:ph type="body" idx="1"/>
          </p:nvPr>
        </p:nvSpPr>
        <p:spPr>
          <a:xfrm>
            <a:off x="70027" y="1269983"/>
            <a:ext cx="2681157" cy="22611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US" sz="1700" dirty="0">
                <a:solidFill>
                  <a:srgbClr val="00B050"/>
                </a:solidFill>
              </a:rPr>
              <a:t>e1 : </a:t>
            </a:r>
            <a:r>
              <a:rPr lang="en-US" sz="1700" strike="sngStrike" dirty="0">
                <a:solidFill>
                  <a:srgbClr val="00B050"/>
                </a:solidFill>
              </a:rPr>
              <a:t>j2</a:t>
            </a:r>
            <a:r>
              <a:rPr lang="en-US" sz="1700" dirty="0">
                <a:solidFill>
                  <a:srgbClr val="00B050"/>
                </a:solidFill>
              </a:rPr>
              <a:t>, </a:t>
            </a:r>
            <a:r>
              <a:rPr lang="en-US" sz="1700" u="sng" dirty="0">
                <a:solidFill>
                  <a:srgbClr val="00B050"/>
                </a:solidFill>
              </a:rPr>
              <a:t>j1</a:t>
            </a:r>
            <a:r>
              <a:rPr lang="en-US" sz="1700" dirty="0">
                <a:solidFill>
                  <a:srgbClr val="00B050"/>
                </a:solidFill>
              </a:rPr>
              <a:t>, j3</a:t>
            </a:r>
          </a:p>
          <a:p>
            <a:pPr marL="457200" lvl="0" indent="-336550" algn="l" rtl="0">
              <a:spcBef>
                <a:spcPts val="0"/>
              </a:spcBef>
              <a:spcAft>
                <a:spcPts val="0"/>
              </a:spcAft>
              <a:buSzPts val="1700"/>
              <a:buChar char="●"/>
            </a:pPr>
            <a:r>
              <a:rPr lang="en-US" sz="1700" b="1" dirty="0"/>
              <a:t>e2 : </a:t>
            </a:r>
            <a:r>
              <a:rPr lang="en-US" sz="1700" b="1" strike="sngStrike" dirty="0"/>
              <a:t>j1</a:t>
            </a:r>
            <a:r>
              <a:rPr lang="en-US" sz="1700" b="1" dirty="0"/>
              <a:t>, j2, j3</a:t>
            </a:r>
          </a:p>
          <a:p>
            <a:pPr marL="457200" lvl="0" indent="-336550" algn="l" rtl="0">
              <a:spcBef>
                <a:spcPts val="0"/>
              </a:spcBef>
              <a:spcAft>
                <a:spcPts val="0"/>
              </a:spcAft>
              <a:buSzPts val="1700"/>
              <a:buChar char="●"/>
            </a:pPr>
            <a:r>
              <a:rPr lang="en-US" sz="1700" dirty="0">
                <a:solidFill>
                  <a:srgbClr val="00B050"/>
                </a:solidFill>
              </a:rPr>
              <a:t>e3 : </a:t>
            </a:r>
            <a:r>
              <a:rPr lang="en-US" sz="1700" strike="sngStrike" dirty="0">
                <a:solidFill>
                  <a:srgbClr val="00B050"/>
                </a:solidFill>
              </a:rPr>
              <a:t>j1</a:t>
            </a:r>
            <a:r>
              <a:rPr lang="en-US" sz="1700" dirty="0">
                <a:solidFill>
                  <a:srgbClr val="00B050"/>
                </a:solidFill>
              </a:rPr>
              <a:t>, </a:t>
            </a:r>
            <a:r>
              <a:rPr lang="en-US" sz="1700" u="sng" dirty="0">
                <a:solidFill>
                  <a:srgbClr val="00B050"/>
                </a:solidFill>
              </a:rPr>
              <a:t>j2</a:t>
            </a:r>
            <a:r>
              <a:rPr lang="en-US" sz="1700" dirty="0">
                <a:solidFill>
                  <a:srgbClr val="00B050"/>
                </a:solidFill>
              </a:rPr>
              <a:t>, j3</a:t>
            </a:r>
            <a:endParaRPr lang="en-US" sz="1500" dirty="0">
              <a:solidFill>
                <a:srgbClr val="00B050"/>
              </a:solidFill>
            </a:endParaRPr>
          </a:p>
        </p:txBody>
      </p:sp>
      <p:sp>
        <p:nvSpPr>
          <p:cNvPr id="4" name="Google Shape;134;p21">
            <a:extLst>
              <a:ext uri="{FF2B5EF4-FFF2-40B4-BE49-F238E27FC236}">
                <a16:creationId xmlns:a16="http://schemas.microsoft.com/office/drawing/2014/main" id="{EE474448-6B83-7C2F-11C5-148A5CA5B6BD}"/>
              </a:ext>
            </a:extLst>
          </p:cNvPr>
          <p:cNvSpPr txBox="1">
            <a:spLocks/>
          </p:cNvSpPr>
          <p:nvPr/>
        </p:nvSpPr>
        <p:spPr>
          <a:xfrm>
            <a:off x="6462843" y="1269983"/>
            <a:ext cx="2681157" cy="2261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indent="-336550">
              <a:buSzPts val="1700"/>
            </a:pPr>
            <a:r>
              <a:rPr lang="en-US" sz="1700" dirty="0">
                <a:solidFill>
                  <a:srgbClr val="00B050"/>
                </a:solidFill>
              </a:rPr>
              <a:t>j1 : </a:t>
            </a:r>
            <a:r>
              <a:rPr lang="en-US" sz="1700" u="sng" dirty="0">
                <a:solidFill>
                  <a:srgbClr val="00B050"/>
                </a:solidFill>
              </a:rPr>
              <a:t>e1</a:t>
            </a:r>
            <a:r>
              <a:rPr lang="en-US" sz="1700" dirty="0">
                <a:solidFill>
                  <a:srgbClr val="00B050"/>
                </a:solidFill>
              </a:rPr>
              <a:t>, </a:t>
            </a:r>
            <a:r>
              <a:rPr lang="en-US" sz="1700" strike="sngStrike" dirty="0">
                <a:solidFill>
                  <a:srgbClr val="00B050"/>
                </a:solidFill>
              </a:rPr>
              <a:t>e2</a:t>
            </a:r>
            <a:r>
              <a:rPr lang="en-US" sz="1700" dirty="0">
                <a:solidFill>
                  <a:srgbClr val="00B050"/>
                </a:solidFill>
              </a:rPr>
              <a:t>, </a:t>
            </a:r>
            <a:r>
              <a:rPr lang="en-US" sz="1700" strike="sngStrike" dirty="0">
                <a:solidFill>
                  <a:srgbClr val="00B050"/>
                </a:solidFill>
              </a:rPr>
              <a:t>e3</a:t>
            </a:r>
          </a:p>
          <a:p>
            <a:pPr indent="-336550">
              <a:buSzPts val="1700"/>
            </a:pPr>
            <a:r>
              <a:rPr lang="en-US" sz="1700" dirty="0">
                <a:solidFill>
                  <a:srgbClr val="00B050"/>
                </a:solidFill>
              </a:rPr>
              <a:t>j2 : </a:t>
            </a:r>
            <a:r>
              <a:rPr lang="en-US" sz="1700" u="sng" dirty="0">
                <a:solidFill>
                  <a:srgbClr val="00B050"/>
                </a:solidFill>
              </a:rPr>
              <a:t>e3</a:t>
            </a:r>
            <a:r>
              <a:rPr lang="en-US" sz="1700" dirty="0">
                <a:solidFill>
                  <a:srgbClr val="00B050"/>
                </a:solidFill>
              </a:rPr>
              <a:t>, </a:t>
            </a:r>
            <a:r>
              <a:rPr lang="en-US" sz="1700" strike="sngStrike" dirty="0">
                <a:solidFill>
                  <a:srgbClr val="00B050"/>
                </a:solidFill>
              </a:rPr>
              <a:t>e1</a:t>
            </a:r>
            <a:r>
              <a:rPr lang="en-US" sz="1700" dirty="0">
                <a:solidFill>
                  <a:srgbClr val="00B050"/>
                </a:solidFill>
              </a:rPr>
              <a:t>, e2</a:t>
            </a:r>
          </a:p>
          <a:p>
            <a:pPr indent="-336550">
              <a:buSzPts val="1700"/>
            </a:pPr>
            <a:r>
              <a:rPr lang="en-US" sz="1700" dirty="0"/>
              <a:t>j3 : e1, e2, e3</a:t>
            </a:r>
            <a:endParaRPr lang="en-US" sz="1500" dirty="0"/>
          </a:p>
        </p:txBody>
      </p:sp>
      <p:grpSp>
        <p:nvGrpSpPr>
          <p:cNvPr id="7" name="Group 6">
            <a:extLst>
              <a:ext uri="{FF2B5EF4-FFF2-40B4-BE49-F238E27FC236}">
                <a16:creationId xmlns:a16="http://schemas.microsoft.com/office/drawing/2014/main" id="{EF5F52BE-574E-EE86-4C12-97B73F8A9EBF}"/>
              </a:ext>
            </a:extLst>
          </p:cNvPr>
          <p:cNvGrpSpPr/>
          <p:nvPr/>
        </p:nvGrpSpPr>
        <p:grpSpPr>
          <a:xfrm>
            <a:off x="2681636" y="2769576"/>
            <a:ext cx="473976" cy="365760"/>
            <a:chOff x="2189284" y="2769576"/>
            <a:chExt cx="473976" cy="365760"/>
          </a:xfrm>
        </p:grpSpPr>
        <p:sp>
          <p:nvSpPr>
            <p:cNvPr id="3" name="Rectangle 2">
              <a:extLst>
                <a:ext uri="{FF2B5EF4-FFF2-40B4-BE49-F238E27FC236}">
                  <a16:creationId xmlns:a16="http://schemas.microsoft.com/office/drawing/2014/main" id="{7E8085F0-6ABD-39F5-5A6E-F5FBCCEB2246}"/>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7F7A3548-EE09-661E-A0DF-A65739EC7B8D}"/>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e1</a:t>
              </a:r>
              <a:endParaRPr lang="en-US" dirty="0">
                <a:solidFill>
                  <a:srgbClr val="FF0000"/>
                </a:solidFill>
                <a:latin typeface="Lato" panose="020B0604020202020204" charset="0"/>
                <a:ea typeface="Lato" panose="020B0604020202020204" charset="0"/>
                <a:cs typeface="Lato" panose="020B0604020202020204" charset="0"/>
              </a:endParaRPr>
            </a:p>
          </p:txBody>
        </p:sp>
      </p:grpSp>
      <p:grpSp>
        <p:nvGrpSpPr>
          <p:cNvPr id="10" name="Group 9">
            <a:extLst>
              <a:ext uri="{FF2B5EF4-FFF2-40B4-BE49-F238E27FC236}">
                <a16:creationId xmlns:a16="http://schemas.microsoft.com/office/drawing/2014/main" id="{535C461B-0F7A-01DC-BD95-D7E3AC972CC2}"/>
              </a:ext>
            </a:extLst>
          </p:cNvPr>
          <p:cNvGrpSpPr/>
          <p:nvPr/>
        </p:nvGrpSpPr>
        <p:grpSpPr>
          <a:xfrm>
            <a:off x="2681636" y="3340360"/>
            <a:ext cx="473976" cy="365760"/>
            <a:chOff x="2189284" y="2769576"/>
            <a:chExt cx="473976" cy="365760"/>
          </a:xfrm>
        </p:grpSpPr>
        <p:sp>
          <p:nvSpPr>
            <p:cNvPr id="11" name="Rectangle 10">
              <a:extLst>
                <a:ext uri="{FF2B5EF4-FFF2-40B4-BE49-F238E27FC236}">
                  <a16:creationId xmlns:a16="http://schemas.microsoft.com/office/drawing/2014/main" id="{A34D5612-453B-F94B-2FC7-3AB26FFDF80D}"/>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TextBox 11">
              <a:extLst>
                <a:ext uri="{FF2B5EF4-FFF2-40B4-BE49-F238E27FC236}">
                  <a16:creationId xmlns:a16="http://schemas.microsoft.com/office/drawing/2014/main" id="{B2A76128-3FC6-FD56-8B13-EE0CDDC44513}"/>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e2</a:t>
              </a:r>
            </a:p>
          </p:txBody>
        </p:sp>
      </p:grpSp>
      <p:grpSp>
        <p:nvGrpSpPr>
          <p:cNvPr id="13" name="Group 12">
            <a:extLst>
              <a:ext uri="{FF2B5EF4-FFF2-40B4-BE49-F238E27FC236}">
                <a16:creationId xmlns:a16="http://schemas.microsoft.com/office/drawing/2014/main" id="{8521E983-023E-B373-A652-FCCE59D617DD}"/>
              </a:ext>
            </a:extLst>
          </p:cNvPr>
          <p:cNvGrpSpPr/>
          <p:nvPr/>
        </p:nvGrpSpPr>
        <p:grpSpPr>
          <a:xfrm>
            <a:off x="2681636" y="3911143"/>
            <a:ext cx="473976" cy="365760"/>
            <a:chOff x="2189284" y="2769576"/>
            <a:chExt cx="473976" cy="365760"/>
          </a:xfrm>
        </p:grpSpPr>
        <p:sp>
          <p:nvSpPr>
            <p:cNvPr id="14" name="Rectangle 13">
              <a:extLst>
                <a:ext uri="{FF2B5EF4-FFF2-40B4-BE49-F238E27FC236}">
                  <a16:creationId xmlns:a16="http://schemas.microsoft.com/office/drawing/2014/main" id="{CCBB5D0E-489C-9C25-5815-6B3436173107}"/>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4D5BDA9D-8218-82B2-C8BE-831FBD3F5E30}"/>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e3</a:t>
              </a:r>
            </a:p>
          </p:txBody>
        </p:sp>
      </p:grpSp>
      <p:grpSp>
        <p:nvGrpSpPr>
          <p:cNvPr id="19" name="Group 18">
            <a:extLst>
              <a:ext uri="{FF2B5EF4-FFF2-40B4-BE49-F238E27FC236}">
                <a16:creationId xmlns:a16="http://schemas.microsoft.com/office/drawing/2014/main" id="{4A38A54F-64DE-B21B-D041-32B6D3D4B701}"/>
              </a:ext>
            </a:extLst>
          </p:cNvPr>
          <p:cNvGrpSpPr/>
          <p:nvPr/>
        </p:nvGrpSpPr>
        <p:grpSpPr>
          <a:xfrm>
            <a:off x="5530233" y="2769576"/>
            <a:ext cx="473976" cy="365760"/>
            <a:chOff x="2189284" y="2769576"/>
            <a:chExt cx="473976" cy="365760"/>
          </a:xfrm>
        </p:grpSpPr>
        <p:sp>
          <p:nvSpPr>
            <p:cNvPr id="20" name="Rectangle 19">
              <a:extLst>
                <a:ext uri="{FF2B5EF4-FFF2-40B4-BE49-F238E27FC236}">
                  <a16:creationId xmlns:a16="http://schemas.microsoft.com/office/drawing/2014/main" id="{7B0A4FE9-D0AF-0483-F39C-5D9E4A1ED0D4}"/>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1" name="TextBox 20">
              <a:extLst>
                <a:ext uri="{FF2B5EF4-FFF2-40B4-BE49-F238E27FC236}">
                  <a16:creationId xmlns:a16="http://schemas.microsoft.com/office/drawing/2014/main" id="{CD6D0D62-5E7B-9C4C-9AA6-7DAEAF7CEF51}"/>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j1</a:t>
              </a:r>
            </a:p>
          </p:txBody>
        </p:sp>
      </p:grpSp>
      <p:grpSp>
        <p:nvGrpSpPr>
          <p:cNvPr id="22" name="Group 21">
            <a:extLst>
              <a:ext uri="{FF2B5EF4-FFF2-40B4-BE49-F238E27FC236}">
                <a16:creationId xmlns:a16="http://schemas.microsoft.com/office/drawing/2014/main" id="{3E7D2528-A083-5CCC-FB78-C923BBF35A29}"/>
              </a:ext>
            </a:extLst>
          </p:cNvPr>
          <p:cNvGrpSpPr/>
          <p:nvPr/>
        </p:nvGrpSpPr>
        <p:grpSpPr>
          <a:xfrm>
            <a:off x="5530233" y="3340360"/>
            <a:ext cx="473976" cy="365760"/>
            <a:chOff x="2189284" y="2769576"/>
            <a:chExt cx="473976" cy="365760"/>
          </a:xfrm>
        </p:grpSpPr>
        <p:sp>
          <p:nvSpPr>
            <p:cNvPr id="23" name="Rectangle 22">
              <a:extLst>
                <a:ext uri="{FF2B5EF4-FFF2-40B4-BE49-F238E27FC236}">
                  <a16:creationId xmlns:a16="http://schemas.microsoft.com/office/drawing/2014/main" id="{8D9AE175-B5E7-62BC-976F-A9909E1F860B}"/>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A8ADFD85-D162-778E-C6B1-E0EBEE998F95}"/>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j2</a:t>
              </a:r>
            </a:p>
          </p:txBody>
        </p:sp>
      </p:grpSp>
      <p:grpSp>
        <p:nvGrpSpPr>
          <p:cNvPr id="25" name="Group 24">
            <a:extLst>
              <a:ext uri="{FF2B5EF4-FFF2-40B4-BE49-F238E27FC236}">
                <a16:creationId xmlns:a16="http://schemas.microsoft.com/office/drawing/2014/main" id="{AD1E1AA0-128C-3F0E-F1A1-50DBB2B9CF9C}"/>
              </a:ext>
            </a:extLst>
          </p:cNvPr>
          <p:cNvGrpSpPr/>
          <p:nvPr/>
        </p:nvGrpSpPr>
        <p:grpSpPr>
          <a:xfrm>
            <a:off x="5530233" y="3911143"/>
            <a:ext cx="473976" cy="365760"/>
            <a:chOff x="2189284" y="2769576"/>
            <a:chExt cx="473976" cy="365760"/>
          </a:xfrm>
        </p:grpSpPr>
        <p:sp>
          <p:nvSpPr>
            <p:cNvPr id="26" name="Rectangle 25">
              <a:extLst>
                <a:ext uri="{FF2B5EF4-FFF2-40B4-BE49-F238E27FC236}">
                  <a16:creationId xmlns:a16="http://schemas.microsoft.com/office/drawing/2014/main" id="{FB8AF955-94D1-372A-C0E1-D3E5AF93B3E1}"/>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7" name="TextBox 26">
              <a:extLst>
                <a:ext uri="{FF2B5EF4-FFF2-40B4-BE49-F238E27FC236}">
                  <a16:creationId xmlns:a16="http://schemas.microsoft.com/office/drawing/2014/main" id="{8B7734AD-EE2A-60E0-F263-C28E8098C985}"/>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j3</a:t>
              </a:r>
            </a:p>
          </p:txBody>
        </p:sp>
      </p:grpSp>
      <p:sp>
        <p:nvSpPr>
          <p:cNvPr id="2" name="TextBox 1">
            <a:extLst>
              <a:ext uri="{FF2B5EF4-FFF2-40B4-BE49-F238E27FC236}">
                <a16:creationId xmlns:a16="http://schemas.microsoft.com/office/drawing/2014/main" id="{0130A550-3217-B62B-0F05-0B007A269AD5}"/>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8" name="TextBox 7">
            <a:extLst>
              <a:ext uri="{FF2B5EF4-FFF2-40B4-BE49-F238E27FC236}">
                <a16:creationId xmlns:a16="http://schemas.microsoft.com/office/drawing/2014/main" id="{63D96AC6-125E-63BA-7610-F8C019579A86}"/>
              </a:ext>
            </a:extLst>
          </p:cNvPr>
          <p:cNvSpPr txBox="1"/>
          <p:nvPr/>
        </p:nvSpPr>
        <p:spPr>
          <a:xfrm>
            <a:off x="168443" y="4195668"/>
            <a:ext cx="1515980" cy="738664"/>
          </a:xfrm>
          <a:prstGeom prst="rect">
            <a:avLst/>
          </a:prstGeom>
          <a:noFill/>
          <a:ln>
            <a:solidFill>
              <a:schemeClr val="bg2"/>
            </a:solidFill>
          </a:ln>
        </p:spPr>
        <p:txBody>
          <a:bodyPr wrap="square" rtlCol="0">
            <a:spAutoFit/>
          </a:bodyPr>
          <a:lstStyle/>
          <a:p>
            <a:r>
              <a:rPr lang="en-US" b="1" u="sng" dirty="0">
                <a:latin typeface="Lato" panose="020B0604020202020204" charset="0"/>
                <a:ea typeface="Lato" panose="020B0604020202020204" charset="0"/>
                <a:cs typeface="Lato" panose="020B0604020202020204" charset="0"/>
              </a:rPr>
              <a:t>Example: </a:t>
            </a:r>
          </a:p>
          <a:p>
            <a:r>
              <a:rPr lang="en-US" dirty="0">
                <a:latin typeface="Lato" panose="020B0604020202020204" charset="0"/>
                <a:ea typeface="Lato" panose="020B0604020202020204" charset="0"/>
                <a:cs typeface="Lato" panose="020B0604020202020204" charset="0"/>
              </a:rPr>
              <a:t>e1 = employee 1</a:t>
            </a:r>
          </a:p>
          <a:p>
            <a:r>
              <a:rPr lang="en-US" dirty="0">
                <a:latin typeface="Lato" panose="020B0604020202020204" charset="0"/>
                <a:ea typeface="Lato" panose="020B0604020202020204" charset="0"/>
                <a:cs typeface="Lato" panose="020B0604020202020204" charset="0"/>
              </a:rPr>
              <a:t>j1 = job 1</a:t>
            </a:r>
          </a:p>
        </p:txBody>
      </p:sp>
      <p:cxnSp>
        <p:nvCxnSpPr>
          <p:cNvPr id="16" name="Straight Connector 15">
            <a:extLst>
              <a:ext uri="{FF2B5EF4-FFF2-40B4-BE49-F238E27FC236}">
                <a16:creationId xmlns:a16="http://schemas.microsoft.com/office/drawing/2014/main" id="{391968FA-1FA7-9784-16BA-C461C36FA437}"/>
              </a:ext>
            </a:extLst>
          </p:cNvPr>
          <p:cNvCxnSpPr>
            <a:cxnSpLocks/>
            <a:endCxn id="24" idx="1"/>
          </p:cNvCxnSpPr>
          <p:nvPr/>
        </p:nvCxnSpPr>
        <p:spPr>
          <a:xfrm flipV="1">
            <a:off x="3047396" y="3523240"/>
            <a:ext cx="2482837" cy="583677"/>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0C19D8BB-EEB0-9E35-3582-FADF46B37792}"/>
              </a:ext>
            </a:extLst>
          </p:cNvPr>
          <p:cNvCxnSpPr>
            <a:cxnSpLocks/>
            <a:endCxn id="21" idx="1"/>
          </p:cNvCxnSpPr>
          <p:nvPr/>
        </p:nvCxnSpPr>
        <p:spPr>
          <a:xfrm>
            <a:off x="3047396" y="2952455"/>
            <a:ext cx="2482837" cy="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7648200-EC39-C02B-A864-C33FEBD03DD3}"/>
              </a:ext>
            </a:extLst>
          </p:cNvPr>
          <p:cNvCxnSpPr>
            <a:cxnSpLocks/>
            <a:endCxn id="24" idx="1"/>
          </p:cNvCxnSpPr>
          <p:nvPr/>
        </p:nvCxnSpPr>
        <p:spPr>
          <a:xfrm>
            <a:off x="3047396" y="3523240"/>
            <a:ext cx="2482837"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72589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643E3293-90C1-20D9-9A8D-3AF4592D9B57}"/>
            </a:ext>
          </a:extLst>
        </p:cNvPr>
        <p:cNvGrpSpPr/>
        <p:nvPr/>
      </p:nvGrpSpPr>
      <p:grpSpPr>
        <a:xfrm>
          <a:off x="0" y="0"/>
          <a:ext cx="0" cy="0"/>
          <a:chOff x="0" y="0"/>
          <a:chExt cx="0" cy="0"/>
        </a:xfrm>
      </p:grpSpPr>
      <p:sp>
        <p:nvSpPr>
          <p:cNvPr id="134" name="Google Shape;134;p21">
            <a:extLst>
              <a:ext uri="{FF2B5EF4-FFF2-40B4-BE49-F238E27FC236}">
                <a16:creationId xmlns:a16="http://schemas.microsoft.com/office/drawing/2014/main" id="{D40DDA12-CDE9-2DAF-B4BA-4E2CF0F07A75}"/>
              </a:ext>
            </a:extLst>
          </p:cNvPr>
          <p:cNvSpPr txBox="1">
            <a:spLocks noGrp="1"/>
          </p:cNvSpPr>
          <p:nvPr>
            <p:ph type="body" idx="1"/>
          </p:nvPr>
        </p:nvSpPr>
        <p:spPr>
          <a:xfrm>
            <a:off x="70027" y="1269983"/>
            <a:ext cx="2681157" cy="22611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US" sz="1700" dirty="0">
                <a:solidFill>
                  <a:srgbClr val="00B050"/>
                </a:solidFill>
              </a:rPr>
              <a:t>e1 : </a:t>
            </a:r>
            <a:r>
              <a:rPr lang="en-US" sz="1700" strike="sngStrike" dirty="0">
                <a:solidFill>
                  <a:srgbClr val="00B050"/>
                </a:solidFill>
              </a:rPr>
              <a:t>j2</a:t>
            </a:r>
            <a:r>
              <a:rPr lang="en-US" sz="1700" dirty="0">
                <a:solidFill>
                  <a:srgbClr val="00B050"/>
                </a:solidFill>
              </a:rPr>
              <a:t>, </a:t>
            </a:r>
            <a:r>
              <a:rPr lang="en-US" sz="1700" u="sng" dirty="0">
                <a:solidFill>
                  <a:srgbClr val="00B050"/>
                </a:solidFill>
              </a:rPr>
              <a:t>j1</a:t>
            </a:r>
            <a:r>
              <a:rPr lang="en-US" sz="1700" dirty="0">
                <a:solidFill>
                  <a:srgbClr val="00B050"/>
                </a:solidFill>
              </a:rPr>
              <a:t>, j3</a:t>
            </a:r>
          </a:p>
          <a:p>
            <a:pPr marL="457200" lvl="0" indent="-336550" algn="l" rtl="0">
              <a:spcBef>
                <a:spcPts val="0"/>
              </a:spcBef>
              <a:spcAft>
                <a:spcPts val="0"/>
              </a:spcAft>
              <a:buSzPts val="1700"/>
              <a:buChar char="●"/>
            </a:pPr>
            <a:r>
              <a:rPr lang="en-US" sz="1700" b="1" dirty="0"/>
              <a:t>e2 : </a:t>
            </a:r>
            <a:r>
              <a:rPr lang="en-US" sz="1700" b="1" strike="sngStrike" dirty="0"/>
              <a:t>j1</a:t>
            </a:r>
            <a:r>
              <a:rPr lang="en-US" sz="1700" b="1" dirty="0"/>
              <a:t>, j2, j3</a:t>
            </a:r>
          </a:p>
          <a:p>
            <a:pPr marL="457200" lvl="0" indent="-336550" algn="l" rtl="0">
              <a:spcBef>
                <a:spcPts val="0"/>
              </a:spcBef>
              <a:spcAft>
                <a:spcPts val="0"/>
              </a:spcAft>
              <a:buSzPts val="1700"/>
              <a:buChar char="●"/>
            </a:pPr>
            <a:r>
              <a:rPr lang="en-US" sz="1700" dirty="0">
                <a:solidFill>
                  <a:srgbClr val="00B050"/>
                </a:solidFill>
              </a:rPr>
              <a:t>e3 : </a:t>
            </a:r>
            <a:r>
              <a:rPr lang="en-US" sz="1700" strike="sngStrike" dirty="0">
                <a:solidFill>
                  <a:srgbClr val="00B050"/>
                </a:solidFill>
              </a:rPr>
              <a:t>j1</a:t>
            </a:r>
            <a:r>
              <a:rPr lang="en-US" sz="1700" dirty="0">
                <a:solidFill>
                  <a:srgbClr val="00B050"/>
                </a:solidFill>
              </a:rPr>
              <a:t>, </a:t>
            </a:r>
            <a:r>
              <a:rPr lang="en-US" sz="1700" u="sng" dirty="0">
                <a:solidFill>
                  <a:srgbClr val="00B050"/>
                </a:solidFill>
              </a:rPr>
              <a:t>j2</a:t>
            </a:r>
            <a:r>
              <a:rPr lang="en-US" sz="1700" dirty="0">
                <a:solidFill>
                  <a:srgbClr val="00B050"/>
                </a:solidFill>
              </a:rPr>
              <a:t>, j3</a:t>
            </a:r>
            <a:endParaRPr lang="en-US" sz="1500" dirty="0">
              <a:solidFill>
                <a:srgbClr val="00B050"/>
              </a:solidFill>
            </a:endParaRPr>
          </a:p>
        </p:txBody>
      </p:sp>
      <p:sp>
        <p:nvSpPr>
          <p:cNvPr id="4" name="Google Shape;134;p21">
            <a:extLst>
              <a:ext uri="{FF2B5EF4-FFF2-40B4-BE49-F238E27FC236}">
                <a16:creationId xmlns:a16="http://schemas.microsoft.com/office/drawing/2014/main" id="{3D8581C1-AC25-140A-00D6-3B06849004C4}"/>
              </a:ext>
            </a:extLst>
          </p:cNvPr>
          <p:cNvSpPr txBox="1">
            <a:spLocks/>
          </p:cNvSpPr>
          <p:nvPr/>
        </p:nvSpPr>
        <p:spPr>
          <a:xfrm>
            <a:off x="6462843" y="1269983"/>
            <a:ext cx="2681157" cy="2261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indent="-336550">
              <a:buSzPts val="1700"/>
            </a:pPr>
            <a:r>
              <a:rPr lang="en-US" sz="1700" dirty="0">
                <a:solidFill>
                  <a:srgbClr val="00B050"/>
                </a:solidFill>
              </a:rPr>
              <a:t>j1 : </a:t>
            </a:r>
            <a:r>
              <a:rPr lang="en-US" sz="1700" u="sng" dirty="0">
                <a:solidFill>
                  <a:srgbClr val="00B050"/>
                </a:solidFill>
              </a:rPr>
              <a:t>e1</a:t>
            </a:r>
            <a:r>
              <a:rPr lang="en-US" sz="1700" dirty="0">
                <a:solidFill>
                  <a:srgbClr val="00B050"/>
                </a:solidFill>
              </a:rPr>
              <a:t>, </a:t>
            </a:r>
            <a:r>
              <a:rPr lang="en-US" sz="1700" strike="sngStrike" dirty="0">
                <a:solidFill>
                  <a:srgbClr val="00B050"/>
                </a:solidFill>
              </a:rPr>
              <a:t>e2</a:t>
            </a:r>
            <a:r>
              <a:rPr lang="en-US" sz="1700" dirty="0">
                <a:solidFill>
                  <a:srgbClr val="00B050"/>
                </a:solidFill>
              </a:rPr>
              <a:t>, </a:t>
            </a:r>
            <a:r>
              <a:rPr lang="en-US" sz="1700" strike="sngStrike" dirty="0">
                <a:solidFill>
                  <a:srgbClr val="00B050"/>
                </a:solidFill>
              </a:rPr>
              <a:t>e3</a:t>
            </a:r>
          </a:p>
          <a:p>
            <a:pPr indent="-336550">
              <a:buSzPts val="1700"/>
            </a:pPr>
            <a:r>
              <a:rPr lang="en-US" sz="1700" dirty="0">
                <a:solidFill>
                  <a:srgbClr val="00B050"/>
                </a:solidFill>
              </a:rPr>
              <a:t>j2 : </a:t>
            </a:r>
            <a:r>
              <a:rPr lang="en-US" sz="1700" u="sng" dirty="0">
                <a:solidFill>
                  <a:srgbClr val="00B050"/>
                </a:solidFill>
              </a:rPr>
              <a:t>e3</a:t>
            </a:r>
            <a:r>
              <a:rPr lang="en-US" sz="1700" dirty="0">
                <a:solidFill>
                  <a:srgbClr val="00B050"/>
                </a:solidFill>
              </a:rPr>
              <a:t>, </a:t>
            </a:r>
            <a:r>
              <a:rPr lang="en-US" sz="1700" strike="sngStrike" dirty="0">
                <a:solidFill>
                  <a:srgbClr val="00B050"/>
                </a:solidFill>
              </a:rPr>
              <a:t>e1</a:t>
            </a:r>
            <a:r>
              <a:rPr lang="en-US" sz="1700" dirty="0">
                <a:solidFill>
                  <a:srgbClr val="00B050"/>
                </a:solidFill>
              </a:rPr>
              <a:t>, e2</a:t>
            </a:r>
          </a:p>
          <a:p>
            <a:pPr indent="-336550">
              <a:buSzPts val="1700"/>
            </a:pPr>
            <a:r>
              <a:rPr lang="en-US" sz="1700" dirty="0"/>
              <a:t>j3 : e1, e2, e3</a:t>
            </a:r>
            <a:endParaRPr lang="en-US" sz="1500" dirty="0"/>
          </a:p>
        </p:txBody>
      </p:sp>
      <p:grpSp>
        <p:nvGrpSpPr>
          <p:cNvPr id="7" name="Group 6">
            <a:extLst>
              <a:ext uri="{FF2B5EF4-FFF2-40B4-BE49-F238E27FC236}">
                <a16:creationId xmlns:a16="http://schemas.microsoft.com/office/drawing/2014/main" id="{9C981541-CEB1-D886-6C01-CB1F01D497C7}"/>
              </a:ext>
            </a:extLst>
          </p:cNvPr>
          <p:cNvGrpSpPr/>
          <p:nvPr/>
        </p:nvGrpSpPr>
        <p:grpSpPr>
          <a:xfrm>
            <a:off x="2681636" y="2769576"/>
            <a:ext cx="473976" cy="365760"/>
            <a:chOff x="2189284" y="2769576"/>
            <a:chExt cx="473976" cy="365760"/>
          </a:xfrm>
        </p:grpSpPr>
        <p:sp>
          <p:nvSpPr>
            <p:cNvPr id="3" name="Rectangle 2">
              <a:extLst>
                <a:ext uri="{FF2B5EF4-FFF2-40B4-BE49-F238E27FC236}">
                  <a16:creationId xmlns:a16="http://schemas.microsoft.com/office/drawing/2014/main" id="{DC00C356-3CAB-B213-62E1-89266BF377AF}"/>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06AF1852-10E0-F047-A0E1-18E1B71E0351}"/>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e1</a:t>
              </a:r>
              <a:endParaRPr lang="en-US" dirty="0">
                <a:solidFill>
                  <a:srgbClr val="FF0000"/>
                </a:solidFill>
                <a:latin typeface="Lato" panose="020B0604020202020204" charset="0"/>
                <a:ea typeface="Lato" panose="020B0604020202020204" charset="0"/>
                <a:cs typeface="Lato" panose="020B0604020202020204" charset="0"/>
              </a:endParaRPr>
            </a:p>
          </p:txBody>
        </p:sp>
      </p:grpSp>
      <p:grpSp>
        <p:nvGrpSpPr>
          <p:cNvPr id="10" name="Group 9">
            <a:extLst>
              <a:ext uri="{FF2B5EF4-FFF2-40B4-BE49-F238E27FC236}">
                <a16:creationId xmlns:a16="http://schemas.microsoft.com/office/drawing/2014/main" id="{960E17FE-7D84-C1CA-CF55-42ADE4F5192C}"/>
              </a:ext>
            </a:extLst>
          </p:cNvPr>
          <p:cNvGrpSpPr/>
          <p:nvPr/>
        </p:nvGrpSpPr>
        <p:grpSpPr>
          <a:xfrm>
            <a:off x="2681636" y="3340360"/>
            <a:ext cx="473976" cy="365760"/>
            <a:chOff x="2189284" y="2769576"/>
            <a:chExt cx="473976" cy="365760"/>
          </a:xfrm>
        </p:grpSpPr>
        <p:sp>
          <p:nvSpPr>
            <p:cNvPr id="11" name="Rectangle 10">
              <a:extLst>
                <a:ext uri="{FF2B5EF4-FFF2-40B4-BE49-F238E27FC236}">
                  <a16:creationId xmlns:a16="http://schemas.microsoft.com/office/drawing/2014/main" id="{239ADBFF-5CD1-0496-56F4-9654CDD7CA95}"/>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TextBox 11">
              <a:extLst>
                <a:ext uri="{FF2B5EF4-FFF2-40B4-BE49-F238E27FC236}">
                  <a16:creationId xmlns:a16="http://schemas.microsoft.com/office/drawing/2014/main" id="{CCF69393-7167-FA41-DA68-DB74391A9FFD}"/>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e2</a:t>
              </a:r>
            </a:p>
          </p:txBody>
        </p:sp>
      </p:grpSp>
      <p:grpSp>
        <p:nvGrpSpPr>
          <p:cNvPr id="13" name="Group 12">
            <a:extLst>
              <a:ext uri="{FF2B5EF4-FFF2-40B4-BE49-F238E27FC236}">
                <a16:creationId xmlns:a16="http://schemas.microsoft.com/office/drawing/2014/main" id="{EFD57092-D7B9-9313-28D8-1A277E7B6DDB}"/>
              </a:ext>
            </a:extLst>
          </p:cNvPr>
          <p:cNvGrpSpPr/>
          <p:nvPr/>
        </p:nvGrpSpPr>
        <p:grpSpPr>
          <a:xfrm>
            <a:off x="2681636" y="3911143"/>
            <a:ext cx="473976" cy="365760"/>
            <a:chOff x="2189284" y="2769576"/>
            <a:chExt cx="473976" cy="365760"/>
          </a:xfrm>
        </p:grpSpPr>
        <p:sp>
          <p:nvSpPr>
            <p:cNvPr id="14" name="Rectangle 13">
              <a:extLst>
                <a:ext uri="{FF2B5EF4-FFF2-40B4-BE49-F238E27FC236}">
                  <a16:creationId xmlns:a16="http://schemas.microsoft.com/office/drawing/2014/main" id="{55276D81-A933-6B84-2357-DB57075D5919}"/>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E0E1ECB1-CD98-3D5A-5879-E0961FB63391}"/>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e3</a:t>
              </a:r>
            </a:p>
          </p:txBody>
        </p:sp>
      </p:grpSp>
      <p:grpSp>
        <p:nvGrpSpPr>
          <p:cNvPr id="19" name="Group 18">
            <a:extLst>
              <a:ext uri="{FF2B5EF4-FFF2-40B4-BE49-F238E27FC236}">
                <a16:creationId xmlns:a16="http://schemas.microsoft.com/office/drawing/2014/main" id="{1B4DA43B-E40B-1937-1F15-F2E3C60A3D62}"/>
              </a:ext>
            </a:extLst>
          </p:cNvPr>
          <p:cNvGrpSpPr/>
          <p:nvPr/>
        </p:nvGrpSpPr>
        <p:grpSpPr>
          <a:xfrm>
            <a:off x="5530233" y="2769576"/>
            <a:ext cx="473976" cy="365760"/>
            <a:chOff x="2189284" y="2769576"/>
            <a:chExt cx="473976" cy="365760"/>
          </a:xfrm>
        </p:grpSpPr>
        <p:sp>
          <p:nvSpPr>
            <p:cNvPr id="20" name="Rectangle 19">
              <a:extLst>
                <a:ext uri="{FF2B5EF4-FFF2-40B4-BE49-F238E27FC236}">
                  <a16:creationId xmlns:a16="http://schemas.microsoft.com/office/drawing/2014/main" id="{65DAAD92-ED0C-1F49-1C11-0BF301F6F1D8}"/>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1" name="TextBox 20">
              <a:extLst>
                <a:ext uri="{FF2B5EF4-FFF2-40B4-BE49-F238E27FC236}">
                  <a16:creationId xmlns:a16="http://schemas.microsoft.com/office/drawing/2014/main" id="{0F6FFF8E-755D-398D-0368-CD48781D9354}"/>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j1</a:t>
              </a:r>
            </a:p>
          </p:txBody>
        </p:sp>
      </p:grpSp>
      <p:grpSp>
        <p:nvGrpSpPr>
          <p:cNvPr id="22" name="Group 21">
            <a:extLst>
              <a:ext uri="{FF2B5EF4-FFF2-40B4-BE49-F238E27FC236}">
                <a16:creationId xmlns:a16="http://schemas.microsoft.com/office/drawing/2014/main" id="{E88F6F7B-A29E-5306-E4C4-902E7F6B9C24}"/>
              </a:ext>
            </a:extLst>
          </p:cNvPr>
          <p:cNvGrpSpPr/>
          <p:nvPr/>
        </p:nvGrpSpPr>
        <p:grpSpPr>
          <a:xfrm>
            <a:off x="5530233" y="3340360"/>
            <a:ext cx="473976" cy="365760"/>
            <a:chOff x="2189284" y="2769576"/>
            <a:chExt cx="473976" cy="365760"/>
          </a:xfrm>
        </p:grpSpPr>
        <p:sp>
          <p:nvSpPr>
            <p:cNvPr id="23" name="Rectangle 22">
              <a:extLst>
                <a:ext uri="{FF2B5EF4-FFF2-40B4-BE49-F238E27FC236}">
                  <a16:creationId xmlns:a16="http://schemas.microsoft.com/office/drawing/2014/main" id="{D7649274-7D0D-E11C-7186-D6324DA81502}"/>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D72FBE7E-4DF6-1757-D0BE-E0562A15EEF2}"/>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j2</a:t>
              </a:r>
            </a:p>
          </p:txBody>
        </p:sp>
      </p:grpSp>
      <p:grpSp>
        <p:nvGrpSpPr>
          <p:cNvPr id="25" name="Group 24">
            <a:extLst>
              <a:ext uri="{FF2B5EF4-FFF2-40B4-BE49-F238E27FC236}">
                <a16:creationId xmlns:a16="http://schemas.microsoft.com/office/drawing/2014/main" id="{D37881DE-1A9C-6896-4305-BF1AAB4BCC50}"/>
              </a:ext>
            </a:extLst>
          </p:cNvPr>
          <p:cNvGrpSpPr/>
          <p:nvPr/>
        </p:nvGrpSpPr>
        <p:grpSpPr>
          <a:xfrm>
            <a:off x="5530233" y="3911143"/>
            <a:ext cx="473976" cy="365760"/>
            <a:chOff x="2189284" y="2769576"/>
            <a:chExt cx="473976" cy="365760"/>
          </a:xfrm>
        </p:grpSpPr>
        <p:sp>
          <p:nvSpPr>
            <p:cNvPr id="26" name="Rectangle 25">
              <a:extLst>
                <a:ext uri="{FF2B5EF4-FFF2-40B4-BE49-F238E27FC236}">
                  <a16:creationId xmlns:a16="http://schemas.microsoft.com/office/drawing/2014/main" id="{41B97ED8-10B5-889F-8870-2F2ADA1225B6}"/>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7" name="TextBox 26">
              <a:extLst>
                <a:ext uri="{FF2B5EF4-FFF2-40B4-BE49-F238E27FC236}">
                  <a16:creationId xmlns:a16="http://schemas.microsoft.com/office/drawing/2014/main" id="{51DB8CA9-BBF6-41B1-185C-5A37EAF69505}"/>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j3</a:t>
              </a:r>
            </a:p>
          </p:txBody>
        </p:sp>
      </p:grpSp>
      <p:sp>
        <p:nvSpPr>
          <p:cNvPr id="2" name="TextBox 1">
            <a:extLst>
              <a:ext uri="{FF2B5EF4-FFF2-40B4-BE49-F238E27FC236}">
                <a16:creationId xmlns:a16="http://schemas.microsoft.com/office/drawing/2014/main" id="{BA406BFD-0736-CF9D-377B-C8B86129DBF6}"/>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8" name="TextBox 7">
            <a:extLst>
              <a:ext uri="{FF2B5EF4-FFF2-40B4-BE49-F238E27FC236}">
                <a16:creationId xmlns:a16="http://schemas.microsoft.com/office/drawing/2014/main" id="{3FEE71D4-0D9F-902F-6D84-CC702A49E919}"/>
              </a:ext>
            </a:extLst>
          </p:cNvPr>
          <p:cNvSpPr txBox="1"/>
          <p:nvPr/>
        </p:nvSpPr>
        <p:spPr>
          <a:xfrm>
            <a:off x="168443" y="4195668"/>
            <a:ext cx="1515980" cy="738664"/>
          </a:xfrm>
          <a:prstGeom prst="rect">
            <a:avLst/>
          </a:prstGeom>
          <a:noFill/>
          <a:ln>
            <a:solidFill>
              <a:schemeClr val="bg2"/>
            </a:solidFill>
          </a:ln>
        </p:spPr>
        <p:txBody>
          <a:bodyPr wrap="square" rtlCol="0">
            <a:spAutoFit/>
          </a:bodyPr>
          <a:lstStyle/>
          <a:p>
            <a:r>
              <a:rPr lang="en-US" b="1" u="sng" dirty="0">
                <a:latin typeface="Lato" panose="020B0604020202020204" charset="0"/>
                <a:ea typeface="Lato" panose="020B0604020202020204" charset="0"/>
                <a:cs typeface="Lato" panose="020B0604020202020204" charset="0"/>
              </a:rPr>
              <a:t>Example: </a:t>
            </a:r>
          </a:p>
          <a:p>
            <a:r>
              <a:rPr lang="en-US" dirty="0">
                <a:latin typeface="Lato" panose="020B0604020202020204" charset="0"/>
                <a:ea typeface="Lato" panose="020B0604020202020204" charset="0"/>
                <a:cs typeface="Lato" panose="020B0604020202020204" charset="0"/>
              </a:rPr>
              <a:t>e1 = employee 1</a:t>
            </a:r>
          </a:p>
          <a:p>
            <a:r>
              <a:rPr lang="en-US" dirty="0">
                <a:latin typeface="Lato" panose="020B0604020202020204" charset="0"/>
                <a:ea typeface="Lato" panose="020B0604020202020204" charset="0"/>
                <a:cs typeface="Lato" panose="020B0604020202020204" charset="0"/>
              </a:rPr>
              <a:t>j1 = job 1</a:t>
            </a:r>
          </a:p>
        </p:txBody>
      </p:sp>
      <p:cxnSp>
        <p:nvCxnSpPr>
          <p:cNvPr id="16" name="Straight Connector 15">
            <a:extLst>
              <a:ext uri="{FF2B5EF4-FFF2-40B4-BE49-F238E27FC236}">
                <a16:creationId xmlns:a16="http://schemas.microsoft.com/office/drawing/2014/main" id="{E770ED38-561E-035C-B804-A2CBE6281EE3}"/>
              </a:ext>
            </a:extLst>
          </p:cNvPr>
          <p:cNvCxnSpPr>
            <a:cxnSpLocks/>
            <a:endCxn id="24" idx="1"/>
          </p:cNvCxnSpPr>
          <p:nvPr/>
        </p:nvCxnSpPr>
        <p:spPr>
          <a:xfrm flipV="1">
            <a:off x="3047396" y="3523240"/>
            <a:ext cx="2482837" cy="583677"/>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04CB2BE9-4276-E098-1510-3F4A513F7CCC}"/>
              </a:ext>
            </a:extLst>
          </p:cNvPr>
          <p:cNvCxnSpPr>
            <a:cxnSpLocks/>
            <a:endCxn id="21" idx="1"/>
          </p:cNvCxnSpPr>
          <p:nvPr/>
        </p:nvCxnSpPr>
        <p:spPr>
          <a:xfrm>
            <a:off x="3047396" y="2952455"/>
            <a:ext cx="2482837" cy="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352468F-730E-A893-5FBE-8F57FE2262A3}"/>
              </a:ext>
            </a:extLst>
          </p:cNvPr>
          <p:cNvCxnSpPr>
            <a:cxnSpLocks/>
            <a:endCxn id="24" idx="1"/>
          </p:cNvCxnSpPr>
          <p:nvPr/>
        </p:nvCxnSpPr>
        <p:spPr>
          <a:xfrm>
            <a:off x="3047396" y="3523240"/>
            <a:ext cx="2482837"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Cross 16">
            <a:extLst>
              <a:ext uri="{FF2B5EF4-FFF2-40B4-BE49-F238E27FC236}">
                <a16:creationId xmlns:a16="http://schemas.microsoft.com/office/drawing/2014/main" id="{88891A87-969E-507F-ECFD-CD5F955B2050}"/>
              </a:ext>
            </a:extLst>
          </p:cNvPr>
          <p:cNvSpPr/>
          <p:nvPr/>
        </p:nvSpPr>
        <p:spPr>
          <a:xfrm rot="18839074">
            <a:off x="2499331" y="1737245"/>
            <a:ext cx="3578966" cy="3571988"/>
          </a:xfrm>
          <a:prstGeom prst="plus">
            <a:avLst>
              <a:gd name="adj" fmla="val 48100"/>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100508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F10DB0A4-5732-E666-86CE-3654BE77F331}"/>
            </a:ext>
          </a:extLst>
        </p:cNvPr>
        <p:cNvGrpSpPr/>
        <p:nvPr/>
      </p:nvGrpSpPr>
      <p:grpSpPr>
        <a:xfrm>
          <a:off x="0" y="0"/>
          <a:ext cx="0" cy="0"/>
          <a:chOff x="0" y="0"/>
          <a:chExt cx="0" cy="0"/>
        </a:xfrm>
      </p:grpSpPr>
      <p:sp>
        <p:nvSpPr>
          <p:cNvPr id="134" name="Google Shape;134;p21">
            <a:extLst>
              <a:ext uri="{FF2B5EF4-FFF2-40B4-BE49-F238E27FC236}">
                <a16:creationId xmlns:a16="http://schemas.microsoft.com/office/drawing/2014/main" id="{01439CC0-4C7B-1B6D-0B78-D8FC80F9778A}"/>
              </a:ext>
            </a:extLst>
          </p:cNvPr>
          <p:cNvSpPr txBox="1">
            <a:spLocks noGrp="1"/>
          </p:cNvSpPr>
          <p:nvPr>
            <p:ph type="body" idx="1"/>
          </p:nvPr>
        </p:nvSpPr>
        <p:spPr>
          <a:xfrm>
            <a:off x="70027" y="1269983"/>
            <a:ext cx="2681157" cy="22611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US" sz="1700" dirty="0">
                <a:solidFill>
                  <a:srgbClr val="00B050"/>
                </a:solidFill>
              </a:rPr>
              <a:t>e1 : </a:t>
            </a:r>
            <a:r>
              <a:rPr lang="en-US" sz="1700" strike="sngStrike" dirty="0">
                <a:solidFill>
                  <a:srgbClr val="00B050"/>
                </a:solidFill>
              </a:rPr>
              <a:t>j2</a:t>
            </a:r>
            <a:r>
              <a:rPr lang="en-US" sz="1700" dirty="0">
                <a:solidFill>
                  <a:srgbClr val="00B050"/>
                </a:solidFill>
              </a:rPr>
              <a:t>, </a:t>
            </a:r>
            <a:r>
              <a:rPr lang="en-US" sz="1700" u="sng" dirty="0">
                <a:solidFill>
                  <a:srgbClr val="00B050"/>
                </a:solidFill>
              </a:rPr>
              <a:t>j1</a:t>
            </a:r>
            <a:r>
              <a:rPr lang="en-US" sz="1700" dirty="0">
                <a:solidFill>
                  <a:srgbClr val="00B050"/>
                </a:solidFill>
              </a:rPr>
              <a:t>, j3</a:t>
            </a:r>
          </a:p>
          <a:p>
            <a:pPr marL="457200" lvl="0" indent="-336550" algn="l" rtl="0">
              <a:spcBef>
                <a:spcPts val="0"/>
              </a:spcBef>
              <a:spcAft>
                <a:spcPts val="0"/>
              </a:spcAft>
              <a:buSzPts val="1700"/>
              <a:buChar char="●"/>
            </a:pPr>
            <a:r>
              <a:rPr lang="en-US" sz="1700" b="1" dirty="0"/>
              <a:t>e2 : </a:t>
            </a:r>
            <a:r>
              <a:rPr lang="en-US" sz="1700" b="1" strike="sngStrike" dirty="0"/>
              <a:t>j1</a:t>
            </a:r>
            <a:r>
              <a:rPr lang="en-US" sz="1700" b="1" dirty="0"/>
              <a:t>, </a:t>
            </a:r>
            <a:r>
              <a:rPr lang="en-US" sz="1700" b="1" strike="sngStrike" dirty="0"/>
              <a:t>j2</a:t>
            </a:r>
            <a:r>
              <a:rPr lang="en-US" sz="1700" b="1" dirty="0"/>
              <a:t>, j3</a:t>
            </a:r>
          </a:p>
          <a:p>
            <a:pPr marL="457200" lvl="0" indent="-336550" algn="l" rtl="0">
              <a:spcBef>
                <a:spcPts val="0"/>
              </a:spcBef>
              <a:spcAft>
                <a:spcPts val="0"/>
              </a:spcAft>
              <a:buSzPts val="1700"/>
              <a:buChar char="●"/>
            </a:pPr>
            <a:r>
              <a:rPr lang="en-US" sz="1700" dirty="0">
                <a:solidFill>
                  <a:srgbClr val="00B050"/>
                </a:solidFill>
              </a:rPr>
              <a:t>e3 : </a:t>
            </a:r>
            <a:r>
              <a:rPr lang="en-US" sz="1700" strike="sngStrike" dirty="0">
                <a:solidFill>
                  <a:srgbClr val="00B050"/>
                </a:solidFill>
              </a:rPr>
              <a:t>j1</a:t>
            </a:r>
            <a:r>
              <a:rPr lang="en-US" sz="1700" dirty="0">
                <a:solidFill>
                  <a:srgbClr val="00B050"/>
                </a:solidFill>
              </a:rPr>
              <a:t>, </a:t>
            </a:r>
            <a:r>
              <a:rPr lang="en-US" sz="1700" u="sng" dirty="0">
                <a:solidFill>
                  <a:srgbClr val="00B050"/>
                </a:solidFill>
              </a:rPr>
              <a:t>j2</a:t>
            </a:r>
            <a:r>
              <a:rPr lang="en-US" sz="1700" dirty="0">
                <a:solidFill>
                  <a:srgbClr val="00B050"/>
                </a:solidFill>
              </a:rPr>
              <a:t>, j3</a:t>
            </a:r>
            <a:endParaRPr lang="en-US" sz="1500" dirty="0">
              <a:solidFill>
                <a:srgbClr val="00B050"/>
              </a:solidFill>
            </a:endParaRPr>
          </a:p>
        </p:txBody>
      </p:sp>
      <p:sp>
        <p:nvSpPr>
          <p:cNvPr id="4" name="Google Shape;134;p21">
            <a:extLst>
              <a:ext uri="{FF2B5EF4-FFF2-40B4-BE49-F238E27FC236}">
                <a16:creationId xmlns:a16="http://schemas.microsoft.com/office/drawing/2014/main" id="{CB3300C5-3F7E-22A5-D885-5094E62EC2ED}"/>
              </a:ext>
            </a:extLst>
          </p:cNvPr>
          <p:cNvSpPr txBox="1">
            <a:spLocks/>
          </p:cNvSpPr>
          <p:nvPr/>
        </p:nvSpPr>
        <p:spPr>
          <a:xfrm>
            <a:off x="6462843" y="1269983"/>
            <a:ext cx="2681157" cy="2261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indent="-336550">
              <a:buSzPts val="1700"/>
            </a:pPr>
            <a:r>
              <a:rPr lang="en-US" sz="1700" dirty="0">
                <a:solidFill>
                  <a:srgbClr val="00B050"/>
                </a:solidFill>
              </a:rPr>
              <a:t>j1 : </a:t>
            </a:r>
            <a:r>
              <a:rPr lang="en-US" sz="1700" u="sng" dirty="0">
                <a:solidFill>
                  <a:srgbClr val="00B050"/>
                </a:solidFill>
              </a:rPr>
              <a:t>e1</a:t>
            </a:r>
            <a:r>
              <a:rPr lang="en-US" sz="1700" dirty="0">
                <a:solidFill>
                  <a:srgbClr val="00B050"/>
                </a:solidFill>
              </a:rPr>
              <a:t>, </a:t>
            </a:r>
            <a:r>
              <a:rPr lang="en-US" sz="1700" strike="sngStrike" dirty="0">
                <a:solidFill>
                  <a:srgbClr val="00B050"/>
                </a:solidFill>
              </a:rPr>
              <a:t>e2</a:t>
            </a:r>
            <a:r>
              <a:rPr lang="en-US" sz="1700" dirty="0">
                <a:solidFill>
                  <a:srgbClr val="00B050"/>
                </a:solidFill>
              </a:rPr>
              <a:t>, </a:t>
            </a:r>
            <a:r>
              <a:rPr lang="en-US" sz="1700" strike="sngStrike" dirty="0">
                <a:solidFill>
                  <a:srgbClr val="00B050"/>
                </a:solidFill>
              </a:rPr>
              <a:t>e3</a:t>
            </a:r>
          </a:p>
          <a:p>
            <a:pPr indent="-336550">
              <a:buSzPts val="1700"/>
            </a:pPr>
            <a:r>
              <a:rPr lang="en-US" sz="1700" dirty="0">
                <a:solidFill>
                  <a:srgbClr val="00B050"/>
                </a:solidFill>
              </a:rPr>
              <a:t>j2 : </a:t>
            </a:r>
            <a:r>
              <a:rPr lang="en-US" sz="1700" u="sng" dirty="0">
                <a:solidFill>
                  <a:srgbClr val="00B050"/>
                </a:solidFill>
              </a:rPr>
              <a:t>e3</a:t>
            </a:r>
            <a:r>
              <a:rPr lang="en-US" sz="1700" dirty="0">
                <a:solidFill>
                  <a:srgbClr val="00B050"/>
                </a:solidFill>
              </a:rPr>
              <a:t>, </a:t>
            </a:r>
            <a:r>
              <a:rPr lang="en-US" sz="1700" strike="sngStrike" dirty="0">
                <a:solidFill>
                  <a:srgbClr val="00B050"/>
                </a:solidFill>
              </a:rPr>
              <a:t>e1</a:t>
            </a:r>
            <a:r>
              <a:rPr lang="en-US" sz="1700" dirty="0">
                <a:solidFill>
                  <a:srgbClr val="00B050"/>
                </a:solidFill>
              </a:rPr>
              <a:t>, </a:t>
            </a:r>
            <a:r>
              <a:rPr lang="en-US" sz="1700" strike="sngStrike" dirty="0">
                <a:solidFill>
                  <a:srgbClr val="00B050"/>
                </a:solidFill>
              </a:rPr>
              <a:t>e2</a:t>
            </a:r>
          </a:p>
          <a:p>
            <a:pPr indent="-336550">
              <a:buSzPts val="1700"/>
            </a:pPr>
            <a:r>
              <a:rPr lang="en-US" sz="1700" dirty="0"/>
              <a:t>j3 : e1, e2, e3</a:t>
            </a:r>
            <a:endParaRPr lang="en-US" sz="1500" dirty="0"/>
          </a:p>
        </p:txBody>
      </p:sp>
      <p:grpSp>
        <p:nvGrpSpPr>
          <p:cNvPr id="7" name="Group 6">
            <a:extLst>
              <a:ext uri="{FF2B5EF4-FFF2-40B4-BE49-F238E27FC236}">
                <a16:creationId xmlns:a16="http://schemas.microsoft.com/office/drawing/2014/main" id="{5AB6AB7B-9A0A-58E6-37B8-9058067C7F4D}"/>
              </a:ext>
            </a:extLst>
          </p:cNvPr>
          <p:cNvGrpSpPr/>
          <p:nvPr/>
        </p:nvGrpSpPr>
        <p:grpSpPr>
          <a:xfrm>
            <a:off x="2681636" y="2769576"/>
            <a:ext cx="473976" cy="365760"/>
            <a:chOff x="2189284" y="2769576"/>
            <a:chExt cx="473976" cy="365760"/>
          </a:xfrm>
        </p:grpSpPr>
        <p:sp>
          <p:nvSpPr>
            <p:cNvPr id="3" name="Rectangle 2">
              <a:extLst>
                <a:ext uri="{FF2B5EF4-FFF2-40B4-BE49-F238E27FC236}">
                  <a16:creationId xmlns:a16="http://schemas.microsoft.com/office/drawing/2014/main" id="{23652AFC-E9D4-9623-2C30-D4708D24FCA3}"/>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4EE5BC30-7BC5-9FEC-9F90-50AB74644EB0}"/>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e1</a:t>
              </a:r>
              <a:endParaRPr lang="en-US" dirty="0">
                <a:solidFill>
                  <a:srgbClr val="FF0000"/>
                </a:solidFill>
                <a:latin typeface="Lato" panose="020B0604020202020204" charset="0"/>
                <a:ea typeface="Lato" panose="020B0604020202020204" charset="0"/>
                <a:cs typeface="Lato" panose="020B0604020202020204" charset="0"/>
              </a:endParaRPr>
            </a:p>
          </p:txBody>
        </p:sp>
      </p:grpSp>
      <p:grpSp>
        <p:nvGrpSpPr>
          <p:cNvPr id="10" name="Group 9">
            <a:extLst>
              <a:ext uri="{FF2B5EF4-FFF2-40B4-BE49-F238E27FC236}">
                <a16:creationId xmlns:a16="http://schemas.microsoft.com/office/drawing/2014/main" id="{B139299A-3F0E-E4A7-56D4-C2E5DC068709}"/>
              </a:ext>
            </a:extLst>
          </p:cNvPr>
          <p:cNvGrpSpPr/>
          <p:nvPr/>
        </p:nvGrpSpPr>
        <p:grpSpPr>
          <a:xfrm>
            <a:off x="2681636" y="3340360"/>
            <a:ext cx="473976" cy="365760"/>
            <a:chOff x="2189284" y="2769576"/>
            <a:chExt cx="473976" cy="365760"/>
          </a:xfrm>
        </p:grpSpPr>
        <p:sp>
          <p:nvSpPr>
            <p:cNvPr id="11" name="Rectangle 10">
              <a:extLst>
                <a:ext uri="{FF2B5EF4-FFF2-40B4-BE49-F238E27FC236}">
                  <a16:creationId xmlns:a16="http://schemas.microsoft.com/office/drawing/2014/main" id="{93E5096F-FCC9-3615-56D3-A9A23A169962}"/>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TextBox 11">
              <a:extLst>
                <a:ext uri="{FF2B5EF4-FFF2-40B4-BE49-F238E27FC236}">
                  <a16:creationId xmlns:a16="http://schemas.microsoft.com/office/drawing/2014/main" id="{74F9D786-1B19-66FA-8F35-0B25130F7055}"/>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e2</a:t>
              </a:r>
            </a:p>
          </p:txBody>
        </p:sp>
      </p:grpSp>
      <p:grpSp>
        <p:nvGrpSpPr>
          <p:cNvPr id="13" name="Group 12">
            <a:extLst>
              <a:ext uri="{FF2B5EF4-FFF2-40B4-BE49-F238E27FC236}">
                <a16:creationId xmlns:a16="http://schemas.microsoft.com/office/drawing/2014/main" id="{FDCC9FFB-97C0-A795-B6CC-F60C08153586}"/>
              </a:ext>
            </a:extLst>
          </p:cNvPr>
          <p:cNvGrpSpPr/>
          <p:nvPr/>
        </p:nvGrpSpPr>
        <p:grpSpPr>
          <a:xfrm>
            <a:off x="2681636" y="3911143"/>
            <a:ext cx="473976" cy="365760"/>
            <a:chOff x="2189284" y="2769576"/>
            <a:chExt cx="473976" cy="365760"/>
          </a:xfrm>
        </p:grpSpPr>
        <p:sp>
          <p:nvSpPr>
            <p:cNvPr id="14" name="Rectangle 13">
              <a:extLst>
                <a:ext uri="{FF2B5EF4-FFF2-40B4-BE49-F238E27FC236}">
                  <a16:creationId xmlns:a16="http://schemas.microsoft.com/office/drawing/2014/main" id="{7E2C3D08-D726-0CD8-E4B5-A398B4C6195E}"/>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0343DF57-AC82-C773-335A-9E90EB7F0C5B}"/>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e3</a:t>
              </a:r>
            </a:p>
          </p:txBody>
        </p:sp>
      </p:grpSp>
      <p:grpSp>
        <p:nvGrpSpPr>
          <p:cNvPr id="19" name="Group 18">
            <a:extLst>
              <a:ext uri="{FF2B5EF4-FFF2-40B4-BE49-F238E27FC236}">
                <a16:creationId xmlns:a16="http://schemas.microsoft.com/office/drawing/2014/main" id="{06462364-F3D2-22EE-AD87-463E563C9ABE}"/>
              </a:ext>
            </a:extLst>
          </p:cNvPr>
          <p:cNvGrpSpPr/>
          <p:nvPr/>
        </p:nvGrpSpPr>
        <p:grpSpPr>
          <a:xfrm>
            <a:off x="5530233" y="2769576"/>
            <a:ext cx="473976" cy="365760"/>
            <a:chOff x="2189284" y="2769576"/>
            <a:chExt cx="473976" cy="365760"/>
          </a:xfrm>
        </p:grpSpPr>
        <p:sp>
          <p:nvSpPr>
            <p:cNvPr id="20" name="Rectangle 19">
              <a:extLst>
                <a:ext uri="{FF2B5EF4-FFF2-40B4-BE49-F238E27FC236}">
                  <a16:creationId xmlns:a16="http://schemas.microsoft.com/office/drawing/2014/main" id="{8D83435B-05E9-6D90-0FD9-2C823C347DBE}"/>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1" name="TextBox 20">
              <a:extLst>
                <a:ext uri="{FF2B5EF4-FFF2-40B4-BE49-F238E27FC236}">
                  <a16:creationId xmlns:a16="http://schemas.microsoft.com/office/drawing/2014/main" id="{259A5938-44AF-7740-10C7-76F357074508}"/>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j1</a:t>
              </a:r>
            </a:p>
          </p:txBody>
        </p:sp>
      </p:grpSp>
      <p:grpSp>
        <p:nvGrpSpPr>
          <p:cNvPr id="22" name="Group 21">
            <a:extLst>
              <a:ext uri="{FF2B5EF4-FFF2-40B4-BE49-F238E27FC236}">
                <a16:creationId xmlns:a16="http://schemas.microsoft.com/office/drawing/2014/main" id="{DADC7061-3FF0-A458-6701-50014CFA4D57}"/>
              </a:ext>
            </a:extLst>
          </p:cNvPr>
          <p:cNvGrpSpPr/>
          <p:nvPr/>
        </p:nvGrpSpPr>
        <p:grpSpPr>
          <a:xfrm>
            <a:off x="5530233" y="3340360"/>
            <a:ext cx="473976" cy="365760"/>
            <a:chOff x="2189284" y="2769576"/>
            <a:chExt cx="473976" cy="365760"/>
          </a:xfrm>
        </p:grpSpPr>
        <p:sp>
          <p:nvSpPr>
            <p:cNvPr id="23" name="Rectangle 22">
              <a:extLst>
                <a:ext uri="{FF2B5EF4-FFF2-40B4-BE49-F238E27FC236}">
                  <a16:creationId xmlns:a16="http://schemas.microsoft.com/office/drawing/2014/main" id="{F3B18F2B-A96E-60DD-04B9-55F244E33FD2}"/>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1BD54128-E3B4-EA65-0F9C-A0B4BEC7CEE4}"/>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j2</a:t>
              </a:r>
            </a:p>
          </p:txBody>
        </p:sp>
      </p:grpSp>
      <p:grpSp>
        <p:nvGrpSpPr>
          <p:cNvPr id="25" name="Group 24">
            <a:extLst>
              <a:ext uri="{FF2B5EF4-FFF2-40B4-BE49-F238E27FC236}">
                <a16:creationId xmlns:a16="http://schemas.microsoft.com/office/drawing/2014/main" id="{E278CF1F-5075-57C0-8658-2534507F1ADB}"/>
              </a:ext>
            </a:extLst>
          </p:cNvPr>
          <p:cNvGrpSpPr/>
          <p:nvPr/>
        </p:nvGrpSpPr>
        <p:grpSpPr>
          <a:xfrm>
            <a:off x="5530233" y="3911143"/>
            <a:ext cx="473976" cy="365760"/>
            <a:chOff x="2189284" y="2769576"/>
            <a:chExt cx="473976" cy="365760"/>
          </a:xfrm>
        </p:grpSpPr>
        <p:sp>
          <p:nvSpPr>
            <p:cNvPr id="26" name="Rectangle 25">
              <a:extLst>
                <a:ext uri="{FF2B5EF4-FFF2-40B4-BE49-F238E27FC236}">
                  <a16:creationId xmlns:a16="http://schemas.microsoft.com/office/drawing/2014/main" id="{3D74606E-872E-9108-CAD5-3E41130A15C4}"/>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7" name="TextBox 26">
              <a:extLst>
                <a:ext uri="{FF2B5EF4-FFF2-40B4-BE49-F238E27FC236}">
                  <a16:creationId xmlns:a16="http://schemas.microsoft.com/office/drawing/2014/main" id="{8EBC733A-F18C-DEBB-55EF-0787829E6A7B}"/>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j3</a:t>
              </a:r>
            </a:p>
          </p:txBody>
        </p:sp>
      </p:grpSp>
      <p:sp>
        <p:nvSpPr>
          <p:cNvPr id="2" name="TextBox 1">
            <a:extLst>
              <a:ext uri="{FF2B5EF4-FFF2-40B4-BE49-F238E27FC236}">
                <a16:creationId xmlns:a16="http://schemas.microsoft.com/office/drawing/2014/main" id="{FE5E213D-DE10-A665-74C2-3F2E7D3BB5DA}"/>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8" name="TextBox 7">
            <a:extLst>
              <a:ext uri="{FF2B5EF4-FFF2-40B4-BE49-F238E27FC236}">
                <a16:creationId xmlns:a16="http://schemas.microsoft.com/office/drawing/2014/main" id="{1F8B6B38-70E9-D85C-8D9E-0D057888F88C}"/>
              </a:ext>
            </a:extLst>
          </p:cNvPr>
          <p:cNvSpPr txBox="1"/>
          <p:nvPr/>
        </p:nvSpPr>
        <p:spPr>
          <a:xfrm>
            <a:off x="168443" y="4195668"/>
            <a:ext cx="1515980" cy="738664"/>
          </a:xfrm>
          <a:prstGeom prst="rect">
            <a:avLst/>
          </a:prstGeom>
          <a:noFill/>
          <a:ln>
            <a:solidFill>
              <a:schemeClr val="bg2"/>
            </a:solidFill>
          </a:ln>
        </p:spPr>
        <p:txBody>
          <a:bodyPr wrap="square" rtlCol="0">
            <a:spAutoFit/>
          </a:bodyPr>
          <a:lstStyle/>
          <a:p>
            <a:r>
              <a:rPr lang="en-US" b="1" u="sng" dirty="0">
                <a:latin typeface="Lato" panose="020B0604020202020204" charset="0"/>
                <a:ea typeface="Lato" panose="020B0604020202020204" charset="0"/>
                <a:cs typeface="Lato" panose="020B0604020202020204" charset="0"/>
              </a:rPr>
              <a:t>Example: </a:t>
            </a:r>
          </a:p>
          <a:p>
            <a:r>
              <a:rPr lang="en-US" dirty="0">
                <a:latin typeface="Lato" panose="020B0604020202020204" charset="0"/>
                <a:ea typeface="Lato" panose="020B0604020202020204" charset="0"/>
                <a:cs typeface="Lato" panose="020B0604020202020204" charset="0"/>
              </a:rPr>
              <a:t>e1 = employee 1</a:t>
            </a:r>
          </a:p>
          <a:p>
            <a:r>
              <a:rPr lang="en-US" dirty="0">
                <a:latin typeface="Lato" panose="020B0604020202020204" charset="0"/>
                <a:ea typeface="Lato" panose="020B0604020202020204" charset="0"/>
                <a:cs typeface="Lato" panose="020B0604020202020204" charset="0"/>
              </a:rPr>
              <a:t>j1 = job 1</a:t>
            </a:r>
          </a:p>
        </p:txBody>
      </p:sp>
      <p:cxnSp>
        <p:nvCxnSpPr>
          <p:cNvPr id="16" name="Straight Connector 15">
            <a:extLst>
              <a:ext uri="{FF2B5EF4-FFF2-40B4-BE49-F238E27FC236}">
                <a16:creationId xmlns:a16="http://schemas.microsoft.com/office/drawing/2014/main" id="{0E5B50FD-4B17-6AB5-D868-F35CCDE8B79E}"/>
              </a:ext>
            </a:extLst>
          </p:cNvPr>
          <p:cNvCxnSpPr>
            <a:cxnSpLocks/>
            <a:endCxn id="24" idx="1"/>
          </p:cNvCxnSpPr>
          <p:nvPr/>
        </p:nvCxnSpPr>
        <p:spPr>
          <a:xfrm flipV="1">
            <a:off x="3047396" y="3523240"/>
            <a:ext cx="2482837" cy="583677"/>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BBFA910-5632-ED12-F384-60C9CBC544CA}"/>
              </a:ext>
            </a:extLst>
          </p:cNvPr>
          <p:cNvCxnSpPr>
            <a:cxnSpLocks/>
            <a:endCxn id="21" idx="1"/>
          </p:cNvCxnSpPr>
          <p:nvPr/>
        </p:nvCxnSpPr>
        <p:spPr>
          <a:xfrm>
            <a:off x="3047396" y="2952455"/>
            <a:ext cx="2482837" cy="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3236C16-88F1-8307-CA65-C6D49A802143}"/>
              </a:ext>
            </a:extLst>
          </p:cNvPr>
          <p:cNvCxnSpPr>
            <a:cxnSpLocks/>
            <a:endCxn id="27" idx="1"/>
          </p:cNvCxnSpPr>
          <p:nvPr/>
        </p:nvCxnSpPr>
        <p:spPr>
          <a:xfrm>
            <a:off x="3047396" y="3523240"/>
            <a:ext cx="2482837" cy="570783"/>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78164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DFFB1D62-541B-4706-D4BC-3750B44AC15C}"/>
            </a:ext>
          </a:extLst>
        </p:cNvPr>
        <p:cNvGrpSpPr/>
        <p:nvPr/>
      </p:nvGrpSpPr>
      <p:grpSpPr>
        <a:xfrm>
          <a:off x="0" y="0"/>
          <a:ext cx="0" cy="0"/>
          <a:chOff x="0" y="0"/>
          <a:chExt cx="0" cy="0"/>
        </a:xfrm>
      </p:grpSpPr>
      <p:sp>
        <p:nvSpPr>
          <p:cNvPr id="134" name="Google Shape;134;p21">
            <a:extLst>
              <a:ext uri="{FF2B5EF4-FFF2-40B4-BE49-F238E27FC236}">
                <a16:creationId xmlns:a16="http://schemas.microsoft.com/office/drawing/2014/main" id="{57E201FA-0A1F-3107-AF54-EEFB70C88FEA}"/>
              </a:ext>
            </a:extLst>
          </p:cNvPr>
          <p:cNvSpPr txBox="1">
            <a:spLocks noGrp="1"/>
          </p:cNvSpPr>
          <p:nvPr>
            <p:ph type="body" idx="1"/>
          </p:nvPr>
        </p:nvSpPr>
        <p:spPr>
          <a:xfrm>
            <a:off x="70027" y="1269983"/>
            <a:ext cx="2681157" cy="22611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US" sz="1700" dirty="0">
                <a:solidFill>
                  <a:srgbClr val="00B050"/>
                </a:solidFill>
              </a:rPr>
              <a:t>e1 : </a:t>
            </a:r>
            <a:r>
              <a:rPr lang="en-US" sz="1700" strike="sngStrike" dirty="0">
                <a:solidFill>
                  <a:srgbClr val="00B050"/>
                </a:solidFill>
              </a:rPr>
              <a:t>j2</a:t>
            </a:r>
            <a:r>
              <a:rPr lang="en-US" sz="1700" dirty="0">
                <a:solidFill>
                  <a:srgbClr val="00B050"/>
                </a:solidFill>
              </a:rPr>
              <a:t>, </a:t>
            </a:r>
            <a:r>
              <a:rPr lang="en-US" sz="1700" u="sng" dirty="0">
                <a:solidFill>
                  <a:srgbClr val="00B050"/>
                </a:solidFill>
              </a:rPr>
              <a:t>j1</a:t>
            </a:r>
            <a:r>
              <a:rPr lang="en-US" sz="1700" dirty="0">
                <a:solidFill>
                  <a:srgbClr val="00B050"/>
                </a:solidFill>
              </a:rPr>
              <a:t>, j3</a:t>
            </a:r>
          </a:p>
          <a:p>
            <a:pPr marL="457200" lvl="0" indent="-336550" algn="l" rtl="0">
              <a:spcBef>
                <a:spcPts val="0"/>
              </a:spcBef>
              <a:spcAft>
                <a:spcPts val="0"/>
              </a:spcAft>
              <a:buSzPts val="1700"/>
              <a:buChar char="●"/>
            </a:pPr>
            <a:r>
              <a:rPr lang="en-US" sz="1700" dirty="0">
                <a:solidFill>
                  <a:srgbClr val="00B050"/>
                </a:solidFill>
              </a:rPr>
              <a:t>e2 : </a:t>
            </a:r>
            <a:r>
              <a:rPr lang="en-US" sz="1700" strike="sngStrike" dirty="0">
                <a:solidFill>
                  <a:srgbClr val="00B050"/>
                </a:solidFill>
              </a:rPr>
              <a:t>j1</a:t>
            </a:r>
            <a:r>
              <a:rPr lang="en-US" sz="1700" dirty="0">
                <a:solidFill>
                  <a:srgbClr val="00B050"/>
                </a:solidFill>
              </a:rPr>
              <a:t>, </a:t>
            </a:r>
            <a:r>
              <a:rPr lang="en-US" sz="1700" strike="sngStrike" dirty="0">
                <a:solidFill>
                  <a:srgbClr val="00B050"/>
                </a:solidFill>
              </a:rPr>
              <a:t>j2</a:t>
            </a:r>
            <a:r>
              <a:rPr lang="en-US" sz="1700" dirty="0">
                <a:solidFill>
                  <a:srgbClr val="00B050"/>
                </a:solidFill>
              </a:rPr>
              <a:t>, </a:t>
            </a:r>
            <a:r>
              <a:rPr lang="en-US" sz="1700" u="sng" dirty="0">
                <a:solidFill>
                  <a:srgbClr val="00B050"/>
                </a:solidFill>
              </a:rPr>
              <a:t>j3</a:t>
            </a:r>
          </a:p>
          <a:p>
            <a:pPr marL="457200" lvl="0" indent="-336550" algn="l" rtl="0">
              <a:spcBef>
                <a:spcPts val="0"/>
              </a:spcBef>
              <a:spcAft>
                <a:spcPts val="0"/>
              </a:spcAft>
              <a:buSzPts val="1700"/>
              <a:buChar char="●"/>
            </a:pPr>
            <a:r>
              <a:rPr lang="en-US" sz="1700" dirty="0">
                <a:solidFill>
                  <a:srgbClr val="00B050"/>
                </a:solidFill>
              </a:rPr>
              <a:t>e3 : </a:t>
            </a:r>
            <a:r>
              <a:rPr lang="en-US" sz="1700" strike="sngStrike" dirty="0">
                <a:solidFill>
                  <a:srgbClr val="00B050"/>
                </a:solidFill>
              </a:rPr>
              <a:t>j1</a:t>
            </a:r>
            <a:r>
              <a:rPr lang="en-US" sz="1700" dirty="0">
                <a:solidFill>
                  <a:srgbClr val="00B050"/>
                </a:solidFill>
              </a:rPr>
              <a:t>, </a:t>
            </a:r>
            <a:r>
              <a:rPr lang="en-US" sz="1700" u="sng" dirty="0">
                <a:solidFill>
                  <a:srgbClr val="00B050"/>
                </a:solidFill>
              </a:rPr>
              <a:t>j2</a:t>
            </a:r>
            <a:r>
              <a:rPr lang="en-US" sz="1700" dirty="0">
                <a:solidFill>
                  <a:srgbClr val="00B050"/>
                </a:solidFill>
              </a:rPr>
              <a:t>, j3</a:t>
            </a:r>
            <a:endParaRPr lang="en-US" sz="1500" dirty="0">
              <a:solidFill>
                <a:srgbClr val="00B050"/>
              </a:solidFill>
            </a:endParaRPr>
          </a:p>
        </p:txBody>
      </p:sp>
      <p:sp>
        <p:nvSpPr>
          <p:cNvPr id="4" name="Google Shape;134;p21">
            <a:extLst>
              <a:ext uri="{FF2B5EF4-FFF2-40B4-BE49-F238E27FC236}">
                <a16:creationId xmlns:a16="http://schemas.microsoft.com/office/drawing/2014/main" id="{C75BB1D4-5D77-1C8E-985C-C17EEE40C674}"/>
              </a:ext>
            </a:extLst>
          </p:cNvPr>
          <p:cNvSpPr txBox="1">
            <a:spLocks/>
          </p:cNvSpPr>
          <p:nvPr/>
        </p:nvSpPr>
        <p:spPr>
          <a:xfrm>
            <a:off x="6462843" y="1269983"/>
            <a:ext cx="2681157" cy="2261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indent="-336550">
              <a:buSzPts val="1700"/>
            </a:pPr>
            <a:r>
              <a:rPr lang="en-US" sz="1700" dirty="0">
                <a:solidFill>
                  <a:srgbClr val="00B050"/>
                </a:solidFill>
              </a:rPr>
              <a:t>j1 : </a:t>
            </a:r>
            <a:r>
              <a:rPr lang="en-US" sz="1700" u="sng" dirty="0">
                <a:solidFill>
                  <a:srgbClr val="00B050"/>
                </a:solidFill>
              </a:rPr>
              <a:t>e1</a:t>
            </a:r>
            <a:r>
              <a:rPr lang="en-US" sz="1700" dirty="0">
                <a:solidFill>
                  <a:srgbClr val="00B050"/>
                </a:solidFill>
              </a:rPr>
              <a:t>, </a:t>
            </a:r>
            <a:r>
              <a:rPr lang="en-US" sz="1700" strike="sngStrike" dirty="0">
                <a:solidFill>
                  <a:srgbClr val="00B050"/>
                </a:solidFill>
              </a:rPr>
              <a:t>e2</a:t>
            </a:r>
            <a:r>
              <a:rPr lang="en-US" sz="1700" dirty="0">
                <a:solidFill>
                  <a:srgbClr val="00B050"/>
                </a:solidFill>
              </a:rPr>
              <a:t>, </a:t>
            </a:r>
            <a:r>
              <a:rPr lang="en-US" sz="1700" strike="sngStrike" dirty="0">
                <a:solidFill>
                  <a:srgbClr val="00B050"/>
                </a:solidFill>
              </a:rPr>
              <a:t>e3</a:t>
            </a:r>
          </a:p>
          <a:p>
            <a:pPr indent="-336550">
              <a:buSzPts val="1700"/>
            </a:pPr>
            <a:r>
              <a:rPr lang="en-US" sz="1700" dirty="0">
                <a:solidFill>
                  <a:srgbClr val="00B050"/>
                </a:solidFill>
              </a:rPr>
              <a:t>j2 : </a:t>
            </a:r>
            <a:r>
              <a:rPr lang="en-US" sz="1700" u="sng" dirty="0">
                <a:solidFill>
                  <a:srgbClr val="00B050"/>
                </a:solidFill>
              </a:rPr>
              <a:t>e3</a:t>
            </a:r>
            <a:r>
              <a:rPr lang="en-US" sz="1700" dirty="0">
                <a:solidFill>
                  <a:srgbClr val="00B050"/>
                </a:solidFill>
              </a:rPr>
              <a:t>, </a:t>
            </a:r>
            <a:r>
              <a:rPr lang="en-US" sz="1700" strike="sngStrike" dirty="0">
                <a:solidFill>
                  <a:srgbClr val="00B050"/>
                </a:solidFill>
              </a:rPr>
              <a:t>e1</a:t>
            </a:r>
            <a:r>
              <a:rPr lang="en-US" sz="1700" dirty="0">
                <a:solidFill>
                  <a:srgbClr val="00B050"/>
                </a:solidFill>
              </a:rPr>
              <a:t>, </a:t>
            </a:r>
            <a:r>
              <a:rPr lang="en-US" sz="1700" strike="sngStrike" dirty="0">
                <a:solidFill>
                  <a:srgbClr val="00B050"/>
                </a:solidFill>
              </a:rPr>
              <a:t>e2</a:t>
            </a:r>
          </a:p>
          <a:p>
            <a:pPr indent="-336550">
              <a:buSzPts val="1700"/>
            </a:pPr>
            <a:r>
              <a:rPr lang="en-US" sz="1700" dirty="0">
                <a:solidFill>
                  <a:srgbClr val="00B050"/>
                </a:solidFill>
              </a:rPr>
              <a:t>j3 : e1, </a:t>
            </a:r>
            <a:r>
              <a:rPr lang="en-US" sz="1700" u="sng" dirty="0">
                <a:solidFill>
                  <a:srgbClr val="00B050"/>
                </a:solidFill>
              </a:rPr>
              <a:t>e2</a:t>
            </a:r>
            <a:r>
              <a:rPr lang="en-US" sz="1700" dirty="0">
                <a:solidFill>
                  <a:srgbClr val="00B050"/>
                </a:solidFill>
              </a:rPr>
              <a:t>, e3</a:t>
            </a:r>
            <a:endParaRPr lang="en-US" sz="1500" dirty="0">
              <a:solidFill>
                <a:srgbClr val="00B050"/>
              </a:solidFill>
            </a:endParaRPr>
          </a:p>
        </p:txBody>
      </p:sp>
      <p:grpSp>
        <p:nvGrpSpPr>
          <p:cNvPr id="7" name="Group 6">
            <a:extLst>
              <a:ext uri="{FF2B5EF4-FFF2-40B4-BE49-F238E27FC236}">
                <a16:creationId xmlns:a16="http://schemas.microsoft.com/office/drawing/2014/main" id="{589FBEF9-C70B-E2B8-1348-F0FC217FFCB8}"/>
              </a:ext>
            </a:extLst>
          </p:cNvPr>
          <p:cNvGrpSpPr/>
          <p:nvPr/>
        </p:nvGrpSpPr>
        <p:grpSpPr>
          <a:xfrm>
            <a:off x="2681636" y="2769576"/>
            <a:ext cx="473976" cy="365760"/>
            <a:chOff x="2189284" y="2769576"/>
            <a:chExt cx="473976" cy="365760"/>
          </a:xfrm>
        </p:grpSpPr>
        <p:sp>
          <p:nvSpPr>
            <p:cNvPr id="3" name="Rectangle 2">
              <a:extLst>
                <a:ext uri="{FF2B5EF4-FFF2-40B4-BE49-F238E27FC236}">
                  <a16:creationId xmlns:a16="http://schemas.microsoft.com/office/drawing/2014/main" id="{C55F6D57-5F32-0552-3A7F-71B931F2FE45}"/>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F1F96694-14F1-DAA5-DC06-5D4B1BDBE80E}"/>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e1</a:t>
              </a:r>
              <a:endParaRPr lang="en-US" dirty="0">
                <a:solidFill>
                  <a:srgbClr val="FF0000"/>
                </a:solidFill>
                <a:latin typeface="Lato" panose="020B0604020202020204" charset="0"/>
                <a:ea typeface="Lato" panose="020B0604020202020204" charset="0"/>
                <a:cs typeface="Lato" panose="020B0604020202020204" charset="0"/>
              </a:endParaRPr>
            </a:p>
          </p:txBody>
        </p:sp>
      </p:grpSp>
      <p:grpSp>
        <p:nvGrpSpPr>
          <p:cNvPr id="10" name="Group 9">
            <a:extLst>
              <a:ext uri="{FF2B5EF4-FFF2-40B4-BE49-F238E27FC236}">
                <a16:creationId xmlns:a16="http://schemas.microsoft.com/office/drawing/2014/main" id="{3E7E20CD-3876-A38F-D33E-F1A0C97B19D5}"/>
              </a:ext>
            </a:extLst>
          </p:cNvPr>
          <p:cNvGrpSpPr/>
          <p:nvPr/>
        </p:nvGrpSpPr>
        <p:grpSpPr>
          <a:xfrm>
            <a:off x="2681636" y="3340360"/>
            <a:ext cx="473976" cy="365760"/>
            <a:chOff x="2189284" y="2769576"/>
            <a:chExt cx="473976" cy="365760"/>
          </a:xfrm>
        </p:grpSpPr>
        <p:sp>
          <p:nvSpPr>
            <p:cNvPr id="11" name="Rectangle 10">
              <a:extLst>
                <a:ext uri="{FF2B5EF4-FFF2-40B4-BE49-F238E27FC236}">
                  <a16:creationId xmlns:a16="http://schemas.microsoft.com/office/drawing/2014/main" id="{9E40B998-732F-084B-D815-91467E461F15}"/>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TextBox 11">
              <a:extLst>
                <a:ext uri="{FF2B5EF4-FFF2-40B4-BE49-F238E27FC236}">
                  <a16:creationId xmlns:a16="http://schemas.microsoft.com/office/drawing/2014/main" id="{016E0232-0878-D2D9-7E35-0D511CACED7D}"/>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e2</a:t>
              </a:r>
            </a:p>
          </p:txBody>
        </p:sp>
      </p:grpSp>
      <p:grpSp>
        <p:nvGrpSpPr>
          <p:cNvPr id="13" name="Group 12">
            <a:extLst>
              <a:ext uri="{FF2B5EF4-FFF2-40B4-BE49-F238E27FC236}">
                <a16:creationId xmlns:a16="http://schemas.microsoft.com/office/drawing/2014/main" id="{2C819FB5-E449-F040-695B-F3E8B5345F46}"/>
              </a:ext>
            </a:extLst>
          </p:cNvPr>
          <p:cNvGrpSpPr/>
          <p:nvPr/>
        </p:nvGrpSpPr>
        <p:grpSpPr>
          <a:xfrm>
            <a:off x="2681636" y="3911143"/>
            <a:ext cx="473976" cy="365760"/>
            <a:chOff x="2189284" y="2769576"/>
            <a:chExt cx="473976" cy="365760"/>
          </a:xfrm>
        </p:grpSpPr>
        <p:sp>
          <p:nvSpPr>
            <p:cNvPr id="14" name="Rectangle 13">
              <a:extLst>
                <a:ext uri="{FF2B5EF4-FFF2-40B4-BE49-F238E27FC236}">
                  <a16:creationId xmlns:a16="http://schemas.microsoft.com/office/drawing/2014/main" id="{D2C94E69-F3B6-16E7-4ADD-02D46CB85DF0}"/>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E51D96F4-13C1-AAB7-72BD-619A0C5C3077}"/>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e3</a:t>
              </a:r>
            </a:p>
          </p:txBody>
        </p:sp>
      </p:grpSp>
      <p:grpSp>
        <p:nvGrpSpPr>
          <p:cNvPr id="19" name="Group 18">
            <a:extLst>
              <a:ext uri="{FF2B5EF4-FFF2-40B4-BE49-F238E27FC236}">
                <a16:creationId xmlns:a16="http://schemas.microsoft.com/office/drawing/2014/main" id="{CD8BAB65-EE92-3113-500A-D6CD1F5EAFF7}"/>
              </a:ext>
            </a:extLst>
          </p:cNvPr>
          <p:cNvGrpSpPr/>
          <p:nvPr/>
        </p:nvGrpSpPr>
        <p:grpSpPr>
          <a:xfrm>
            <a:off x="5530233" y="2769576"/>
            <a:ext cx="473976" cy="365760"/>
            <a:chOff x="2189284" y="2769576"/>
            <a:chExt cx="473976" cy="365760"/>
          </a:xfrm>
        </p:grpSpPr>
        <p:sp>
          <p:nvSpPr>
            <p:cNvPr id="20" name="Rectangle 19">
              <a:extLst>
                <a:ext uri="{FF2B5EF4-FFF2-40B4-BE49-F238E27FC236}">
                  <a16:creationId xmlns:a16="http://schemas.microsoft.com/office/drawing/2014/main" id="{BFB65E51-AFDB-714B-14DA-CA6B746D95AE}"/>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1" name="TextBox 20">
              <a:extLst>
                <a:ext uri="{FF2B5EF4-FFF2-40B4-BE49-F238E27FC236}">
                  <a16:creationId xmlns:a16="http://schemas.microsoft.com/office/drawing/2014/main" id="{0006A0F8-D220-2507-19B3-A9FD532A6F97}"/>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j1</a:t>
              </a:r>
            </a:p>
          </p:txBody>
        </p:sp>
      </p:grpSp>
      <p:grpSp>
        <p:nvGrpSpPr>
          <p:cNvPr id="22" name="Group 21">
            <a:extLst>
              <a:ext uri="{FF2B5EF4-FFF2-40B4-BE49-F238E27FC236}">
                <a16:creationId xmlns:a16="http://schemas.microsoft.com/office/drawing/2014/main" id="{5B9ABFE8-A2FE-9E9B-D3E4-EE59D3F818CA}"/>
              </a:ext>
            </a:extLst>
          </p:cNvPr>
          <p:cNvGrpSpPr/>
          <p:nvPr/>
        </p:nvGrpSpPr>
        <p:grpSpPr>
          <a:xfrm>
            <a:off x="5530233" y="3340360"/>
            <a:ext cx="473976" cy="365760"/>
            <a:chOff x="2189284" y="2769576"/>
            <a:chExt cx="473976" cy="365760"/>
          </a:xfrm>
        </p:grpSpPr>
        <p:sp>
          <p:nvSpPr>
            <p:cNvPr id="23" name="Rectangle 22">
              <a:extLst>
                <a:ext uri="{FF2B5EF4-FFF2-40B4-BE49-F238E27FC236}">
                  <a16:creationId xmlns:a16="http://schemas.microsoft.com/office/drawing/2014/main" id="{182D1C34-1668-F520-B6E6-1572FEF144B0}"/>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6A607CB0-CCA0-75F6-7F39-F44F4B9D977C}"/>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j2</a:t>
              </a:r>
            </a:p>
          </p:txBody>
        </p:sp>
      </p:grpSp>
      <p:grpSp>
        <p:nvGrpSpPr>
          <p:cNvPr id="25" name="Group 24">
            <a:extLst>
              <a:ext uri="{FF2B5EF4-FFF2-40B4-BE49-F238E27FC236}">
                <a16:creationId xmlns:a16="http://schemas.microsoft.com/office/drawing/2014/main" id="{132B2010-34E9-200D-A54D-DBA4AC76936A}"/>
              </a:ext>
            </a:extLst>
          </p:cNvPr>
          <p:cNvGrpSpPr/>
          <p:nvPr/>
        </p:nvGrpSpPr>
        <p:grpSpPr>
          <a:xfrm>
            <a:off x="5530233" y="3911143"/>
            <a:ext cx="473976" cy="365760"/>
            <a:chOff x="2189284" y="2769576"/>
            <a:chExt cx="473976" cy="365760"/>
          </a:xfrm>
        </p:grpSpPr>
        <p:sp>
          <p:nvSpPr>
            <p:cNvPr id="26" name="Rectangle 25">
              <a:extLst>
                <a:ext uri="{FF2B5EF4-FFF2-40B4-BE49-F238E27FC236}">
                  <a16:creationId xmlns:a16="http://schemas.microsoft.com/office/drawing/2014/main" id="{D08E377A-6AF1-0737-F29C-72CC2301DF8D}"/>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7" name="TextBox 26">
              <a:extLst>
                <a:ext uri="{FF2B5EF4-FFF2-40B4-BE49-F238E27FC236}">
                  <a16:creationId xmlns:a16="http://schemas.microsoft.com/office/drawing/2014/main" id="{58775C89-AA41-11D2-27E4-D8F58E7161B8}"/>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j3</a:t>
              </a:r>
            </a:p>
          </p:txBody>
        </p:sp>
      </p:grpSp>
      <p:sp>
        <p:nvSpPr>
          <p:cNvPr id="2" name="TextBox 1">
            <a:extLst>
              <a:ext uri="{FF2B5EF4-FFF2-40B4-BE49-F238E27FC236}">
                <a16:creationId xmlns:a16="http://schemas.microsoft.com/office/drawing/2014/main" id="{5ACB1CF5-C7BC-B35E-C6CD-BF0EAB6133DF}"/>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8" name="TextBox 7">
            <a:extLst>
              <a:ext uri="{FF2B5EF4-FFF2-40B4-BE49-F238E27FC236}">
                <a16:creationId xmlns:a16="http://schemas.microsoft.com/office/drawing/2014/main" id="{BB29103F-7F6D-B7CF-D191-0C5D42B4F49D}"/>
              </a:ext>
            </a:extLst>
          </p:cNvPr>
          <p:cNvSpPr txBox="1"/>
          <p:nvPr/>
        </p:nvSpPr>
        <p:spPr>
          <a:xfrm>
            <a:off x="168443" y="4195668"/>
            <a:ext cx="1515980" cy="738664"/>
          </a:xfrm>
          <a:prstGeom prst="rect">
            <a:avLst/>
          </a:prstGeom>
          <a:noFill/>
          <a:ln>
            <a:solidFill>
              <a:schemeClr val="bg2"/>
            </a:solidFill>
          </a:ln>
        </p:spPr>
        <p:txBody>
          <a:bodyPr wrap="square" rtlCol="0">
            <a:spAutoFit/>
          </a:bodyPr>
          <a:lstStyle/>
          <a:p>
            <a:r>
              <a:rPr lang="en-US" b="1" u="sng" dirty="0">
                <a:latin typeface="Lato" panose="020B0604020202020204" charset="0"/>
                <a:ea typeface="Lato" panose="020B0604020202020204" charset="0"/>
                <a:cs typeface="Lato" panose="020B0604020202020204" charset="0"/>
              </a:rPr>
              <a:t>Example: </a:t>
            </a:r>
          </a:p>
          <a:p>
            <a:r>
              <a:rPr lang="en-US" dirty="0">
                <a:latin typeface="Lato" panose="020B0604020202020204" charset="0"/>
                <a:ea typeface="Lato" panose="020B0604020202020204" charset="0"/>
                <a:cs typeface="Lato" panose="020B0604020202020204" charset="0"/>
              </a:rPr>
              <a:t>e1 = employee 1</a:t>
            </a:r>
          </a:p>
          <a:p>
            <a:r>
              <a:rPr lang="en-US" dirty="0">
                <a:latin typeface="Lato" panose="020B0604020202020204" charset="0"/>
                <a:ea typeface="Lato" panose="020B0604020202020204" charset="0"/>
                <a:cs typeface="Lato" panose="020B0604020202020204" charset="0"/>
              </a:rPr>
              <a:t>j1 = job 1</a:t>
            </a:r>
          </a:p>
        </p:txBody>
      </p:sp>
      <p:cxnSp>
        <p:nvCxnSpPr>
          <p:cNvPr id="16" name="Straight Connector 15">
            <a:extLst>
              <a:ext uri="{FF2B5EF4-FFF2-40B4-BE49-F238E27FC236}">
                <a16:creationId xmlns:a16="http://schemas.microsoft.com/office/drawing/2014/main" id="{8DBF1B27-9AA8-1C68-745F-DEF992DD8C12}"/>
              </a:ext>
            </a:extLst>
          </p:cNvPr>
          <p:cNvCxnSpPr>
            <a:cxnSpLocks/>
            <a:endCxn id="24" idx="1"/>
          </p:cNvCxnSpPr>
          <p:nvPr/>
        </p:nvCxnSpPr>
        <p:spPr>
          <a:xfrm flipV="1">
            <a:off x="3047396" y="3523240"/>
            <a:ext cx="2482837" cy="583677"/>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4DD2DFC0-5884-D329-4A5B-810010E80BF9}"/>
              </a:ext>
            </a:extLst>
          </p:cNvPr>
          <p:cNvCxnSpPr>
            <a:cxnSpLocks/>
            <a:endCxn id="21" idx="1"/>
          </p:cNvCxnSpPr>
          <p:nvPr/>
        </p:nvCxnSpPr>
        <p:spPr>
          <a:xfrm>
            <a:off x="3047396" y="2952455"/>
            <a:ext cx="2482837" cy="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AF68578-7566-AD4D-722D-5412DE23A789}"/>
              </a:ext>
            </a:extLst>
          </p:cNvPr>
          <p:cNvCxnSpPr>
            <a:cxnSpLocks/>
            <a:endCxn id="27" idx="1"/>
          </p:cNvCxnSpPr>
          <p:nvPr/>
        </p:nvCxnSpPr>
        <p:spPr>
          <a:xfrm>
            <a:off x="3047396" y="3523240"/>
            <a:ext cx="2482837" cy="570783"/>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70721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605313C7-BBFF-E1C8-B12A-C06B237B1204}"/>
            </a:ext>
          </a:extLst>
        </p:cNvPr>
        <p:cNvGrpSpPr/>
        <p:nvPr/>
      </p:nvGrpSpPr>
      <p:grpSpPr>
        <a:xfrm>
          <a:off x="0" y="0"/>
          <a:ext cx="0" cy="0"/>
          <a:chOff x="0" y="0"/>
          <a:chExt cx="0" cy="0"/>
        </a:xfrm>
      </p:grpSpPr>
      <p:sp>
        <p:nvSpPr>
          <p:cNvPr id="134" name="Google Shape;134;p21">
            <a:extLst>
              <a:ext uri="{FF2B5EF4-FFF2-40B4-BE49-F238E27FC236}">
                <a16:creationId xmlns:a16="http://schemas.microsoft.com/office/drawing/2014/main" id="{EF78D481-E128-D58E-D6E7-AE805B0AC6A9}"/>
              </a:ext>
            </a:extLst>
          </p:cNvPr>
          <p:cNvSpPr txBox="1">
            <a:spLocks noGrp="1"/>
          </p:cNvSpPr>
          <p:nvPr>
            <p:ph type="body" idx="1"/>
          </p:nvPr>
        </p:nvSpPr>
        <p:spPr>
          <a:xfrm>
            <a:off x="70027" y="1269983"/>
            <a:ext cx="2681157" cy="22611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US" sz="1700" dirty="0">
                <a:solidFill>
                  <a:srgbClr val="00B050"/>
                </a:solidFill>
              </a:rPr>
              <a:t>e1 : </a:t>
            </a:r>
            <a:r>
              <a:rPr lang="en-US" sz="1700" strike="sngStrike" dirty="0">
                <a:solidFill>
                  <a:srgbClr val="00B050"/>
                </a:solidFill>
              </a:rPr>
              <a:t>j2</a:t>
            </a:r>
            <a:r>
              <a:rPr lang="en-US" sz="1700" dirty="0">
                <a:solidFill>
                  <a:srgbClr val="00B050"/>
                </a:solidFill>
              </a:rPr>
              <a:t>, </a:t>
            </a:r>
            <a:r>
              <a:rPr lang="en-US" sz="1700" b="1" u="sng" dirty="0">
                <a:solidFill>
                  <a:srgbClr val="00B050"/>
                </a:solidFill>
              </a:rPr>
              <a:t>j1</a:t>
            </a:r>
            <a:r>
              <a:rPr lang="en-US" sz="1700" dirty="0">
                <a:solidFill>
                  <a:srgbClr val="00B050"/>
                </a:solidFill>
              </a:rPr>
              <a:t>, j3</a:t>
            </a:r>
          </a:p>
          <a:p>
            <a:pPr marL="457200" lvl="0" indent="-336550" algn="l" rtl="0">
              <a:spcBef>
                <a:spcPts val="0"/>
              </a:spcBef>
              <a:spcAft>
                <a:spcPts val="0"/>
              </a:spcAft>
              <a:buSzPts val="1700"/>
              <a:buChar char="●"/>
            </a:pPr>
            <a:r>
              <a:rPr lang="en-US" sz="1700" dirty="0">
                <a:solidFill>
                  <a:srgbClr val="00B050"/>
                </a:solidFill>
              </a:rPr>
              <a:t>e2 : </a:t>
            </a:r>
            <a:r>
              <a:rPr lang="en-US" sz="1700" strike="sngStrike" dirty="0">
                <a:solidFill>
                  <a:srgbClr val="00B050"/>
                </a:solidFill>
              </a:rPr>
              <a:t>j1</a:t>
            </a:r>
            <a:r>
              <a:rPr lang="en-US" sz="1700" dirty="0">
                <a:solidFill>
                  <a:srgbClr val="00B050"/>
                </a:solidFill>
              </a:rPr>
              <a:t>, </a:t>
            </a:r>
            <a:r>
              <a:rPr lang="en-US" sz="1700" strike="sngStrike" dirty="0">
                <a:solidFill>
                  <a:srgbClr val="00B050"/>
                </a:solidFill>
              </a:rPr>
              <a:t>j2</a:t>
            </a:r>
            <a:r>
              <a:rPr lang="en-US" sz="1700" dirty="0">
                <a:solidFill>
                  <a:srgbClr val="00B050"/>
                </a:solidFill>
              </a:rPr>
              <a:t>, </a:t>
            </a:r>
            <a:r>
              <a:rPr lang="en-US" sz="1700" b="1" u="sng" dirty="0">
                <a:solidFill>
                  <a:srgbClr val="00B050"/>
                </a:solidFill>
              </a:rPr>
              <a:t>j3</a:t>
            </a:r>
          </a:p>
          <a:p>
            <a:pPr marL="457200" lvl="0" indent="-336550" algn="l" rtl="0">
              <a:spcBef>
                <a:spcPts val="0"/>
              </a:spcBef>
              <a:spcAft>
                <a:spcPts val="0"/>
              </a:spcAft>
              <a:buSzPts val="1700"/>
              <a:buChar char="●"/>
            </a:pPr>
            <a:r>
              <a:rPr lang="en-US" sz="1700" dirty="0">
                <a:solidFill>
                  <a:srgbClr val="00B050"/>
                </a:solidFill>
              </a:rPr>
              <a:t>e3 : </a:t>
            </a:r>
            <a:r>
              <a:rPr lang="en-US" sz="1700" strike="sngStrike" dirty="0">
                <a:solidFill>
                  <a:srgbClr val="00B050"/>
                </a:solidFill>
              </a:rPr>
              <a:t>j1</a:t>
            </a:r>
            <a:r>
              <a:rPr lang="en-US" sz="1700" dirty="0">
                <a:solidFill>
                  <a:srgbClr val="00B050"/>
                </a:solidFill>
              </a:rPr>
              <a:t>, </a:t>
            </a:r>
            <a:r>
              <a:rPr lang="en-US" sz="1700" b="1" u="sng" dirty="0">
                <a:solidFill>
                  <a:srgbClr val="00B050"/>
                </a:solidFill>
              </a:rPr>
              <a:t>j2</a:t>
            </a:r>
            <a:r>
              <a:rPr lang="en-US" sz="1700" dirty="0">
                <a:solidFill>
                  <a:srgbClr val="00B050"/>
                </a:solidFill>
              </a:rPr>
              <a:t>, j3</a:t>
            </a:r>
            <a:endParaRPr lang="en-US" sz="1500" dirty="0">
              <a:solidFill>
                <a:srgbClr val="00B050"/>
              </a:solidFill>
            </a:endParaRPr>
          </a:p>
        </p:txBody>
      </p:sp>
      <p:sp>
        <p:nvSpPr>
          <p:cNvPr id="4" name="Google Shape;134;p21">
            <a:extLst>
              <a:ext uri="{FF2B5EF4-FFF2-40B4-BE49-F238E27FC236}">
                <a16:creationId xmlns:a16="http://schemas.microsoft.com/office/drawing/2014/main" id="{480ADE38-8CBC-6104-7E1D-FF893591B9D2}"/>
              </a:ext>
            </a:extLst>
          </p:cNvPr>
          <p:cNvSpPr txBox="1">
            <a:spLocks/>
          </p:cNvSpPr>
          <p:nvPr/>
        </p:nvSpPr>
        <p:spPr>
          <a:xfrm>
            <a:off x="6462843" y="1269983"/>
            <a:ext cx="2681157" cy="2261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indent="-336550">
              <a:buSzPts val="1700"/>
            </a:pPr>
            <a:r>
              <a:rPr lang="en-US" sz="1700" dirty="0">
                <a:solidFill>
                  <a:srgbClr val="00B050"/>
                </a:solidFill>
              </a:rPr>
              <a:t>j1 : </a:t>
            </a:r>
            <a:r>
              <a:rPr lang="en-US" sz="1700" b="1" u="sng" dirty="0">
                <a:solidFill>
                  <a:srgbClr val="00B050"/>
                </a:solidFill>
              </a:rPr>
              <a:t>e1</a:t>
            </a:r>
            <a:r>
              <a:rPr lang="en-US" sz="1700" dirty="0">
                <a:solidFill>
                  <a:srgbClr val="00B050"/>
                </a:solidFill>
              </a:rPr>
              <a:t>, </a:t>
            </a:r>
            <a:r>
              <a:rPr lang="en-US" sz="1700" strike="sngStrike" dirty="0">
                <a:solidFill>
                  <a:srgbClr val="00B050"/>
                </a:solidFill>
              </a:rPr>
              <a:t>e2</a:t>
            </a:r>
            <a:r>
              <a:rPr lang="en-US" sz="1700" dirty="0">
                <a:solidFill>
                  <a:srgbClr val="00B050"/>
                </a:solidFill>
              </a:rPr>
              <a:t>, </a:t>
            </a:r>
            <a:r>
              <a:rPr lang="en-US" sz="1700" strike="sngStrike" dirty="0">
                <a:solidFill>
                  <a:srgbClr val="00B050"/>
                </a:solidFill>
              </a:rPr>
              <a:t>e3</a:t>
            </a:r>
          </a:p>
          <a:p>
            <a:pPr indent="-336550">
              <a:buSzPts val="1700"/>
            </a:pPr>
            <a:r>
              <a:rPr lang="en-US" sz="1700" dirty="0">
                <a:solidFill>
                  <a:srgbClr val="00B050"/>
                </a:solidFill>
              </a:rPr>
              <a:t>j2 : </a:t>
            </a:r>
            <a:r>
              <a:rPr lang="en-US" sz="1700" b="1" u="sng" dirty="0">
                <a:solidFill>
                  <a:srgbClr val="00B050"/>
                </a:solidFill>
              </a:rPr>
              <a:t>e3</a:t>
            </a:r>
            <a:r>
              <a:rPr lang="en-US" sz="1700" dirty="0">
                <a:solidFill>
                  <a:srgbClr val="00B050"/>
                </a:solidFill>
              </a:rPr>
              <a:t>, </a:t>
            </a:r>
            <a:r>
              <a:rPr lang="en-US" sz="1700" strike="sngStrike" dirty="0">
                <a:solidFill>
                  <a:srgbClr val="00B050"/>
                </a:solidFill>
              </a:rPr>
              <a:t>e1</a:t>
            </a:r>
            <a:r>
              <a:rPr lang="en-US" sz="1700" dirty="0">
                <a:solidFill>
                  <a:srgbClr val="00B050"/>
                </a:solidFill>
              </a:rPr>
              <a:t>, </a:t>
            </a:r>
            <a:r>
              <a:rPr lang="en-US" sz="1700" strike="sngStrike" dirty="0">
                <a:solidFill>
                  <a:srgbClr val="00B050"/>
                </a:solidFill>
              </a:rPr>
              <a:t>e2</a:t>
            </a:r>
          </a:p>
          <a:p>
            <a:pPr indent="-336550">
              <a:buSzPts val="1700"/>
            </a:pPr>
            <a:r>
              <a:rPr lang="en-US" sz="1700" dirty="0">
                <a:solidFill>
                  <a:srgbClr val="00B050"/>
                </a:solidFill>
              </a:rPr>
              <a:t>j3 : e1, </a:t>
            </a:r>
            <a:r>
              <a:rPr lang="en-US" sz="1700" b="1" u="sng" dirty="0">
                <a:solidFill>
                  <a:srgbClr val="00B050"/>
                </a:solidFill>
              </a:rPr>
              <a:t>e2</a:t>
            </a:r>
            <a:r>
              <a:rPr lang="en-US" sz="1700" dirty="0">
                <a:solidFill>
                  <a:srgbClr val="00B050"/>
                </a:solidFill>
              </a:rPr>
              <a:t>, e3</a:t>
            </a:r>
            <a:endParaRPr lang="en-US" sz="1500" dirty="0">
              <a:solidFill>
                <a:srgbClr val="00B050"/>
              </a:solidFill>
            </a:endParaRPr>
          </a:p>
        </p:txBody>
      </p:sp>
      <p:grpSp>
        <p:nvGrpSpPr>
          <p:cNvPr id="7" name="Group 6">
            <a:extLst>
              <a:ext uri="{FF2B5EF4-FFF2-40B4-BE49-F238E27FC236}">
                <a16:creationId xmlns:a16="http://schemas.microsoft.com/office/drawing/2014/main" id="{0522C862-8FF9-D66C-DADB-D73233392B81}"/>
              </a:ext>
            </a:extLst>
          </p:cNvPr>
          <p:cNvGrpSpPr/>
          <p:nvPr/>
        </p:nvGrpSpPr>
        <p:grpSpPr>
          <a:xfrm>
            <a:off x="2681636" y="2769576"/>
            <a:ext cx="473976" cy="365760"/>
            <a:chOff x="2189284" y="2769576"/>
            <a:chExt cx="473976" cy="365760"/>
          </a:xfrm>
        </p:grpSpPr>
        <p:sp>
          <p:nvSpPr>
            <p:cNvPr id="3" name="Rectangle 2">
              <a:extLst>
                <a:ext uri="{FF2B5EF4-FFF2-40B4-BE49-F238E27FC236}">
                  <a16:creationId xmlns:a16="http://schemas.microsoft.com/office/drawing/2014/main" id="{88251A1F-1802-2802-42B3-2E3AEE278BA2}"/>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347AD7B0-F6B6-4FA4-815F-714E30C76EB2}"/>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e1</a:t>
              </a:r>
              <a:endParaRPr lang="en-US" dirty="0">
                <a:solidFill>
                  <a:srgbClr val="FF0000"/>
                </a:solidFill>
                <a:latin typeface="Lato" panose="020B0604020202020204" charset="0"/>
                <a:ea typeface="Lato" panose="020B0604020202020204" charset="0"/>
                <a:cs typeface="Lato" panose="020B0604020202020204" charset="0"/>
              </a:endParaRPr>
            </a:p>
          </p:txBody>
        </p:sp>
      </p:grpSp>
      <p:grpSp>
        <p:nvGrpSpPr>
          <p:cNvPr id="10" name="Group 9">
            <a:extLst>
              <a:ext uri="{FF2B5EF4-FFF2-40B4-BE49-F238E27FC236}">
                <a16:creationId xmlns:a16="http://schemas.microsoft.com/office/drawing/2014/main" id="{81EC9253-EF79-C498-A777-4068821F7DC5}"/>
              </a:ext>
            </a:extLst>
          </p:cNvPr>
          <p:cNvGrpSpPr/>
          <p:nvPr/>
        </p:nvGrpSpPr>
        <p:grpSpPr>
          <a:xfrm>
            <a:off x="2681636" y="3340360"/>
            <a:ext cx="473976" cy="365760"/>
            <a:chOff x="2189284" y="2769576"/>
            <a:chExt cx="473976" cy="365760"/>
          </a:xfrm>
        </p:grpSpPr>
        <p:sp>
          <p:nvSpPr>
            <p:cNvPr id="11" name="Rectangle 10">
              <a:extLst>
                <a:ext uri="{FF2B5EF4-FFF2-40B4-BE49-F238E27FC236}">
                  <a16:creationId xmlns:a16="http://schemas.microsoft.com/office/drawing/2014/main" id="{3A1B245E-2E11-AAC5-92E2-D22FADF214D6}"/>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TextBox 11">
              <a:extLst>
                <a:ext uri="{FF2B5EF4-FFF2-40B4-BE49-F238E27FC236}">
                  <a16:creationId xmlns:a16="http://schemas.microsoft.com/office/drawing/2014/main" id="{F221DC69-4F1D-E9D6-A734-D3B84B655D04}"/>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e2</a:t>
              </a:r>
            </a:p>
          </p:txBody>
        </p:sp>
      </p:grpSp>
      <p:grpSp>
        <p:nvGrpSpPr>
          <p:cNvPr id="13" name="Group 12">
            <a:extLst>
              <a:ext uri="{FF2B5EF4-FFF2-40B4-BE49-F238E27FC236}">
                <a16:creationId xmlns:a16="http://schemas.microsoft.com/office/drawing/2014/main" id="{19C0F1E0-780B-D855-2F51-BBA23ECC56C9}"/>
              </a:ext>
            </a:extLst>
          </p:cNvPr>
          <p:cNvGrpSpPr/>
          <p:nvPr/>
        </p:nvGrpSpPr>
        <p:grpSpPr>
          <a:xfrm>
            <a:off x="2681636" y="3911143"/>
            <a:ext cx="473976" cy="365760"/>
            <a:chOff x="2189284" y="2769576"/>
            <a:chExt cx="473976" cy="365760"/>
          </a:xfrm>
        </p:grpSpPr>
        <p:sp>
          <p:nvSpPr>
            <p:cNvPr id="14" name="Rectangle 13">
              <a:extLst>
                <a:ext uri="{FF2B5EF4-FFF2-40B4-BE49-F238E27FC236}">
                  <a16:creationId xmlns:a16="http://schemas.microsoft.com/office/drawing/2014/main" id="{D4309BF8-2736-CDA2-34FF-34F8403D0AE4}"/>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B9BE8B6A-48DA-7FA8-9C7D-487664518458}"/>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e3</a:t>
              </a:r>
            </a:p>
          </p:txBody>
        </p:sp>
      </p:grpSp>
      <p:grpSp>
        <p:nvGrpSpPr>
          <p:cNvPr id="19" name="Group 18">
            <a:extLst>
              <a:ext uri="{FF2B5EF4-FFF2-40B4-BE49-F238E27FC236}">
                <a16:creationId xmlns:a16="http://schemas.microsoft.com/office/drawing/2014/main" id="{DCC5EBE1-EE74-B89A-945A-A22E20CF69E4}"/>
              </a:ext>
            </a:extLst>
          </p:cNvPr>
          <p:cNvGrpSpPr/>
          <p:nvPr/>
        </p:nvGrpSpPr>
        <p:grpSpPr>
          <a:xfrm>
            <a:off x="5530233" y="2769576"/>
            <a:ext cx="473976" cy="365760"/>
            <a:chOff x="2189284" y="2769576"/>
            <a:chExt cx="473976" cy="365760"/>
          </a:xfrm>
        </p:grpSpPr>
        <p:sp>
          <p:nvSpPr>
            <p:cNvPr id="20" name="Rectangle 19">
              <a:extLst>
                <a:ext uri="{FF2B5EF4-FFF2-40B4-BE49-F238E27FC236}">
                  <a16:creationId xmlns:a16="http://schemas.microsoft.com/office/drawing/2014/main" id="{9933A1AC-3FA8-06F3-15E9-0DF0EF116858}"/>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1" name="TextBox 20">
              <a:extLst>
                <a:ext uri="{FF2B5EF4-FFF2-40B4-BE49-F238E27FC236}">
                  <a16:creationId xmlns:a16="http://schemas.microsoft.com/office/drawing/2014/main" id="{BAF6DCBA-74B0-98F9-9BAE-1AA46FE4ED28}"/>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j1</a:t>
              </a:r>
            </a:p>
          </p:txBody>
        </p:sp>
      </p:grpSp>
      <p:grpSp>
        <p:nvGrpSpPr>
          <p:cNvPr id="22" name="Group 21">
            <a:extLst>
              <a:ext uri="{FF2B5EF4-FFF2-40B4-BE49-F238E27FC236}">
                <a16:creationId xmlns:a16="http://schemas.microsoft.com/office/drawing/2014/main" id="{3ADC2EFD-267A-BA96-9928-CEEFA05C2C5C}"/>
              </a:ext>
            </a:extLst>
          </p:cNvPr>
          <p:cNvGrpSpPr/>
          <p:nvPr/>
        </p:nvGrpSpPr>
        <p:grpSpPr>
          <a:xfrm>
            <a:off x="5530233" y="3340360"/>
            <a:ext cx="473976" cy="365760"/>
            <a:chOff x="2189284" y="2769576"/>
            <a:chExt cx="473976" cy="365760"/>
          </a:xfrm>
        </p:grpSpPr>
        <p:sp>
          <p:nvSpPr>
            <p:cNvPr id="23" name="Rectangle 22">
              <a:extLst>
                <a:ext uri="{FF2B5EF4-FFF2-40B4-BE49-F238E27FC236}">
                  <a16:creationId xmlns:a16="http://schemas.microsoft.com/office/drawing/2014/main" id="{5E86BFEF-5C93-E626-85F1-27EBAD27912A}"/>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0413F4EB-D76D-4CBB-73AF-CC3FBA1A39AA}"/>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j2</a:t>
              </a:r>
            </a:p>
          </p:txBody>
        </p:sp>
      </p:grpSp>
      <p:grpSp>
        <p:nvGrpSpPr>
          <p:cNvPr id="25" name="Group 24">
            <a:extLst>
              <a:ext uri="{FF2B5EF4-FFF2-40B4-BE49-F238E27FC236}">
                <a16:creationId xmlns:a16="http://schemas.microsoft.com/office/drawing/2014/main" id="{9EEFF2D4-A75E-7560-8B25-0CB265C64BDB}"/>
              </a:ext>
            </a:extLst>
          </p:cNvPr>
          <p:cNvGrpSpPr/>
          <p:nvPr/>
        </p:nvGrpSpPr>
        <p:grpSpPr>
          <a:xfrm>
            <a:off x="5530233" y="3911143"/>
            <a:ext cx="473976" cy="365760"/>
            <a:chOff x="2189284" y="2769576"/>
            <a:chExt cx="473976" cy="365760"/>
          </a:xfrm>
        </p:grpSpPr>
        <p:sp>
          <p:nvSpPr>
            <p:cNvPr id="26" name="Rectangle 25">
              <a:extLst>
                <a:ext uri="{FF2B5EF4-FFF2-40B4-BE49-F238E27FC236}">
                  <a16:creationId xmlns:a16="http://schemas.microsoft.com/office/drawing/2014/main" id="{AC2742FE-0CC3-E19E-D928-60B6C1812227}"/>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7" name="TextBox 26">
              <a:extLst>
                <a:ext uri="{FF2B5EF4-FFF2-40B4-BE49-F238E27FC236}">
                  <a16:creationId xmlns:a16="http://schemas.microsoft.com/office/drawing/2014/main" id="{B80FF8FB-BCBE-AA02-42BA-26D80E72DC14}"/>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j3</a:t>
              </a:r>
            </a:p>
          </p:txBody>
        </p:sp>
      </p:grpSp>
      <p:sp>
        <p:nvSpPr>
          <p:cNvPr id="2" name="TextBox 1">
            <a:extLst>
              <a:ext uri="{FF2B5EF4-FFF2-40B4-BE49-F238E27FC236}">
                <a16:creationId xmlns:a16="http://schemas.microsoft.com/office/drawing/2014/main" id="{E4135426-A44D-2804-585B-C3E973F1AC2F}"/>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8" name="TextBox 7">
            <a:extLst>
              <a:ext uri="{FF2B5EF4-FFF2-40B4-BE49-F238E27FC236}">
                <a16:creationId xmlns:a16="http://schemas.microsoft.com/office/drawing/2014/main" id="{F193D9C8-ED56-1AE5-B28D-F6F2A13A775D}"/>
              </a:ext>
            </a:extLst>
          </p:cNvPr>
          <p:cNvSpPr txBox="1"/>
          <p:nvPr/>
        </p:nvSpPr>
        <p:spPr>
          <a:xfrm>
            <a:off x="168443" y="4195668"/>
            <a:ext cx="1515980" cy="738664"/>
          </a:xfrm>
          <a:prstGeom prst="rect">
            <a:avLst/>
          </a:prstGeom>
          <a:noFill/>
          <a:ln>
            <a:solidFill>
              <a:schemeClr val="bg2"/>
            </a:solidFill>
          </a:ln>
        </p:spPr>
        <p:txBody>
          <a:bodyPr wrap="square" rtlCol="0">
            <a:spAutoFit/>
          </a:bodyPr>
          <a:lstStyle/>
          <a:p>
            <a:r>
              <a:rPr lang="en-US" b="1" u="sng" dirty="0">
                <a:latin typeface="Lato" panose="020B0604020202020204" charset="0"/>
                <a:ea typeface="Lato" panose="020B0604020202020204" charset="0"/>
                <a:cs typeface="Lato" panose="020B0604020202020204" charset="0"/>
              </a:rPr>
              <a:t>Example: </a:t>
            </a:r>
          </a:p>
          <a:p>
            <a:r>
              <a:rPr lang="en-US" dirty="0">
                <a:latin typeface="Lato" panose="020B0604020202020204" charset="0"/>
                <a:ea typeface="Lato" panose="020B0604020202020204" charset="0"/>
                <a:cs typeface="Lato" panose="020B0604020202020204" charset="0"/>
              </a:rPr>
              <a:t>e1 = employee 1</a:t>
            </a:r>
          </a:p>
          <a:p>
            <a:r>
              <a:rPr lang="en-US" dirty="0">
                <a:latin typeface="Lato" panose="020B0604020202020204" charset="0"/>
                <a:ea typeface="Lato" panose="020B0604020202020204" charset="0"/>
                <a:cs typeface="Lato" panose="020B0604020202020204" charset="0"/>
              </a:rPr>
              <a:t>j1 = job 1</a:t>
            </a:r>
          </a:p>
        </p:txBody>
      </p:sp>
      <p:cxnSp>
        <p:nvCxnSpPr>
          <p:cNvPr id="16" name="Straight Connector 15">
            <a:extLst>
              <a:ext uri="{FF2B5EF4-FFF2-40B4-BE49-F238E27FC236}">
                <a16:creationId xmlns:a16="http://schemas.microsoft.com/office/drawing/2014/main" id="{D739A5BB-6A25-9FF2-5972-70BCDAD17311}"/>
              </a:ext>
            </a:extLst>
          </p:cNvPr>
          <p:cNvCxnSpPr>
            <a:cxnSpLocks/>
            <a:endCxn id="24" idx="1"/>
          </p:cNvCxnSpPr>
          <p:nvPr/>
        </p:nvCxnSpPr>
        <p:spPr>
          <a:xfrm flipV="1">
            <a:off x="3047396" y="3523240"/>
            <a:ext cx="2482837" cy="583677"/>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47EF3BB2-5C17-8085-4E69-659BB543E823}"/>
              </a:ext>
            </a:extLst>
          </p:cNvPr>
          <p:cNvCxnSpPr>
            <a:cxnSpLocks/>
            <a:endCxn id="21" idx="1"/>
          </p:cNvCxnSpPr>
          <p:nvPr/>
        </p:nvCxnSpPr>
        <p:spPr>
          <a:xfrm>
            <a:off x="3047396" y="2952455"/>
            <a:ext cx="2482837" cy="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B67DFEC-6F3E-2F54-BBC7-8F18A49D257E}"/>
              </a:ext>
            </a:extLst>
          </p:cNvPr>
          <p:cNvCxnSpPr>
            <a:cxnSpLocks/>
            <a:endCxn id="27" idx="1"/>
          </p:cNvCxnSpPr>
          <p:nvPr/>
        </p:nvCxnSpPr>
        <p:spPr>
          <a:xfrm>
            <a:off x="3047396" y="3523240"/>
            <a:ext cx="2482837" cy="570783"/>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17" name="Google Shape;186;p30">
            <a:extLst>
              <a:ext uri="{FF2B5EF4-FFF2-40B4-BE49-F238E27FC236}">
                <a16:creationId xmlns:a16="http://schemas.microsoft.com/office/drawing/2014/main" id="{5974B2B1-14E3-520E-E56C-B1A402177581}"/>
              </a:ext>
            </a:extLst>
          </p:cNvPr>
          <p:cNvSpPr txBox="1">
            <a:spLocks noGrp="1"/>
          </p:cNvSpPr>
          <p:nvPr>
            <p:ph type="title"/>
          </p:nvPr>
        </p:nvSpPr>
        <p:spPr>
          <a:xfrm>
            <a:off x="3212287" y="1787319"/>
            <a:ext cx="2317946"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Complete!</a:t>
            </a:r>
            <a:endParaRPr dirty="0"/>
          </a:p>
        </p:txBody>
      </p:sp>
      <p:sp>
        <p:nvSpPr>
          <p:cNvPr id="18" name="TextBox 17">
            <a:extLst>
              <a:ext uri="{FF2B5EF4-FFF2-40B4-BE49-F238E27FC236}">
                <a16:creationId xmlns:a16="http://schemas.microsoft.com/office/drawing/2014/main" id="{3D9CCC38-036F-AB45-41F3-B65472E1F053}"/>
              </a:ext>
            </a:extLst>
          </p:cNvPr>
          <p:cNvSpPr txBox="1"/>
          <p:nvPr/>
        </p:nvSpPr>
        <p:spPr>
          <a:xfrm>
            <a:off x="4617315" y="4780443"/>
            <a:ext cx="4466092" cy="307777"/>
          </a:xfrm>
          <a:prstGeom prst="rect">
            <a:avLst/>
          </a:prstGeom>
          <a:noFill/>
          <a:ln>
            <a:solidFill>
              <a:schemeClr val="bg2"/>
            </a:solidFill>
          </a:ln>
        </p:spPr>
        <p:txBody>
          <a:bodyPr wrap="square" rtlCol="0">
            <a:spAutoFit/>
          </a:bodyPr>
          <a:lstStyle/>
          <a:p>
            <a:r>
              <a:rPr lang="en-US" b="1" dirty="0">
                <a:latin typeface="Lato" panose="020B0604020202020204" charset="0"/>
                <a:ea typeface="Lato" panose="020B0604020202020204" charset="0"/>
                <a:cs typeface="Lato" panose="020B0604020202020204" charset="0"/>
              </a:rPr>
              <a:t>*Note:</a:t>
            </a:r>
            <a:r>
              <a:rPr lang="en-US" dirty="0">
                <a:latin typeface="Lato" panose="020B0604020202020204" charset="0"/>
                <a:ea typeface="Lato" panose="020B0604020202020204" charset="0"/>
                <a:cs typeface="Lato" panose="020B0604020202020204" charset="0"/>
              </a:rPr>
              <a:t> doesn’t matter which employee proposes first!</a:t>
            </a:r>
          </a:p>
        </p:txBody>
      </p:sp>
    </p:spTree>
    <p:extLst>
      <p:ext uri="{BB962C8B-B14F-4D97-AF65-F5344CB8AC3E}">
        <p14:creationId xmlns:p14="http://schemas.microsoft.com/office/powerpoint/2010/main" val="34253716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Deferred Acceptance Algorithm – Properties</a:t>
            </a:r>
            <a:endParaRPr sz="2400" dirty="0"/>
          </a:p>
        </p:txBody>
      </p:sp>
      <p:sp>
        <p:nvSpPr>
          <p:cNvPr id="146" name="Google Shape;146;p23"/>
          <p:cNvSpPr txBox="1">
            <a:spLocks noGrp="1"/>
          </p:cNvSpPr>
          <p:nvPr>
            <p:ph type="body" idx="1"/>
          </p:nvPr>
        </p:nvSpPr>
        <p:spPr>
          <a:xfrm>
            <a:off x="729450" y="1850275"/>
            <a:ext cx="7865910" cy="3145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dirty="0"/>
              <a:t>Stable match: there is no incentive for re-contracting (higher employee satisfaction and morale)</a:t>
            </a:r>
            <a:endParaRPr dirty="0"/>
          </a:p>
          <a:p>
            <a:pPr marL="457200" lvl="0" indent="-311150" algn="l" rtl="0">
              <a:spcBef>
                <a:spcPts val="0"/>
              </a:spcBef>
              <a:spcAft>
                <a:spcPts val="0"/>
              </a:spcAft>
              <a:buSzPts val="1300"/>
              <a:buChar char="●"/>
            </a:pPr>
            <a:r>
              <a:rPr lang="en" dirty="0"/>
              <a:t>Stability helps people understand that matching makes sense (transparency and fairness)</a:t>
            </a:r>
            <a:endParaRPr dirty="0"/>
          </a:p>
          <a:p>
            <a:pPr marL="914400" lvl="1" indent="-311150" algn="l" rtl="0">
              <a:spcBef>
                <a:spcPts val="0"/>
              </a:spcBef>
              <a:spcAft>
                <a:spcPts val="0"/>
              </a:spcAft>
              <a:buClr>
                <a:schemeClr val="accent1"/>
              </a:buClr>
              <a:buSzPts val="1300"/>
              <a:buFont typeface="Lato"/>
              <a:buAutoNum type="alphaLcPeriod"/>
            </a:pPr>
            <a:r>
              <a:rPr lang="en" sz="1300" dirty="0"/>
              <a:t>Notion of stability. Unstable means there is at least one blocking pair. </a:t>
            </a:r>
            <a:endParaRPr sz="1300" dirty="0"/>
          </a:p>
          <a:p>
            <a:pPr marL="914400" lvl="1" indent="-311150" algn="l" rtl="0">
              <a:spcBef>
                <a:spcPts val="0"/>
              </a:spcBef>
              <a:spcAft>
                <a:spcPts val="0"/>
              </a:spcAft>
              <a:buClr>
                <a:schemeClr val="accent1"/>
              </a:buClr>
              <a:buSzPts val="1300"/>
              <a:buFont typeface="Lato"/>
              <a:buAutoNum type="alphaLcPeriod"/>
            </a:pPr>
            <a:r>
              <a:rPr lang="en" sz="1300" dirty="0"/>
              <a:t>A pair (e, j) is called a blocking pair if both </a:t>
            </a:r>
            <a:r>
              <a:rPr lang="en" sz="1300" b="1" dirty="0"/>
              <a:t>e</a:t>
            </a:r>
            <a:r>
              <a:rPr lang="en" sz="1300" dirty="0"/>
              <a:t> and </a:t>
            </a:r>
            <a:r>
              <a:rPr lang="en" sz="1300" b="1" dirty="0"/>
              <a:t>j</a:t>
            </a:r>
            <a:r>
              <a:rPr lang="en" sz="1300" dirty="0"/>
              <a:t> prefer each other more than their current match. </a:t>
            </a:r>
            <a:endParaRPr sz="1300" dirty="0"/>
          </a:p>
          <a:p>
            <a:pPr marL="914400" lvl="1" indent="-311150" algn="l" rtl="0">
              <a:spcBef>
                <a:spcPts val="0"/>
              </a:spcBef>
              <a:spcAft>
                <a:spcPts val="0"/>
              </a:spcAft>
              <a:buClr>
                <a:srgbClr val="000000"/>
              </a:buClr>
              <a:buSzPts val="1300"/>
              <a:buFont typeface="Arial"/>
              <a:buAutoNum type="alphaLcPeriod"/>
            </a:pPr>
            <a:r>
              <a:rPr lang="en" sz="1300" dirty="0"/>
              <a:t>In final matching, if there is an employee </a:t>
            </a:r>
            <a:r>
              <a:rPr lang="en" sz="1300" b="1" dirty="0"/>
              <a:t>e</a:t>
            </a:r>
            <a:r>
              <a:rPr lang="en" sz="1300" dirty="0"/>
              <a:t> that envies another employee’s (</a:t>
            </a:r>
            <a:r>
              <a:rPr lang="en" sz="1300" b="1" dirty="0"/>
              <a:t>e’</a:t>
            </a:r>
            <a:r>
              <a:rPr lang="en" sz="1300" dirty="0"/>
              <a:t>) assignment, that job (</a:t>
            </a:r>
            <a:r>
              <a:rPr lang="en" sz="1300" b="1" dirty="0"/>
              <a:t>j</a:t>
            </a:r>
            <a:r>
              <a:rPr lang="en" sz="1300" dirty="0"/>
              <a:t>) </a:t>
            </a:r>
            <a:r>
              <a:rPr lang="en" sz="1300" u="sng" dirty="0"/>
              <a:t>MUST</a:t>
            </a:r>
            <a:r>
              <a:rPr lang="en" sz="1300" dirty="0"/>
              <a:t> “prefer” </a:t>
            </a:r>
            <a:r>
              <a:rPr lang="en" sz="1300" b="1" dirty="0"/>
              <a:t>e’ </a:t>
            </a:r>
            <a:r>
              <a:rPr lang="en" sz="1300" dirty="0"/>
              <a:t>over </a:t>
            </a:r>
            <a:r>
              <a:rPr lang="en" sz="1300" b="1" dirty="0"/>
              <a:t>e </a:t>
            </a:r>
            <a:r>
              <a:rPr lang="en" sz="1300" dirty="0"/>
              <a:t>(</a:t>
            </a:r>
            <a:r>
              <a:rPr lang="en" sz="1300" b="1" dirty="0"/>
              <a:t>j: e’ </a:t>
            </a:r>
            <a:r>
              <a:rPr lang="en" sz="1300" dirty="0"/>
              <a:t>≻ </a:t>
            </a:r>
            <a:r>
              <a:rPr lang="en" sz="1300" b="1" dirty="0"/>
              <a:t>e</a:t>
            </a:r>
            <a:r>
              <a:rPr lang="en" sz="1300" dirty="0"/>
              <a:t>) (no-justified-envy)</a:t>
            </a:r>
            <a:endParaRPr sz="1300" dirty="0"/>
          </a:p>
          <a:p>
            <a:pPr marL="457200" lvl="0" indent="-311150" algn="l" rtl="0">
              <a:spcBef>
                <a:spcPts val="0"/>
              </a:spcBef>
              <a:spcAft>
                <a:spcPts val="0"/>
              </a:spcAft>
              <a:buSzPts val="1300"/>
              <a:buChar char="●"/>
            </a:pPr>
            <a:r>
              <a:rPr lang="en" dirty="0"/>
              <a:t>Employee-proposing DA is strategy-proof for employees (i.e., employees are incentivized to report their true preferences)</a:t>
            </a:r>
            <a:endParaRPr dirty="0"/>
          </a:p>
          <a:p>
            <a:pPr marL="914400" lvl="1" indent="-311150" algn="l" rtl="0">
              <a:spcBef>
                <a:spcPts val="0"/>
              </a:spcBef>
              <a:spcAft>
                <a:spcPts val="0"/>
              </a:spcAft>
              <a:buClr>
                <a:srgbClr val="000000"/>
              </a:buClr>
              <a:buSzPts val="1300"/>
              <a:buFont typeface="Arial"/>
              <a:buAutoNum type="alphaLcPeriod"/>
            </a:pPr>
            <a:r>
              <a:rPr lang="en" sz="1300" dirty="0"/>
              <a:t>A mechanism is </a:t>
            </a:r>
            <a:r>
              <a:rPr lang="en" sz="1300" b="1" dirty="0">
                <a:solidFill>
                  <a:schemeClr val="dk2"/>
                </a:solidFill>
              </a:rPr>
              <a:t>strategy proof</a:t>
            </a:r>
            <a:r>
              <a:rPr lang="en" sz="1300" dirty="0"/>
              <a:t> if for each participant it is always optimal to be truthful, i.e. optimal to report his/her true preferences regardless of what everyone else’s preferences are</a:t>
            </a:r>
            <a:endParaRPr sz="1300" dirty="0"/>
          </a:p>
        </p:txBody>
      </p:sp>
    </p:spTree>
    <p:extLst>
      <p:ext uri="{BB962C8B-B14F-4D97-AF65-F5344CB8AC3E}">
        <p14:creationId xmlns:p14="http://schemas.microsoft.com/office/powerpoint/2010/main" val="2499861415"/>
      </p:ext>
    </p:extLst>
  </p:cSld>
  <p:clrMapOvr>
    <a:masterClrMapping/>
  </p:clrMapOvr>
  <mc:AlternateContent xmlns:mc="http://schemas.openxmlformats.org/markup-compatibility/2006" xmlns:p14="http://schemas.microsoft.com/office/powerpoint/2010/main">
    <mc:Choice Requires="p14">
      <p:transition spd="slow" p14:dur="2000" advTm="20841"/>
    </mc:Choice>
    <mc:Fallback xmlns="">
      <p:transition spd="slow" advTm="20841"/>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DA – Informal Proof</a:t>
            </a:r>
            <a:endParaRPr sz="2400" dirty="0"/>
          </a:p>
        </p:txBody>
      </p:sp>
      <p:sp>
        <p:nvSpPr>
          <p:cNvPr id="140" name="Google Shape;140;p22"/>
          <p:cNvSpPr txBox="1">
            <a:spLocks noGrp="1"/>
          </p:cNvSpPr>
          <p:nvPr>
            <p:ph type="body" idx="1"/>
          </p:nvPr>
        </p:nvSpPr>
        <p:spPr>
          <a:xfrm>
            <a:off x="729450" y="1791279"/>
            <a:ext cx="7688700" cy="2861835"/>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Font typeface="Lato"/>
              <a:buChar char="●"/>
            </a:pPr>
            <a:r>
              <a:rPr lang="en" sz="1600" b="1" dirty="0"/>
              <a:t>e </a:t>
            </a:r>
            <a:r>
              <a:rPr lang="en" sz="1600" dirty="0"/>
              <a:t>is an employee; </a:t>
            </a:r>
            <a:r>
              <a:rPr lang="en" sz="1600" b="1" dirty="0"/>
              <a:t>j </a:t>
            </a:r>
            <a:r>
              <a:rPr lang="en-US" sz="1600" dirty="0"/>
              <a:t>and </a:t>
            </a:r>
            <a:r>
              <a:rPr lang="en-US" sz="1600" b="1" dirty="0"/>
              <a:t>j’ </a:t>
            </a:r>
            <a:r>
              <a:rPr lang="en-US" sz="1600" dirty="0"/>
              <a:t>are jobs</a:t>
            </a:r>
            <a:endParaRPr sz="1600" dirty="0"/>
          </a:p>
          <a:p>
            <a:pPr marL="457200" lvl="0" indent="-311150" algn="l" rtl="0">
              <a:spcBef>
                <a:spcPts val="0"/>
              </a:spcBef>
              <a:spcAft>
                <a:spcPts val="0"/>
              </a:spcAft>
              <a:buSzPts val="1300"/>
              <a:buFont typeface="Lato"/>
              <a:buChar char="●"/>
            </a:pPr>
            <a:r>
              <a:rPr lang="en" sz="1600" dirty="0"/>
              <a:t>Suppose (</a:t>
            </a:r>
            <a:r>
              <a:rPr lang="en-US" sz="1600" b="1" dirty="0"/>
              <a:t>e</a:t>
            </a:r>
            <a:r>
              <a:rPr lang="en" sz="1600" dirty="0"/>
              <a:t>, </a:t>
            </a:r>
            <a:r>
              <a:rPr lang="en-US" sz="1600" b="1" dirty="0"/>
              <a:t>j</a:t>
            </a:r>
            <a:r>
              <a:rPr lang="en" sz="1600" dirty="0"/>
              <a:t>) are matched, but </a:t>
            </a:r>
            <a:r>
              <a:rPr lang="en-US" sz="1600" b="1" dirty="0"/>
              <a:t>e</a:t>
            </a:r>
            <a:r>
              <a:rPr lang="en" sz="1600" dirty="0"/>
              <a:t> prefers </a:t>
            </a:r>
            <a:r>
              <a:rPr lang="en-US" sz="1600" b="1" dirty="0"/>
              <a:t>j</a:t>
            </a:r>
            <a:r>
              <a:rPr lang="en" sz="1600" b="1" dirty="0"/>
              <a:t>'</a:t>
            </a:r>
            <a:endParaRPr sz="1600" b="1" dirty="0"/>
          </a:p>
          <a:p>
            <a:pPr marL="914400" lvl="1" indent="-311150" algn="l" rtl="0">
              <a:spcBef>
                <a:spcPts val="0"/>
              </a:spcBef>
              <a:spcAft>
                <a:spcPts val="0"/>
              </a:spcAft>
              <a:buClr>
                <a:schemeClr val="accent1"/>
              </a:buClr>
              <a:buSzPts val="1300"/>
              <a:buFont typeface="Lato"/>
              <a:buChar char="○"/>
            </a:pPr>
            <a:r>
              <a:rPr lang="en" sz="1600" dirty="0"/>
              <a:t>At some point, </a:t>
            </a:r>
            <a:r>
              <a:rPr lang="en-US" sz="1600" b="1" dirty="0"/>
              <a:t>e</a:t>
            </a:r>
            <a:r>
              <a:rPr lang="en" sz="1600" dirty="0"/>
              <a:t> proposed to </a:t>
            </a:r>
            <a:r>
              <a:rPr lang="en-US" sz="1600" b="1" dirty="0"/>
              <a:t>j</a:t>
            </a:r>
            <a:r>
              <a:rPr lang="en" sz="1600" b="1" dirty="0"/>
              <a:t>'</a:t>
            </a:r>
            <a:r>
              <a:rPr lang="en" sz="1600" dirty="0"/>
              <a:t> and was rejected (employees go through their lists in rank order) or </a:t>
            </a:r>
            <a:r>
              <a:rPr lang="en" sz="1600" b="1" dirty="0"/>
              <a:t>e </a:t>
            </a:r>
            <a:r>
              <a:rPr lang="en" sz="1600" dirty="0"/>
              <a:t>was tentatively matched to </a:t>
            </a:r>
            <a:r>
              <a:rPr lang="en" sz="1600" b="1" dirty="0"/>
              <a:t>j’</a:t>
            </a:r>
            <a:r>
              <a:rPr lang="en" sz="1600" dirty="0"/>
              <a:t> and then got bumped</a:t>
            </a:r>
            <a:endParaRPr sz="1600" dirty="0"/>
          </a:p>
          <a:p>
            <a:pPr marL="914400" lvl="1" indent="-311150" algn="l" rtl="0">
              <a:spcBef>
                <a:spcPts val="0"/>
              </a:spcBef>
              <a:spcAft>
                <a:spcPts val="0"/>
              </a:spcAft>
              <a:buClr>
                <a:schemeClr val="accent1"/>
              </a:buClr>
              <a:buSzPts val="1300"/>
              <a:buFont typeface="Lato"/>
              <a:buChar char="○"/>
            </a:pPr>
            <a:r>
              <a:rPr lang="en" sz="1600" dirty="0"/>
              <a:t>At that point, </a:t>
            </a:r>
            <a:r>
              <a:rPr lang="en-US" sz="1600" b="1" dirty="0"/>
              <a:t>j</a:t>
            </a:r>
            <a:r>
              <a:rPr lang="en" sz="1600" b="1" dirty="0"/>
              <a:t>'</a:t>
            </a:r>
            <a:r>
              <a:rPr lang="en" sz="1600" dirty="0"/>
              <a:t> preferred their tentative match to </a:t>
            </a:r>
            <a:r>
              <a:rPr lang="en-US" sz="1600" b="1" dirty="0"/>
              <a:t>e</a:t>
            </a:r>
            <a:endParaRPr sz="1600" b="1" dirty="0"/>
          </a:p>
          <a:p>
            <a:pPr marL="914400" lvl="1" indent="-311150" algn="l" rtl="0">
              <a:spcBef>
                <a:spcPts val="0"/>
              </a:spcBef>
              <a:spcAft>
                <a:spcPts val="0"/>
              </a:spcAft>
              <a:buClr>
                <a:schemeClr val="accent1"/>
              </a:buClr>
              <a:buSzPts val="1300"/>
              <a:buFont typeface="Lato"/>
              <a:buChar char="○"/>
            </a:pPr>
            <a:r>
              <a:rPr lang="en" sz="1600" dirty="0"/>
              <a:t>As algorithm goes forward, </a:t>
            </a:r>
            <a:r>
              <a:rPr lang="en-US" sz="1600" b="1" dirty="0"/>
              <a:t>j</a:t>
            </a:r>
            <a:r>
              <a:rPr lang="en" sz="1600" b="1" dirty="0"/>
              <a:t>'</a:t>
            </a:r>
            <a:r>
              <a:rPr lang="en" sz="1600" dirty="0"/>
              <a:t> can only do better</a:t>
            </a:r>
            <a:endParaRPr sz="1600" dirty="0"/>
          </a:p>
          <a:p>
            <a:pPr marL="914400" lvl="1" indent="-311150" algn="l" rtl="0">
              <a:spcBef>
                <a:spcPts val="0"/>
              </a:spcBef>
              <a:spcAft>
                <a:spcPts val="0"/>
              </a:spcAft>
              <a:buClr>
                <a:schemeClr val="accent1"/>
              </a:buClr>
              <a:buSzPts val="1300"/>
              <a:buFont typeface="Lato"/>
              <a:buChar char="○"/>
            </a:pPr>
            <a:r>
              <a:rPr lang="en" sz="1600" dirty="0"/>
              <a:t>So </a:t>
            </a:r>
            <a:r>
              <a:rPr lang="en-US" sz="1600" b="1" dirty="0"/>
              <a:t>j</a:t>
            </a:r>
            <a:r>
              <a:rPr lang="en" sz="1600" b="1" dirty="0"/>
              <a:t>’</a:t>
            </a:r>
            <a:r>
              <a:rPr lang="en" sz="1600" dirty="0"/>
              <a:t> must prefer their final match to </a:t>
            </a:r>
            <a:r>
              <a:rPr lang="en-US" sz="1600" b="1" dirty="0"/>
              <a:t>e</a:t>
            </a:r>
            <a:endParaRPr sz="1600" b="1" dirty="0"/>
          </a:p>
          <a:p>
            <a:pPr marL="457200" lvl="0" indent="-311150" algn="l" rtl="0">
              <a:spcBef>
                <a:spcPts val="0"/>
              </a:spcBef>
              <a:spcAft>
                <a:spcPts val="0"/>
              </a:spcAft>
              <a:buSzPts val="1300"/>
              <a:buFont typeface="Lato"/>
              <a:buChar char="●"/>
            </a:pPr>
            <a:r>
              <a:rPr lang="en" sz="1600" dirty="0"/>
              <a:t>Therefore, there can never be any blocking pairs</a:t>
            </a:r>
            <a:endParaRPr sz="1600" dirty="0"/>
          </a:p>
          <a:p>
            <a:pPr marL="457200" lvl="0" indent="-311150" algn="l" rtl="0">
              <a:spcBef>
                <a:spcPts val="0"/>
              </a:spcBef>
              <a:spcAft>
                <a:spcPts val="0"/>
              </a:spcAft>
              <a:buSzPts val="1300"/>
              <a:buFont typeface="Arial"/>
              <a:buChar char="●"/>
            </a:pPr>
            <a:r>
              <a:rPr lang="en" sz="1600" b="1" u="sng" dirty="0"/>
              <a:t>NOTE:</a:t>
            </a:r>
            <a:r>
              <a:rPr lang="en" sz="1600" dirty="0"/>
              <a:t>  the order in which we iterate and assign officers to </a:t>
            </a:r>
            <a:r>
              <a:rPr lang="en-US" sz="1600" dirty="0"/>
              <a:t>jobs</a:t>
            </a:r>
            <a:r>
              <a:rPr lang="en" sz="1600" dirty="0"/>
              <a:t> </a:t>
            </a:r>
            <a:r>
              <a:rPr lang="en-US" sz="1600" dirty="0"/>
              <a:t>will always result in a stable match</a:t>
            </a:r>
            <a:endParaRPr sz="1600" dirty="0"/>
          </a:p>
          <a:p>
            <a:pPr marL="0" lvl="0" indent="0" algn="l" rtl="0">
              <a:spcBef>
                <a:spcPts val="0"/>
              </a:spcBef>
              <a:spcAft>
                <a:spcPts val="1200"/>
              </a:spcAft>
              <a:buNone/>
            </a:pPr>
            <a:endParaRPr sz="1600" dirty="0"/>
          </a:p>
        </p:txBody>
      </p:sp>
      <p:sp>
        <p:nvSpPr>
          <p:cNvPr id="2" name="TextBox 1">
            <a:extLst>
              <a:ext uri="{FF2B5EF4-FFF2-40B4-BE49-F238E27FC236}">
                <a16:creationId xmlns:a16="http://schemas.microsoft.com/office/drawing/2014/main" id="{77DD774F-6F2E-E07C-F512-60F4593AA003}"/>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Tree>
    <p:extLst>
      <p:ext uri="{BB962C8B-B14F-4D97-AF65-F5344CB8AC3E}">
        <p14:creationId xmlns:p14="http://schemas.microsoft.com/office/powerpoint/2010/main" val="30796346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01BD5F31-48C5-6F33-913B-9EC17E70A4D3}"/>
            </a:ext>
          </a:extLst>
        </p:cNvPr>
        <p:cNvGrpSpPr/>
        <p:nvPr/>
      </p:nvGrpSpPr>
      <p:grpSpPr>
        <a:xfrm>
          <a:off x="0" y="0"/>
          <a:ext cx="0" cy="0"/>
          <a:chOff x="0" y="0"/>
          <a:chExt cx="0" cy="0"/>
        </a:xfrm>
      </p:grpSpPr>
      <p:sp>
        <p:nvSpPr>
          <p:cNvPr id="145" name="Google Shape;145;p23">
            <a:extLst>
              <a:ext uri="{FF2B5EF4-FFF2-40B4-BE49-F238E27FC236}">
                <a16:creationId xmlns:a16="http://schemas.microsoft.com/office/drawing/2014/main" id="{3FED791E-8E22-D295-E6E6-B87C59CB2EE2}"/>
              </a:ext>
            </a:extLst>
          </p:cNvPr>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DA Algorithm – Solution Optimality</a:t>
            </a:r>
            <a:endParaRPr sz="2400" dirty="0"/>
          </a:p>
        </p:txBody>
      </p:sp>
      <p:sp>
        <p:nvSpPr>
          <p:cNvPr id="146" name="Google Shape;146;p23">
            <a:extLst>
              <a:ext uri="{FF2B5EF4-FFF2-40B4-BE49-F238E27FC236}">
                <a16:creationId xmlns:a16="http://schemas.microsoft.com/office/drawing/2014/main" id="{F22F14C6-2A7F-DB07-7CC6-BFFC5A5E4303}"/>
              </a:ext>
            </a:extLst>
          </p:cNvPr>
          <p:cNvSpPr txBox="1">
            <a:spLocks noGrp="1"/>
          </p:cNvSpPr>
          <p:nvPr>
            <p:ph type="body" idx="1"/>
          </p:nvPr>
        </p:nvSpPr>
        <p:spPr>
          <a:xfrm>
            <a:off x="524256" y="1850275"/>
            <a:ext cx="8071104" cy="3145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US" dirty="0"/>
              <a:t>The DA algorithm in which employees propose to jobs </a:t>
            </a:r>
            <a:r>
              <a:rPr lang="en-US" b="1" u="sng" dirty="0"/>
              <a:t>always yields the same stable matching</a:t>
            </a:r>
            <a:r>
              <a:rPr lang="en-US" dirty="0"/>
              <a:t> – regardless of the order in which job offers are made – and the resulting stable matching is the </a:t>
            </a:r>
            <a:r>
              <a:rPr lang="en-US" i="1" dirty="0"/>
              <a:t>best for all employees and worst for all jobs</a:t>
            </a:r>
            <a:r>
              <a:rPr lang="en-US" dirty="0"/>
              <a:t> among all stable matchings. </a:t>
            </a:r>
          </a:p>
          <a:p>
            <a:pPr marL="457200" lvl="0" indent="-311150" algn="l" rtl="0">
              <a:spcBef>
                <a:spcPts val="0"/>
              </a:spcBef>
              <a:spcAft>
                <a:spcPts val="0"/>
              </a:spcAft>
              <a:buSzPts val="1300"/>
              <a:buChar char="●"/>
            </a:pPr>
            <a:r>
              <a:rPr lang="en-US" dirty="0"/>
              <a:t>In this case, the final matching is </a:t>
            </a:r>
            <a:r>
              <a:rPr lang="en-US" i="1" dirty="0"/>
              <a:t>Employee-optimal </a:t>
            </a:r>
            <a:r>
              <a:rPr lang="en-US" dirty="0"/>
              <a:t>and </a:t>
            </a:r>
            <a:r>
              <a:rPr lang="en-US" i="1" dirty="0"/>
              <a:t>Job-pessimal</a:t>
            </a:r>
            <a:r>
              <a:rPr lang="en-US" dirty="0"/>
              <a:t>: each employee gets the highest-ranked job they could possibly obtain in any stable matching, and each job gets the lowest-ranked employee it could ever receive in any stable matching. </a:t>
            </a:r>
          </a:p>
          <a:p>
            <a:pPr marL="457200" lvl="0" indent="-311150" algn="l" rtl="0">
              <a:spcBef>
                <a:spcPts val="0"/>
              </a:spcBef>
              <a:spcAft>
                <a:spcPts val="0"/>
              </a:spcAft>
              <a:buSzPts val="1300"/>
              <a:buChar char="●"/>
            </a:pPr>
            <a:endParaRPr lang="en-US" dirty="0"/>
          </a:p>
          <a:p>
            <a:pPr marL="457200" lvl="0" indent="-311150" algn="l" rtl="0">
              <a:spcBef>
                <a:spcPts val="0"/>
              </a:spcBef>
              <a:spcAft>
                <a:spcPts val="0"/>
              </a:spcAft>
              <a:buSzPts val="1300"/>
              <a:buChar char="●"/>
            </a:pPr>
            <a:endParaRPr lang="en-US" dirty="0"/>
          </a:p>
          <a:p>
            <a:pPr marL="0" lvl="0" indent="0" algn="l" rtl="0">
              <a:spcBef>
                <a:spcPts val="0"/>
              </a:spcBef>
              <a:spcAft>
                <a:spcPts val="0"/>
              </a:spcAft>
              <a:buNone/>
            </a:pPr>
            <a:r>
              <a:rPr lang="en-US" dirty="0"/>
              <a:t>[100 runs of 1000x1000 matching with random strict preferences]</a:t>
            </a:r>
            <a:endParaRPr dirty="0"/>
          </a:p>
        </p:txBody>
      </p:sp>
      <p:pic>
        <p:nvPicPr>
          <p:cNvPr id="2" name="Picture 1">
            <a:extLst>
              <a:ext uri="{FF2B5EF4-FFF2-40B4-BE49-F238E27FC236}">
                <a16:creationId xmlns:a16="http://schemas.microsoft.com/office/drawing/2014/main" id="{74C3BD4F-B1E8-6F9A-18DB-A1BE4CC3255E}"/>
              </a:ext>
            </a:extLst>
          </p:cNvPr>
          <p:cNvPicPr>
            <a:picLocks noChangeAspect="1"/>
          </p:cNvPicPr>
          <p:nvPr/>
        </p:nvPicPr>
        <p:blipFill>
          <a:blip r:embed="rId3"/>
          <a:stretch>
            <a:fillRect/>
          </a:stretch>
        </p:blipFill>
        <p:spPr>
          <a:xfrm>
            <a:off x="5498592" y="3196500"/>
            <a:ext cx="3499104" cy="1798975"/>
          </a:xfrm>
          <a:prstGeom prst="rect">
            <a:avLst/>
          </a:prstGeom>
        </p:spPr>
      </p:pic>
    </p:spTree>
    <p:extLst>
      <p:ext uri="{BB962C8B-B14F-4D97-AF65-F5344CB8AC3E}">
        <p14:creationId xmlns:p14="http://schemas.microsoft.com/office/powerpoint/2010/main" val="2624457009"/>
      </p:ext>
    </p:extLst>
  </p:cSld>
  <p:clrMapOvr>
    <a:masterClrMapping/>
  </p:clrMapOvr>
  <mc:AlternateContent xmlns:mc="http://schemas.openxmlformats.org/markup-compatibility/2006" xmlns:p14="http://schemas.microsoft.com/office/powerpoint/2010/main">
    <mc:Choice Requires="p14">
      <p:transition spd="slow" p14:dur="2000" advTm="20841"/>
    </mc:Choice>
    <mc:Fallback xmlns="">
      <p:transition spd="slow" advTm="20841"/>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18D72D0C-F3F4-8B21-88E5-1DC4393C978F}"/>
            </a:ext>
          </a:extLst>
        </p:cNvPr>
        <p:cNvGrpSpPr/>
        <p:nvPr/>
      </p:nvGrpSpPr>
      <p:grpSpPr>
        <a:xfrm>
          <a:off x="0" y="0"/>
          <a:ext cx="0" cy="0"/>
          <a:chOff x="0" y="0"/>
          <a:chExt cx="0" cy="0"/>
        </a:xfrm>
      </p:grpSpPr>
      <p:sp>
        <p:nvSpPr>
          <p:cNvPr id="145" name="Google Shape;145;p23">
            <a:extLst>
              <a:ext uri="{FF2B5EF4-FFF2-40B4-BE49-F238E27FC236}">
                <a16:creationId xmlns:a16="http://schemas.microsoft.com/office/drawing/2014/main" id="{86A74C31-7E06-655B-2552-A255E6C0A013}"/>
              </a:ext>
            </a:extLst>
          </p:cNvPr>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DA Algorithm – Solution Optimality</a:t>
            </a:r>
            <a:endParaRPr sz="2400" dirty="0"/>
          </a:p>
        </p:txBody>
      </p:sp>
      <p:sp>
        <p:nvSpPr>
          <p:cNvPr id="146" name="Google Shape;146;p23">
            <a:extLst>
              <a:ext uri="{FF2B5EF4-FFF2-40B4-BE49-F238E27FC236}">
                <a16:creationId xmlns:a16="http://schemas.microsoft.com/office/drawing/2014/main" id="{7CD92D14-BD7C-9378-ACFC-5150D608A019}"/>
              </a:ext>
            </a:extLst>
          </p:cNvPr>
          <p:cNvSpPr txBox="1">
            <a:spLocks noGrp="1"/>
          </p:cNvSpPr>
          <p:nvPr>
            <p:ph type="body" idx="1"/>
          </p:nvPr>
        </p:nvSpPr>
        <p:spPr>
          <a:xfrm>
            <a:off x="729450" y="1850275"/>
            <a:ext cx="7865910" cy="1063613"/>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US" dirty="0"/>
              <a:t>Multiple stable-matchings are actually possible, but DA always yields the same stable matching</a:t>
            </a:r>
          </a:p>
          <a:p>
            <a:pPr marL="457200" lvl="0" indent="-311150" algn="l" rtl="0">
              <a:spcBef>
                <a:spcPts val="0"/>
              </a:spcBef>
              <a:spcAft>
                <a:spcPts val="0"/>
              </a:spcAft>
              <a:buSzPts val="1300"/>
              <a:buChar char="●"/>
            </a:pPr>
            <a:r>
              <a:rPr lang="en-US" dirty="0"/>
              <a:t>The employee-optimal and job-optimal matchings form the top and bottom elements of the </a:t>
            </a:r>
            <a:r>
              <a:rPr lang="en-US" dirty="0">
                <a:hlinkClick r:id="rId3"/>
              </a:rPr>
              <a:t>lattice of stable matchings</a:t>
            </a:r>
            <a:endParaRPr lang="en-US" dirty="0"/>
          </a:p>
          <a:p>
            <a:pPr marL="457200" lvl="0" indent="-311150" algn="l" rtl="0">
              <a:spcBef>
                <a:spcPts val="0"/>
              </a:spcBef>
              <a:spcAft>
                <a:spcPts val="0"/>
              </a:spcAft>
              <a:buSzPts val="1300"/>
              <a:buChar char="●"/>
            </a:pPr>
            <a:endParaRPr lang="en-US" dirty="0"/>
          </a:p>
          <a:p>
            <a:pPr marL="457200" lvl="0" indent="-311150" algn="l" rtl="0">
              <a:spcBef>
                <a:spcPts val="0"/>
              </a:spcBef>
              <a:spcAft>
                <a:spcPts val="0"/>
              </a:spcAft>
              <a:buSzPts val="1300"/>
              <a:buChar char="●"/>
            </a:pPr>
            <a:endParaRPr lang="en-US" dirty="0"/>
          </a:p>
          <a:p>
            <a:pPr marL="457200" lvl="0" indent="-311150" algn="l" rtl="0">
              <a:spcBef>
                <a:spcPts val="0"/>
              </a:spcBef>
              <a:spcAft>
                <a:spcPts val="0"/>
              </a:spcAft>
              <a:buSzPts val="1300"/>
              <a:buChar char="●"/>
            </a:pPr>
            <a:endParaRPr lang="en-US" dirty="0"/>
          </a:p>
          <a:p>
            <a:pPr marL="146050" lvl="0" indent="0" algn="ctr" rtl="0">
              <a:spcBef>
                <a:spcPts val="0"/>
              </a:spcBef>
              <a:spcAft>
                <a:spcPts val="0"/>
              </a:spcAft>
              <a:buSzPts val="1300"/>
              <a:buNone/>
            </a:pPr>
            <a:endParaRPr dirty="0"/>
          </a:p>
        </p:txBody>
      </p:sp>
      <p:pic>
        <p:nvPicPr>
          <p:cNvPr id="3" name="Picture 2" descr="A screenshot of a computer&#10;&#10;AI-generated content may be incorrect.">
            <a:extLst>
              <a:ext uri="{FF2B5EF4-FFF2-40B4-BE49-F238E27FC236}">
                <a16:creationId xmlns:a16="http://schemas.microsoft.com/office/drawing/2014/main" id="{C268F38B-AD4B-8CB4-E4AB-6A8AD00F569E}"/>
              </a:ext>
            </a:extLst>
          </p:cNvPr>
          <p:cNvPicPr>
            <a:picLocks noChangeAspect="1"/>
          </p:cNvPicPr>
          <p:nvPr/>
        </p:nvPicPr>
        <p:blipFill>
          <a:blip r:embed="rId4"/>
          <a:stretch>
            <a:fillRect/>
          </a:stretch>
        </p:blipFill>
        <p:spPr>
          <a:xfrm>
            <a:off x="0" y="2913888"/>
            <a:ext cx="9120475" cy="1584960"/>
          </a:xfrm>
          <a:prstGeom prst="rect">
            <a:avLst/>
          </a:prstGeom>
          <a:ln>
            <a:solidFill>
              <a:schemeClr val="bg2"/>
            </a:solidFill>
          </a:ln>
        </p:spPr>
      </p:pic>
    </p:spTree>
    <p:extLst>
      <p:ext uri="{BB962C8B-B14F-4D97-AF65-F5344CB8AC3E}">
        <p14:creationId xmlns:p14="http://schemas.microsoft.com/office/powerpoint/2010/main" val="2960618407"/>
      </p:ext>
    </p:extLst>
  </p:cSld>
  <p:clrMapOvr>
    <a:masterClrMapping/>
  </p:clrMapOvr>
  <mc:AlternateContent xmlns:mc="http://schemas.openxmlformats.org/markup-compatibility/2006" xmlns:p14="http://schemas.microsoft.com/office/powerpoint/2010/main">
    <mc:Choice Requires="p14">
      <p:transition spd="slow" p14:dur="2000" advTm="20841"/>
    </mc:Choice>
    <mc:Fallback xmlns="">
      <p:transition spd="slow" advTm="20841"/>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8E879E4D-805C-2A8E-0FC1-6C16BA6F7BDB}"/>
            </a:ext>
          </a:extLst>
        </p:cNvPr>
        <p:cNvGrpSpPr/>
        <p:nvPr/>
      </p:nvGrpSpPr>
      <p:grpSpPr>
        <a:xfrm>
          <a:off x="0" y="0"/>
          <a:ext cx="0" cy="0"/>
          <a:chOff x="0" y="0"/>
          <a:chExt cx="0" cy="0"/>
        </a:xfrm>
      </p:grpSpPr>
      <p:sp>
        <p:nvSpPr>
          <p:cNvPr id="145" name="Google Shape;145;p23">
            <a:extLst>
              <a:ext uri="{FF2B5EF4-FFF2-40B4-BE49-F238E27FC236}">
                <a16:creationId xmlns:a16="http://schemas.microsoft.com/office/drawing/2014/main" id="{E240E119-FAF0-AB99-6190-F41291B5ADE5}"/>
              </a:ext>
            </a:extLst>
          </p:cNvPr>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DA – Applications</a:t>
            </a:r>
            <a:endParaRPr sz="2400" dirty="0"/>
          </a:p>
        </p:txBody>
      </p:sp>
      <p:sp>
        <p:nvSpPr>
          <p:cNvPr id="146" name="Google Shape;146;p23">
            <a:extLst>
              <a:ext uri="{FF2B5EF4-FFF2-40B4-BE49-F238E27FC236}">
                <a16:creationId xmlns:a16="http://schemas.microsoft.com/office/drawing/2014/main" id="{292687E8-BE9E-B6DE-1E8E-2BE6163527E1}"/>
              </a:ext>
            </a:extLst>
          </p:cNvPr>
          <p:cNvSpPr txBox="1">
            <a:spLocks noGrp="1"/>
          </p:cNvSpPr>
          <p:nvPr>
            <p:ph type="body" idx="1"/>
          </p:nvPr>
        </p:nvSpPr>
        <p:spPr>
          <a:xfrm>
            <a:off x="729450" y="1850275"/>
            <a:ext cx="7865910" cy="3145200"/>
          </a:xfrm>
          <a:prstGeom prst="rect">
            <a:avLst/>
          </a:prstGeom>
        </p:spPr>
        <p:txBody>
          <a:bodyPr spcFirstLastPara="1" wrap="square" lIns="91425" tIns="91425" rIns="91425" bIns="91425" anchor="t" anchorCtr="0">
            <a:noAutofit/>
          </a:bodyPr>
          <a:lstStyle/>
          <a:p>
            <a:pPr>
              <a:lnSpc>
                <a:spcPct val="150000"/>
              </a:lnSpc>
            </a:pPr>
            <a:r>
              <a:rPr lang="en-US" sz="1800" dirty="0"/>
              <a:t>National Resident Matching Program (NRMP)</a:t>
            </a:r>
          </a:p>
          <a:p>
            <a:pPr lvl="1">
              <a:lnSpc>
                <a:spcPct val="150000"/>
              </a:lnSpc>
            </a:pPr>
            <a:r>
              <a:rPr lang="en-US" sz="1600" dirty="0"/>
              <a:t>Switched from “hospital-proposing” to “resident-proposing”</a:t>
            </a:r>
          </a:p>
          <a:p>
            <a:pPr>
              <a:lnSpc>
                <a:spcPct val="150000"/>
              </a:lnSpc>
            </a:pPr>
            <a:r>
              <a:rPr lang="en-US" sz="1800" dirty="0"/>
              <a:t>School matching (San Francisco, New Orleans, New York, Boston)</a:t>
            </a:r>
          </a:p>
          <a:p>
            <a:pPr lvl="1">
              <a:lnSpc>
                <a:spcPct val="150000"/>
              </a:lnSpc>
            </a:pPr>
            <a:r>
              <a:rPr lang="en-US" sz="1600" dirty="0"/>
              <a:t>“Student-proposing” – they have strict preferences, schools generally seeking the same thing (diverse student body with good test scores)</a:t>
            </a:r>
          </a:p>
          <a:p>
            <a:pPr>
              <a:lnSpc>
                <a:spcPct val="150000"/>
              </a:lnSpc>
            </a:pPr>
            <a:r>
              <a:rPr lang="en-US" sz="1800" dirty="0"/>
              <a:t>Army Assignments</a:t>
            </a:r>
          </a:p>
          <a:p>
            <a:pPr marL="457200" lvl="0" indent="-311150" algn="l" rtl="0">
              <a:lnSpc>
                <a:spcPct val="150000"/>
              </a:lnSpc>
              <a:spcBef>
                <a:spcPts val="0"/>
              </a:spcBef>
              <a:spcAft>
                <a:spcPts val="0"/>
              </a:spcAft>
              <a:buSzPts val="1300"/>
              <a:buChar char="●"/>
            </a:pPr>
            <a:endParaRPr sz="1400" dirty="0"/>
          </a:p>
        </p:txBody>
      </p:sp>
    </p:spTree>
    <p:extLst>
      <p:ext uri="{BB962C8B-B14F-4D97-AF65-F5344CB8AC3E}">
        <p14:creationId xmlns:p14="http://schemas.microsoft.com/office/powerpoint/2010/main" val="18584897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FF398384-7AD2-FC21-6741-12ED18FD75D9}"/>
            </a:ext>
          </a:extLst>
        </p:cNvPr>
        <p:cNvGrpSpPr/>
        <p:nvPr/>
      </p:nvGrpSpPr>
      <p:grpSpPr>
        <a:xfrm>
          <a:off x="0" y="0"/>
          <a:ext cx="0" cy="0"/>
          <a:chOff x="0" y="0"/>
          <a:chExt cx="0" cy="0"/>
        </a:xfrm>
      </p:grpSpPr>
      <p:sp>
        <p:nvSpPr>
          <p:cNvPr id="163" name="Google Shape;163;p26">
            <a:extLst>
              <a:ext uri="{FF2B5EF4-FFF2-40B4-BE49-F238E27FC236}">
                <a16:creationId xmlns:a16="http://schemas.microsoft.com/office/drawing/2014/main" id="{EC6560BA-D137-C05A-4964-B68839373044}"/>
              </a:ext>
            </a:extLst>
          </p:cNvPr>
          <p:cNvSpPr txBox="1">
            <a:spLocks noGrp="1"/>
          </p:cNvSpPr>
          <p:nvPr>
            <p:ph type="title"/>
          </p:nvPr>
        </p:nvSpPr>
        <p:spPr>
          <a:xfrm>
            <a:off x="1007000" y="25717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Other options? Top Trading Cycle algorithm</a:t>
            </a:r>
            <a:endParaRPr dirty="0"/>
          </a:p>
        </p:txBody>
      </p:sp>
      <p:sp>
        <p:nvSpPr>
          <p:cNvPr id="2" name="TextBox 1">
            <a:extLst>
              <a:ext uri="{FF2B5EF4-FFF2-40B4-BE49-F238E27FC236}">
                <a16:creationId xmlns:a16="http://schemas.microsoft.com/office/drawing/2014/main" id="{1189F5D1-78E0-3080-C9C2-DD8595AA07B4}"/>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Tree>
    <p:extLst>
      <p:ext uri="{BB962C8B-B14F-4D97-AF65-F5344CB8AC3E}">
        <p14:creationId xmlns:p14="http://schemas.microsoft.com/office/powerpoint/2010/main" val="10707958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3B444197-486E-E0C3-256D-B0AB666C856A}"/>
            </a:ext>
          </a:extLst>
        </p:cNvPr>
        <p:cNvGrpSpPr/>
        <p:nvPr/>
      </p:nvGrpSpPr>
      <p:grpSpPr>
        <a:xfrm>
          <a:off x="0" y="0"/>
          <a:ext cx="0" cy="0"/>
          <a:chOff x="0" y="0"/>
          <a:chExt cx="0" cy="0"/>
        </a:xfrm>
      </p:grpSpPr>
      <p:sp>
        <p:nvSpPr>
          <p:cNvPr id="157" name="Google Shape;157;p25">
            <a:extLst>
              <a:ext uri="{FF2B5EF4-FFF2-40B4-BE49-F238E27FC236}">
                <a16:creationId xmlns:a16="http://schemas.microsoft.com/office/drawing/2014/main" id="{1DAAB427-1E50-03A2-75E3-AD50F35BE2A0}"/>
              </a:ext>
            </a:extLst>
          </p:cNvPr>
          <p:cNvSpPr txBox="1">
            <a:spLocks noGrp="1"/>
          </p:cNvSpPr>
          <p:nvPr>
            <p:ph type="title"/>
          </p:nvPr>
        </p:nvSpPr>
        <p:spPr>
          <a:xfrm>
            <a:off x="729449" y="1318650"/>
            <a:ext cx="8019343"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200" dirty="0"/>
              <a:t>TTC - Algorithm</a:t>
            </a:r>
            <a:endParaRPr sz="2200" dirty="0"/>
          </a:p>
        </p:txBody>
      </p:sp>
      <mc:AlternateContent xmlns:mc="http://schemas.openxmlformats.org/markup-compatibility/2006" xmlns:a14="http://schemas.microsoft.com/office/drawing/2010/main">
        <mc:Choice Requires="a14">
          <p:sp>
            <p:nvSpPr>
              <p:cNvPr id="158" name="Google Shape;158;p25">
                <a:extLst>
                  <a:ext uri="{FF2B5EF4-FFF2-40B4-BE49-F238E27FC236}">
                    <a16:creationId xmlns:a16="http://schemas.microsoft.com/office/drawing/2014/main" id="{1C9338FB-E51F-238E-CB9B-AC8A3BB66C3C}"/>
                  </a:ext>
                </a:extLst>
              </p:cNvPr>
              <p:cNvSpPr txBox="1">
                <a:spLocks noGrp="1"/>
              </p:cNvSpPr>
              <p:nvPr>
                <p:ph type="body" idx="1"/>
              </p:nvPr>
            </p:nvSpPr>
            <p:spPr>
              <a:xfrm>
                <a:off x="729450" y="1926474"/>
                <a:ext cx="7489990" cy="2981588"/>
              </a:xfrm>
              <a:prstGeom prst="rect">
                <a:avLst/>
              </a:prstGeom>
            </p:spPr>
            <p:txBody>
              <a:bodyPr spcFirstLastPara="1" wrap="square" lIns="91425" tIns="91425" rIns="91425" bIns="91425" anchor="t" anchorCtr="0">
                <a:noAutofit/>
              </a:bodyPr>
              <a:lstStyle/>
              <a:p>
                <a:pPr marL="146050" indent="0">
                  <a:buNone/>
                </a:pPr>
                <a:r>
                  <a:rPr lang="en-US" sz="1800" u="sng" dirty="0"/>
                  <a:t>Top Trading Cycle algorithm: </a:t>
                </a:r>
              </a:p>
              <a:p>
                <a:pPr marL="488950" lvl="0" indent="-342900" algn="l" rtl="0">
                  <a:lnSpc>
                    <a:spcPct val="115000"/>
                  </a:lnSpc>
                  <a:spcBef>
                    <a:spcPts val="0"/>
                  </a:spcBef>
                  <a:spcAft>
                    <a:spcPts val="0"/>
                  </a:spcAft>
                  <a:buClr>
                    <a:srgbClr val="595959"/>
                  </a:buClr>
                  <a:buSzPts val="1300"/>
                  <a:buFont typeface="+mj-lt"/>
                  <a:buAutoNum type="arabicPeriod"/>
                </a:pPr>
                <a:r>
                  <a:rPr lang="en-US" sz="1600" dirty="0"/>
                  <a:t>Each employee "points" to their most preferred job that is still unmatched</a:t>
                </a:r>
              </a:p>
              <a:p>
                <a:pPr marL="488950" lvl="0" indent="-342900" algn="l" rtl="0">
                  <a:lnSpc>
                    <a:spcPct val="115000"/>
                  </a:lnSpc>
                  <a:spcBef>
                    <a:spcPts val="0"/>
                  </a:spcBef>
                  <a:spcAft>
                    <a:spcPts val="0"/>
                  </a:spcAft>
                  <a:buClr>
                    <a:srgbClr val="595959"/>
                  </a:buClr>
                  <a:buSzPts val="1300"/>
                  <a:buFont typeface="+mj-lt"/>
                  <a:buAutoNum type="arabicPeriod"/>
                </a:pPr>
                <a:r>
                  <a:rPr lang="en-US" sz="1600" dirty="0"/>
                  <a:t>Each job "points" to its most preferred employee that is still unmatched</a:t>
                </a:r>
              </a:p>
              <a:p>
                <a:pPr marL="488950" lvl="0" indent="-342900" algn="l" rtl="0">
                  <a:lnSpc>
                    <a:spcPct val="115000"/>
                  </a:lnSpc>
                  <a:spcBef>
                    <a:spcPts val="0"/>
                  </a:spcBef>
                  <a:spcAft>
                    <a:spcPts val="0"/>
                  </a:spcAft>
                  <a:buClr>
                    <a:srgbClr val="595959"/>
                  </a:buClr>
                  <a:buSzPts val="1300"/>
                  <a:buFont typeface="+mj-lt"/>
                  <a:buAutoNum type="arabicPeriod"/>
                </a:pPr>
                <a:r>
                  <a:rPr lang="en-US" sz="1600" dirty="0"/>
                  <a:t>Draw a directed edge from each employee </a:t>
                </a:r>
                <a:r>
                  <a:rPr lang="en-US" sz="1600" b="1" i="1" dirty="0"/>
                  <a:t>e</a:t>
                </a:r>
                <a:r>
                  <a:rPr lang="en-US" sz="1600" dirty="0"/>
                  <a:t> to their preferred job </a:t>
                </a:r>
                <a:r>
                  <a:rPr lang="en-US" sz="1600" b="1" i="1" dirty="0"/>
                  <a:t>j</a:t>
                </a:r>
                <a:r>
                  <a:rPr lang="en-US" sz="1600" dirty="0"/>
                  <a:t>. Draw a directed edge from each job </a:t>
                </a:r>
                <a:r>
                  <a:rPr lang="en-US" sz="1600" b="1" i="1" dirty="0"/>
                  <a:t>j</a:t>
                </a:r>
                <a:r>
                  <a:rPr lang="en-US" sz="1600" dirty="0"/>
                  <a:t> to its most preferred employee </a:t>
                </a:r>
                <a:r>
                  <a:rPr lang="en-US" sz="1600" b="1" i="1" dirty="0"/>
                  <a:t>e</a:t>
                </a:r>
              </a:p>
              <a:p>
                <a:pPr marL="488950" lvl="0" indent="-342900" algn="l" rtl="0">
                  <a:lnSpc>
                    <a:spcPct val="115000"/>
                  </a:lnSpc>
                  <a:spcBef>
                    <a:spcPts val="0"/>
                  </a:spcBef>
                  <a:spcAft>
                    <a:spcPts val="0"/>
                  </a:spcAft>
                  <a:buClr>
                    <a:srgbClr val="595959"/>
                  </a:buClr>
                  <a:buSzPts val="1300"/>
                  <a:buFont typeface="+mj-lt"/>
                  <a:buAutoNum type="arabicPeriod"/>
                </a:pPr>
                <a:r>
                  <a:rPr lang="en-US" sz="1600" dirty="0"/>
                  <a:t>Note that there must be at least one cycle in the graph - implement the trade indicated by this cycle</a:t>
                </a:r>
              </a:p>
              <a:p>
                <a:pPr marL="488950" lvl="0" indent="-342900" algn="l" rtl="0">
                  <a:lnSpc>
                    <a:spcPct val="115000"/>
                  </a:lnSpc>
                  <a:spcBef>
                    <a:spcPts val="0"/>
                  </a:spcBef>
                  <a:spcAft>
                    <a:spcPts val="0"/>
                  </a:spcAft>
                  <a:buClr>
                    <a:srgbClr val="595959"/>
                  </a:buClr>
                  <a:buSzPts val="1300"/>
                  <a:buFont typeface="+mj-lt"/>
                  <a:buAutoNum type="arabicPeriod"/>
                </a:pPr>
                <a:r>
                  <a:rPr lang="en-US" sz="1600" dirty="0"/>
                  <a:t>If there are remaining employees go back to step 1</a:t>
                </a:r>
              </a:p>
              <a:p>
                <a:pPr marL="146050" indent="0">
                  <a:buNone/>
                </a:pPr>
                <a:r>
                  <a:rPr lang="en-US" sz="1800" dirty="0"/>
                  <a:t>Is it fast? Run-time is </a:t>
                </a:r>
                <a14:m>
                  <m:oMath xmlns:m="http://schemas.openxmlformats.org/officeDocument/2006/math">
                    <m:sSup>
                      <m:sSupPr>
                        <m:ctrlPr>
                          <a:rPr lang="en-US" sz="1800" i="1" smtClean="0">
                            <a:latin typeface="Cambria Math" panose="02040503050406030204" pitchFamily="18" charset="0"/>
                          </a:rPr>
                        </m:ctrlPr>
                      </m:sSupPr>
                      <m:e>
                        <m:r>
                          <a:rPr lang="en-US" sz="1800" b="0" i="1" smtClean="0">
                            <a:latin typeface="Cambria Math" panose="02040503050406030204" pitchFamily="18" charset="0"/>
                          </a:rPr>
                          <m:t>𝑂</m:t>
                        </m:r>
                        <m:r>
                          <a:rPr lang="en-US" sz="1800" b="0" i="1" smtClean="0">
                            <a:latin typeface="Cambria Math" panose="02040503050406030204" pitchFamily="18" charset="0"/>
                          </a:rPr>
                          <m:t>(</m:t>
                        </m:r>
                        <m:r>
                          <a:rPr lang="en-US" sz="1800" b="0" i="1" smtClean="0">
                            <a:latin typeface="Cambria Math" panose="02040503050406030204" pitchFamily="18" charset="0"/>
                          </a:rPr>
                          <m:t>𝑛</m:t>
                        </m:r>
                      </m:e>
                      <m:sup>
                        <m:r>
                          <a:rPr lang="en-US" sz="1800" b="0" i="1" smtClean="0">
                            <a:latin typeface="Cambria Math" panose="02040503050406030204" pitchFamily="18" charset="0"/>
                          </a:rPr>
                          <m:t>2</m:t>
                        </m:r>
                      </m:sup>
                    </m:sSup>
                    <m:r>
                      <a:rPr lang="en-US" sz="1800" b="0" i="1" smtClean="0">
                        <a:latin typeface="Cambria Math" panose="02040503050406030204" pitchFamily="18" charset="0"/>
                      </a:rPr>
                      <m:t>)</m:t>
                    </m:r>
                  </m:oMath>
                </a14:m>
                <a:r>
                  <a:rPr lang="en-US" sz="1800" dirty="0"/>
                  <a:t> – in the worst case only one cycle per iteration</a:t>
                </a:r>
              </a:p>
            </p:txBody>
          </p:sp>
        </mc:Choice>
        <mc:Fallback xmlns="">
          <p:sp>
            <p:nvSpPr>
              <p:cNvPr id="158" name="Google Shape;158;p25">
                <a:extLst>
                  <a:ext uri="{FF2B5EF4-FFF2-40B4-BE49-F238E27FC236}">
                    <a16:creationId xmlns:a16="http://schemas.microsoft.com/office/drawing/2014/main" id="{1C9338FB-E51F-238E-CB9B-AC8A3BB66C3C}"/>
                  </a:ext>
                </a:extLst>
              </p:cNvPr>
              <p:cNvSpPr txBox="1">
                <a:spLocks noGrp="1" noRot="1" noChangeAspect="1" noMove="1" noResize="1" noEditPoints="1" noAdjustHandles="1" noChangeArrowheads="1" noChangeShapeType="1" noTextEdit="1"/>
              </p:cNvSpPr>
              <p:nvPr>
                <p:ph type="body" idx="1"/>
              </p:nvPr>
            </p:nvSpPr>
            <p:spPr>
              <a:xfrm>
                <a:off x="729450" y="1926474"/>
                <a:ext cx="7489990" cy="2981588"/>
              </a:xfrm>
              <a:prstGeom prst="rect">
                <a:avLst/>
              </a:prstGeom>
              <a:blipFill>
                <a:blip r:embed="rId3"/>
                <a:stretch>
                  <a:fillRect r="-163" b="-4499"/>
                </a:stretch>
              </a:blipFill>
            </p:spPr>
            <p:txBody>
              <a:bodyPr/>
              <a:lstStyle/>
              <a:p>
                <a:r>
                  <a:rPr lang="en-US">
                    <a:noFill/>
                  </a:rPr>
                  <a:t> </a:t>
                </a:r>
              </a:p>
            </p:txBody>
          </p:sp>
        </mc:Fallback>
      </mc:AlternateContent>
    </p:spTree>
    <p:extLst>
      <p:ext uri="{BB962C8B-B14F-4D97-AF65-F5344CB8AC3E}">
        <p14:creationId xmlns:p14="http://schemas.microsoft.com/office/powerpoint/2010/main" val="40927814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85E04CFD-7B5A-1A87-7AFA-D3176A7F2649}"/>
            </a:ext>
          </a:extLst>
        </p:cNvPr>
        <p:cNvGrpSpPr/>
        <p:nvPr/>
      </p:nvGrpSpPr>
      <p:grpSpPr>
        <a:xfrm>
          <a:off x="0" y="0"/>
          <a:ext cx="0" cy="0"/>
          <a:chOff x="0" y="0"/>
          <a:chExt cx="0" cy="0"/>
        </a:xfrm>
      </p:grpSpPr>
      <p:sp>
        <p:nvSpPr>
          <p:cNvPr id="163" name="Google Shape;163;p26">
            <a:extLst>
              <a:ext uri="{FF2B5EF4-FFF2-40B4-BE49-F238E27FC236}">
                <a16:creationId xmlns:a16="http://schemas.microsoft.com/office/drawing/2014/main" id="{1485DA2E-8EE6-F43B-43EA-783D7F0E22BB}"/>
              </a:ext>
            </a:extLst>
          </p:cNvPr>
          <p:cNvSpPr txBox="1">
            <a:spLocks noGrp="1"/>
          </p:cNvSpPr>
          <p:nvPr>
            <p:ph type="title"/>
          </p:nvPr>
        </p:nvSpPr>
        <p:spPr>
          <a:xfrm>
            <a:off x="1007000" y="25717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Toy Problem – Top Trading Cycle (TTC)</a:t>
            </a:r>
            <a:endParaRPr dirty="0"/>
          </a:p>
        </p:txBody>
      </p:sp>
      <p:sp>
        <p:nvSpPr>
          <p:cNvPr id="2" name="TextBox 1">
            <a:extLst>
              <a:ext uri="{FF2B5EF4-FFF2-40B4-BE49-F238E27FC236}">
                <a16:creationId xmlns:a16="http://schemas.microsoft.com/office/drawing/2014/main" id="{1C1BDB54-7748-B783-C710-E95C6D608761}"/>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Tree>
    <p:extLst>
      <p:ext uri="{BB962C8B-B14F-4D97-AF65-F5344CB8AC3E}">
        <p14:creationId xmlns:p14="http://schemas.microsoft.com/office/powerpoint/2010/main" val="33467305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3AC117D9-B2B1-42D9-E6F6-73DE99F6A8C4}"/>
            </a:ext>
          </a:extLst>
        </p:cNvPr>
        <p:cNvGrpSpPr/>
        <p:nvPr/>
      </p:nvGrpSpPr>
      <p:grpSpPr>
        <a:xfrm>
          <a:off x="0" y="0"/>
          <a:ext cx="0" cy="0"/>
          <a:chOff x="0" y="0"/>
          <a:chExt cx="0" cy="0"/>
        </a:xfrm>
      </p:grpSpPr>
      <p:sp>
        <p:nvSpPr>
          <p:cNvPr id="133" name="Google Shape;133;p21">
            <a:extLst>
              <a:ext uri="{FF2B5EF4-FFF2-40B4-BE49-F238E27FC236}">
                <a16:creationId xmlns:a16="http://schemas.microsoft.com/office/drawing/2014/main" id="{8FFB1683-CDDA-330F-544F-EA4AEE06CAC9}"/>
              </a:ext>
            </a:extLst>
          </p:cNvPr>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Example</a:t>
            </a:r>
            <a:endParaRPr dirty="0"/>
          </a:p>
        </p:txBody>
      </p:sp>
      <p:sp>
        <p:nvSpPr>
          <p:cNvPr id="134" name="Google Shape;134;p21">
            <a:extLst>
              <a:ext uri="{FF2B5EF4-FFF2-40B4-BE49-F238E27FC236}">
                <a16:creationId xmlns:a16="http://schemas.microsoft.com/office/drawing/2014/main" id="{6523A619-11E5-C715-512E-EB5F370FFC94}"/>
              </a:ext>
            </a:extLst>
          </p:cNvPr>
          <p:cNvSpPr txBox="1">
            <a:spLocks noGrp="1"/>
          </p:cNvSpPr>
          <p:nvPr>
            <p:ph type="body" idx="1"/>
          </p:nvPr>
        </p:nvSpPr>
        <p:spPr>
          <a:xfrm>
            <a:off x="729450" y="2078875"/>
            <a:ext cx="2681157" cy="22611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US" sz="1700" dirty="0"/>
              <a:t>e1 : j2, j1, j3</a:t>
            </a:r>
          </a:p>
          <a:p>
            <a:pPr marL="457200" lvl="0" indent="-336550" algn="l" rtl="0">
              <a:spcBef>
                <a:spcPts val="0"/>
              </a:spcBef>
              <a:spcAft>
                <a:spcPts val="0"/>
              </a:spcAft>
              <a:buSzPts val="1700"/>
              <a:buChar char="●"/>
            </a:pPr>
            <a:r>
              <a:rPr lang="en-US" sz="1700" dirty="0"/>
              <a:t>e2 : j1, j2, j3</a:t>
            </a:r>
          </a:p>
          <a:p>
            <a:pPr marL="457200" lvl="0" indent="-336550" algn="l" rtl="0">
              <a:spcBef>
                <a:spcPts val="0"/>
              </a:spcBef>
              <a:spcAft>
                <a:spcPts val="0"/>
              </a:spcAft>
              <a:buSzPts val="1700"/>
              <a:buChar char="●"/>
            </a:pPr>
            <a:r>
              <a:rPr lang="en-US" sz="1700" dirty="0"/>
              <a:t>e3 : j1, j2, j3</a:t>
            </a:r>
            <a:endParaRPr sz="1500" dirty="0"/>
          </a:p>
        </p:txBody>
      </p:sp>
      <p:sp>
        <p:nvSpPr>
          <p:cNvPr id="4" name="Google Shape;134;p21">
            <a:extLst>
              <a:ext uri="{FF2B5EF4-FFF2-40B4-BE49-F238E27FC236}">
                <a16:creationId xmlns:a16="http://schemas.microsoft.com/office/drawing/2014/main" id="{4D96E732-A815-4E84-A249-BD0DA9C1C6F5}"/>
              </a:ext>
            </a:extLst>
          </p:cNvPr>
          <p:cNvSpPr txBox="1">
            <a:spLocks/>
          </p:cNvSpPr>
          <p:nvPr/>
        </p:nvSpPr>
        <p:spPr>
          <a:xfrm>
            <a:off x="5766434" y="2078875"/>
            <a:ext cx="2681157" cy="2261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indent="-336550">
              <a:buSzPts val="1700"/>
            </a:pPr>
            <a:r>
              <a:rPr lang="en-US" sz="1700" dirty="0"/>
              <a:t>j1 : e1, e2, e3</a:t>
            </a:r>
          </a:p>
          <a:p>
            <a:pPr indent="-336550">
              <a:buSzPts val="1700"/>
            </a:pPr>
            <a:r>
              <a:rPr lang="en-US" sz="1700" dirty="0"/>
              <a:t>j2 : e3, e1, e2</a:t>
            </a:r>
          </a:p>
          <a:p>
            <a:pPr indent="-336550">
              <a:buSzPts val="1700"/>
            </a:pPr>
            <a:r>
              <a:rPr lang="en-US" sz="1700" dirty="0"/>
              <a:t>j3 : e1, e2, e3</a:t>
            </a:r>
            <a:endParaRPr lang="en-US" sz="1500" dirty="0"/>
          </a:p>
        </p:txBody>
      </p:sp>
      <p:sp>
        <p:nvSpPr>
          <p:cNvPr id="2" name="TextBox 1">
            <a:extLst>
              <a:ext uri="{FF2B5EF4-FFF2-40B4-BE49-F238E27FC236}">
                <a16:creationId xmlns:a16="http://schemas.microsoft.com/office/drawing/2014/main" id="{F31D1DC7-A8F3-75FD-0476-7F5F10A32E2E}"/>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3" name="TextBox 2">
            <a:extLst>
              <a:ext uri="{FF2B5EF4-FFF2-40B4-BE49-F238E27FC236}">
                <a16:creationId xmlns:a16="http://schemas.microsoft.com/office/drawing/2014/main" id="{68814586-01FD-2ABA-4ED0-FFF3EF7510B4}"/>
              </a:ext>
            </a:extLst>
          </p:cNvPr>
          <p:cNvSpPr txBox="1"/>
          <p:nvPr/>
        </p:nvSpPr>
        <p:spPr>
          <a:xfrm>
            <a:off x="168443" y="4195668"/>
            <a:ext cx="1515980" cy="738664"/>
          </a:xfrm>
          <a:prstGeom prst="rect">
            <a:avLst/>
          </a:prstGeom>
          <a:noFill/>
          <a:ln>
            <a:solidFill>
              <a:schemeClr val="bg2"/>
            </a:solidFill>
          </a:ln>
        </p:spPr>
        <p:txBody>
          <a:bodyPr wrap="square" rtlCol="0">
            <a:spAutoFit/>
          </a:bodyPr>
          <a:lstStyle/>
          <a:p>
            <a:r>
              <a:rPr lang="en-US" b="1" u="sng" dirty="0">
                <a:latin typeface="Lato" panose="020B0604020202020204" charset="0"/>
                <a:ea typeface="Lato" panose="020B0604020202020204" charset="0"/>
                <a:cs typeface="Lato" panose="020B0604020202020204" charset="0"/>
              </a:rPr>
              <a:t>Example: </a:t>
            </a:r>
          </a:p>
          <a:p>
            <a:r>
              <a:rPr lang="en-US" dirty="0">
                <a:latin typeface="Lato" panose="020B0604020202020204" charset="0"/>
                <a:ea typeface="Lato" panose="020B0604020202020204" charset="0"/>
                <a:cs typeface="Lato" panose="020B0604020202020204" charset="0"/>
              </a:rPr>
              <a:t>e1 = employee 1</a:t>
            </a:r>
          </a:p>
          <a:p>
            <a:r>
              <a:rPr lang="en-US" dirty="0">
                <a:latin typeface="Lato" panose="020B0604020202020204" charset="0"/>
                <a:ea typeface="Lato" panose="020B0604020202020204" charset="0"/>
                <a:cs typeface="Lato" panose="020B0604020202020204" charset="0"/>
              </a:rPr>
              <a:t>j1 = job 1</a:t>
            </a:r>
          </a:p>
        </p:txBody>
      </p:sp>
    </p:spTree>
    <p:extLst>
      <p:ext uri="{BB962C8B-B14F-4D97-AF65-F5344CB8AC3E}">
        <p14:creationId xmlns:p14="http://schemas.microsoft.com/office/powerpoint/2010/main" val="604653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CB9AC534-962F-43D4-BD67-1236FD613179}"/>
            </a:ext>
          </a:extLst>
        </p:cNvPr>
        <p:cNvGrpSpPr/>
        <p:nvPr/>
      </p:nvGrpSpPr>
      <p:grpSpPr>
        <a:xfrm>
          <a:off x="0" y="0"/>
          <a:ext cx="0" cy="0"/>
          <a:chOff x="0" y="0"/>
          <a:chExt cx="0" cy="0"/>
        </a:xfrm>
      </p:grpSpPr>
      <p:sp>
        <p:nvSpPr>
          <p:cNvPr id="134" name="Google Shape;134;p21">
            <a:extLst>
              <a:ext uri="{FF2B5EF4-FFF2-40B4-BE49-F238E27FC236}">
                <a16:creationId xmlns:a16="http://schemas.microsoft.com/office/drawing/2014/main" id="{EFDDAC1B-466C-2FA9-7450-20963FA32CF9}"/>
              </a:ext>
            </a:extLst>
          </p:cNvPr>
          <p:cNvSpPr txBox="1">
            <a:spLocks noGrp="1"/>
          </p:cNvSpPr>
          <p:nvPr>
            <p:ph type="body" idx="1"/>
          </p:nvPr>
        </p:nvSpPr>
        <p:spPr>
          <a:xfrm>
            <a:off x="70027" y="1269983"/>
            <a:ext cx="2681157" cy="22611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US" sz="1700" dirty="0"/>
              <a:t>e1 : j2, j1, j3</a:t>
            </a:r>
          </a:p>
          <a:p>
            <a:pPr marL="457200" lvl="0" indent="-336550" algn="l" rtl="0">
              <a:spcBef>
                <a:spcPts val="0"/>
              </a:spcBef>
              <a:spcAft>
                <a:spcPts val="0"/>
              </a:spcAft>
              <a:buSzPts val="1700"/>
              <a:buChar char="●"/>
            </a:pPr>
            <a:r>
              <a:rPr lang="en-US" sz="1700" dirty="0"/>
              <a:t>e2 : j1, j2, j3</a:t>
            </a:r>
          </a:p>
          <a:p>
            <a:pPr marL="457200" lvl="0" indent="-336550" algn="l" rtl="0">
              <a:spcBef>
                <a:spcPts val="0"/>
              </a:spcBef>
              <a:spcAft>
                <a:spcPts val="0"/>
              </a:spcAft>
              <a:buSzPts val="1700"/>
              <a:buChar char="●"/>
            </a:pPr>
            <a:r>
              <a:rPr lang="en-US" sz="1700" dirty="0"/>
              <a:t>e3 : j1, j2, j3</a:t>
            </a:r>
            <a:endParaRPr lang="en-US" sz="1500" dirty="0"/>
          </a:p>
        </p:txBody>
      </p:sp>
      <p:sp>
        <p:nvSpPr>
          <p:cNvPr id="4" name="Google Shape;134;p21">
            <a:extLst>
              <a:ext uri="{FF2B5EF4-FFF2-40B4-BE49-F238E27FC236}">
                <a16:creationId xmlns:a16="http://schemas.microsoft.com/office/drawing/2014/main" id="{D3F7280D-AE52-9DAC-A34B-A0BEAB1108D7}"/>
              </a:ext>
            </a:extLst>
          </p:cNvPr>
          <p:cNvSpPr txBox="1">
            <a:spLocks/>
          </p:cNvSpPr>
          <p:nvPr/>
        </p:nvSpPr>
        <p:spPr>
          <a:xfrm>
            <a:off x="6462843" y="1269983"/>
            <a:ext cx="2681157" cy="2261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indent="-336550">
              <a:buSzPts val="1700"/>
            </a:pPr>
            <a:r>
              <a:rPr lang="en-US" sz="1700" dirty="0"/>
              <a:t>j1 : e1, e2, e3</a:t>
            </a:r>
          </a:p>
          <a:p>
            <a:pPr indent="-336550">
              <a:buSzPts val="1700"/>
            </a:pPr>
            <a:r>
              <a:rPr lang="en-US" sz="1700" dirty="0"/>
              <a:t>j2 : e3, e1, e2</a:t>
            </a:r>
          </a:p>
          <a:p>
            <a:pPr indent="-336550">
              <a:buSzPts val="1700"/>
            </a:pPr>
            <a:r>
              <a:rPr lang="en-US" sz="1700" dirty="0"/>
              <a:t>j3 : e1, e2, e3</a:t>
            </a:r>
            <a:endParaRPr lang="en-US" sz="1500" dirty="0"/>
          </a:p>
        </p:txBody>
      </p:sp>
      <p:sp>
        <p:nvSpPr>
          <p:cNvPr id="2" name="TextBox 1">
            <a:extLst>
              <a:ext uri="{FF2B5EF4-FFF2-40B4-BE49-F238E27FC236}">
                <a16:creationId xmlns:a16="http://schemas.microsoft.com/office/drawing/2014/main" id="{4F4C74D8-7E58-F46F-1320-18988D28CC3E}"/>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5" name="TextBox 4">
            <a:extLst>
              <a:ext uri="{FF2B5EF4-FFF2-40B4-BE49-F238E27FC236}">
                <a16:creationId xmlns:a16="http://schemas.microsoft.com/office/drawing/2014/main" id="{0A165171-D1FB-EC28-6A39-E661EA7F03E1}"/>
              </a:ext>
            </a:extLst>
          </p:cNvPr>
          <p:cNvSpPr txBox="1"/>
          <p:nvPr/>
        </p:nvSpPr>
        <p:spPr>
          <a:xfrm>
            <a:off x="168443" y="4195668"/>
            <a:ext cx="1515980" cy="738664"/>
          </a:xfrm>
          <a:prstGeom prst="rect">
            <a:avLst/>
          </a:prstGeom>
          <a:noFill/>
          <a:ln>
            <a:solidFill>
              <a:schemeClr val="bg2"/>
            </a:solidFill>
          </a:ln>
        </p:spPr>
        <p:txBody>
          <a:bodyPr wrap="square" rtlCol="0">
            <a:spAutoFit/>
          </a:bodyPr>
          <a:lstStyle/>
          <a:p>
            <a:r>
              <a:rPr lang="en-US" b="1" u="sng" dirty="0">
                <a:latin typeface="Lato" panose="020B0604020202020204" charset="0"/>
                <a:ea typeface="Lato" panose="020B0604020202020204" charset="0"/>
                <a:cs typeface="Lato" panose="020B0604020202020204" charset="0"/>
              </a:rPr>
              <a:t>Example: </a:t>
            </a:r>
          </a:p>
          <a:p>
            <a:r>
              <a:rPr lang="en-US" dirty="0">
                <a:latin typeface="Lato" panose="020B0604020202020204" charset="0"/>
                <a:ea typeface="Lato" panose="020B0604020202020204" charset="0"/>
                <a:cs typeface="Lato" panose="020B0604020202020204" charset="0"/>
              </a:rPr>
              <a:t>e1 = employee 1</a:t>
            </a:r>
          </a:p>
          <a:p>
            <a:r>
              <a:rPr lang="en-US" dirty="0">
                <a:latin typeface="Lato" panose="020B0604020202020204" charset="0"/>
                <a:ea typeface="Lato" panose="020B0604020202020204" charset="0"/>
                <a:cs typeface="Lato" panose="020B0604020202020204" charset="0"/>
              </a:rPr>
              <a:t>j1 = job 1</a:t>
            </a:r>
          </a:p>
        </p:txBody>
      </p:sp>
      <p:sp>
        <p:nvSpPr>
          <p:cNvPr id="8" name="Oval 7">
            <a:extLst>
              <a:ext uri="{FF2B5EF4-FFF2-40B4-BE49-F238E27FC236}">
                <a16:creationId xmlns:a16="http://schemas.microsoft.com/office/drawing/2014/main" id="{8907B365-50DD-6B32-5E77-619DBB794EF7}"/>
              </a:ext>
            </a:extLst>
          </p:cNvPr>
          <p:cNvSpPr/>
          <p:nvPr/>
        </p:nvSpPr>
        <p:spPr>
          <a:xfrm>
            <a:off x="2938849" y="1499679"/>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e1</a:t>
            </a:r>
          </a:p>
        </p:txBody>
      </p:sp>
      <p:sp>
        <p:nvSpPr>
          <p:cNvPr id="9" name="Oval 8">
            <a:extLst>
              <a:ext uri="{FF2B5EF4-FFF2-40B4-BE49-F238E27FC236}">
                <a16:creationId xmlns:a16="http://schemas.microsoft.com/office/drawing/2014/main" id="{BAF0B35A-CF48-3896-49F8-E800C3B73890}"/>
              </a:ext>
            </a:extLst>
          </p:cNvPr>
          <p:cNvSpPr/>
          <p:nvPr/>
        </p:nvSpPr>
        <p:spPr>
          <a:xfrm>
            <a:off x="2496128" y="2535367"/>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e2</a:t>
            </a:r>
          </a:p>
        </p:txBody>
      </p:sp>
      <p:sp>
        <p:nvSpPr>
          <p:cNvPr id="16" name="Oval 15">
            <a:extLst>
              <a:ext uri="{FF2B5EF4-FFF2-40B4-BE49-F238E27FC236}">
                <a16:creationId xmlns:a16="http://schemas.microsoft.com/office/drawing/2014/main" id="{8B421A3E-8EEA-834E-10AC-8E8441DF6EED}"/>
              </a:ext>
            </a:extLst>
          </p:cNvPr>
          <p:cNvSpPr/>
          <p:nvPr/>
        </p:nvSpPr>
        <p:spPr>
          <a:xfrm>
            <a:off x="2938849" y="3643821"/>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e3</a:t>
            </a:r>
          </a:p>
        </p:txBody>
      </p:sp>
      <p:sp>
        <p:nvSpPr>
          <p:cNvPr id="17" name="Oval 16">
            <a:extLst>
              <a:ext uri="{FF2B5EF4-FFF2-40B4-BE49-F238E27FC236}">
                <a16:creationId xmlns:a16="http://schemas.microsoft.com/office/drawing/2014/main" id="{F276A250-5FF8-1B5C-68AA-A016BC6B9C1C}"/>
              </a:ext>
            </a:extLst>
          </p:cNvPr>
          <p:cNvSpPr/>
          <p:nvPr/>
        </p:nvSpPr>
        <p:spPr>
          <a:xfrm>
            <a:off x="4528072" y="1499679"/>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j1</a:t>
            </a:r>
          </a:p>
        </p:txBody>
      </p:sp>
      <p:sp>
        <p:nvSpPr>
          <p:cNvPr id="18" name="Oval 17">
            <a:extLst>
              <a:ext uri="{FF2B5EF4-FFF2-40B4-BE49-F238E27FC236}">
                <a16:creationId xmlns:a16="http://schemas.microsoft.com/office/drawing/2014/main" id="{27EFB8F8-3435-10D6-80F2-23A8FBCE4F6D}"/>
              </a:ext>
            </a:extLst>
          </p:cNvPr>
          <p:cNvSpPr/>
          <p:nvPr/>
        </p:nvSpPr>
        <p:spPr>
          <a:xfrm>
            <a:off x="5168152" y="2535367"/>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j2</a:t>
            </a:r>
          </a:p>
        </p:txBody>
      </p:sp>
      <p:sp>
        <p:nvSpPr>
          <p:cNvPr id="28" name="Oval 27">
            <a:extLst>
              <a:ext uri="{FF2B5EF4-FFF2-40B4-BE49-F238E27FC236}">
                <a16:creationId xmlns:a16="http://schemas.microsoft.com/office/drawing/2014/main" id="{DE087CA0-0608-17C5-5EF0-491CC4166FCF}"/>
              </a:ext>
            </a:extLst>
          </p:cNvPr>
          <p:cNvSpPr/>
          <p:nvPr/>
        </p:nvSpPr>
        <p:spPr>
          <a:xfrm>
            <a:off x="4528072" y="3643821"/>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j3</a:t>
            </a:r>
          </a:p>
        </p:txBody>
      </p:sp>
    </p:spTree>
    <p:extLst>
      <p:ext uri="{BB962C8B-B14F-4D97-AF65-F5344CB8AC3E}">
        <p14:creationId xmlns:p14="http://schemas.microsoft.com/office/powerpoint/2010/main" val="2726937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1F77D5F6-F4A9-7BCB-E88C-BB94E95DA541}"/>
            </a:ext>
          </a:extLst>
        </p:cNvPr>
        <p:cNvGrpSpPr/>
        <p:nvPr/>
      </p:nvGrpSpPr>
      <p:grpSpPr>
        <a:xfrm>
          <a:off x="0" y="0"/>
          <a:ext cx="0" cy="0"/>
          <a:chOff x="0" y="0"/>
          <a:chExt cx="0" cy="0"/>
        </a:xfrm>
      </p:grpSpPr>
      <p:sp>
        <p:nvSpPr>
          <p:cNvPr id="134" name="Google Shape;134;p21">
            <a:extLst>
              <a:ext uri="{FF2B5EF4-FFF2-40B4-BE49-F238E27FC236}">
                <a16:creationId xmlns:a16="http://schemas.microsoft.com/office/drawing/2014/main" id="{3293A7BF-1677-644A-4ECD-3026843DAA95}"/>
              </a:ext>
            </a:extLst>
          </p:cNvPr>
          <p:cNvSpPr txBox="1">
            <a:spLocks noGrp="1"/>
          </p:cNvSpPr>
          <p:nvPr>
            <p:ph type="body" idx="1"/>
          </p:nvPr>
        </p:nvSpPr>
        <p:spPr>
          <a:xfrm>
            <a:off x="70027" y="1269983"/>
            <a:ext cx="2681157" cy="22611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US" sz="1700" dirty="0"/>
              <a:t>e1 : j2, j1, j3</a:t>
            </a:r>
          </a:p>
          <a:p>
            <a:pPr marL="457200" lvl="0" indent="-336550" algn="l" rtl="0">
              <a:spcBef>
                <a:spcPts val="0"/>
              </a:spcBef>
              <a:spcAft>
                <a:spcPts val="0"/>
              </a:spcAft>
              <a:buSzPts val="1700"/>
              <a:buChar char="●"/>
            </a:pPr>
            <a:r>
              <a:rPr lang="en-US" sz="1700" dirty="0"/>
              <a:t>e2 : j1, j2, j3</a:t>
            </a:r>
          </a:p>
          <a:p>
            <a:pPr marL="457200" lvl="0" indent="-336550" algn="l" rtl="0">
              <a:spcBef>
                <a:spcPts val="0"/>
              </a:spcBef>
              <a:spcAft>
                <a:spcPts val="0"/>
              </a:spcAft>
              <a:buSzPts val="1700"/>
              <a:buChar char="●"/>
            </a:pPr>
            <a:r>
              <a:rPr lang="en-US" sz="1700" dirty="0"/>
              <a:t>e3 : j1, j2, j3</a:t>
            </a:r>
            <a:endParaRPr lang="en-US" sz="1500" dirty="0"/>
          </a:p>
        </p:txBody>
      </p:sp>
      <p:sp>
        <p:nvSpPr>
          <p:cNvPr id="4" name="Google Shape;134;p21">
            <a:extLst>
              <a:ext uri="{FF2B5EF4-FFF2-40B4-BE49-F238E27FC236}">
                <a16:creationId xmlns:a16="http://schemas.microsoft.com/office/drawing/2014/main" id="{7B51BB87-038D-74EC-E35E-604C86D41CF4}"/>
              </a:ext>
            </a:extLst>
          </p:cNvPr>
          <p:cNvSpPr txBox="1">
            <a:spLocks/>
          </p:cNvSpPr>
          <p:nvPr/>
        </p:nvSpPr>
        <p:spPr>
          <a:xfrm>
            <a:off x="6462843" y="1269983"/>
            <a:ext cx="2681157" cy="2261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indent="-336550">
              <a:buSzPts val="1700"/>
            </a:pPr>
            <a:r>
              <a:rPr lang="en-US" sz="1700" dirty="0"/>
              <a:t>j1 : e1, e2, e3</a:t>
            </a:r>
          </a:p>
          <a:p>
            <a:pPr indent="-336550">
              <a:buSzPts val="1700"/>
            </a:pPr>
            <a:r>
              <a:rPr lang="en-US" sz="1700" dirty="0"/>
              <a:t>j2 : e3, e1, e2</a:t>
            </a:r>
          </a:p>
          <a:p>
            <a:pPr indent="-336550">
              <a:buSzPts val="1700"/>
            </a:pPr>
            <a:r>
              <a:rPr lang="en-US" sz="1700" dirty="0"/>
              <a:t>j3 : e1, e2, e3</a:t>
            </a:r>
            <a:endParaRPr lang="en-US" sz="1500" dirty="0"/>
          </a:p>
        </p:txBody>
      </p:sp>
      <p:sp>
        <p:nvSpPr>
          <p:cNvPr id="2" name="TextBox 1">
            <a:extLst>
              <a:ext uri="{FF2B5EF4-FFF2-40B4-BE49-F238E27FC236}">
                <a16:creationId xmlns:a16="http://schemas.microsoft.com/office/drawing/2014/main" id="{30AAB1A5-D464-B543-31D2-BAB981B424A4}"/>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5" name="TextBox 4">
            <a:extLst>
              <a:ext uri="{FF2B5EF4-FFF2-40B4-BE49-F238E27FC236}">
                <a16:creationId xmlns:a16="http://schemas.microsoft.com/office/drawing/2014/main" id="{07216242-2010-EAEA-98DF-49D7FBA5FB8D}"/>
              </a:ext>
            </a:extLst>
          </p:cNvPr>
          <p:cNvSpPr txBox="1"/>
          <p:nvPr/>
        </p:nvSpPr>
        <p:spPr>
          <a:xfrm>
            <a:off x="168443" y="4195668"/>
            <a:ext cx="1515980" cy="738664"/>
          </a:xfrm>
          <a:prstGeom prst="rect">
            <a:avLst/>
          </a:prstGeom>
          <a:noFill/>
          <a:ln>
            <a:solidFill>
              <a:schemeClr val="bg2"/>
            </a:solidFill>
          </a:ln>
        </p:spPr>
        <p:txBody>
          <a:bodyPr wrap="square" rtlCol="0">
            <a:spAutoFit/>
          </a:bodyPr>
          <a:lstStyle/>
          <a:p>
            <a:r>
              <a:rPr lang="en-US" b="1" u="sng" dirty="0">
                <a:latin typeface="Lato" panose="020B0604020202020204" charset="0"/>
                <a:ea typeface="Lato" panose="020B0604020202020204" charset="0"/>
                <a:cs typeface="Lato" panose="020B0604020202020204" charset="0"/>
              </a:rPr>
              <a:t>Example: </a:t>
            </a:r>
          </a:p>
          <a:p>
            <a:r>
              <a:rPr lang="en-US" dirty="0">
                <a:latin typeface="Lato" panose="020B0604020202020204" charset="0"/>
                <a:ea typeface="Lato" panose="020B0604020202020204" charset="0"/>
                <a:cs typeface="Lato" panose="020B0604020202020204" charset="0"/>
              </a:rPr>
              <a:t>e1 = employee 1</a:t>
            </a:r>
          </a:p>
          <a:p>
            <a:r>
              <a:rPr lang="en-US" dirty="0">
                <a:latin typeface="Lato" panose="020B0604020202020204" charset="0"/>
                <a:ea typeface="Lato" panose="020B0604020202020204" charset="0"/>
                <a:cs typeface="Lato" panose="020B0604020202020204" charset="0"/>
              </a:rPr>
              <a:t>j1 = job 1</a:t>
            </a:r>
          </a:p>
        </p:txBody>
      </p:sp>
      <p:sp>
        <p:nvSpPr>
          <p:cNvPr id="8" name="Oval 7">
            <a:extLst>
              <a:ext uri="{FF2B5EF4-FFF2-40B4-BE49-F238E27FC236}">
                <a16:creationId xmlns:a16="http://schemas.microsoft.com/office/drawing/2014/main" id="{73E83295-AD38-ED0D-0DDD-354A9F9A5D6D}"/>
              </a:ext>
            </a:extLst>
          </p:cNvPr>
          <p:cNvSpPr/>
          <p:nvPr/>
        </p:nvSpPr>
        <p:spPr>
          <a:xfrm>
            <a:off x="2938849" y="1499679"/>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e1</a:t>
            </a:r>
          </a:p>
        </p:txBody>
      </p:sp>
      <p:sp>
        <p:nvSpPr>
          <p:cNvPr id="9" name="Oval 8">
            <a:extLst>
              <a:ext uri="{FF2B5EF4-FFF2-40B4-BE49-F238E27FC236}">
                <a16:creationId xmlns:a16="http://schemas.microsoft.com/office/drawing/2014/main" id="{B47A958F-A0D6-A107-14EA-D380AD8DAC12}"/>
              </a:ext>
            </a:extLst>
          </p:cNvPr>
          <p:cNvSpPr/>
          <p:nvPr/>
        </p:nvSpPr>
        <p:spPr>
          <a:xfrm>
            <a:off x="2496128" y="2535367"/>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e2</a:t>
            </a:r>
          </a:p>
        </p:txBody>
      </p:sp>
      <p:sp>
        <p:nvSpPr>
          <p:cNvPr id="16" name="Oval 15">
            <a:extLst>
              <a:ext uri="{FF2B5EF4-FFF2-40B4-BE49-F238E27FC236}">
                <a16:creationId xmlns:a16="http://schemas.microsoft.com/office/drawing/2014/main" id="{749D0BB2-BCE9-FE90-77C3-9F12975F115E}"/>
              </a:ext>
            </a:extLst>
          </p:cNvPr>
          <p:cNvSpPr/>
          <p:nvPr/>
        </p:nvSpPr>
        <p:spPr>
          <a:xfrm>
            <a:off x="2938849" y="3643821"/>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e3</a:t>
            </a:r>
          </a:p>
        </p:txBody>
      </p:sp>
      <p:sp>
        <p:nvSpPr>
          <p:cNvPr id="17" name="Oval 16">
            <a:extLst>
              <a:ext uri="{FF2B5EF4-FFF2-40B4-BE49-F238E27FC236}">
                <a16:creationId xmlns:a16="http://schemas.microsoft.com/office/drawing/2014/main" id="{B7477055-A55B-E7B1-9733-0F43130856F1}"/>
              </a:ext>
            </a:extLst>
          </p:cNvPr>
          <p:cNvSpPr/>
          <p:nvPr/>
        </p:nvSpPr>
        <p:spPr>
          <a:xfrm>
            <a:off x="4528072" y="1499679"/>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j1</a:t>
            </a:r>
          </a:p>
        </p:txBody>
      </p:sp>
      <p:sp>
        <p:nvSpPr>
          <p:cNvPr id="18" name="Oval 17">
            <a:extLst>
              <a:ext uri="{FF2B5EF4-FFF2-40B4-BE49-F238E27FC236}">
                <a16:creationId xmlns:a16="http://schemas.microsoft.com/office/drawing/2014/main" id="{6296CEA5-5698-13A4-A9A6-15205E2C5F72}"/>
              </a:ext>
            </a:extLst>
          </p:cNvPr>
          <p:cNvSpPr/>
          <p:nvPr/>
        </p:nvSpPr>
        <p:spPr>
          <a:xfrm>
            <a:off x="5168152" y="2535367"/>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j2</a:t>
            </a:r>
          </a:p>
        </p:txBody>
      </p:sp>
      <p:sp>
        <p:nvSpPr>
          <p:cNvPr id="28" name="Oval 27">
            <a:extLst>
              <a:ext uri="{FF2B5EF4-FFF2-40B4-BE49-F238E27FC236}">
                <a16:creationId xmlns:a16="http://schemas.microsoft.com/office/drawing/2014/main" id="{C7B87EB9-2A1C-7FEF-1658-8C1BC83D8439}"/>
              </a:ext>
            </a:extLst>
          </p:cNvPr>
          <p:cNvSpPr/>
          <p:nvPr/>
        </p:nvSpPr>
        <p:spPr>
          <a:xfrm>
            <a:off x="4528072" y="3643821"/>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j3</a:t>
            </a:r>
          </a:p>
        </p:txBody>
      </p:sp>
      <p:cxnSp>
        <p:nvCxnSpPr>
          <p:cNvPr id="14" name="Connector: Curved 13">
            <a:extLst>
              <a:ext uri="{FF2B5EF4-FFF2-40B4-BE49-F238E27FC236}">
                <a16:creationId xmlns:a16="http://schemas.microsoft.com/office/drawing/2014/main" id="{94E88B73-C9A0-470A-0917-ACDA67806660}"/>
              </a:ext>
            </a:extLst>
          </p:cNvPr>
          <p:cNvCxnSpPr>
            <a:cxnSpLocks/>
            <a:stCxn id="17" idx="0"/>
            <a:endCxn id="8" idx="0"/>
          </p:cNvCxnSpPr>
          <p:nvPr/>
        </p:nvCxnSpPr>
        <p:spPr>
          <a:xfrm rot="16200000" flipV="1">
            <a:off x="4053501" y="705067"/>
            <a:ext cx="12700" cy="1589223"/>
          </a:xfrm>
          <a:prstGeom prst="curvedConnector3">
            <a:avLst>
              <a:gd name="adj1" fmla="val 4185543"/>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2485B14-D992-43A8-6BC3-EEBAC61DAA29}"/>
              </a:ext>
            </a:extLst>
          </p:cNvPr>
          <p:cNvCxnSpPr>
            <a:cxnSpLocks/>
            <a:stCxn id="28" idx="1"/>
            <a:endCxn id="8" idx="5"/>
          </p:cNvCxnSpPr>
          <p:nvPr/>
        </p:nvCxnSpPr>
        <p:spPr>
          <a:xfrm flipH="1" flipV="1">
            <a:off x="3485191" y="2046021"/>
            <a:ext cx="1136619" cy="16915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18E74D6B-BAB8-5E17-C768-5114D1EAD8B1}"/>
              </a:ext>
            </a:extLst>
          </p:cNvPr>
          <p:cNvCxnSpPr>
            <a:cxnSpLocks/>
            <a:stCxn id="9" idx="7"/>
            <a:endCxn id="17" idx="3"/>
          </p:cNvCxnSpPr>
          <p:nvPr/>
        </p:nvCxnSpPr>
        <p:spPr>
          <a:xfrm flipV="1">
            <a:off x="3042470" y="2046021"/>
            <a:ext cx="1579340" cy="5830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3C25E848-C6D3-9461-0917-28EA1DD4D6CD}"/>
              </a:ext>
            </a:extLst>
          </p:cNvPr>
          <p:cNvCxnSpPr>
            <a:cxnSpLocks/>
            <a:stCxn id="8" idx="6"/>
            <a:endCxn id="18" idx="1"/>
          </p:cNvCxnSpPr>
          <p:nvPr/>
        </p:nvCxnSpPr>
        <p:spPr>
          <a:xfrm>
            <a:off x="3578929" y="1819719"/>
            <a:ext cx="1682961" cy="809386"/>
          </a:xfrm>
          <a:prstGeom prst="straightConnector1">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86B8063A-9AB2-579C-6155-F33349E577E1}"/>
              </a:ext>
            </a:extLst>
          </p:cNvPr>
          <p:cNvCxnSpPr>
            <a:cxnSpLocks/>
            <a:stCxn id="16" idx="7"/>
            <a:endCxn id="17" idx="3"/>
          </p:cNvCxnSpPr>
          <p:nvPr/>
        </p:nvCxnSpPr>
        <p:spPr>
          <a:xfrm flipV="1">
            <a:off x="3485191" y="2046021"/>
            <a:ext cx="1136619" cy="169153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08D18753-2639-B49C-18F8-354FD99F3D31}"/>
              </a:ext>
            </a:extLst>
          </p:cNvPr>
          <p:cNvCxnSpPr>
            <a:cxnSpLocks/>
            <a:stCxn id="18" idx="3"/>
            <a:endCxn id="16" idx="7"/>
          </p:cNvCxnSpPr>
          <p:nvPr/>
        </p:nvCxnSpPr>
        <p:spPr>
          <a:xfrm flipH="1">
            <a:off x="3485191" y="3081709"/>
            <a:ext cx="1776699" cy="65585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60529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E2C918AF-2950-B648-CCD0-9B4EA0EDBE98}"/>
            </a:ext>
          </a:extLst>
        </p:cNvPr>
        <p:cNvGrpSpPr/>
        <p:nvPr/>
      </p:nvGrpSpPr>
      <p:grpSpPr>
        <a:xfrm>
          <a:off x="0" y="0"/>
          <a:ext cx="0" cy="0"/>
          <a:chOff x="0" y="0"/>
          <a:chExt cx="0" cy="0"/>
        </a:xfrm>
      </p:grpSpPr>
      <p:sp>
        <p:nvSpPr>
          <p:cNvPr id="134" name="Google Shape;134;p21">
            <a:extLst>
              <a:ext uri="{FF2B5EF4-FFF2-40B4-BE49-F238E27FC236}">
                <a16:creationId xmlns:a16="http://schemas.microsoft.com/office/drawing/2014/main" id="{D7F228A2-A725-4DB9-6EB6-54272C5DF33A}"/>
              </a:ext>
            </a:extLst>
          </p:cNvPr>
          <p:cNvSpPr txBox="1">
            <a:spLocks noGrp="1"/>
          </p:cNvSpPr>
          <p:nvPr>
            <p:ph type="body" idx="1"/>
          </p:nvPr>
        </p:nvSpPr>
        <p:spPr>
          <a:xfrm>
            <a:off x="70027" y="1269983"/>
            <a:ext cx="2681157" cy="22611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US" sz="1700" dirty="0"/>
              <a:t>e1 : j2, j1, j3</a:t>
            </a:r>
          </a:p>
          <a:p>
            <a:pPr marL="457200" lvl="0" indent="-336550" algn="l" rtl="0">
              <a:spcBef>
                <a:spcPts val="0"/>
              </a:spcBef>
              <a:spcAft>
                <a:spcPts val="0"/>
              </a:spcAft>
              <a:buSzPts val="1700"/>
              <a:buChar char="●"/>
            </a:pPr>
            <a:r>
              <a:rPr lang="en-US" sz="1700" dirty="0"/>
              <a:t>e2 : j1, j2, j3</a:t>
            </a:r>
          </a:p>
          <a:p>
            <a:pPr marL="457200" lvl="0" indent="-336550" algn="l" rtl="0">
              <a:spcBef>
                <a:spcPts val="0"/>
              </a:spcBef>
              <a:spcAft>
                <a:spcPts val="0"/>
              </a:spcAft>
              <a:buSzPts val="1700"/>
              <a:buChar char="●"/>
            </a:pPr>
            <a:r>
              <a:rPr lang="en-US" sz="1700" dirty="0"/>
              <a:t>e3 : j1, j2, j3</a:t>
            </a:r>
            <a:endParaRPr lang="en-US" sz="1500" dirty="0"/>
          </a:p>
        </p:txBody>
      </p:sp>
      <p:sp>
        <p:nvSpPr>
          <p:cNvPr id="4" name="Google Shape;134;p21">
            <a:extLst>
              <a:ext uri="{FF2B5EF4-FFF2-40B4-BE49-F238E27FC236}">
                <a16:creationId xmlns:a16="http://schemas.microsoft.com/office/drawing/2014/main" id="{4EC328FC-7F9C-8141-F216-FFC6F0D6CAA6}"/>
              </a:ext>
            </a:extLst>
          </p:cNvPr>
          <p:cNvSpPr txBox="1">
            <a:spLocks/>
          </p:cNvSpPr>
          <p:nvPr/>
        </p:nvSpPr>
        <p:spPr>
          <a:xfrm>
            <a:off x="6462843" y="1269983"/>
            <a:ext cx="2681157" cy="2261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indent="-336550">
              <a:buSzPts val="1700"/>
            </a:pPr>
            <a:r>
              <a:rPr lang="en-US" sz="1700" dirty="0"/>
              <a:t>j1 : e1, e2, e3</a:t>
            </a:r>
          </a:p>
          <a:p>
            <a:pPr indent="-336550">
              <a:buSzPts val="1700"/>
            </a:pPr>
            <a:r>
              <a:rPr lang="en-US" sz="1700" dirty="0"/>
              <a:t>j2 : e3, e1, e2</a:t>
            </a:r>
          </a:p>
          <a:p>
            <a:pPr indent="-336550">
              <a:buSzPts val="1700"/>
            </a:pPr>
            <a:r>
              <a:rPr lang="en-US" sz="1700" dirty="0"/>
              <a:t>j3 : e1, e2, e3</a:t>
            </a:r>
            <a:endParaRPr lang="en-US" sz="1500" dirty="0"/>
          </a:p>
        </p:txBody>
      </p:sp>
      <p:sp>
        <p:nvSpPr>
          <p:cNvPr id="2" name="TextBox 1">
            <a:extLst>
              <a:ext uri="{FF2B5EF4-FFF2-40B4-BE49-F238E27FC236}">
                <a16:creationId xmlns:a16="http://schemas.microsoft.com/office/drawing/2014/main" id="{86F456EF-4EC1-8C93-BB5C-4FE9166C4160}"/>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5" name="TextBox 4">
            <a:extLst>
              <a:ext uri="{FF2B5EF4-FFF2-40B4-BE49-F238E27FC236}">
                <a16:creationId xmlns:a16="http://schemas.microsoft.com/office/drawing/2014/main" id="{DCC71EB7-A1B1-AC68-6D86-0952C8C86227}"/>
              </a:ext>
            </a:extLst>
          </p:cNvPr>
          <p:cNvSpPr txBox="1"/>
          <p:nvPr/>
        </p:nvSpPr>
        <p:spPr>
          <a:xfrm>
            <a:off x="168443" y="4195668"/>
            <a:ext cx="1515980" cy="738664"/>
          </a:xfrm>
          <a:prstGeom prst="rect">
            <a:avLst/>
          </a:prstGeom>
          <a:noFill/>
          <a:ln>
            <a:solidFill>
              <a:schemeClr val="bg2"/>
            </a:solidFill>
          </a:ln>
        </p:spPr>
        <p:txBody>
          <a:bodyPr wrap="square" rtlCol="0">
            <a:spAutoFit/>
          </a:bodyPr>
          <a:lstStyle/>
          <a:p>
            <a:r>
              <a:rPr lang="en-US" b="1" u="sng" dirty="0">
                <a:latin typeface="Lato" panose="020B0604020202020204" charset="0"/>
                <a:ea typeface="Lato" panose="020B0604020202020204" charset="0"/>
                <a:cs typeface="Lato" panose="020B0604020202020204" charset="0"/>
              </a:rPr>
              <a:t>Example: </a:t>
            </a:r>
          </a:p>
          <a:p>
            <a:r>
              <a:rPr lang="en-US" dirty="0">
                <a:latin typeface="Lato" panose="020B0604020202020204" charset="0"/>
                <a:ea typeface="Lato" panose="020B0604020202020204" charset="0"/>
                <a:cs typeface="Lato" panose="020B0604020202020204" charset="0"/>
              </a:rPr>
              <a:t>e1 = employee 1</a:t>
            </a:r>
          </a:p>
          <a:p>
            <a:r>
              <a:rPr lang="en-US" dirty="0">
                <a:latin typeface="Lato" panose="020B0604020202020204" charset="0"/>
                <a:ea typeface="Lato" panose="020B0604020202020204" charset="0"/>
                <a:cs typeface="Lato" panose="020B0604020202020204" charset="0"/>
              </a:rPr>
              <a:t>j1 = job 1</a:t>
            </a:r>
          </a:p>
        </p:txBody>
      </p:sp>
      <p:sp>
        <p:nvSpPr>
          <p:cNvPr id="8" name="Oval 7">
            <a:extLst>
              <a:ext uri="{FF2B5EF4-FFF2-40B4-BE49-F238E27FC236}">
                <a16:creationId xmlns:a16="http://schemas.microsoft.com/office/drawing/2014/main" id="{9293DDB3-6614-A0C6-EEC7-983AA375F97D}"/>
              </a:ext>
            </a:extLst>
          </p:cNvPr>
          <p:cNvSpPr/>
          <p:nvPr/>
        </p:nvSpPr>
        <p:spPr>
          <a:xfrm>
            <a:off x="3204063" y="3443988"/>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e1</a:t>
            </a:r>
          </a:p>
        </p:txBody>
      </p:sp>
      <p:sp>
        <p:nvSpPr>
          <p:cNvPr id="9" name="Oval 8">
            <a:extLst>
              <a:ext uri="{FF2B5EF4-FFF2-40B4-BE49-F238E27FC236}">
                <a16:creationId xmlns:a16="http://schemas.microsoft.com/office/drawing/2014/main" id="{3F32C87F-C256-FA91-0203-BA4C1D712E7B}"/>
              </a:ext>
            </a:extLst>
          </p:cNvPr>
          <p:cNvSpPr/>
          <p:nvPr/>
        </p:nvSpPr>
        <p:spPr>
          <a:xfrm>
            <a:off x="2111500" y="1034706"/>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e2</a:t>
            </a:r>
          </a:p>
        </p:txBody>
      </p:sp>
      <p:sp>
        <p:nvSpPr>
          <p:cNvPr id="16" name="Oval 15">
            <a:extLst>
              <a:ext uri="{FF2B5EF4-FFF2-40B4-BE49-F238E27FC236}">
                <a16:creationId xmlns:a16="http://schemas.microsoft.com/office/drawing/2014/main" id="{8B4C16E4-6088-3DA5-98E8-1035B4BEF112}"/>
              </a:ext>
            </a:extLst>
          </p:cNvPr>
          <p:cNvSpPr/>
          <p:nvPr/>
        </p:nvSpPr>
        <p:spPr>
          <a:xfrm>
            <a:off x="4894849" y="1709505"/>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e3</a:t>
            </a:r>
          </a:p>
        </p:txBody>
      </p:sp>
      <p:sp>
        <p:nvSpPr>
          <p:cNvPr id="17" name="Oval 16">
            <a:extLst>
              <a:ext uri="{FF2B5EF4-FFF2-40B4-BE49-F238E27FC236}">
                <a16:creationId xmlns:a16="http://schemas.microsoft.com/office/drawing/2014/main" id="{ECF2570B-E290-144F-8FEB-5A2CC66AEF33}"/>
              </a:ext>
            </a:extLst>
          </p:cNvPr>
          <p:cNvSpPr/>
          <p:nvPr/>
        </p:nvSpPr>
        <p:spPr>
          <a:xfrm>
            <a:off x="2927990" y="1771615"/>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j1</a:t>
            </a:r>
          </a:p>
        </p:txBody>
      </p:sp>
      <p:sp>
        <p:nvSpPr>
          <p:cNvPr id="18" name="Oval 17">
            <a:extLst>
              <a:ext uri="{FF2B5EF4-FFF2-40B4-BE49-F238E27FC236}">
                <a16:creationId xmlns:a16="http://schemas.microsoft.com/office/drawing/2014/main" id="{0166A0F9-3F98-0207-40E8-39CC7059CF70}"/>
              </a:ext>
            </a:extLst>
          </p:cNvPr>
          <p:cNvSpPr/>
          <p:nvPr/>
        </p:nvSpPr>
        <p:spPr>
          <a:xfrm>
            <a:off x="4923461" y="3443988"/>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j2</a:t>
            </a:r>
          </a:p>
        </p:txBody>
      </p:sp>
      <p:sp>
        <p:nvSpPr>
          <p:cNvPr id="28" name="Oval 27">
            <a:extLst>
              <a:ext uri="{FF2B5EF4-FFF2-40B4-BE49-F238E27FC236}">
                <a16:creationId xmlns:a16="http://schemas.microsoft.com/office/drawing/2014/main" id="{9F5E58A4-4B03-9898-730A-E5C94B3BD4F1}"/>
              </a:ext>
            </a:extLst>
          </p:cNvPr>
          <p:cNvSpPr/>
          <p:nvPr/>
        </p:nvSpPr>
        <p:spPr>
          <a:xfrm>
            <a:off x="2337802" y="4313696"/>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j3</a:t>
            </a:r>
          </a:p>
        </p:txBody>
      </p:sp>
      <p:cxnSp>
        <p:nvCxnSpPr>
          <p:cNvPr id="6" name="Connector: Curved 5">
            <a:extLst>
              <a:ext uri="{FF2B5EF4-FFF2-40B4-BE49-F238E27FC236}">
                <a16:creationId xmlns:a16="http://schemas.microsoft.com/office/drawing/2014/main" id="{C5B95B5C-DEAF-6D8F-4B31-56065B5761C5}"/>
              </a:ext>
            </a:extLst>
          </p:cNvPr>
          <p:cNvCxnSpPr>
            <a:cxnSpLocks/>
            <a:stCxn id="8" idx="4"/>
            <a:endCxn id="18" idx="4"/>
          </p:cNvCxnSpPr>
          <p:nvPr/>
        </p:nvCxnSpPr>
        <p:spPr>
          <a:xfrm rot="16200000" flipH="1">
            <a:off x="4383802" y="3224369"/>
            <a:ext cx="12700" cy="1719398"/>
          </a:xfrm>
          <a:prstGeom prst="curvedConnector3">
            <a:avLst>
              <a:gd name="adj1" fmla="val 4359031"/>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nector: Curved 6">
            <a:extLst>
              <a:ext uri="{FF2B5EF4-FFF2-40B4-BE49-F238E27FC236}">
                <a16:creationId xmlns:a16="http://schemas.microsoft.com/office/drawing/2014/main" id="{60D8D895-8373-16DC-B9F5-C1809BAFD090}"/>
              </a:ext>
            </a:extLst>
          </p:cNvPr>
          <p:cNvCxnSpPr>
            <a:cxnSpLocks/>
            <a:stCxn id="18" idx="6"/>
            <a:endCxn id="16" idx="6"/>
          </p:cNvCxnSpPr>
          <p:nvPr/>
        </p:nvCxnSpPr>
        <p:spPr>
          <a:xfrm flipH="1" flipV="1">
            <a:off x="5534929" y="2029545"/>
            <a:ext cx="28612" cy="1734483"/>
          </a:xfrm>
          <a:prstGeom prst="curvedConnector3">
            <a:avLst>
              <a:gd name="adj1" fmla="val -2127366"/>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nector: Curved 12">
            <a:extLst>
              <a:ext uri="{FF2B5EF4-FFF2-40B4-BE49-F238E27FC236}">
                <a16:creationId xmlns:a16="http://schemas.microsoft.com/office/drawing/2014/main" id="{05581F9D-B58F-F7E3-5CF1-0507D6EAF21E}"/>
              </a:ext>
            </a:extLst>
          </p:cNvPr>
          <p:cNvCxnSpPr>
            <a:cxnSpLocks/>
            <a:stCxn id="16" idx="0"/>
            <a:endCxn id="17" idx="0"/>
          </p:cNvCxnSpPr>
          <p:nvPr/>
        </p:nvCxnSpPr>
        <p:spPr>
          <a:xfrm rot="16200000" flipH="1" flipV="1">
            <a:off x="4200405" y="757130"/>
            <a:ext cx="62110" cy="1966859"/>
          </a:xfrm>
          <a:prstGeom prst="curvedConnector3">
            <a:avLst>
              <a:gd name="adj1" fmla="val -855846"/>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Curved 13">
            <a:extLst>
              <a:ext uri="{FF2B5EF4-FFF2-40B4-BE49-F238E27FC236}">
                <a16:creationId xmlns:a16="http://schemas.microsoft.com/office/drawing/2014/main" id="{CA19FC10-87D2-82E7-FA51-EF734D8416D9}"/>
              </a:ext>
            </a:extLst>
          </p:cNvPr>
          <p:cNvCxnSpPr>
            <a:cxnSpLocks/>
            <a:stCxn id="17" idx="2"/>
            <a:endCxn id="8" idx="2"/>
          </p:cNvCxnSpPr>
          <p:nvPr/>
        </p:nvCxnSpPr>
        <p:spPr>
          <a:xfrm rot="10800000" flipH="1" flipV="1">
            <a:off x="2927989" y="2091654"/>
            <a:ext cx="276073" cy="1672373"/>
          </a:xfrm>
          <a:prstGeom prst="curvedConnector3">
            <a:avLst>
              <a:gd name="adj1" fmla="val -240431"/>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505AB0A-E5C8-E2A2-ADA8-166962AE6F6F}"/>
              </a:ext>
            </a:extLst>
          </p:cNvPr>
          <p:cNvCxnSpPr>
            <a:cxnSpLocks/>
            <a:stCxn id="9" idx="5"/>
            <a:endCxn id="17" idx="1"/>
          </p:cNvCxnSpPr>
          <p:nvPr/>
        </p:nvCxnSpPr>
        <p:spPr>
          <a:xfrm>
            <a:off x="2657842" y="1581048"/>
            <a:ext cx="363886" cy="28430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39506CA5-2686-1791-5E32-9777904C6D31}"/>
              </a:ext>
            </a:extLst>
          </p:cNvPr>
          <p:cNvCxnSpPr>
            <a:cxnSpLocks/>
            <a:stCxn id="28" idx="7"/>
            <a:endCxn id="8" idx="3"/>
          </p:cNvCxnSpPr>
          <p:nvPr/>
        </p:nvCxnSpPr>
        <p:spPr>
          <a:xfrm flipV="1">
            <a:off x="2884144" y="3990330"/>
            <a:ext cx="413657" cy="41710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41224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B52BB0A3-6E80-128C-87F8-FF1260316447}"/>
            </a:ext>
          </a:extLst>
        </p:cNvPr>
        <p:cNvGrpSpPr/>
        <p:nvPr/>
      </p:nvGrpSpPr>
      <p:grpSpPr>
        <a:xfrm>
          <a:off x="0" y="0"/>
          <a:ext cx="0" cy="0"/>
          <a:chOff x="0" y="0"/>
          <a:chExt cx="0" cy="0"/>
        </a:xfrm>
      </p:grpSpPr>
      <p:sp>
        <p:nvSpPr>
          <p:cNvPr id="134" name="Google Shape;134;p21">
            <a:extLst>
              <a:ext uri="{FF2B5EF4-FFF2-40B4-BE49-F238E27FC236}">
                <a16:creationId xmlns:a16="http://schemas.microsoft.com/office/drawing/2014/main" id="{73FD03FA-6640-1C15-6637-1A8FB57E9668}"/>
              </a:ext>
            </a:extLst>
          </p:cNvPr>
          <p:cNvSpPr txBox="1">
            <a:spLocks noGrp="1"/>
          </p:cNvSpPr>
          <p:nvPr>
            <p:ph type="body" idx="1"/>
          </p:nvPr>
        </p:nvSpPr>
        <p:spPr>
          <a:xfrm>
            <a:off x="70027" y="1269983"/>
            <a:ext cx="2681157" cy="22611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US" sz="1700" dirty="0"/>
              <a:t>e1 : j2, j1, j3</a:t>
            </a:r>
          </a:p>
          <a:p>
            <a:pPr marL="457200" lvl="0" indent="-336550" algn="l" rtl="0">
              <a:spcBef>
                <a:spcPts val="0"/>
              </a:spcBef>
              <a:spcAft>
                <a:spcPts val="0"/>
              </a:spcAft>
              <a:buSzPts val="1700"/>
              <a:buChar char="●"/>
            </a:pPr>
            <a:r>
              <a:rPr lang="en-US" sz="1700" dirty="0"/>
              <a:t>e2 : j1, j2, j3</a:t>
            </a:r>
          </a:p>
          <a:p>
            <a:pPr marL="457200" lvl="0" indent="-336550" algn="l" rtl="0">
              <a:spcBef>
                <a:spcPts val="0"/>
              </a:spcBef>
              <a:spcAft>
                <a:spcPts val="0"/>
              </a:spcAft>
              <a:buSzPts val="1700"/>
              <a:buChar char="●"/>
            </a:pPr>
            <a:r>
              <a:rPr lang="en-US" sz="1700" dirty="0"/>
              <a:t>e3 : j1, j2, j3</a:t>
            </a:r>
            <a:endParaRPr lang="en-US" sz="1500" dirty="0"/>
          </a:p>
        </p:txBody>
      </p:sp>
      <p:sp>
        <p:nvSpPr>
          <p:cNvPr id="4" name="Google Shape;134;p21">
            <a:extLst>
              <a:ext uri="{FF2B5EF4-FFF2-40B4-BE49-F238E27FC236}">
                <a16:creationId xmlns:a16="http://schemas.microsoft.com/office/drawing/2014/main" id="{35A9B85B-304E-8CF7-A48D-930F699D335D}"/>
              </a:ext>
            </a:extLst>
          </p:cNvPr>
          <p:cNvSpPr txBox="1">
            <a:spLocks/>
          </p:cNvSpPr>
          <p:nvPr/>
        </p:nvSpPr>
        <p:spPr>
          <a:xfrm>
            <a:off x="6462843" y="1269983"/>
            <a:ext cx="2681157" cy="2261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indent="-336550">
              <a:buSzPts val="1700"/>
            </a:pPr>
            <a:r>
              <a:rPr lang="en-US" sz="1700" dirty="0"/>
              <a:t>j1 : e1, e2, e3</a:t>
            </a:r>
          </a:p>
          <a:p>
            <a:pPr indent="-336550">
              <a:buSzPts val="1700"/>
            </a:pPr>
            <a:r>
              <a:rPr lang="en-US" sz="1700" dirty="0"/>
              <a:t>j2 : e3, e1, e2</a:t>
            </a:r>
          </a:p>
          <a:p>
            <a:pPr indent="-336550">
              <a:buSzPts val="1700"/>
            </a:pPr>
            <a:r>
              <a:rPr lang="en-US" sz="1700" dirty="0"/>
              <a:t>j3 : e1, e2, e3</a:t>
            </a:r>
            <a:endParaRPr lang="en-US" sz="1500" dirty="0"/>
          </a:p>
        </p:txBody>
      </p:sp>
      <p:sp>
        <p:nvSpPr>
          <p:cNvPr id="2" name="TextBox 1">
            <a:extLst>
              <a:ext uri="{FF2B5EF4-FFF2-40B4-BE49-F238E27FC236}">
                <a16:creationId xmlns:a16="http://schemas.microsoft.com/office/drawing/2014/main" id="{EED5D1A2-27FF-D107-0AA2-FAF84F637990}"/>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5" name="TextBox 4">
            <a:extLst>
              <a:ext uri="{FF2B5EF4-FFF2-40B4-BE49-F238E27FC236}">
                <a16:creationId xmlns:a16="http://schemas.microsoft.com/office/drawing/2014/main" id="{111A3C5A-D620-99C5-F580-460F0C8F1298}"/>
              </a:ext>
            </a:extLst>
          </p:cNvPr>
          <p:cNvSpPr txBox="1"/>
          <p:nvPr/>
        </p:nvSpPr>
        <p:spPr>
          <a:xfrm>
            <a:off x="168443" y="4195668"/>
            <a:ext cx="1515980" cy="738664"/>
          </a:xfrm>
          <a:prstGeom prst="rect">
            <a:avLst/>
          </a:prstGeom>
          <a:noFill/>
          <a:ln>
            <a:solidFill>
              <a:schemeClr val="bg2"/>
            </a:solidFill>
          </a:ln>
        </p:spPr>
        <p:txBody>
          <a:bodyPr wrap="square" rtlCol="0">
            <a:spAutoFit/>
          </a:bodyPr>
          <a:lstStyle/>
          <a:p>
            <a:r>
              <a:rPr lang="en-US" b="1" u="sng" dirty="0">
                <a:latin typeface="Lato" panose="020B0604020202020204" charset="0"/>
                <a:ea typeface="Lato" panose="020B0604020202020204" charset="0"/>
                <a:cs typeface="Lato" panose="020B0604020202020204" charset="0"/>
              </a:rPr>
              <a:t>Example: </a:t>
            </a:r>
          </a:p>
          <a:p>
            <a:r>
              <a:rPr lang="en-US" dirty="0">
                <a:latin typeface="Lato" panose="020B0604020202020204" charset="0"/>
                <a:ea typeface="Lato" panose="020B0604020202020204" charset="0"/>
                <a:cs typeface="Lato" panose="020B0604020202020204" charset="0"/>
              </a:rPr>
              <a:t>e1 = employee 1</a:t>
            </a:r>
          </a:p>
          <a:p>
            <a:r>
              <a:rPr lang="en-US" dirty="0">
                <a:latin typeface="Lato" panose="020B0604020202020204" charset="0"/>
                <a:ea typeface="Lato" panose="020B0604020202020204" charset="0"/>
                <a:cs typeface="Lato" panose="020B0604020202020204" charset="0"/>
              </a:rPr>
              <a:t>j1 = job 1</a:t>
            </a:r>
          </a:p>
        </p:txBody>
      </p:sp>
      <p:sp>
        <p:nvSpPr>
          <p:cNvPr id="8" name="Oval 7">
            <a:extLst>
              <a:ext uri="{FF2B5EF4-FFF2-40B4-BE49-F238E27FC236}">
                <a16:creationId xmlns:a16="http://schemas.microsoft.com/office/drawing/2014/main" id="{427958ED-464A-F51B-54E6-A162F4213BBC}"/>
              </a:ext>
            </a:extLst>
          </p:cNvPr>
          <p:cNvSpPr/>
          <p:nvPr/>
        </p:nvSpPr>
        <p:spPr>
          <a:xfrm>
            <a:off x="3204063" y="3443988"/>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e1</a:t>
            </a:r>
          </a:p>
        </p:txBody>
      </p:sp>
      <p:sp>
        <p:nvSpPr>
          <p:cNvPr id="9" name="Oval 8">
            <a:extLst>
              <a:ext uri="{FF2B5EF4-FFF2-40B4-BE49-F238E27FC236}">
                <a16:creationId xmlns:a16="http://schemas.microsoft.com/office/drawing/2014/main" id="{2D21AA97-E9EF-250A-4AF6-28D274F8261C}"/>
              </a:ext>
            </a:extLst>
          </p:cNvPr>
          <p:cNvSpPr/>
          <p:nvPr/>
        </p:nvSpPr>
        <p:spPr>
          <a:xfrm>
            <a:off x="2111500" y="1034706"/>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e2</a:t>
            </a:r>
          </a:p>
        </p:txBody>
      </p:sp>
      <p:sp>
        <p:nvSpPr>
          <p:cNvPr id="16" name="Oval 15">
            <a:extLst>
              <a:ext uri="{FF2B5EF4-FFF2-40B4-BE49-F238E27FC236}">
                <a16:creationId xmlns:a16="http://schemas.microsoft.com/office/drawing/2014/main" id="{F954E1C5-203A-C7B0-83F1-67CA3AD46A47}"/>
              </a:ext>
            </a:extLst>
          </p:cNvPr>
          <p:cNvSpPr/>
          <p:nvPr/>
        </p:nvSpPr>
        <p:spPr>
          <a:xfrm>
            <a:off x="4894849" y="1709505"/>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e3</a:t>
            </a:r>
          </a:p>
        </p:txBody>
      </p:sp>
      <p:sp>
        <p:nvSpPr>
          <p:cNvPr id="17" name="Oval 16">
            <a:extLst>
              <a:ext uri="{FF2B5EF4-FFF2-40B4-BE49-F238E27FC236}">
                <a16:creationId xmlns:a16="http://schemas.microsoft.com/office/drawing/2014/main" id="{BFC04D1C-E1D8-6F7C-1FBB-001DBEEE4F4A}"/>
              </a:ext>
            </a:extLst>
          </p:cNvPr>
          <p:cNvSpPr/>
          <p:nvPr/>
        </p:nvSpPr>
        <p:spPr>
          <a:xfrm>
            <a:off x="2927990" y="1771615"/>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j1</a:t>
            </a:r>
          </a:p>
        </p:txBody>
      </p:sp>
      <p:sp>
        <p:nvSpPr>
          <p:cNvPr id="18" name="Oval 17">
            <a:extLst>
              <a:ext uri="{FF2B5EF4-FFF2-40B4-BE49-F238E27FC236}">
                <a16:creationId xmlns:a16="http://schemas.microsoft.com/office/drawing/2014/main" id="{12E552A8-3C1D-A33A-24B1-9B2CEEE63D82}"/>
              </a:ext>
            </a:extLst>
          </p:cNvPr>
          <p:cNvSpPr/>
          <p:nvPr/>
        </p:nvSpPr>
        <p:spPr>
          <a:xfrm>
            <a:off x="4923461" y="3443988"/>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j2</a:t>
            </a:r>
          </a:p>
        </p:txBody>
      </p:sp>
      <p:sp>
        <p:nvSpPr>
          <p:cNvPr id="28" name="Oval 27">
            <a:extLst>
              <a:ext uri="{FF2B5EF4-FFF2-40B4-BE49-F238E27FC236}">
                <a16:creationId xmlns:a16="http://schemas.microsoft.com/office/drawing/2014/main" id="{ACE6E859-B9AE-FF05-44A9-E61AE4CED9A6}"/>
              </a:ext>
            </a:extLst>
          </p:cNvPr>
          <p:cNvSpPr/>
          <p:nvPr/>
        </p:nvSpPr>
        <p:spPr>
          <a:xfrm>
            <a:off x="2337802" y="4313696"/>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j3</a:t>
            </a:r>
          </a:p>
        </p:txBody>
      </p:sp>
      <p:cxnSp>
        <p:nvCxnSpPr>
          <p:cNvPr id="6" name="Connector: Curved 5">
            <a:extLst>
              <a:ext uri="{FF2B5EF4-FFF2-40B4-BE49-F238E27FC236}">
                <a16:creationId xmlns:a16="http://schemas.microsoft.com/office/drawing/2014/main" id="{71153510-627C-4AEC-136B-181F8B7B07EB}"/>
              </a:ext>
            </a:extLst>
          </p:cNvPr>
          <p:cNvCxnSpPr>
            <a:cxnSpLocks/>
            <a:stCxn id="8" idx="4"/>
            <a:endCxn id="18" idx="4"/>
          </p:cNvCxnSpPr>
          <p:nvPr/>
        </p:nvCxnSpPr>
        <p:spPr>
          <a:xfrm rot="16200000" flipH="1">
            <a:off x="4383802" y="3224369"/>
            <a:ext cx="12700" cy="1719398"/>
          </a:xfrm>
          <a:prstGeom prst="curvedConnector3">
            <a:avLst>
              <a:gd name="adj1" fmla="val 4359031"/>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nector: Curved 6">
            <a:extLst>
              <a:ext uri="{FF2B5EF4-FFF2-40B4-BE49-F238E27FC236}">
                <a16:creationId xmlns:a16="http://schemas.microsoft.com/office/drawing/2014/main" id="{C6D5B707-0470-3A8A-E15E-B9808E717961}"/>
              </a:ext>
            </a:extLst>
          </p:cNvPr>
          <p:cNvCxnSpPr>
            <a:cxnSpLocks/>
            <a:stCxn id="18" idx="6"/>
            <a:endCxn id="16" idx="6"/>
          </p:cNvCxnSpPr>
          <p:nvPr/>
        </p:nvCxnSpPr>
        <p:spPr>
          <a:xfrm flipH="1" flipV="1">
            <a:off x="5534929" y="2029545"/>
            <a:ext cx="28612" cy="1734483"/>
          </a:xfrm>
          <a:prstGeom prst="curvedConnector3">
            <a:avLst>
              <a:gd name="adj1" fmla="val -2127366"/>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nector: Curved 12">
            <a:extLst>
              <a:ext uri="{FF2B5EF4-FFF2-40B4-BE49-F238E27FC236}">
                <a16:creationId xmlns:a16="http://schemas.microsoft.com/office/drawing/2014/main" id="{D41B4FB3-E89A-D7FF-102A-4F5B7DACB7BC}"/>
              </a:ext>
            </a:extLst>
          </p:cNvPr>
          <p:cNvCxnSpPr>
            <a:cxnSpLocks/>
            <a:stCxn id="16" idx="0"/>
            <a:endCxn id="17" idx="0"/>
          </p:cNvCxnSpPr>
          <p:nvPr/>
        </p:nvCxnSpPr>
        <p:spPr>
          <a:xfrm rot="16200000" flipH="1" flipV="1">
            <a:off x="4200405" y="757130"/>
            <a:ext cx="62110" cy="1966859"/>
          </a:xfrm>
          <a:prstGeom prst="curvedConnector3">
            <a:avLst>
              <a:gd name="adj1" fmla="val -855846"/>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Curved 13">
            <a:extLst>
              <a:ext uri="{FF2B5EF4-FFF2-40B4-BE49-F238E27FC236}">
                <a16:creationId xmlns:a16="http://schemas.microsoft.com/office/drawing/2014/main" id="{1DC1BDD2-E1C2-3CF6-B279-AAF136ACE048}"/>
              </a:ext>
            </a:extLst>
          </p:cNvPr>
          <p:cNvCxnSpPr>
            <a:cxnSpLocks/>
            <a:stCxn id="17" idx="2"/>
            <a:endCxn id="8" idx="2"/>
          </p:cNvCxnSpPr>
          <p:nvPr/>
        </p:nvCxnSpPr>
        <p:spPr>
          <a:xfrm rot="10800000" flipH="1" flipV="1">
            <a:off x="2927989" y="2091654"/>
            <a:ext cx="276073" cy="1672373"/>
          </a:xfrm>
          <a:prstGeom prst="curvedConnector3">
            <a:avLst>
              <a:gd name="adj1" fmla="val -240431"/>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C218395-0ECA-63BE-6634-6F536BDC13AB}"/>
              </a:ext>
            </a:extLst>
          </p:cNvPr>
          <p:cNvCxnSpPr>
            <a:cxnSpLocks/>
            <a:stCxn id="9" idx="5"/>
            <a:endCxn id="17" idx="1"/>
          </p:cNvCxnSpPr>
          <p:nvPr/>
        </p:nvCxnSpPr>
        <p:spPr>
          <a:xfrm>
            <a:off x="2657842" y="1581048"/>
            <a:ext cx="363886" cy="28430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20C9D66-2583-9EBF-5F4A-4C0C2F9F36CF}"/>
              </a:ext>
            </a:extLst>
          </p:cNvPr>
          <p:cNvCxnSpPr>
            <a:cxnSpLocks/>
            <a:stCxn id="28" idx="7"/>
            <a:endCxn id="8" idx="3"/>
          </p:cNvCxnSpPr>
          <p:nvPr/>
        </p:nvCxnSpPr>
        <p:spPr>
          <a:xfrm flipV="1">
            <a:off x="2884144" y="3990330"/>
            <a:ext cx="413657" cy="41710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 name="Oval 2">
            <a:extLst>
              <a:ext uri="{FF2B5EF4-FFF2-40B4-BE49-F238E27FC236}">
                <a16:creationId xmlns:a16="http://schemas.microsoft.com/office/drawing/2014/main" id="{34EF61F7-B599-9659-93D7-F0F81EF40B50}"/>
              </a:ext>
            </a:extLst>
          </p:cNvPr>
          <p:cNvSpPr/>
          <p:nvPr/>
        </p:nvSpPr>
        <p:spPr>
          <a:xfrm>
            <a:off x="2657842" y="1319840"/>
            <a:ext cx="3052783" cy="1426456"/>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ABCF756A-64A6-93E2-4E27-3ACB49655FC5}"/>
              </a:ext>
            </a:extLst>
          </p:cNvPr>
          <p:cNvSpPr/>
          <p:nvPr/>
        </p:nvSpPr>
        <p:spPr>
          <a:xfrm>
            <a:off x="2863760" y="3047277"/>
            <a:ext cx="3052783" cy="1426456"/>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651086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73373145-A437-F9C1-A40B-958FCFD99323}"/>
            </a:ext>
          </a:extLst>
        </p:cNvPr>
        <p:cNvGrpSpPr/>
        <p:nvPr/>
      </p:nvGrpSpPr>
      <p:grpSpPr>
        <a:xfrm>
          <a:off x="0" y="0"/>
          <a:ext cx="0" cy="0"/>
          <a:chOff x="0" y="0"/>
          <a:chExt cx="0" cy="0"/>
        </a:xfrm>
      </p:grpSpPr>
      <p:sp>
        <p:nvSpPr>
          <p:cNvPr id="134" name="Google Shape;134;p21">
            <a:extLst>
              <a:ext uri="{FF2B5EF4-FFF2-40B4-BE49-F238E27FC236}">
                <a16:creationId xmlns:a16="http://schemas.microsoft.com/office/drawing/2014/main" id="{E68EAA93-9F65-12AB-C691-169E6E260219}"/>
              </a:ext>
            </a:extLst>
          </p:cNvPr>
          <p:cNvSpPr txBox="1">
            <a:spLocks noGrp="1"/>
          </p:cNvSpPr>
          <p:nvPr>
            <p:ph type="body" idx="1"/>
          </p:nvPr>
        </p:nvSpPr>
        <p:spPr>
          <a:xfrm>
            <a:off x="70027" y="1269983"/>
            <a:ext cx="2681157" cy="22611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US" sz="1700" dirty="0">
                <a:solidFill>
                  <a:srgbClr val="00B050"/>
                </a:solidFill>
              </a:rPr>
              <a:t>e1 : </a:t>
            </a:r>
            <a:r>
              <a:rPr lang="en-US" sz="1700" b="1" u="sng" dirty="0">
                <a:solidFill>
                  <a:srgbClr val="00B050"/>
                </a:solidFill>
              </a:rPr>
              <a:t>j2</a:t>
            </a:r>
            <a:r>
              <a:rPr lang="en-US" sz="1700" dirty="0">
                <a:solidFill>
                  <a:srgbClr val="00B050"/>
                </a:solidFill>
              </a:rPr>
              <a:t>, j1, j3</a:t>
            </a:r>
          </a:p>
          <a:p>
            <a:pPr marL="457200" lvl="0" indent="-336550" algn="l" rtl="0">
              <a:spcBef>
                <a:spcPts val="0"/>
              </a:spcBef>
              <a:spcAft>
                <a:spcPts val="0"/>
              </a:spcAft>
              <a:buSzPts val="1700"/>
              <a:buChar char="●"/>
            </a:pPr>
            <a:r>
              <a:rPr lang="en-US" sz="1700" dirty="0"/>
              <a:t>e2 : </a:t>
            </a:r>
            <a:r>
              <a:rPr lang="en-US" sz="1700" strike="sngStrike" dirty="0"/>
              <a:t>j1</a:t>
            </a:r>
            <a:r>
              <a:rPr lang="en-US" sz="1700" dirty="0"/>
              <a:t>, </a:t>
            </a:r>
            <a:r>
              <a:rPr lang="en-US" sz="1700" strike="sngStrike" dirty="0"/>
              <a:t>j2</a:t>
            </a:r>
            <a:r>
              <a:rPr lang="en-US" sz="1700" dirty="0"/>
              <a:t>, j3</a:t>
            </a:r>
          </a:p>
          <a:p>
            <a:pPr marL="457200" lvl="0" indent="-336550" algn="l" rtl="0">
              <a:spcBef>
                <a:spcPts val="0"/>
              </a:spcBef>
              <a:spcAft>
                <a:spcPts val="0"/>
              </a:spcAft>
              <a:buSzPts val="1700"/>
              <a:buChar char="●"/>
            </a:pPr>
            <a:r>
              <a:rPr lang="en-US" sz="1700" dirty="0">
                <a:solidFill>
                  <a:srgbClr val="00B050"/>
                </a:solidFill>
              </a:rPr>
              <a:t>e3 : </a:t>
            </a:r>
            <a:r>
              <a:rPr lang="en-US" sz="1700" b="1" u="sng" dirty="0">
                <a:solidFill>
                  <a:srgbClr val="00B050"/>
                </a:solidFill>
              </a:rPr>
              <a:t>j1</a:t>
            </a:r>
            <a:r>
              <a:rPr lang="en-US" sz="1700" dirty="0">
                <a:solidFill>
                  <a:srgbClr val="00B050"/>
                </a:solidFill>
              </a:rPr>
              <a:t>, j2, j3</a:t>
            </a:r>
            <a:endParaRPr lang="en-US" sz="1500" dirty="0">
              <a:solidFill>
                <a:srgbClr val="00B050"/>
              </a:solidFill>
            </a:endParaRPr>
          </a:p>
        </p:txBody>
      </p:sp>
      <p:sp>
        <p:nvSpPr>
          <p:cNvPr id="4" name="Google Shape;134;p21">
            <a:extLst>
              <a:ext uri="{FF2B5EF4-FFF2-40B4-BE49-F238E27FC236}">
                <a16:creationId xmlns:a16="http://schemas.microsoft.com/office/drawing/2014/main" id="{3D1D9274-D20F-C32D-2A96-E6D3BB4F1B43}"/>
              </a:ext>
            </a:extLst>
          </p:cNvPr>
          <p:cNvSpPr txBox="1">
            <a:spLocks/>
          </p:cNvSpPr>
          <p:nvPr/>
        </p:nvSpPr>
        <p:spPr>
          <a:xfrm>
            <a:off x="6462843" y="1269983"/>
            <a:ext cx="2681157" cy="2261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indent="-336550">
              <a:buSzPts val="1700"/>
            </a:pPr>
            <a:r>
              <a:rPr lang="en-US" sz="1700" dirty="0">
                <a:solidFill>
                  <a:srgbClr val="00B050"/>
                </a:solidFill>
              </a:rPr>
              <a:t>j1 : </a:t>
            </a:r>
            <a:r>
              <a:rPr lang="en-US" sz="1700" strike="sngStrike" dirty="0">
                <a:solidFill>
                  <a:srgbClr val="00B050"/>
                </a:solidFill>
              </a:rPr>
              <a:t>e1</a:t>
            </a:r>
            <a:r>
              <a:rPr lang="en-US" sz="1700" dirty="0">
                <a:solidFill>
                  <a:srgbClr val="00B050"/>
                </a:solidFill>
              </a:rPr>
              <a:t>, e2, </a:t>
            </a:r>
            <a:r>
              <a:rPr lang="en-US" sz="1700" b="1" u="sng" dirty="0">
                <a:solidFill>
                  <a:srgbClr val="00B050"/>
                </a:solidFill>
              </a:rPr>
              <a:t>e3</a:t>
            </a:r>
          </a:p>
          <a:p>
            <a:pPr indent="-336550">
              <a:buSzPts val="1700"/>
            </a:pPr>
            <a:r>
              <a:rPr lang="en-US" sz="1700" dirty="0">
                <a:solidFill>
                  <a:srgbClr val="00B050"/>
                </a:solidFill>
              </a:rPr>
              <a:t>j2 : </a:t>
            </a:r>
            <a:r>
              <a:rPr lang="en-US" sz="1700" strike="sngStrike" dirty="0">
                <a:solidFill>
                  <a:srgbClr val="00B050"/>
                </a:solidFill>
              </a:rPr>
              <a:t>e3</a:t>
            </a:r>
            <a:r>
              <a:rPr lang="en-US" sz="1700" dirty="0">
                <a:solidFill>
                  <a:srgbClr val="00B050"/>
                </a:solidFill>
              </a:rPr>
              <a:t>, </a:t>
            </a:r>
            <a:r>
              <a:rPr lang="en-US" sz="1700" b="1" u="sng" dirty="0">
                <a:solidFill>
                  <a:srgbClr val="00B050"/>
                </a:solidFill>
              </a:rPr>
              <a:t>e1</a:t>
            </a:r>
            <a:r>
              <a:rPr lang="en-US" sz="1700" dirty="0">
                <a:solidFill>
                  <a:srgbClr val="00B050"/>
                </a:solidFill>
              </a:rPr>
              <a:t>, e2</a:t>
            </a:r>
          </a:p>
          <a:p>
            <a:pPr indent="-336550">
              <a:buSzPts val="1700"/>
            </a:pPr>
            <a:r>
              <a:rPr lang="en-US" sz="1700" dirty="0"/>
              <a:t>j3 : </a:t>
            </a:r>
            <a:r>
              <a:rPr lang="en-US" sz="1700" strike="sngStrike" dirty="0"/>
              <a:t>e1</a:t>
            </a:r>
            <a:r>
              <a:rPr lang="en-US" sz="1700" dirty="0"/>
              <a:t>, e2, e3</a:t>
            </a:r>
            <a:endParaRPr lang="en-US" sz="1500" dirty="0"/>
          </a:p>
        </p:txBody>
      </p:sp>
      <p:sp>
        <p:nvSpPr>
          <p:cNvPr id="2" name="TextBox 1">
            <a:extLst>
              <a:ext uri="{FF2B5EF4-FFF2-40B4-BE49-F238E27FC236}">
                <a16:creationId xmlns:a16="http://schemas.microsoft.com/office/drawing/2014/main" id="{4CB30E78-7857-E8A6-B770-030CCB1E3483}"/>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5" name="TextBox 4">
            <a:extLst>
              <a:ext uri="{FF2B5EF4-FFF2-40B4-BE49-F238E27FC236}">
                <a16:creationId xmlns:a16="http://schemas.microsoft.com/office/drawing/2014/main" id="{377F67A9-5A2D-1AC6-3696-DD621DF99DD1}"/>
              </a:ext>
            </a:extLst>
          </p:cNvPr>
          <p:cNvSpPr txBox="1"/>
          <p:nvPr/>
        </p:nvSpPr>
        <p:spPr>
          <a:xfrm>
            <a:off x="168443" y="4195668"/>
            <a:ext cx="1515980" cy="738664"/>
          </a:xfrm>
          <a:prstGeom prst="rect">
            <a:avLst/>
          </a:prstGeom>
          <a:noFill/>
          <a:ln>
            <a:solidFill>
              <a:schemeClr val="bg2"/>
            </a:solidFill>
          </a:ln>
        </p:spPr>
        <p:txBody>
          <a:bodyPr wrap="square" rtlCol="0">
            <a:spAutoFit/>
          </a:bodyPr>
          <a:lstStyle/>
          <a:p>
            <a:r>
              <a:rPr lang="en-US" b="1" u="sng" dirty="0">
                <a:latin typeface="Lato" panose="020B0604020202020204" charset="0"/>
                <a:ea typeface="Lato" panose="020B0604020202020204" charset="0"/>
                <a:cs typeface="Lato" panose="020B0604020202020204" charset="0"/>
              </a:rPr>
              <a:t>Example: </a:t>
            </a:r>
          </a:p>
          <a:p>
            <a:r>
              <a:rPr lang="en-US" dirty="0">
                <a:latin typeface="Lato" panose="020B0604020202020204" charset="0"/>
                <a:ea typeface="Lato" panose="020B0604020202020204" charset="0"/>
                <a:cs typeface="Lato" panose="020B0604020202020204" charset="0"/>
              </a:rPr>
              <a:t>e1 = employee 1</a:t>
            </a:r>
          </a:p>
          <a:p>
            <a:r>
              <a:rPr lang="en-US" dirty="0">
                <a:latin typeface="Lato" panose="020B0604020202020204" charset="0"/>
                <a:ea typeface="Lato" panose="020B0604020202020204" charset="0"/>
                <a:cs typeface="Lato" panose="020B0604020202020204" charset="0"/>
              </a:rPr>
              <a:t>j1 = job 1</a:t>
            </a:r>
          </a:p>
        </p:txBody>
      </p:sp>
      <p:sp>
        <p:nvSpPr>
          <p:cNvPr id="8" name="Oval 7">
            <a:extLst>
              <a:ext uri="{FF2B5EF4-FFF2-40B4-BE49-F238E27FC236}">
                <a16:creationId xmlns:a16="http://schemas.microsoft.com/office/drawing/2014/main" id="{B2CACAC1-BC17-9F37-E468-05C7889C5FD3}"/>
              </a:ext>
            </a:extLst>
          </p:cNvPr>
          <p:cNvSpPr/>
          <p:nvPr/>
        </p:nvSpPr>
        <p:spPr>
          <a:xfrm>
            <a:off x="2794626" y="1468573"/>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e1</a:t>
            </a:r>
          </a:p>
        </p:txBody>
      </p:sp>
      <p:sp>
        <p:nvSpPr>
          <p:cNvPr id="9" name="Oval 8">
            <a:extLst>
              <a:ext uri="{FF2B5EF4-FFF2-40B4-BE49-F238E27FC236}">
                <a16:creationId xmlns:a16="http://schemas.microsoft.com/office/drawing/2014/main" id="{BEC44ACE-E495-CB22-8B08-6D7A12074C77}"/>
              </a:ext>
            </a:extLst>
          </p:cNvPr>
          <p:cNvSpPr/>
          <p:nvPr/>
        </p:nvSpPr>
        <p:spPr>
          <a:xfrm>
            <a:off x="2794626" y="3660171"/>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e3</a:t>
            </a:r>
          </a:p>
        </p:txBody>
      </p:sp>
      <p:sp>
        <p:nvSpPr>
          <p:cNvPr id="18" name="Oval 17">
            <a:extLst>
              <a:ext uri="{FF2B5EF4-FFF2-40B4-BE49-F238E27FC236}">
                <a16:creationId xmlns:a16="http://schemas.microsoft.com/office/drawing/2014/main" id="{CA1311A6-CD86-56AF-844F-5E6E1FA66929}"/>
              </a:ext>
            </a:extLst>
          </p:cNvPr>
          <p:cNvSpPr/>
          <p:nvPr/>
        </p:nvSpPr>
        <p:spPr>
          <a:xfrm>
            <a:off x="4728744" y="1460690"/>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j1</a:t>
            </a:r>
          </a:p>
        </p:txBody>
      </p:sp>
      <p:sp>
        <p:nvSpPr>
          <p:cNvPr id="28" name="Oval 27">
            <a:extLst>
              <a:ext uri="{FF2B5EF4-FFF2-40B4-BE49-F238E27FC236}">
                <a16:creationId xmlns:a16="http://schemas.microsoft.com/office/drawing/2014/main" id="{04EF088E-BF23-F64E-2D9F-AAD7CE7FAF0D}"/>
              </a:ext>
            </a:extLst>
          </p:cNvPr>
          <p:cNvSpPr/>
          <p:nvPr/>
        </p:nvSpPr>
        <p:spPr>
          <a:xfrm>
            <a:off x="4728744" y="3660171"/>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j3</a:t>
            </a:r>
          </a:p>
        </p:txBody>
      </p:sp>
      <p:sp>
        <p:nvSpPr>
          <p:cNvPr id="33" name="Oval 32">
            <a:extLst>
              <a:ext uri="{FF2B5EF4-FFF2-40B4-BE49-F238E27FC236}">
                <a16:creationId xmlns:a16="http://schemas.microsoft.com/office/drawing/2014/main" id="{D9884170-A6AC-A65C-79A6-A6EEEF48A5AA}"/>
              </a:ext>
            </a:extLst>
          </p:cNvPr>
          <p:cNvSpPr/>
          <p:nvPr/>
        </p:nvSpPr>
        <p:spPr>
          <a:xfrm>
            <a:off x="2794626" y="2606147"/>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e2</a:t>
            </a:r>
          </a:p>
        </p:txBody>
      </p:sp>
      <p:sp>
        <p:nvSpPr>
          <p:cNvPr id="34" name="Oval 33">
            <a:extLst>
              <a:ext uri="{FF2B5EF4-FFF2-40B4-BE49-F238E27FC236}">
                <a16:creationId xmlns:a16="http://schemas.microsoft.com/office/drawing/2014/main" id="{18A854CE-CE2E-F7FB-47F3-50B8ABE5DB13}"/>
              </a:ext>
            </a:extLst>
          </p:cNvPr>
          <p:cNvSpPr/>
          <p:nvPr/>
        </p:nvSpPr>
        <p:spPr>
          <a:xfrm>
            <a:off x="4728744" y="2598264"/>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j2</a:t>
            </a:r>
          </a:p>
        </p:txBody>
      </p:sp>
      <p:cxnSp>
        <p:nvCxnSpPr>
          <p:cNvPr id="6" name="Straight Connector 5">
            <a:extLst>
              <a:ext uri="{FF2B5EF4-FFF2-40B4-BE49-F238E27FC236}">
                <a16:creationId xmlns:a16="http://schemas.microsoft.com/office/drawing/2014/main" id="{520AA3E9-5D26-5965-365D-7FFF3B1AB8FC}"/>
              </a:ext>
            </a:extLst>
          </p:cNvPr>
          <p:cNvCxnSpPr>
            <a:cxnSpLocks/>
            <a:stCxn id="8" idx="6"/>
            <a:endCxn id="34" idx="2"/>
          </p:cNvCxnSpPr>
          <p:nvPr/>
        </p:nvCxnSpPr>
        <p:spPr>
          <a:xfrm>
            <a:off x="3434706" y="1788613"/>
            <a:ext cx="1294038" cy="1129691"/>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AB9EEE4-D9AD-706A-1346-983CDB458BE5}"/>
              </a:ext>
            </a:extLst>
          </p:cNvPr>
          <p:cNvCxnSpPr>
            <a:cxnSpLocks/>
            <a:stCxn id="9" idx="6"/>
            <a:endCxn id="18" idx="2"/>
          </p:cNvCxnSpPr>
          <p:nvPr/>
        </p:nvCxnSpPr>
        <p:spPr>
          <a:xfrm flipV="1">
            <a:off x="3434706" y="1780730"/>
            <a:ext cx="1294038" cy="2199481"/>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51304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EADF7604-67F3-96F7-4584-5396094505D8}"/>
            </a:ext>
          </a:extLst>
        </p:cNvPr>
        <p:cNvGrpSpPr/>
        <p:nvPr/>
      </p:nvGrpSpPr>
      <p:grpSpPr>
        <a:xfrm>
          <a:off x="0" y="0"/>
          <a:ext cx="0" cy="0"/>
          <a:chOff x="0" y="0"/>
          <a:chExt cx="0" cy="0"/>
        </a:xfrm>
      </p:grpSpPr>
      <p:sp>
        <p:nvSpPr>
          <p:cNvPr id="134" name="Google Shape;134;p21">
            <a:extLst>
              <a:ext uri="{FF2B5EF4-FFF2-40B4-BE49-F238E27FC236}">
                <a16:creationId xmlns:a16="http://schemas.microsoft.com/office/drawing/2014/main" id="{86FF6D20-12A8-CD00-AC82-B6668B54D7FE}"/>
              </a:ext>
            </a:extLst>
          </p:cNvPr>
          <p:cNvSpPr txBox="1">
            <a:spLocks noGrp="1"/>
          </p:cNvSpPr>
          <p:nvPr>
            <p:ph type="body" idx="1"/>
          </p:nvPr>
        </p:nvSpPr>
        <p:spPr>
          <a:xfrm>
            <a:off x="70027" y="1269983"/>
            <a:ext cx="2681157" cy="22611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US" sz="1700" dirty="0">
                <a:solidFill>
                  <a:srgbClr val="00B050"/>
                </a:solidFill>
              </a:rPr>
              <a:t>e1 : </a:t>
            </a:r>
            <a:r>
              <a:rPr lang="en-US" sz="1700" b="1" u="sng" dirty="0">
                <a:solidFill>
                  <a:srgbClr val="00B050"/>
                </a:solidFill>
              </a:rPr>
              <a:t>j2</a:t>
            </a:r>
            <a:r>
              <a:rPr lang="en-US" sz="1700" dirty="0">
                <a:solidFill>
                  <a:srgbClr val="00B050"/>
                </a:solidFill>
              </a:rPr>
              <a:t>, j1, j3</a:t>
            </a:r>
          </a:p>
          <a:p>
            <a:pPr marL="457200" lvl="0" indent="-336550" algn="l" rtl="0">
              <a:spcBef>
                <a:spcPts val="0"/>
              </a:spcBef>
              <a:spcAft>
                <a:spcPts val="0"/>
              </a:spcAft>
              <a:buSzPts val="1700"/>
              <a:buChar char="●"/>
            </a:pPr>
            <a:r>
              <a:rPr lang="en-US" sz="1700" dirty="0"/>
              <a:t>e2 : </a:t>
            </a:r>
            <a:r>
              <a:rPr lang="en-US" sz="1700" strike="sngStrike" dirty="0"/>
              <a:t>j1</a:t>
            </a:r>
            <a:r>
              <a:rPr lang="en-US" sz="1700" dirty="0"/>
              <a:t>, </a:t>
            </a:r>
            <a:r>
              <a:rPr lang="en-US" sz="1700" strike="sngStrike" dirty="0"/>
              <a:t>j2</a:t>
            </a:r>
            <a:r>
              <a:rPr lang="en-US" sz="1700" dirty="0"/>
              <a:t>, </a:t>
            </a:r>
            <a:r>
              <a:rPr lang="en-US" sz="1700" b="1" u="sng" dirty="0"/>
              <a:t>j3</a:t>
            </a:r>
          </a:p>
          <a:p>
            <a:pPr marL="457200" lvl="0" indent="-336550" algn="l" rtl="0">
              <a:spcBef>
                <a:spcPts val="0"/>
              </a:spcBef>
              <a:spcAft>
                <a:spcPts val="0"/>
              </a:spcAft>
              <a:buSzPts val="1700"/>
              <a:buChar char="●"/>
            </a:pPr>
            <a:r>
              <a:rPr lang="en-US" sz="1700" dirty="0">
                <a:solidFill>
                  <a:srgbClr val="00B050"/>
                </a:solidFill>
              </a:rPr>
              <a:t>e3 : </a:t>
            </a:r>
            <a:r>
              <a:rPr lang="en-US" sz="1700" b="1" u="sng" dirty="0">
                <a:solidFill>
                  <a:srgbClr val="00B050"/>
                </a:solidFill>
              </a:rPr>
              <a:t>j1</a:t>
            </a:r>
            <a:r>
              <a:rPr lang="en-US" sz="1700" dirty="0">
                <a:solidFill>
                  <a:srgbClr val="00B050"/>
                </a:solidFill>
              </a:rPr>
              <a:t>, j2, j3</a:t>
            </a:r>
            <a:endParaRPr lang="en-US" sz="1500" dirty="0">
              <a:solidFill>
                <a:srgbClr val="00B050"/>
              </a:solidFill>
            </a:endParaRPr>
          </a:p>
        </p:txBody>
      </p:sp>
      <p:sp>
        <p:nvSpPr>
          <p:cNvPr id="4" name="Google Shape;134;p21">
            <a:extLst>
              <a:ext uri="{FF2B5EF4-FFF2-40B4-BE49-F238E27FC236}">
                <a16:creationId xmlns:a16="http://schemas.microsoft.com/office/drawing/2014/main" id="{8097B078-FD43-E367-3005-BDC175DA6B7E}"/>
              </a:ext>
            </a:extLst>
          </p:cNvPr>
          <p:cNvSpPr txBox="1">
            <a:spLocks/>
          </p:cNvSpPr>
          <p:nvPr/>
        </p:nvSpPr>
        <p:spPr>
          <a:xfrm>
            <a:off x="6462843" y="1269983"/>
            <a:ext cx="2681157" cy="2261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indent="-336550">
              <a:buSzPts val="1700"/>
            </a:pPr>
            <a:r>
              <a:rPr lang="en-US" sz="1700" dirty="0">
                <a:solidFill>
                  <a:srgbClr val="00B050"/>
                </a:solidFill>
              </a:rPr>
              <a:t>j1 : </a:t>
            </a:r>
            <a:r>
              <a:rPr lang="en-US" sz="1700" strike="sngStrike" dirty="0">
                <a:solidFill>
                  <a:srgbClr val="00B050"/>
                </a:solidFill>
              </a:rPr>
              <a:t>e1</a:t>
            </a:r>
            <a:r>
              <a:rPr lang="en-US" sz="1700" dirty="0">
                <a:solidFill>
                  <a:srgbClr val="00B050"/>
                </a:solidFill>
              </a:rPr>
              <a:t>, e2, </a:t>
            </a:r>
            <a:r>
              <a:rPr lang="en-US" sz="1700" b="1" u="sng" dirty="0">
                <a:solidFill>
                  <a:srgbClr val="00B050"/>
                </a:solidFill>
              </a:rPr>
              <a:t>e3</a:t>
            </a:r>
          </a:p>
          <a:p>
            <a:pPr indent="-336550">
              <a:buSzPts val="1700"/>
            </a:pPr>
            <a:r>
              <a:rPr lang="en-US" sz="1700" dirty="0">
                <a:solidFill>
                  <a:srgbClr val="00B050"/>
                </a:solidFill>
              </a:rPr>
              <a:t>j2 : </a:t>
            </a:r>
            <a:r>
              <a:rPr lang="en-US" sz="1700" strike="sngStrike" dirty="0">
                <a:solidFill>
                  <a:srgbClr val="00B050"/>
                </a:solidFill>
              </a:rPr>
              <a:t>e3</a:t>
            </a:r>
            <a:r>
              <a:rPr lang="en-US" sz="1700" dirty="0">
                <a:solidFill>
                  <a:srgbClr val="00B050"/>
                </a:solidFill>
              </a:rPr>
              <a:t>, </a:t>
            </a:r>
            <a:r>
              <a:rPr lang="en-US" sz="1700" b="1" u="sng" dirty="0">
                <a:solidFill>
                  <a:srgbClr val="00B050"/>
                </a:solidFill>
              </a:rPr>
              <a:t>e1</a:t>
            </a:r>
            <a:r>
              <a:rPr lang="en-US" sz="1700" dirty="0">
                <a:solidFill>
                  <a:srgbClr val="00B050"/>
                </a:solidFill>
              </a:rPr>
              <a:t>, e2</a:t>
            </a:r>
          </a:p>
          <a:p>
            <a:pPr indent="-336550">
              <a:buSzPts val="1700"/>
            </a:pPr>
            <a:r>
              <a:rPr lang="en-US" sz="1700" dirty="0"/>
              <a:t>j3 : </a:t>
            </a:r>
            <a:r>
              <a:rPr lang="en-US" sz="1700" strike="sngStrike" dirty="0"/>
              <a:t>e1</a:t>
            </a:r>
            <a:r>
              <a:rPr lang="en-US" sz="1700" dirty="0"/>
              <a:t>, </a:t>
            </a:r>
            <a:r>
              <a:rPr lang="en-US" sz="1700" b="1" u="sng" dirty="0"/>
              <a:t>e2</a:t>
            </a:r>
            <a:r>
              <a:rPr lang="en-US" sz="1700" dirty="0"/>
              <a:t>, e3</a:t>
            </a:r>
            <a:endParaRPr lang="en-US" sz="1500" dirty="0"/>
          </a:p>
        </p:txBody>
      </p:sp>
      <p:sp>
        <p:nvSpPr>
          <p:cNvPr id="2" name="TextBox 1">
            <a:extLst>
              <a:ext uri="{FF2B5EF4-FFF2-40B4-BE49-F238E27FC236}">
                <a16:creationId xmlns:a16="http://schemas.microsoft.com/office/drawing/2014/main" id="{80EA607A-A791-774C-2C0A-F551871EB2FD}"/>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5" name="TextBox 4">
            <a:extLst>
              <a:ext uri="{FF2B5EF4-FFF2-40B4-BE49-F238E27FC236}">
                <a16:creationId xmlns:a16="http://schemas.microsoft.com/office/drawing/2014/main" id="{CA3C0908-9369-9758-67ED-CAD544EE02FA}"/>
              </a:ext>
            </a:extLst>
          </p:cNvPr>
          <p:cNvSpPr txBox="1"/>
          <p:nvPr/>
        </p:nvSpPr>
        <p:spPr>
          <a:xfrm>
            <a:off x="168443" y="4195668"/>
            <a:ext cx="1515980" cy="738664"/>
          </a:xfrm>
          <a:prstGeom prst="rect">
            <a:avLst/>
          </a:prstGeom>
          <a:noFill/>
          <a:ln>
            <a:solidFill>
              <a:schemeClr val="bg2"/>
            </a:solidFill>
          </a:ln>
        </p:spPr>
        <p:txBody>
          <a:bodyPr wrap="square" rtlCol="0">
            <a:spAutoFit/>
          </a:bodyPr>
          <a:lstStyle/>
          <a:p>
            <a:r>
              <a:rPr lang="en-US" b="1" u="sng" dirty="0">
                <a:latin typeface="Lato" panose="020B0604020202020204" charset="0"/>
                <a:ea typeface="Lato" panose="020B0604020202020204" charset="0"/>
                <a:cs typeface="Lato" panose="020B0604020202020204" charset="0"/>
              </a:rPr>
              <a:t>Example: </a:t>
            </a:r>
          </a:p>
          <a:p>
            <a:r>
              <a:rPr lang="en-US" dirty="0">
                <a:latin typeface="Lato" panose="020B0604020202020204" charset="0"/>
                <a:ea typeface="Lato" panose="020B0604020202020204" charset="0"/>
                <a:cs typeface="Lato" panose="020B0604020202020204" charset="0"/>
              </a:rPr>
              <a:t>e1 = employee 1</a:t>
            </a:r>
          </a:p>
          <a:p>
            <a:r>
              <a:rPr lang="en-US" dirty="0">
                <a:latin typeface="Lato" panose="020B0604020202020204" charset="0"/>
                <a:ea typeface="Lato" panose="020B0604020202020204" charset="0"/>
                <a:cs typeface="Lato" panose="020B0604020202020204" charset="0"/>
              </a:rPr>
              <a:t>j1 = job 1</a:t>
            </a:r>
          </a:p>
        </p:txBody>
      </p:sp>
      <p:sp>
        <p:nvSpPr>
          <p:cNvPr id="8" name="Oval 7">
            <a:extLst>
              <a:ext uri="{FF2B5EF4-FFF2-40B4-BE49-F238E27FC236}">
                <a16:creationId xmlns:a16="http://schemas.microsoft.com/office/drawing/2014/main" id="{E1D98303-5368-EE65-EE9A-35244CB01019}"/>
              </a:ext>
            </a:extLst>
          </p:cNvPr>
          <p:cNvSpPr/>
          <p:nvPr/>
        </p:nvSpPr>
        <p:spPr>
          <a:xfrm>
            <a:off x="2794626" y="1468573"/>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e1</a:t>
            </a:r>
          </a:p>
        </p:txBody>
      </p:sp>
      <p:sp>
        <p:nvSpPr>
          <p:cNvPr id="9" name="Oval 8">
            <a:extLst>
              <a:ext uri="{FF2B5EF4-FFF2-40B4-BE49-F238E27FC236}">
                <a16:creationId xmlns:a16="http://schemas.microsoft.com/office/drawing/2014/main" id="{80679339-8F16-21B1-55BD-A9B5414242EF}"/>
              </a:ext>
            </a:extLst>
          </p:cNvPr>
          <p:cNvSpPr/>
          <p:nvPr/>
        </p:nvSpPr>
        <p:spPr>
          <a:xfrm>
            <a:off x="2794626" y="3660171"/>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e3</a:t>
            </a:r>
          </a:p>
        </p:txBody>
      </p:sp>
      <p:sp>
        <p:nvSpPr>
          <p:cNvPr id="18" name="Oval 17">
            <a:extLst>
              <a:ext uri="{FF2B5EF4-FFF2-40B4-BE49-F238E27FC236}">
                <a16:creationId xmlns:a16="http://schemas.microsoft.com/office/drawing/2014/main" id="{070C7DF6-DCF6-092B-A657-77B13B5AE31F}"/>
              </a:ext>
            </a:extLst>
          </p:cNvPr>
          <p:cNvSpPr/>
          <p:nvPr/>
        </p:nvSpPr>
        <p:spPr>
          <a:xfrm>
            <a:off x="4728744" y="1460690"/>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j1</a:t>
            </a:r>
          </a:p>
        </p:txBody>
      </p:sp>
      <p:sp>
        <p:nvSpPr>
          <p:cNvPr id="28" name="Oval 27">
            <a:extLst>
              <a:ext uri="{FF2B5EF4-FFF2-40B4-BE49-F238E27FC236}">
                <a16:creationId xmlns:a16="http://schemas.microsoft.com/office/drawing/2014/main" id="{93CED7DD-2684-B37E-65E3-0FE18E15F63C}"/>
              </a:ext>
            </a:extLst>
          </p:cNvPr>
          <p:cNvSpPr/>
          <p:nvPr/>
        </p:nvSpPr>
        <p:spPr>
          <a:xfrm>
            <a:off x="4728744" y="3660171"/>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j3</a:t>
            </a:r>
          </a:p>
        </p:txBody>
      </p:sp>
      <p:sp>
        <p:nvSpPr>
          <p:cNvPr id="33" name="Oval 32">
            <a:extLst>
              <a:ext uri="{FF2B5EF4-FFF2-40B4-BE49-F238E27FC236}">
                <a16:creationId xmlns:a16="http://schemas.microsoft.com/office/drawing/2014/main" id="{ED6376F3-0F0B-C957-1D6C-69587263E405}"/>
              </a:ext>
            </a:extLst>
          </p:cNvPr>
          <p:cNvSpPr/>
          <p:nvPr/>
        </p:nvSpPr>
        <p:spPr>
          <a:xfrm>
            <a:off x="2794626" y="2606147"/>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e2</a:t>
            </a:r>
          </a:p>
        </p:txBody>
      </p:sp>
      <p:sp>
        <p:nvSpPr>
          <p:cNvPr id="34" name="Oval 33">
            <a:extLst>
              <a:ext uri="{FF2B5EF4-FFF2-40B4-BE49-F238E27FC236}">
                <a16:creationId xmlns:a16="http://schemas.microsoft.com/office/drawing/2014/main" id="{847C5025-1421-766B-F5F5-AE164B0D21B4}"/>
              </a:ext>
            </a:extLst>
          </p:cNvPr>
          <p:cNvSpPr/>
          <p:nvPr/>
        </p:nvSpPr>
        <p:spPr>
          <a:xfrm>
            <a:off x="4728744" y="2598264"/>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j2</a:t>
            </a:r>
          </a:p>
        </p:txBody>
      </p:sp>
      <p:cxnSp>
        <p:nvCxnSpPr>
          <p:cNvPr id="3" name="Connector: Curved 2">
            <a:extLst>
              <a:ext uri="{FF2B5EF4-FFF2-40B4-BE49-F238E27FC236}">
                <a16:creationId xmlns:a16="http://schemas.microsoft.com/office/drawing/2014/main" id="{2C36F5BB-2F76-680E-EFFF-87B6C6733A66}"/>
              </a:ext>
            </a:extLst>
          </p:cNvPr>
          <p:cNvCxnSpPr>
            <a:cxnSpLocks/>
            <a:stCxn id="33" idx="5"/>
            <a:endCxn id="28" idx="2"/>
          </p:cNvCxnSpPr>
          <p:nvPr/>
        </p:nvCxnSpPr>
        <p:spPr>
          <a:xfrm rot="16200000" flipH="1">
            <a:off x="3620995" y="2872462"/>
            <a:ext cx="827722" cy="1387776"/>
          </a:xfrm>
          <a:prstGeom prst="curvedConnector2">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nector: Curved 10">
            <a:extLst>
              <a:ext uri="{FF2B5EF4-FFF2-40B4-BE49-F238E27FC236}">
                <a16:creationId xmlns:a16="http://schemas.microsoft.com/office/drawing/2014/main" id="{6EFA3EC8-3860-4506-4662-C7E94FE0F3A9}"/>
              </a:ext>
            </a:extLst>
          </p:cNvPr>
          <p:cNvCxnSpPr>
            <a:cxnSpLocks/>
            <a:stCxn id="28" idx="1"/>
            <a:endCxn id="33" idx="6"/>
          </p:cNvCxnSpPr>
          <p:nvPr/>
        </p:nvCxnSpPr>
        <p:spPr>
          <a:xfrm rot="16200000" flipV="1">
            <a:off x="3714733" y="2646160"/>
            <a:ext cx="827722" cy="1387776"/>
          </a:xfrm>
          <a:prstGeom prst="curvedConnector2">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243F105-A03C-4E47-4500-687A682D204A}"/>
              </a:ext>
            </a:extLst>
          </p:cNvPr>
          <p:cNvCxnSpPr>
            <a:cxnSpLocks/>
            <a:stCxn id="8" idx="6"/>
            <a:endCxn id="34" idx="2"/>
          </p:cNvCxnSpPr>
          <p:nvPr/>
        </p:nvCxnSpPr>
        <p:spPr>
          <a:xfrm>
            <a:off x="3434706" y="1788613"/>
            <a:ext cx="1294038" cy="1129691"/>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9A0CF94-47C7-3A5D-23F8-70FFF2FBC84E}"/>
              </a:ext>
            </a:extLst>
          </p:cNvPr>
          <p:cNvCxnSpPr>
            <a:cxnSpLocks/>
            <a:stCxn id="9" idx="6"/>
            <a:endCxn id="18" idx="2"/>
          </p:cNvCxnSpPr>
          <p:nvPr/>
        </p:nvCxnSpPr>
        <p:spPr>
          <a:xfrm flipV="1">
            <a:off x="3434706" y="1780730"/>
            <a:ext cx="1294038" cy="2199481"/>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22645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B4BABF1D-F4ED-C100-CC97-5F0935704CF4}"/>
            </a:ext>
          </a:extLst>
        </p:cNvPr>
        <p:cNvGrpSpPr/>
        <p:nvPr/>
      </p:nvGrpSpPr>
      <p:grpSpPr>
        <a:xfrm>
          <a:off x="0" y="0"/>
          <a:ext cx="0" cy="0"/>
          <a:chOff x="0" y="0"/>
          <a:chExt cx="0" cy="0"/>
        </a:xfrm>
      </p:grpSpPr>
      <p:sp>
        <p:nvSpPr>
          <p:cNvPr id="134" name="Google Shape;134;p21">
            <a:extLst>
              <a:ext uri="{FF2B5EF4-FFF2-40B4-BE49-F238E27FC236}">
                <a16:creationId xmlns:a16="http://schemas.microsoft.com/office/drawing/2014/main" id="{ACB81695-A5CD-10D3-33BD-31CDD120DD42}"/>
              </a:ext>
            </a:extLst>
          </p:cNvPr>
          <p:cNvSpPr txBox="1">
            <a:spLocks noGrp="1"/>
          </p:cNvSpPr>
          <p:nvPr>
            <p:ph type="body" idx="1"/>
          </p:nvPr>
        </p:nvSpPr>
        <p:spPr>
          <a:xfrm>
            <a:off x="70027" y="1269983"/>
            <a:ext cx="2681157" cy="22611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US" sz="1700" dirty="0">
                <a:solidFill>
                  <a:srgbClr val="00B050"/>
                </a:solidFill>
              </a:rPr>
              <a:t>e1 : </a:t>
            </a:r>
            <a:r>
              <a:rPr lang="en-US" sz="1700" b="1" u="sng" dirty="0">
                <a:solidFill>
                  <a:srgbClr val="00B050"/>
                </a:solidFill>
              </a:rPr>
              <a:t>j2</a:t>
            </a:r>
            <a:r>
              <a:rPr lang="en-US" sz="1700" dirty="0">
                <a:solidFill>
                  <a:srgbClr val="00B050"/>
                </a:solidFill>
              </a:rPr>
              <a:t>, j1, j3</a:t>
            </a:r>
          </a:p>
          <a:p>
            <a:pPr marL="457200" lvl="0" indent="-336550" algn="l" rtl="0">
              <a:spcBef>
                <a:spcPts val="0"/>
              </a:spcBef>
              <a:spcAft>
                <a:spcPts val="0"/>
              </a:spcAft>
              <a:buSzPts val="1700"/>
              <a:buChar char="●"/>
            </a:pPr>
            <a:r>
              <a:rPr lang="en-US" sz="1700" dirty="0">
                <a:solidFill>
                  <a:srgbClr val="00B050"/>
                </a:solidFill>
              </a:rPr>
              <a:t>e2 : </a:t>
            </a:r>
            <a:r>
              <a:rPr lang="en-US" sz="1700" strike="sngStrike" dirty="0">
                <a:solidFill>
                  <a:srgbClr val="00B050"/>
                </a:solidFill>
              </a:rPr>
              <a:t>j1</a:t>
            </a:r>
            <a:r>
              <a:rPr lang="en-US" sz="1700" dirty="0">
                <a:solidFill>
                  <a:srgbClr val="00B050"/>
                </a:solidFill>
              </a:rPr>
              <a:t>, </a:t>
            </a:r>
            <a:r>
              <a:rPr lang="en-US" sz="1700" strike="sngStrike" dirty="0">
                <a:solidFill>
                  <a:srgbClr val="00B050"/>
                </a:solidFill>
              </a:rPr>
              <a:t>j2</a:t>
            </a:r>
            <a:r>
              <a:rPr lang="en-US" sz="1700" dirty="0">
                <a:solidFill>
                  <a:srgbClr val="00B050"/>
                </a:solidFill>
              </a:rPr>
              <a:t>, </a:t>
            </a:r>
            <a:r>
              <a:rPr lang="en-US" sz="1700" b="1" u="sng" dirty="0">
                <a:solidFill>
                  <a:srgbClr val="00B050"/>
                </a:solidFill>
              </a:rPr>
              <a:t>j3</a:t>
            </a:r>
          </a:p>
          <a:p>
            <a:pPr marL="457200" lvl="0" indent="-336550" algn="l" rtl="0">
              <a:spcBef>
                <a:spcPts val="0"/>
              </a:spcBef>
              <a:spcAft>
                <a:spcPts val="0"/>
              </a:spcAft>
              <a:buSzPts val="1700"/>
              <a:buChar char="●"/>
            </a:pPr>
            <a:r>
              <a:rPr lang="en-US" sz="1700" dirty="0">
                <a:solidFill>
                  <a:srgbClr val="00B050"/>
                </a:solidFill>
              </a:rPr>
              <a:t>e3 : </a:t>
            </a:r>
            <a:r>
              <a:rPr lang="en-US" sz="1700" b="1" u="sng" dirty="0">
                <a:solidFill>
                  <a:srgbClr val="00B050"/>
                </a:solidFill>
              </a:rPr>
              <a:t>j1</a:t>
            </a:r>
            <a:r>
              <a:rPr lang="en-US" sz="1700" dirty="0">
                <a:solidFill>
                  <a:srgbClr val="00B050"/>
                </a:solidFill>
              </a:rPr>
              <a:t>, j2, j3</a:t>
            </a:r>
            <a:endParaRPr lang="en-US" sz="1500" dirty="0">
              <a:solidFill>
                <a:srgbClr val="00B050"/>
              </a:solidFill>
            </a:endParaRPr>
          </a:p>
        </p:txBody>
      </p:sp>
      <p:sp>
        <p:nvSpPr>
          <p:cNvPr id="4" name="Google Shape;134;p21">
            <a:extLst>
              <a:ext uri="{FF2B5EF4-FFF2-40B4-BE49-F238E27FC236}">
                <a16:creationId xmlns:a16="http://schemas.microsoft.com/office/drawing/2014/main" id="{3999C18A-B14A-6C9E-5240-D9EB4700E4D2}"/>
              </a:ext>
            </a:extLst>
          </p:cNvPr>
          <p:cNvSpPr txBox="1">
            <a:spLocks/>
          </p:cNvSpPr>
          <p:nvPr/>
        </p:nvSpPr>
        <p:spPr>
          <a:xfrm>
            <a:off x="6462843" y="1269983"/>
            <a:ext cx="2681157" cy="2261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indent="-336550">
              <a:buSzPts val="1700"/>
            </a:pPr>
            <a:r>
              <a:rPr lang="en-US" sz="1700" dirty="0">
                <a:solidFill>
                  <a:srgbClr val="00B050"/>
                </a:solidFill>
              </a:rPr>
              <a:t>j1 : </a:t>
            </a:r>
            <a:r>
              <a:rPr lang="en-US" sz="1700" strike="sngStrike" dirty="0">
                <a:solidFill>
                  <a:srgbClr val="00B050"/>
                </a:solidFill>
              </a:rPr>
              <a:t>e1</a:t>
            </a:r>
            <a:r>
              <a:rPr lang="en-US" sz="1700" dirty="0">
                <a:solidFill>
                  <a:srgbClr val="00B050"/>
                </a:solidFill>
              </a:rPr>
              <a:t>, e2, </a:t>
            </a:r>
            <a:r>
              <a:rPr lang="en-US" sz="1700" b="1" u="sng" dirty="0">
                <a:solidFill>
                  <a:srgbClr val="00B050"/>
                </a:solidFill>
              </a:rPr>
              <a:t>e3</a:t>
            </a:r>
          </a:p>
          <a:p>
            <a:pPr indent="-336550">
              <a:buSzPts val="1700"/>
            </a:pPr>
            <a:r>
              <a:rPr lang="en-US" sz="1700" dirty="0">
                <a:solidFill>
                  <a:srgbClr val="00B050"/>
                </a:solidFill>
              </a:rPr>
              <a:t>j2 : </a:t>
            </a:r>
            <a:r>
              <a:rPr lang="en-US" sz="1700" strike="sngStrike" dirty="0">
                <a:solidFill>
                  <a:srgbClr val="00B050"/>
                </a:solidFill>
              </a:rPr>
              <a:t>e3</a:t>
            </a:r>
            <a:r>
              <a:rPr lang="en-US" sz="1700" dirty="0">
                <a:solidFill>
                  <a:srgbClr val="00B050"/>
                </a:solidFill>
              </a:rPr>
              <a:t>, </a:t>
            </a:r>
            <a:r>
              <a:rPr lang="en-US" sz="1700" b="1" u="sng" dirty="0">
                <a:solidFill>
                  <a:srgbClr val="00B050"/>
                </a:solidFill>
              </a:rPr>
              <a:t>e1</a:t>
            </a:r>
            <a:r>
              <a:rPr lang="en-US" sz="1700" dirty="0">
                <a:solidFill>
                  <a:srgbClr val="00B050"/>
                </a:solidFill>
              </a:rPr>
              <a:t>, e2</a:t>
            </a:r>
          </a:p>
          <a:p>
            <a:pPr indent="-336550">
              <a:buSzPts val="1700"/>
            </a:pPr>
            <a:r>
              <a:rPr lang="en-US" sz="1700" dirty="0">
                <a:solidFill>
                  <a:srgbClr val="00B050"/>
                </a:solidFill>
              </a:rPr>
              <a:t>j3 : </a:t>
            </a:r>
            <a:r>
              <a:rPr lang="en-US" sz="1700" strike="sngStrike" dirty="0">
                <a:solidFill>
                  <a:srgbClr val="00B050"/>
                </a:solidFill>
              </a:rPr>
              <a:t>e1</a:t>
            </a:r>
            <a:r>
              <a:rPr lang="en-US" sz="1700" dirty="0">
                <a:solidFill>
                  <a:srgbClr val="00B050"/>
                </a:solidFill>
              </a:rPr>
              <a:t>, </a:t>
            </a:r>
            <a:r>
              <a:rPr lang="en-US" sz="1700" b="1" u="sng" dirty="0">
                <a:solidFill>
                  <a:srgbClr val="00B050"/>
                </a:solidFill>
              </a:rPr>
              <a:t>e2</a:t>
            </a:r>
            <a:r>
              <a:rPr lang="en-US" sz="1700" dirty="0">
                <a:solidFill>
                  <a:srgbClr val="00B050"/>
                </a:solidFill>
              </a:rPr>
              <a:t>, e3</a:t>
            </a:r>
            <a:endParaRPr lang="en-US" sz="1500" dirty="0">
              <a:solidFill>
                <a:srgbClr val="00B050"/>
              </a:solidFill>
            </a:endParaRPr>
          </a:p>
        </p:txBody>
      </p:sp>
      <p:sp>
        <p:nvSpPr>
          <p:cNvPr id="2" name="TextBox 1">
            <a:extLst>
              <a:ext uri="{FF2B5EF4-FFF2-40B4-BE49-F238E27FC236}">
                <a16:creationId xmlns:a16="http://schemas.microsoft.com/office/drawing/2014/main" id="{950DD889-3BE9-DB09-7369-E6999BDC366E}"/>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5" name="TextBox 4">
            <a:extLst>
              <a:ext uri="{FF2B5EF4-FFF2-40B4-BE49-F238E27FC236}">
                <a16:creationId xmlns:a16="http://schemas.microsoft.com/office/drawing/2014/main" id="{22FAE67A-CEE9-6973-FFA2-09E3366C518B}"/>
              </a:ext>
            </a:extLst>
          </p:cNvPr>
          <p:cNvSpPr txBox="1"/>
          <p:nvPr/>
        </p:nvSpPr>
        <p:spPr>
          <a:xfrm>
            <a:off x="168443" y="4195668"/>
            <a:ext cx="1515980" cy="738664"/>
          </a:xfrm>
          <a:prstGeom prst="rect">
            <a:avLst/>
          </a:prstGeom>
          <a:noFill/>
          <a:ln>
            <a:solidFill>
              <a:schemeClr val="bg2"/>
            </a:solidFill>
          </a:ln>
        </p:spPr>
        <p:txBody>
          <a:bodyPr wrap="square" rtlCol="0">
            <a:spAutoFit/>
          </a:bodyPr>
          <a:lstStyle/>
          <a:p>
            <a:r>
              <a:rPr lang="en-US" b="1" u="sng" dirty="0">
                <a:latin typeface="Lato" panose="020B0604020202020204" charset="0"/>
                <a:ea typeface="Lato" panose="020B0604020202020204" charset="0"/>
                <a:cs typeface="Lato" panose="020B0604020202020204" charset="0"/>
              </a:rPr>
              <a:t>Example: </a:t>
            </a:r>
          </a:p>
          <a:p>
            <a:r>
              <a:rPr lang="en-US" dirty="0">
                <a:latin typeface="Lato" panose="020B0604020202020204" charset="0"/>
                <a:ea typeface="Lato" panose="020B0604020202020204" charset="0"/>
                <a:cs typeface="Lato" panose="020B0604020202020204" charset="0"/>
              </a:rPr>
              <a:t>e1 = employee 1</a:t>
            </a:r>
          </a:p>
          <a:p>
            <a:r>
              <a:rPr lang="en-US" dirty="0">
                <a:latin typeface="Lato" panose="020B0604020202020204" charset="0"/>
                <a:ea typeface="Lato" panose="020B0604020202020204" charset="0"/>
                <a:cs typeface="Lato" panose="020B0604020202020204" charset="0"/>
              </a:rPr>
              <a:t>j1 = job 1</a:t>
            </a:r>
          </a:p>
        </p:txBody>
      </p:sp>
      <p:sp>
        <p:nvSpPr>
          <p:cNvPr id="8" name="Oval 7">
            <a:extLst>
              <a:ext uri="{FF2B5EF4-FFF2-40B4-BE49-F238E27FC236}">
                <a16:creationId xmlns:a16="http://schemas.microsoft.com/office/drawing/2014/main" id="{415D9C38-FEEA-CAB5-F844-8366DF8C3EA4}"/>
              </a:ext>
            </a:extLst>
          </p:cNvPr>
          <p:cNvSpPr/>
          <p:nvPr/>
        </p:nvSpPr>
        <p:spPr>
          <a:xfrm>
            <a:off x="2794626" y="1468573"/>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e1</a:t>
            </a:r>
          </a:p>
        </p:txBody>
      </p:sp>
      <p:sp>
        <p:nvSpPr>
          <p:cNvPr id="9" name="Oval 8">
            <a:extLst>
              <a:ext uri="{FF2B5EF4-FFF2-40B4-BE49-F238E27FC236}">
                <a16:creationId xmlns:a16="http://schemas.microsoft.com/office/drawing/2014/main" id="{6A384838-5000-EEA5-2E9C-696F4AABDA41}"/>
              </a:ext>
            </a:extLst>
          </p:cNvPr>
          <p:cNvSpPr/>
          <p:nvPr/>
        </p:nvSpPr>
        <p:spPr>
          <a:xfrm>
            <a:off x="2794626" y="3660171"/>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e3</a:t>
            </a:r>
          </a:p>
        </p:txBody>
      </p:sp>
      <p:sp>
        <p:nvSpPr>
          <p:cNvPr id="18" name="Oval 17">
            <a:extLst>
              <a:ext uri="{FF2B5EF4-FFF2-40B4-BE49-F238E27FC236}">
                <a16:creationId xmlns:a16="http://schemas.microsoft.com/office/drawing/2014/main" id="{E40B23C9-1AF3-3CA9-5A7F-B8E06572D071}"/>
              </a:ext>
            </a:extLst>
          </p:cNvPr>
          <p:cNvSpPr/>
          <p:nvPr/>
        </p:nvSpPr>
        <p:spPr>
          <a:xfrm>
            <a:off x="4728744" y="1460690"/>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j1</a:t>
            </a:r>
          </a:p>
        </p:txBody>
      </p:sp>
      <p:sp>
        <p:nvSpPr>
          <p:cNvPr id="28" name="Oval 27">
            <a:extLst>
              <a:ext uri="{FF2B5EF4-FFF2-40B4-BE49-F238E27FC236}">
                <a16:creationId xmlns:a16="http://schemas.microsoft.com/office/drawing/2014/main" id="{9C7D224E-F24A-F0ED-30E4-81674CDCB9C4}"/>
              </a:ext>
            </a:extLst>
          </p:cNvPr>
          <p:cNvSpPr/>
          <p:nvPr/>
        </p:nvSpPr>
        <p:spPr>
          <a:xfrm>
            <a:off x="4728744" y="3660171"/>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j3</a:t>
            </a:r>
          </a:p>
        </p:txBody>
      </p:sp>
      <p:sp>
        <p:nvSpPr>
          <p:cNvPr id="33" name="Oval 32">
            <a:extLst>
              <a:ext uri="{FF2B5EF4-FFF2-40B4-BE49-F238E27FC236}">
                <a16:creationId xmlns:a16="http://schemas.microsoft.com/office/drawing/2014/main" id="{E3EA7F5C-8EB4-C51F-CCC4-59E2CD6E7364}"/>
              </a:ext>
            </a:extLst>
          </p:cNvPr>
          <p:cNvSpPr/>
          <p:nvPr/>
        </p:nvSpPr>
        <p:spPr>
          <a:xfrm>
            <a:off x="2794626" y="2606147"/>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e2</a:t>
            </a:r>
          </a:p>
        </p:txBody>
      </p:sp>
      <p:sp>
        <p:nvSpPr>
          <p:cNvPr id="34" name="Oval 33">
            <a:extLst>
              <a:ext uri="{FF2B5EF4-FFF2-40B4-BE49-F238E27FC236}">
                <a16:creationId xmlns:a16="http://schemas.microsoft.com/office/drawing/2014/main" id="{244FA216-8B32-852B-9911-F6C9129FEFBC}"/>
              </a:ext>
            </a:extLst>
          </p:cNvPr>
          <p:cNvSpPr/>
          <p:nvPr/>
        </p:nvSpPr>
        <p:spPr>
          <a:xfrm>
            <a:off x="4728744" y="2598264"/>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j2</a:t>
            </a:r>
          </a:p>
        </p:txBody>
      </p:sp>
      <p:cxnSp>
        <p:nvCxnSpPr>
          <p:cNvPr id="3" name="Connector: Curved 2">
            <a:extLst>
              <a:ext uri="{FF2B5EF4-FFF2-40B4-BE49-F238E27FC236}">
                <a16:creationId xmlns:a16="http://schemas.microsoft.com/office/drawing/2014/main" id="{1DC2B6AC-CE96-D496-9F27-51AB239D89B5}"/>
              </a:ext>
            </a:extLst>
          </p:cNvPr>
          <p:cNvCxnSpPr>
            <a:cxnSpLocks/>
            <a:stCxn id="33" idx="5"/>
            <a:endCxn id="28" idx="2"/>
          </p:cNvCxnSpPr>
          <p:nvPr/>
        </p:nvCxnSpPr>
        <p:spPr>
          <a:xfrm rot="16200000" flipH="1">
            <a:off x="3620995" y="2872462"/>
            <a:ext cx="827722" cy="1387776"/>
          </a:xfrm>
          <a:prstGeom prst="curvedConnector2">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nector: Curved 10">
            <a:extLst>
              <a:ext uri="{FF2B5EF4-FFF2-40B4-BE49-F238E27FC236}">
                <a16:creationId xmlns:a16="http://schemas.microsoft.com/office/drawing/2014/main" id="{C5071C4F-0787-54DF-2EF7-691BC559F5EE}"/>
              </a:ext>
            </a:extLst>
          </p:cNvPr>
          <p:cNvCxnSpPr>
            <a:cxnSpLocks/>
            <a:stCxn id="28" idx="1"/>
            <a:endCxn id="33" idx="6"/>
          </p:cNvCxnSpPr>
          <p:nvPr/>
        </p:nvCxnSpPr>
        <p:spPr>
          <a:xfrm rot="16200000" flipV="1">
            <a:off x="3714733" y="2646160"/>
            <a:ext cx="827722" cy="1387776"/>
          </a:xfrm>
          <a:prstGeom prst="curvedConnector2">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E0F91428-D441-5794-8E04-68449515290C}"/>
              </a:ext>
            </a:extLst>
          </p:cNvPr>
          <p:cNvCxnSpPr>
            <a:cxnSpLocks/>
            <a:stCxn id="8" idx="6"/>
            <a:endCxn id="34" idx="2"/>
          </p:cNvCxnSpPr>
          <p:nvPr/>
        </p:nvCxnSpPr>
        <p:spPr>
          <a:xfrm>
            <a:off x="3434706" y="1788613"/>
            <a:ext cx="1294038" cy="1129691"/>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E37C367-B27E-34A2-660C-0398B2294FF9}"/>
              </a:ext>
            </a:extLst>
          </p:cNvPr>
          <p:cNvCxnSpPr>
            <a:cxnSpLocks/>
            <a:stCxn id="9" idx="6"/>
            <a:endCxn id="18" idx="2"/>
          </p:cNvCxnSpPr>
          <p:nvPr/>
        </p:nvCxnSpPr>
        <p:spPr>
          <a:xfrm flipV="1">
            <a:off x="3434706" y="1780730"/>
            <a:ext cx="1294038" cy="2199481"/>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82689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6D00C7CB-76BB-0912-CC65-E1342EF0FB3D}"/>
            </a:ext>
          </a:extLst>
        </p:cNvPr>
        <p:cNvGrpSpPr/>
        <p:nvPr/>
      </p:nvGrpSpPr>
      <p:grpSpPr>
        <a:xfrm>
          <a:off x="0" y="0"/>
          <a:ext cx="0" cy="0"/>
          <a:chOff x="0" y="0"/>
          <a:chExt cx="0" cy="0"/>
        </a:xfrm>
      </p:grpSpPr>
      <p:sp>
        <p:nvSpPr>
          <p:cNvPr id="134" name="Google Shape;134;p21">
            <a:extLst>
              <a:ext uri="{FF2B5EF4-FFF2-40B4-BE49-F238E27FC236}">
                <a16:creationId xmlns:a16="http://schemas.microsoft.com/office/drawing/2014/main" id="{0E31D863-B5E5-A6B0-7D7D-9A30C02CA37D}"/>
              </a:ext>
            </a:extLst>
          </p:cNvPr>
          <p:cNvSpPr txBox="1">
            <a:spLocks noGrp="1"/>
          </p:cNvSpPr>
          <p:nvPr>
            <p:ph type="body" idx="1"/>
          </p:nvPr>
        </p:nvSpPr>
        <p:spPr>
          <a:xfrm>
            <a:off x="70027" y="1269983"/>
            <a:ext cx="2681157" cy="22611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US" sz="1700" dirty="0">
                <a:solidFill>
                  <a:srgbClr val="00B050"/>
                </a:solidFill>
              </a:rPr>
              <a:t>e1 : </a:t>
            </a:r>
            <a:r>
              <a:rPr lang="en-US" sz="1700" b="1" u="sng" dirty="0">
                <a:solidFill>
                  <a:srgbClr val="00B050"/>
                </a:solidFill>
              </a:rPr>
              <a:t>j2</a:t>
            </a:r>
            <a:r>
              <a:rPr lang="en-US" sz="1700" dirty="0">
                <a:solidFill>
                  <a:srgbClr val="00B050"/>
                </a:solidFill>
              </a:rPr>
              <a:t>, j1, j3</a:t>
            </a:r>
          </a:p>
          <a:p>
            <a:pPr marL="457200" lvl="0" indent="-336550" algn="l" rtl="0">
              <a:spcBef>
                <a:spcPts val="0"/>
              </a:spcBef>
              <a:spcAft>
                <a:spcPts val="0"/>
              </a:spcAft>
              <a:buSzPts val="1700"/>
              <a:buChar char="●"/>
            </a:pPr>
            <a:r>
              <a:rPr lang="en-US" sz="1700" dirty="0">
                <a:solidFill>
                  <a:srgbClr val="00B050"/>
                </a:solidFill>
              </a:rPr>
              <a:t>e2 : </a:t>
            </a:r>
            <a:r>
              <a:rPr lang="en-US" sz="1700" strike="sngStrike" dirty="0">
                <a:solidFill>
                  <a:srgbClr val="00B050"/>
                </a:solidFill>
              </a:rPr>
              <a:t>j1</a:t>
            </a:r>
            <a:r>
              <a:rPr lang="en-US" sz="1700" dirty="0">
                <a:solidFill>
                  <a:srgbClr val="00B050"/>
                </a:solidFill>
              </a:rPr>
              <a:t>, </a:t>
            </a:r>
            <a:r>
              <a:rPr lang="en-US" sz="1700" strike="sngStrike" dirty="0">
                <a:solidFill>
                  <a:srgbClr val="00B050"/>
                </a:solidFill>
              </a:rPr>
              <a:t>j2</a:t>
            </a:r>
            <a:r>
              <a:rPr lang="en-US" sz="1700" dirty="0">
                <a:solidFill>
                  <a:srgbClr val="00B050"/>
                </a:solidFill>
              </a:rPr>
              <a:t>, </a:t>
            </a:r>
            <a:r>
              <a:rPr lang="en-US" sz="1700" b="1" u="sng" dirty="0">
                <a:solidFill>
                  <a:srgbClr val="00B050"/>
                </a:solidFill>
              </a:rPr>
              <a:t>j3</a:t>
            </a:r>
          </a:p>
          <a:p>
            <a:pPr marL="457200" lvl="0" indent="-336550" algn="l" rtl="0">
              <a:spcBef>
                <a:spcPts val="0"/>
              </a:spcBef>
              <a:spcAft>
                <a:spcPts val="0"/>
              </a:spcAft>
              <a:buSzPts val="1700"/>
              <a:buChar char="●"/>
            </a:pPr>
            <a:r>
              <a:rPr lang="en-US" sz="1700" dirty="0">
                <a:solidFill>
                  <a:srgbClr val="00B050"/>
                </a:solidFill>
              </a:rPr>
              <a:t>e3 : </a:t>
            </a:r>
            <a:r>
              <a:rPr lang="en-US" sz="1700" b="1" u="sng" dirty="0">
                <a:solidFill>
                  <a:srgbClr val="00B050"/>
                </a:solidFill>
              </a:rPr>
              <a:t>j1</a:t>
            </a:r>
            <a:r>
              <a:rPr lang="en-US" sz="1700" dirty="0">
                <a:solidFill>
                  <a:srgbClr val="00B050"/>
                </a:solidFill>
              </a:rPr>
              <a:t>, j2, j3</a:t>
            </a:r>
            <a:endParaRPr lang="en-US" sz="1500" dirty="0">
              <a:solidFill>
                <a:srgbClr val="00B050"/>
              </a:solidFill>
            </a:endParaRPr>
          </a:p>
        </p:txBody>
      </p:sp>
      <p:sp>
        <p:nvSpPr>
          <p:cNvPr id="4" name="Google Shape;134;p21">
            <a:extLst>
              <a:ext uri="{FF2B5EF4-FFF2-40B4-BE49-F238E27FC236}">
                <a16:creationId xmlns:a16="http://schemas.microsoft.com/office/drawing/2014/main" id="{4710F7D1-44FC-FF03-CFBF-A074ACFD875B}"/>
              </a:ext>
            </a:extLst>
          </p:cNvPr>
          <p:cNvSpPr txBox="1">
            <a:spLocks/>
          </p:cNvSpPr>
          <p:nvPr/>
        </p:nvSpPr>
        <p:spPr>
          <a:xfrm>
            <a:off x="6462843" y="1269983"/>
            <a:ext cx="2681157" cy="2261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indent="-336550">
              <a:buSzPts val="1700"/>
            </a:pPr>
            <a:r>
              <a:rPr lang="en-US" sz="1700" dirty="0">
                <a:solidFill>
                  <a:srgbClr val="00B050"/>
                </a:solidFill>
              </a:rPr>
              <a:t>j1 : </a:t>
            </a:r>
            <a:r>
              <a:rPr lang="en-US" sz="1700" strike="sngStrike" dirty="0">
                <a:solidFill>
                  <a:srgbClr val="00B050"/>
                </a:solidFill>
              </a:rPr>
              <a:t>e1</a:t>
            </a:r>
            <a:r>
              <a:rPr lang="en-US" sz="1700" dirty="0">
                <a:solidFill>
                  <a:srgbClr val="00B050"/>
                </a:solidFill>
              </a:rPr>
              <a:t>, e2, </a:t>
            </a:r>
            <a:r>
              <a:rPr lang="en-US" sz="1700" b="1" u="sng" dirty="0">
                <a:solidFill>
                  <a:srgbClr val="00B050"/>
                </a:solidFill>
              </a:rPr>
              <a:t>e3</a:t>
            </a:r>
          </a:p>
          <a:p>
            <a:pPr indent="-336550">
              <a:buSzPts val="1700"/>
            </a:pPr>
            <a:r>
              <a:rPr lang="en-US" sz="1700" dirty="0">
                <a:solidFill>
                  <a:srgbClr val="00B050"/>
                </a:solidFill>
              </a:rPr>
              <a:t>j2 : </a:t>
            </a:r>
            <a:r>
              <a:rPr lang="en-US" sz="1700" strike="sngStrike" dirty="0">
                <a:solidFill>
                  <a:srgbClr val="00B050"/>
                </a:solidFill>
              </a:rPr>
              <a:t>e3</a:t>
            </a:r>
            <a:r>
              <a:rPr lang="en-US" sz="1700" dirty="0">
                <a:solidFill>
                  <a:srgbClr val="00B050"/>
                </a:solidFill>
              </a:rPr>
              <a:t>, </a:t>
            </a:r>
            <a:r>
              <a:rPr lang="en-US" sz="1700" b="1" u="sng" dirty="0">
                <a:solidFill>
                  <a:srgbClr val="00B050"/>
                </a:solidFill>
              </a:rPr>
              <a:t>e1</a:t>
            </a:r>
            <a:r>
              <a:rPr lang="en-US" sz="1700" dirty="0">
                <a:solidFill>
                  <a:srgbClr val="00B050"/>
                </a:solidFill>
              </a:rPr>
              <a:t>, e2</a:t>
            </a:r>
          </a:p>
          <a:p>
            <a:pPr indent="-336550">
              <a:buSzPts val="1700"/>
            </a:pPr>
            <a:r>
              <a:rPr lang="en-US" sz="1700" dirty="0">
                <a:solidFill>
                  <a:srgbClr val="00B050"/>
                </a:solidFill>
              </a:rPr>
              <a:t>j3 : </a:t>
            </a:r>
            <a:r>
              <a:rPr lang="en-US" sz="1700" strike="sngStrike" dirty="0">
                <a:solidFill>
                  <a:srgbClr val="00B050"/>
                </a:solidFill>
              </a:rPr>
              <a:t>e1</a:t>
            </a:r>
            <a:r>
              <a:rPr lang="en-US" sz="1700" dirty="0">
                <a:solidFill>
                  <a:srgbClr val="00B050"/>
                </a:solidFill>
              </a:rPr>
              <a:t>, </a:t>
            </a:r>
            <a:r>
              <a:rPr lang="en-US" sz="1700" b="1" u="sng" dirty="0">
                <a:solidFill>
                  <a:srgbClr val="00B050"/>
                </a:solidFill>
              </a:rPr>
              <a:t>e2</a:t>
            </a:r>
            <a:r>
              <a:rPr lang="en-US" sz="1700" dirty="0">
                <a:solidFill>
                  <a:srgbClr val="00B050"/>
                </a:solidFill>
              </a:rPr>
              <a:t>, e3</a:t>
            </a:r>
            <a:endParaRPr lang="en-US" sz="1500" dirty="0">
              <a:solidFill>
                <a:srgbClr val="00B050"/>
              </a:solidFill>
            </a:endParaRPr>
          </a:p>
        </p:txBody>
      </p:sp>
      <p:sp>
        <p:nvSpPr>
          <p:cNvPr id="2" name="TextBox 1">
            <a:extLst>
              <a:ext uri="{FF2B5EF4-FFF2-40B4-BE49-F238E27FC236}">
                <a16:creationId xmlns:a16="http://schemas.microsoft.com/office/drawing/2014/main" id="{7A08A372-D338-8F6D-0171-C23D0FF79F26}"/>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5" name="TextBox 4">
            <a:extLst>
              <a:ext uri="{FF2B5EF4-FFF2-40B4-BE49-F238E27FC236}">
                <a16:creationId xmlns:a16="http://schemas.microsoft.com/office/drawing/2014/main" id="{558B21CF-961A-F4CF-772A-3D29E5199B73}"/>
              </a:ext>
            </a:extLst>
          </p:cNvPr>
          <p:cNvSpPr txBox="1"/>
          <p:nvPr/>
        </p:nvSpPr>
        <p:spPr>
          <a:xfrm>
            <a:off x="168443" y="4195668"/>
            <a:ext cx="1515980" cy="738664"/>
          </a:xfrm>
          <a:prstGeom prst="rect">
            <a:avLst/>
          </a:prstGeom>
          <a:noFill/>
          <a:ln>
            <a:solidFill>
              <a:schemeClr val="bg2"/>
            </a:solidFill>
          </a:ln>
        </p:spPr>
        <p:txBody>
          <a:bodyPr wrap="square" rtlCol="0">
            <a:spAutoFit/>
          </a:bodyPr>
          <a:lstStyle/>
          <a:p>
            <a:r>
              <a:rPr lang="en-US" b="1" u="sng" dirty="0">
                <a:latin typeface="Lato" panose="020B0604020202020204" charset="0"/>
                <a:ea typeface="Lato" panose="020B0604020202020204" charset="0"/>
                <a:cs typeface="Lato" panose="020B0604020202020204" charset="0"/>
              </a:rPr>
              <a:t>Example: </a:t>
            </a:r>
          </a:p>
          <a:p>
            <a:r>
              <a:rPr lang="en-US" dirty="0">
                <a:latin typeface="Lato" panose="020B0604020202020204" charset="0"/>
                <a:ea typeface="Lato" panose="020B0604020202020204" charset="0"/>
                <a:cs typeface="Lato" panose="020B0604020202020204" charset="0"/>
              </a:rPr>
              <a:t>e1 = employee 1</a:t>
            </a:r>
          </a:p>
          <a:p>
            <a:r>
              <a:rPr lang="en-US" dirty="0">
                <a:latin typeface="Lato" panose="020B0604020202020204" charset="0"/>
                <a:ea typeface="Lato" panose="020B0604020202020204" charset="0"/>
                <a:cs typeface="Lato" panose="020B0604020202020204" charset="0"/>
              </a:rPr>
              <a:t>j1 = job 1</a:t>
            </a:r>
          </a:p>
        </p:txBody>
      </p:sp>
      <p:sp>
        <p:nvSpPr>
          <p:cNvPr id="8" name="Oval 7">
            <a:extLst>
              <a:ext uri="{FF2B5EF4-FFF2-40B4-BE49-F238E27FC236}">
                <a16:creationId xmlns:a16="http://schemas.microsoft.com/office/drawing/2014/main" id="{4906D16B-B8A2-382F-8DED-96D09F0C30B8}"/>
              </a:ext>
            </a:extLst>
          </p:cNvPr>
          <p:cNvSpPr/>
          <p:nvPr/>
        </p:nvSpPr>
        <p:spPr>
          <a:xfrm>
            <a:off x="2794626" y="1468573"/>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e1</a:t>
            </a:r>
          </a:p>
        </p:txBody>
      </p:sp>
      <p:sp>
        <p:nvSpPr>
          <p:cNvPr id="9" name="Oval 8">
            <a:extLst>
              <a:ext uri="{FF2B5EF4-FFF2-40B4-BE49-F238E27FC236}">
                <a16:creationId xmlns:a16="http://schemas.microsoft.com/office/drawing/2014/main" id="{9B87F1FA-E040-0B91-76B3-FCC170424551}"/>
              </a:ext>
            </a:extLst>
          </p:cNvPr>
          <p:cNvSpPr/>
          <p:nvPr/>
        </p:nvSpPr>
        <p:spPr>
          <a:xfrm>
            <a:off x="2794626" y="3660171"/>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e3</a:t>
            </a:r>
          </a:p>
        </p:txBody>
      </p:sp>
      <p:sp>
        <p:nvSpPr>
          <p:cNvPr id="18" name="Oval 17">
            <a:extLst>
              <a:ext uri="{FF2B5EF4-FFF2-40B4-BE49-F238E27FC236}">
                <a16:creationId xmlns:a16="http://schemas.microsoft.com/office/drawing/2014/main" id="{7E3FF031-66CC-D796-FD79-1FC5D553AA0B}"/>
              </a:ext>
            </a:extLst>
          </p:cNvPr>
          <p:cNvSpPr/>
          <p:nvPr/>
        </p:nvSpPr>
        <p:spPr>
          <a:xfrm>
            <a:off x="4728744" y="1460690"/>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j1</a:t>
            </a:r>
          </a:p>
        </p:txBody>
      </p:sp>
      <p:sp>
        <p:nvSpPr>
          <p:cNvPr id="28" name="Oval 27">
            <a:extLst>
              <a:ext uri="{FF2B5EF4-FFF2-40B4-BE49-F238E27FC236}">
                <a16:creationId xmlns:a16="http://schemas.microsoft.com/office/drawing/2014/main" id="{5D3D931C-7F4A-6ACD-F6D5-EE8AA0EBE1D3}"/>
              </a:ext>
            </a:extLst>
          </p:cNvPr>
          <p:cNvSpPr/>
          <p:nvPr/>
        </p:nvSpPr>
        <p:spPr>
          <a:xfrm>
            <a:off x="4728744" y="3660171"/>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j3</a:t>
            </a:r>
          </a:p>
        </p:txBody>
      </p:sp>
      <p:sp>
        <p:nvSpPr>
          <p:cNvPr id="33" name="Oval 32">
            <a:extLst>
              <a:ext uri="{FF2B5EF4-FFF2-40B4-BE49-F238E27FC236}">
                <a16:creationId xmlns:a16="http://schemas.microsoft.com/office/drawing/2014/main" id="{3083F389-7797-C430-6B04-C934D4B2D977}"/>
              </a:ext>
            </a:extLst>
          </p:cNvPr>
          <p:cNvSpPr/>
          <p:nvPr/>
        </p:nvSpPr>
        <p:spPr>
          <a:xfrm>
            <a:off x="2794626" y="2606147"/>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e2</a:t>
            </a:r>
          </a:p>
        </p:txBody>
      </p:sp>
      <p:sp>
        <p:nvSpPr>
          <p:cNvPr id="34" name="Oval 33">
            <a:extLst>
              <a:ext uri="{FF2B5EF4-FFF2-40B4-BE49-F238E27FC236}">
                <a16:creationId xmlns:a16="http://schemas.microsoft.com/office/drawing/2014/main" id="{C06A0C5A-4FC4-279C-8308-48C9F3EBFBB3}"/>
              </a:ext>
            </a:extLst>
          </p:cNvPr>
          <p:cNvSpPr/>
          <p:nvPr/>
        </p:nvSpPr>
        <p:spPr>
          <a:xfrm>
            <a:off x="4728744" y="2598264"/>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j2</a:t>
            </a:r>
          </a:p>
        </p:txBody>
      </p:sp>
      <p:sp>
        <p:nvSpPr>
          <p:cNvPr id="12" name="Google Shape;186;p30">
            <a:extLst>
              <a:ext uri="{FF2B5EF4-FFF2-40B4-BE49-F238E27FC236}">
                <a16:creationId xmlns:a16="http://schemas.microsoft.com/office/drawing/2014/main" id="{863A3E1B-4BE9-57FE-0E9C-4B12B8DDE7F3}"/>
              </a:ext>
            </a:extLst>
          </p:cNvPr>
          <p:cNvSpPr txBox="1">
            <a:spLocks noGrp="1"/>
          </p:cNvSpPr>
          <p:nvPr>
            <p:ph type="title"/>
          </p:nvPr>
        </p:nvSpPr>
        <p:spPr>
          <a:xfrm>
            <a:off x="3212287" y="723144"/>
            <a:ext cx="2317946"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Complete!</a:t>
            </a:r>
            <a:endParaRPr dirty="0"/>
          </a:p>
        </p:txBody>
      </p:sp>
      <p:cxnSp>
        <p:nvCxnSpPr>
          <p:cNvPr id="3" name="Straight Connector 2">
            <a:extLst>
              <a:ext uri="{FF2B5EF4-FFF2-40B4-BE49-F238E27FC236}">
                <a16:creationId xmlns:a16="http://schemas.microsoft.com/office/drawing/2014/main" id="{D774B932-04B7-58F4-044E-A83791A79A00}"/>
              </a:ext>
            </a:extLst>
          </p:cNvPr>
          <p:cNvCxnSpPr>
            <a:cxnSpLocks/>
            <a:stCxn id="8" idx="6"/>
            <a:endCxn id="34" idx="2"/>
          </p:cNvCxnSpPr>
          <p:nvPr/>
        </p:nvCxnSpPr>
        <p:spPr>
          <a:xfrm>
            <a:off x="3434706" y="1788613"/>
            <a:ext cx="1294038" cy="1129691"/>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5B860A5-97DF-93E9-794F-8462B472ABF6}"/>
              </a:ext>
            </a:extLst>
          </p:cNvPr>
          <p:cNvCxnSpPr>
            <a:cxnSpLocks/>
            <a:stCxn id="9" idx="6"/>
            <a:endCxn id="18" idx="2"/>
          </p:cNvCxnSpPr>
          <p:nvPr/>
        </p:nvCxnSpPr>
        <p:spPr>
          <a:xfrm flipV="1">
            <a:off x="3434706" y="1780730"/>
            <a:ext cx="1294038" cy="2199481"/>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FCAC8E3-79D0-F6B1-7EBF-B5938DA94EA3}"/>
              </a:ext>
            </a:extLst>
          </p:cNvPr>
          <p:cNvCxnSpPr>
            <a:cxnSpLocks/>
            <a:stCxn id="33" idx="6"/>
            <a:endCxn id="28" idx="2"/>
          </p:cNvCxnSpPr>
          <p:nvPr/>
        </p:nvCxnSpPr>
        <p:spPr>
          <a:xfrm>
            <a:off x="3434706" y="2926187"/>
            <a:ext cx="1294038" cy="1054024"/>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368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C69D5845-A60A-2339-4078-C889A6F694F9}"/>
            </a:ext>
          </a:extLst>
        </p:cNvPr>
        <p:cNvGrpSpPr/>
        <p:nvPr/>
      </p:nvGrpSpPr>
      <p:grpSpPr>
        <a:xfrm>
          <a:off x="0" y="0"/>
          <a:ext cx="0" cy="0"/>
          <a:chOff x="0" y="0"/>
          <a:chExt cx="0" cy="0"/>
        </a:xfrm>
      </p:grpSpPr>
      <p:sp>
        <p:nvSpPr>
          <p:cNvPr id="98" name="Google Shape;98;p15">
            <a:extLst>
              <a:ext uri="{FF2B5EF4-FFF2-40B4-BE49-F238E27FC236}">
                <a16:creationId xmlns:a16="http://schemas.microsoft.com/office/drawing/2014/main" id="{AD82AD17-57F0-5D4D-413B-FA797BCCFD16}"/>
              </a:ext>
            </a:extLst>
          </p:cNvPr>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TTC - Properties</a:t>
            </a:r>
            <a:endParaRPr sz="2400" dirty="0"/>
          </a:p>
        </p:txBody>
      </p:sp>
      <p:sp>
        <p:nvSpPr>
          <p:cNvPr id="99" name="Google Shape;99;p15">
            <a:extLst>
              <a:ext uri="{FF2B5EF4-FFF2-40B4-BE49-F238E27FC236}">
                <a16:creationId xmlns:a16="http://schemas.microsoft.com/office/drawing/2014/main" id="{8C6027BE-3A42-CEC4-FCB9-C6E066B76C0B}"/>
              </a:ext>
            </a:extLst>
          </p:cNvPr>
          <p:cNvSpPr txBox="1">
            <a:spLocks noGrp="1"/>
          </p:cNvSpPr>
          <p:nvPr>
            <p:ph type="body" idx="1"/>
          </p:nvPr>
        </p:nvSpPr>
        <p:spPr>
          <a:xfrm>
            <a:off x="729450" y="1926474"/>
            <a:ext cx="7688700" cy="2946739"/>
          </a:xfrm>
          <a:prstGeom prst="rect">
            <a:avLst/>
          </a:prstGeom>
        </p:spPr>
        <p:txBody>
          <a:bodyPr spcFirstLastPara="1" wrap="square" lIns="91425" tIns="91425" rIns="91425" bIns="91425" anchor="t" anchorCtr="0">
            <a:noAutofit/>
          </a:bodyPr>
          <a:lstStyle/>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r>
              <a:rPr lang="en-US" sz="1600" dirty="0"/>
              <a:t>Just like the DA algorithm, TTC is a truthful mechanism (i.e., strategy-proof)</a:t>
            </a:r>
          </a:p>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r>
              <a:rPr lang="en-US" sz="1600" dirty="0"/>
              <a:t>Under strict preferences, TTC guarantees:</a:t>
            </a:r>
          </a:p>
          <a:p>
            <a:pPr lvl="1" indent="-323850">
              <a:lnSpc>
                <a:spcPct val="150000"/>
              </a:lnSpc>
              <a:buSzPts val="1500"/>
              <a:buFont typeface="Arial"/>
              <a:buChar char="●"/>
              <a:defRPr/>
            </a:pPr>
            <a:r>
              <a:rPr lang="en-US" sz="1400" b="1" u="sng" dirty="0"/>
              <a:t>Unique core allocation</a:t>
            </a:r>
            <a:r>
              <a:rPr lang="en-US" sz="1400" dirty="0"/>
              <a:t>: no subset of agents can improve their situation by trading only among themselves</a:t>
            </a:r>
          </a:p>
          <a:p>
            <a:pPr lvl="1" indent="-323850">
              <a:lnSpc>
                <a:spcPct val="150000"/>
              </a:lnSpc>
              <a:buSzPts val="1500"/>
              <a:buFont typeface="Arial"/>
              <a:buChar char="●"/>
              <a:defRPr/>
            </a:pPr>
            <a:r>
              <a:rPr lang="en-US" sz="1400" b="1" u="sng" dirty="0"/>
              <a:t>Individual rationality</a:t>
            </a:r>
            <a:r>
              <a:rPr lang="en-US" sz="1400" dirty="0"/>
              <a:t>: each agent receives an item at least as good as their initial allocation (since they can always choose to keep their original allocation)</a:t>
            </a:r>
          </a:p>
          <a:p>
            <a:pPr lvl="1" indent="-323850">
              <a:lnSpc>
                <a:spcPct val="150000"/>
              </a:lnSpc>
              <a:buSzPts val="1500"/>
              <a:buFont typeface="Arial"/>
              <a:buChar char="●"/>
              <a:defRPr/>
            </a:pPr>
            <a:r>
              <a:rPr lang="en-US" sz="1400" b="1" u="sng" dirty="0"/>
              <a:t>Pareto efficiency</a:t>
            </a:r>
            <a:r>
              <a:rPr lang="en-US" sz="1400" dirty="0"/>
              <a:t>: there is no other allocation that would make at least one agent better off without making anyone worse off</a:t>
            </a:r>
          </a:p>
        </p:txBody>
      </p:sp>
      <p:sp>
        <p:nvSpPr>
          <p:cNvPr id="2" name="TextBox 1">
            <a:extLst>
              <a:ext uri="{FF2B5EF4-FFF2-40B4-BE49-F238E27FC236}">
                <a16:creationId xmlns:a16="http://schemas.microsoft.com/office/drawing/2014/main" id="{913E6B51-3107-A281-E6E1-6EFD6748CAD1}"/>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Tree>
    <p:extLst>
      <p:ext uri="{BB962C8B-B14F-4D97-AF65-F5344CB8AC3E}">
        <p14:creationId xmlns:p14="http://schemas.microsoft.com/office/powerpoint/2010/main" val="3778972557"/>
      </p:ext>
    </p:extLst>
  </p:cSld>
  <p:clrMapOvr>
    <a:masterClrMapping/>
  </p:clrMapOvr>
  <mc:AlternateContent xmlns:mc="http://schemas.openxmlformats.org/markup-compatibility/2006" xmlns:p14="http://schemas.microsoft.com/office/powerpoint/2010/main">
    <mc:Choice Requires="p14">
      <p:transition spd="slow" p14:dur="2000" advTm="19303"/>
    </mc:Choice>
    <mc:Fallback xmlns="">
      <p:transition spd="slow" advTm="19303"/>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53E98F7C-4DCA-C967-F6A2-12E4BFEE71D9}"/>
            </a:ext>
          </a:extLst>
        </p:cNvPr>
        <p:cNvGrpSpPr/>
        <p:nvPr/>
      </p:nvGrpSpPr>
      <p:grpSpPr>
        <a:xfrm>
          <a:off x="0" y="0"/>
          <a:ext cx="0" cy="0"/>
          <a:chOff x="0" y="0"/>
          <a:chExt cx="0" cy="0"/>
        </a:xfrm>
      </p:grpSpPr>
      <p:sp>
        <p:nvSpPr>
          <p:cNvPr id="145" name="Google Shape;145;p23">
            <a:extLst>
              <a:ext uri="{FF2B5EF4-FFF2-40B4-BE49-F238E27FC236}">
                <a16:creationId xmlns:a16="http://schemas.microsoft.com/office/drawing/2014/main" id="{2DFCFDDF-E42B-DED8-786A-D5D89D72E477}"/>
              </a:ext>
            </a:extLst>
          </p:cNvPr>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TTC - Applications</a:t>
            </a:r>
            <a:endParaRPr sz="2400" dirty="0"/>
          </a:p>
        </p:txBody>
      </p:sp>
      <p:sp>
        <p:nvSpPr>
          <p:cNvPr id="146" name="Google Shape;146;p23">
            <a:extLst>
              <a:ext uri="{FF2B5EF4-FFF2-40B4-BE49-F238E27FC236}">
                <a16:creationId xmlns:a16="http://schemas.microsoft.com/office/drawing/2014/main" id="{3E2F5253-CDAB-2126-32FA-F496D580F485}"/>
              </a:ext>
            </a:extLst>
          </p:cNvPr>
          <p:cNvSpPr txBox="1">
            <a:spLocks noGrp="1"/>
          </p:cNvSpPr>
          <p:nvPr>
            <p:ph type="body" idx="1"/>
          </p:nvPr>
        </p:nvSpPr>
        <p:spPr>
          <a:xfrm>
            <a:off x="729450" y="1850275"/>
            <a:ext cx="7865910" cy="3145200"/>
          </a:xfrm>
          <a:prstGeom prst="rect">
            <a:avLst/>
          </a:prstGeom>
        </p:spPr>
        <p:txBody>
          <a:bodyPr spcFirstLastPara="1" wrap="square" lIns="91425" tIns="91425" rIns="91425" bIns="91425" anchor="t" anchorCtr="0">
            <a:noAutofit/>
          </a:bodyPr>
          <a:lstStyle/>
          <a:p>
            <a:pPr>
              <a:lnSpc>
                <a:spcPct val="150000"/>
              </a:lnSpc>
            </a:pPr>
            <a:r>
              <a:rPr lang="en-US" sz="2400" dirty="0"/>
              <a:t>Housing allocation</a:t>
            </a:r>
          </a:p>
          <a:p>
            <a:pPr>
              <a:lnSpc>
                <a:spcPct val="150000"/>
              </a:lnSpc>
            </a:pPr>
            <a:r>
              <a:rPr lang="en-US" sz="2400" dirty="0"/>
              <a:t>School choice (New Orleans, temporarily)</a:t>
            </a:r>
          </a:p>
          <a:p>
            <a:pPr>
              <a:lnSpc>
                <a:spcPct val="150000"/>
              </a:lnSpc>
            </a:pPr>
            <a:r>
              <a:rPr lang="en-US" sz="2400" dirty="0"/>
              <a:t>Kidney exchange</a:t>
            </a:r>
          </a:p>
          <a:p>
            <a:pPr lvl="1">
              <a:lnSpc>
                <a:spcPct val="150000"/>
              </a:lnSpc>
            </a:pPr>
            <a:r>
              <a:rPr lang="en-US" sz="2200" dirty="0"/>
              <a:t>Top Trading Cycles and Chains (TTCC)</a:t>
            </a:r>
          </a:p>
          <a:p>
            <a:pPr lvl="1">
              <a:lnSpc>
                <a:spcPct val="150000"/>
              </a:lnSpc>
            </a:pPr>
            <a:endParaRPr lang="en-US" sz="2200" dirty="0"/>
          </a:p>
          <a:p>
            <a:pPr marL="457200" lvl="0" indent="-311150" algn="l" rtl="0">
              <a:lnSpc>
                <a:spcPct val="150000"/>
              </a:lnSpc>
              <a:spcBef>
                <a:spcPts val="0"/>
              </a:spcBef>
              <a:spcAft>
                <a:spcPts val="0"/>
              </a:spcAft>
              <a:buSzPts val="1300"/>
              <a:buChar char="●"/>
            </a:pPr>
            <a:endParaRPr sz="1800" dirty="0"/>
          </a:p>
        </p:txBody>
      </p:sp>
    </p:spTree>
    <p:extLst>
      <p:ext uri="{BB962C8B-B14F-4D97-AF65-F5344CB8AC3E}">
        <p14:creationId xmlns:p14="http://schemas.microsoft.com/office/powerpoint/2010/main" val="11453084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BABEE5EB-AC07-EE73-BB10-04CAC8E24540}"/>
            </a:ext>
          </a:extLst>
        </p:cNvPr>
        <p:cNvGrpSpPr/>
        <p:nvPr/>
      </p:nvGrpSpPr>
      <p:grpSpPr>
        <a:xfrm>
          <a:off x="0" y="0"/>
          <a:ext cx="0" cy="0"/>
          <a:chOff x="0" y="0"/>
          <a:chExt cx="0" cy="0"/>
        </a:xfrm>
      </p:grpSpPr>
      <p:sp>
        <p:nvSpPr>
          <p:cNvPr id="139" name="Google Shape;139;p22">
            <a:extLst>
              <a:ext uri="{FF2B5EF4-FFF2-40B4-BE49-F238E27FC236}">
                <a16:creationId xmlns:a16="http://schemas.microsoft.com/office/drawing/2014/main" id="{7681ED8B-FBAA-8915-399D-FC3CAF4EF619}"/>
              </a:ext>
            </a:extLst>
          </p:cNvPr>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TTC – Intuition</a:t>
            </a:r>
            <a:endParaRPr sz="2400" dirty="0"/>
          </a:p>
        </p:txBody>
      </p:sp>
      <p:sp>
        <p:nvSpPr>
          <p:cNvPr id="140" name="Google Shape;140;p22">
            <a:extLst>
              <a:ext uri="{FF2B5EF4-FFF2-40B4-BE49-F238E27FC236}">
                <a16:creationId xmlns:a16="http://schemas.microsoft.com/office/drawing/2014/main" id="{A48E0BBF-D185-C340-B889-169646574A9E}"/>
              </a:ext>
            </a:extLst>
          </p:cNvPr>
          <p:cNvSpPr txBox="1">
            <a:spLocks noGrp="1"/>
          </p:cNvSpPr>
          <p:nvPr>
            <p:ph type="body" idx="1"/>
          </p:nvPr>
        </p:nvSpPr>
        <p:spPr>
          <a:xfrm>
            <a:off x="729450" y="1791279"/>
            <a:ext cx="7688700" cy="2861835"/>
          </a:xfrm>
          <a:prstGeom prst="rect">
            <a:avLst/>
          </a:prstGeom>
        </p:spPr>
        <p:txBody>
          <a:bodyPr spcFirstLastPara="1" wrap="square" lIns="91425" tIns="91425" rIns="91425" bIns="91425" anchor="t" anchorCtr="0">
            <a:noAutofit/>
          </a:bodyPr>
          <a:lstStyle/>
          <a:p>
            <a:pPr marL="457200" lvl="0" indent="-311150" algn="l" rtl="0">
              <a:lnSpc>
                <a:spcPct val="150000"/>
              </a:lnSpc>
              <a:spcBef>
                <a:spcPts val="0"/>
              </a:spcBef>
              <a:spcAft>
                <a:spcPts val="0"/>
              </a:spcAft>
              <a:buSzPts val="1300"/>
              <a:buFont typeface="Lato"/>
              <a:buChar char="●"/>
            </a:pPr>
            <a:r>
              <a:rPr lang="en" sz="1600" dirty="0"/>
              <a:t>In each graph </a:t>
            </a:r>
            <a:r>
              <a:rPr lang="en" sz="1600" b="1" dirty="0"/>
              <a:t>G</a:t>
            </a:r>
            <a:r>
              <a:rPr lang="en" sz="1600" dirty="0"/>
              <a:t> constructed in every iteration of the algorithm, there is at least one cycle, and every agent is part of at most one cycle</a:t>
            </a:r>
          </a:p>
          <a:p>
            <a:pPr>
              <a:lnSpc>
                <a:spcPct val="150000"/>
              </a:lnSpc>
            </a:pPr>
            <a:r>
              <a:rPr lang="en-US" sz="1600" dirty="0"/>
              <a:t>This is by</a:t>
            </a:r>
            <a:r>
              <a:rPr lang="en" sz="1600" dirty="0"/>
              <a:t> construction; </a:t>
            </a:r>
            <a:r>
              <a:rPr lang="en" sz="1600" b="1" dirty="0"/>
              <a:t>G</a:t>
            </a:r>
            <a:r>
              <a:rPr lang="en" sz="1600" dirty="0"/>
              <a:t> is a directed graph in which every node has out-degree of exactly one (there is always an outgoing edge, cannot get “stuck”)</a:t>
            </a:r>
          </a:p>
          <a:p>
            <a:pPr>
              <a:lnSpc>
                <a:spcPct val="150000"/>
              </a:lnSpc>
            </a:pPr>
            <a:r>
              <a:rPr lang="en" sz="1600" dirty="0"/>
              <a:t>Since we find a cycle every round, at least one agent is removed at the end of every round, and the algorithm will terminate after at most </a:t>
            </a:r>
            <a:r>
              <a:rPr lang="en" sz="1600" i="1" dirty="0"/>
              <a:t>n</a:t>
            </a:r>
            <a:r>
              <a:rPr lang="en" sz="1600" dirty="0"/>
              <a:t> rounds</a:t>
            </a:r>
          </a:p>
        </p:txBody>
      </p:sp>
      <p:sp>
        <p:nvSpPr>
          <p:cNvPr id="2" name="TextBox 1">
            <a:extLst>
              <a:ext uri="{FF2B5EF4-FFF2-40B4-BE49-F238E27FC236}">
                <a16:creationId xmlns:a16="http://schemas.microsoft.com/office/drawing/2014/main" id="{F307F097-80C9-E9D7-EE5B-3BD714D729CE}"/>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Tree>
    <p:extLst>
      <p:ext uri="{BB962C8B-B14F-4D97-AF65-F5344CB8AC3E}">
        <p14:creationId xmlns:p14="http://schemas.microsoft.com/office/powerpoint/2010/main" val="27751201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DC090634-92EC-BBF0-156A-7D6B0B948A7F}"/>
            </a:ext>
          </a:extLst>
        </p:cNvPr>
        <p:cNvGrpSpPr/>
        <p:nvPr/>
      </p:nvGrpSpPr>
      <p:grpSpPr>
        <a:xfrm>
          <a:off x="0" y="0"/>
          <a:ext cx="0" cy="0"/>
          <a:chOff x="0" y="0"/>
          <a:chExt cx="0" cy="0"/>
        </a:xfrm>
      </p:grpSpPr>
      <p:sp>
        <p:nvSpPr>
          <p:cNvPr id="98" name="Google Shape;98;p15">
            <a:extLst>
              <a:ext uri="{FF2B5EF4-FFF2-40B4-BE49-F238E27FC236}">
                <a16:creationId xmlns:a16="http://schemas.microsoft.com/office/drawing/2014/main" id="{C3F9951D-1775-FB8E-601A-512723DCBDFD}"/>
              </a:ext>
            </a:extLst>
          </p:cNvPr>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TTC – Intuition</a:t>
            </a:r>
            <a:endParaRPr sz="2400" dirty="0"/>
          </a:p>
        </p:txBody>
      </p:sp>
      <p:sp>
        <p:nvSpPr>
          <p:cNvPr id="99" name="Google Shape;99;p15">
            <a:extLst>
              <a:ext uri="{FF2B5EF4-FFF2-40B4-BE49-F238E27FC236}">
                <a16:creationId xmlns:a16="http://schemas.microsoft.com/office/drawing/2014/main" id="{0A74E97D-BDB0-406A-1C54-36A6A11F9218}"/>
              </a:ext>
            </a:extLst>
          </p:cNvPr>
          <p:cNvSpPr txBox="1">
            <a:spLocks noGrp="1"/>
          </p:cNvSpPr>
          <p:nvPr>
            <p:ph type="body" idx="1"/>
          </p:nvPr>
        </p:nvSpPr>
        <p:spPr>
          <a:xfrm>
            <a:off x="729450" y="1926474"/>
            <a:ext cx="7688700" cy="2946739"/>
          </a:xfrm>
          <a:prstGeom prst="rect">
            <a:avLst/>
          </a:prstGeom>
        </p:spPr>
        <p:txBody>
          <a:bodyPr spcFirstLastPara="1" wrap="square" lIns="91425" tIns="91425" rIns="91425" bIns="91425" anchor="t" anchorCtr="0">
            <a:noAutofit/>
          </a:bodyPr>
          <a:lstStyle/>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r>
              <a:rPr lang="en-US" sz="2000" dirty="0"/>
              <a:t>Another way to think about the algorithm is that agents are trading priorities with each other</a:t>
            </a:r>
          </a:p>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r>
              <a:rPr lang="en-US" sz="2000" dirty="0"/>
              <a:t>Let’s look back at the final matching from the DA algorithm</a:t>
            </a:r>
            <a:endParaRPr lang="en-US" sz="1800" dirty="0"/>
          </a:p>
        </p:txBody>
      </p:sp>
      <p:sp>
        <p:nvSpPr>
          <p:cNvPr id="2" name="TextBox 1">
            <a:extLst>
              <a:ext uri="{FF2B5EF4-FFF2-40B4-BE49-F238E27FC236}">
                <a16:creationId xmlns:a16="http://schemas.microsoft.com/office/drawing/2014/main" id="{EDFD1A0B-8BEA-F774-C205-74B06F8E5806}"/>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Tree>
    <p:extLst>
      <p:ext uri="{BB962C8B-B14F-4D97-AF65-F5344CB8AC3E}">
        <p14:creationId xmlns:p14="http://schemas.microsoft.com/office/powerpoint/2010/main" val="25362966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27D01796-B924-873C-BB85-49181391BE5D}"/>
            </a:ext>
          </a:extLst>
        </p:cNvPr>
        <p:cNvGrpSpPr/>
        <p:nvPr/>
      </p:nvGrpSpPr>
      <p:grpSpPr>
        <a:xfrm>
          <a:off x="0" y="0"/>
          <a:ext cx="0" cy="0"/>
          <a:chOff x="0" y="0"/>
          <a:chExt cx="0" cy="0"/>
        </a:xfrm>
      </p:grpSpPr>
      <p:sp>
        <p:nvSpPr>
          <p:cNvPr id="134" name="Google Shape;134;p21">
            <a:extLst>
              <a:ext uri="{FF2B5EF4-FFF2-40B4-BE49-F238E27FC236}">
                <a16:creationId xmlns:a16="http://schemas.microsoft.com/office/drawing/2014/main" id="{F2256EC1-0657-0BC8-E581-AD17ED67DD95}"/>
              </a:ext>
            </a:extLst>
          </p:cNvPr>
          <p:cNvSpPr txBox="1">
            <a:spLocks noGrp="1"/>
          </p:cNvSpPr>
          <p:nvPr>
            <p:ph type="body" idx="1"/>
          </p:nvPr>
        </p:nvSpPr>
        <p:spPr>
          <a:xfrm>
            <a:off x="70027" y="1269983"/>
            <a:ext cx="2681157" cy="22611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US" sz="1700" dirty="0">
                <a:solidFill>
                  <a:srgbClr val="00B050"/>
                </a:solidFill>
              </a:rPr>
              <a:t>e1 : </a:t>
            </a:r>
            <a:r>
              <a:rPr lang="en-US" sz="1700" b="1" u="sng" dirty="0">
                <a:solidFill>
                  <a:srgbClr val="00B050"/>
                </a:solidFill>
              </a:rPr>
              <a:t>j2</a:t>
            </a:r>
            <a:r>
              <a:rPr lang="en-US" sz="1700" dirty="0">
                <a:solidFill>
                  <a:srgbClr val="00B050"/>
                </a:solidFill>
              </a:rPr>
              <a:t>, j1, j3</a:t>
            </a:r>
          </a:p>
          <a:p>
            <a:pPr marL="457200" lvl="0" indent="-336550" algn="l" rtl="0">
              <a:spcBef>
                <a:spcPts val="0"/>
              </a:spcBef>
              <a:spcAft>
                <a:spcPts val="0"/>
              </a:spcAft>
              <a:buSzPts val="1700"/>
              <a:buChar char="●"/>
            </a:pPr>
            <a:r>
              <a:rPr lang="en-US" sz="1700" dirty="0">
                <a:solidFill>
                  <a:srgbClr val="00B050"/>
                </a:solidFill>
              </a:rPr>
              <a:t>e2 : </a:t>
            </a:r>
            <a:r>
              <a:rPr lang="en-US" sz="1700" strike="sngStrike" dirty="0">
                <a:solidFill>
                  <a:srgbClr val="00B050"/>
                </a:solidFill>
              </a:rPr>
              <a:t>j1</a:t>
            </a:r>
            <a:r>
              <a:rPr lang="en-US" sz="1700" dirty="0">
                <a:solidFill>
                  <a:srgbClr val="00B050"/>
                </a:solidFill>
              </a:rPr>
              <a:t>, </a:t>
            </a:r>
            <a:r>
              <a:rPr lang="en-US" sz="1700" strike="sngStrike" dirty="0">
                <a:solidFill>
                  <a:srgbClr val="00B050"/>
                </a:solidFill>
              </a:rPr>
              <a:t>j2</a:t>
            </a:r>
            <a:r>
              <a:rPr lang="en-US" sz="1700" dirty="0">
                <a:solidFill>
                  <a:srgbClr val="00B050"/>
                </a:solidFill>
              </a:rPr>
              <a:t>, </a:t>
            </a:r>
            <a:r>
              <a:rPr lang="en-US" sz="1700" b="1" u="sng" dirty="0">
                <a:solidFill>
                  <a:srgbClr val="00B050"/>
                </a:solidFill>
              </a:rPr>
              <a:t>j3</a:t>
            </a:r>
          </a:p>
          <a:p>
            <a:pPr marL="457200" lvl="0" indent="-336550" algn="l" rtl="0">
              <a:spcBef>
                <a:spcPts val="0"/>
              </a:spcBef>
              <a:spcAft>
                <a:spcPts val="0"/>
              </a:spcAft>
              <a:buSzPts val="1700"/>
              <a:buChar char="●"/>
            </a:pPr>
            <a:r>
              <a:rPr lang="en-US" sz="1700" dirty="0">
                <a:solidFill>
                  <a:srgbClr val="00B050"/>
                </a:solidFill>
              </a:rPr>
              <a:t>e3 : </a:t>
            </a:r>
            <a:r>
              <a:rPr lang="en-US" sz="1700" b="1" u="sng" dirty="0">
                <a:solidFill>
                  <a:srgbClr val="00B050"/>
                </a:solidFill>
              </a:rPr>
              <a:t>j1</a:t>
            </a:r>
            <a:r>
              <a:rPr lang="en-US" sz="1700" dirty="0">
                <a:solidFill>
                  <a:srgbClr val="00B050"/>
                </a:solidFill>
              </a:rPr>
              <a:t>, j2, j3</a:t>
            </a:r>
            <a:endParaRPr lang="en-US" sz="1500" dirty="0">
              <a:solidFill>
                <a:srgbClr val="00B050"/>
              </a:solidFill>
            </a:endParaRPr>
          </a:p>
        </p:txBody>
      </p:sp>
      <p:sp>
        <p:nvSpPr>
          <p:cNvPr id="4" name="Google Shape;134;p21">
            <a:extLst>
              <a:ext uri="{FF2B5EF4-FFF2-40B4-BE49-F238E27FC236}">
                <a16:creationId xmlns:a16="http://schemas.microsoft.com/office/drawing/2014/main" id="{38613143-9331-3F84-3C77-750F8D3EAA7B}"/>
              </a:ext>
            </a:extLst>
          </p:cNvPr>
          <p:cNvSpPr txBox="1">
            <a:spLocks/>
          </p:cNvSpPr>
          <p:nvPr/>
        </p:nvSpPr>
        <p:spPr>
          <a:xfrm>
            <a:off x="6462843" y="1269983"/>
            <a:ext cx="2681157" cy="2261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indent="-336550">
              <a:buSzPts val="1700"/>
            </a:pPr>
            <a:r>
              <a:rPr lang="en-US" sz="1700" dirty="0">
                <a:solidFill>
                  <a:srgbClr val="00B050"/>
                </a:solidFill>
              </a:rPr>
              <a:t>j1 : </a:t>
            </a:r>
            <a:r>
              <a:rPr lang="en-US" sz="1700" strike="sngStrike" dirty="0">
                <a:solidFill>
                  <a:srgbClr val="00B050"/>
                </a:solidFill>
              </a:rPr>
              <a:t>e1</a:t>
            </a:r>
            <a:r>
              <a:rPr lang="en-US" sz="1700" dirty="0">
                <a:solidFill>
                  <a:srgbClr val="00B050"/>
                </a:solidFill>
              </a:rPr>
              <a:t>, e2, </a:t>
            </a:r>
            <a:r>
              <a:rPr lang="en-US" sz="1700" b="1" u="sng" dirty="0">
                <a:solidFill>
                  <a:srgbClr val="00B050"/>
                </a:solidFill>
              </a:rPr>
              <a:t>e3</a:t>
            </a:r>
          </a:p>
          <a:p>
            <a:pPr indent="-336550">
              <a:buSzPts val="1700"/>
            </a:pPr>
            <a:r>
              <a:rPr lang="en-US" sz="1700" dirty="0">
                <a:solidFill>
                  <a:srgbClr val="00B050"/>
                </a:solidFill>
              </a:rPr>
              <a:t>j2 : </a:t>
            </a:r>
            <a:r>
              <a:rPr lang="en-US" sz="1700" strike="sngStrike" dirty="0">
                <a:solidFill>
                  <a:srgbClr val="00B050"/>
                </a:solidFill>
              </a:rPr>
              <a:t>e3</a:t>
            </a:r>
            <a:r>
              <a:rPr lang="en-US" sz="1700" dirty="0">
                <a:solidFill>
                  <a:srgbClr val="00B050"/>
                </a:solidFill>
              </a:rPr>
              <a:t>, </a:t>
            </a:r>
            <a:r>
              <a:rPr lang="en-US" sz="1700" b="1" u="sng" dirty="0">
                <a:solidFill>
                  <a:srgbClr val="00B050"/>
                </a:solidFill>
              </a:rPr>
              <a:t>e1</a:t>
            </a:r>
            <a:r>
              <a:rPr lang="en-US" sz="1700" dirty="0">
                <a:solidFill>
                  <a:srgbClr val="00B050"/>
                </a:solidFill>
              </a:rPr>
              <a:t>, e2</a:t>
            </a:r>
          </a:p>
          <a:p>
            <a:pPr indent="-336550">
              <a:buSzPts val="1700"/>
            </a:pPr>
            <a:r>
              <a:rPr lang="en-US" sz="1700" dirty="0">
                <a:solidFill>
                  <a:srgbClr val="00B050"/>
                </a:solidFill>
              </a:rPr>
              <a:t>j3 : </a:t>
            </a:r>
            <a:r>
              <a:rPr lang="en-US" sz="1700" strike="sngStrike" dirty="0">
                <a:solidFill>
                  <a:srgbClr val="00B050"/>
                </a:solidFill>
              </a:rPr>
              <a:t>e1</a:t>
            </a:r>
            <a:r>
              <a:rPr lang="en-US" sz="1700" dirty="0">
                <a:solidFill>
                  <a:srgbClr val="00B050"/>
                </a:solidFill>
              </a:rPr>
              <a:t>, </a:t>
            </a:r>
            <a:r>
              <a:rPr lang="en-US" sz="1700" b="1" u="sng" dirty="0">
                <a:solidFill>
                  <a:srgbClr val="00B050"/>
                </a:solidFill>
              </a:rPr>
              <a:t>e2</a:t>
            </a:r>
            <a:r>
              <a:rPr lang="en-US" sz="1700" dirty="0">
                <a:solidFill>
                  <a:srgbClr val="00B050"/>
                </a:solidFill>
              </a:rPr>
              <a:t>, e3</a:t>
            </a:r>
            <a:endParaRPr lang="en-US" sz="1500" dirty="0">
              <a:solidFill>
                <a:srgbClr val="00B050"/>
              </a:solidFill>
            </a:endParaRPr>
          </a:p>
        </p:txBody>
      </p:sp>
      <p:sp>
        <p:nvSpPr>
          <p:cNvPr id="2" name="TextBox 1">
            <a:extLst>
              <a:ext uri="{FF2B5EF4-FFF2-40B4-BE49-F238E27FC236}">
                <a16:creationId xmlns:a16="http://schemas.microsoft.com/office/drawing/2014/main" id="{3C7D3AFA-F957-95C7-BA5C-DEE51E834EC6}"/>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5" name="TextBox 4">
            <a:extLst>
              <a:ext uri="{FF2B5EF4-FFF2-40B4-BE49-F238E27FC236}">
                <a16:creationId xmlns:a16="http://schemas.microsoft.com/office/drawing/2014/main" id="{79AAB915-E0F9-4419-2670-C15E81EDF67F}"/>
              </a:ext>
            </a:extLst>
          </p:cNvPr>
          <p:cNvSpPr txBox="1"/>
          <p:nvPr/>
        </p:nvSpPr>
        <p:spPr>
          <a:xfrm>
            <a:off x="168443" y="4195668"/>
            <a:ext cx="1515980" cy="738664"/>
          </a:xfrm>
          <a:prstGeom prst="rect">
            <a:avLst/>
          </a:prstGeom>
          <a:noFill/>
          <a:ln>
            <a:solidFill>
              <a:schemeClr val="bg2"/>
            </a:solidFill>
          </a:ln>
        </p:spPr>
        <p:txBody>
          <a:bodyPr wrap="square" rtlCol="0">
            <a:spAutoFit/>
          </a:bodyPr>
          <a:lstStyle/>
          <a:p>
            <a:r>
              <a:rPr lang="en-US" b="1" u="sng" dirty="0">
                <a:latin typeface="Lato" panose="020B0604020202020204" charset="0"/>
                <a:ea typeface="Lato" panose="020B0604020202020204" charset="0"/>
                <a:cs typeface="Lato" panose="020B0604020202020204" charset="0"/>
              </a:rPr>
              <a:t>Example: </a:t>
            </a:r>
          </a:p>
          <a:p>
            <a:r>
              <a:rPr lang="en-US" dirty="0">
                <a:latin typeface="Lato" panose="020B0604020202020204" charset="0"/>
                <a:ea typeface="Lato" panose="020B0604020202020204" charset="0"/>
                <a:cs typeface="Lato" panose="020B0604020202020204" charset="0"/>
              </a:rPr>
              <a:t>e1 = employee 1</a:t>
            </a:r>
          </a:p>
          <a:p>
            <a:r>
              <a:rPr lang="en-US" dirty="0">
                <a:latin typeface="Lato" panose="020B0604020202020204" charset="0"/>
                <a:ea typeface="Lato" panose="020B0604020202020204" charset="0"/>
                <a:cs typeface="Lato" panose="020B0604020202020204" charset="0"/>
              </a:rPr>
              <a:t>j1 = job 1</a:t>
            </a:r>
          </a:p>
        </p:txBody>
      </p:sp>
      <p:sp>
        <p:nvSpPr>
          <p:cNvPr id="8" name="Oval 7">
            <a:extLst>
              <a:ext uri="{FF2B5EF4-FFF2-40B4-BE49-F238E27FC236}">
                <a16:creationId xmlns:a16="http://schemas.microsoft.com/office/drawing/2014/main" id="{86302342-D97E-A640-F3D1-AC586E32471B}"/>
              </a:ext>
            </a:extLst>
          </p:cNvPr>
          <p:cNvSpPr/>
          <p:nvPr/>
        </p:nvSpPr>
        <p:spPr>
          <a:xfrm>
            <a:off x="2794626" y="1468573"/>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e1</a:t>
            </a:r>
          </a:p>
        </p:txBody>
      </p:sp>
      <p:sp>
        <p:nvSpPr>
          <p:cNvPr id="9" name="Oval 8">
            <a:extLst>
              <a:ext uri="{FF2B5EF4-FFF2-40B4-BE49-F238E27FC236}">
                <a16:creationId xmlns:a16="http://schemas.microsoft.com/office/drawing/2014/main" id="{13FFB830-B355-A5F5-E72E-EC00419DF2E8}"/>
              </a:ext>
            </a:extLst>
          </p:cNvPr>
          <p:cNvSpPr/>
          <p:nvPr/>
        </p:nvSpPr>
        <p:spPr>
          <a:xfrm>
            <a:off x="2794626" y="3660171"/>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e3</a:t>
            </a:r>
          </a:p>
        </p:txBody>
      </p:sp>
      <p:sp>
        <p:nvSpPr>
          <p:cNvPr id="18" name="Oval 17">
            <a:extLst>
              <a:ext uri="{FF2B5EF4-FFF2-40B4-BE49-F238E27FC236}">
                <a16:creationId xmlns:a16="http://schemas.microsoft.com/office/drawing/2014/main" id="{0A0D9CE0-67B2-B286-085C-4058275D868B}"/>
              </a:ext>
            </a:extLst>
          </p:cNvPr>
          <p:cNvSpPr/>
          <p:nvPr/>
        </p:nvSpPr>
        <p:spPr>
          <a:xfrm>
            <a:off x="4728744" y="1460690"/>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j1</a:t>
            </a:r>
          </a:p>
        </p:txBody>
      </p:sp>
      <p:sp>
        <p:nvSpPr>
          <p:cNvPr id="28" name="Oval 27">
            <a:extLst>
              <a:ext uri="{FF2B5EF4-FFF2-40B4-BE49-F238E27FC236}">
                <a16:creationId xmlns:a16="http://schemas.microsoft.com/office/drawing/2014/main" id="{FA75AEBD-26CD-98FD-6870-4958FA89E73F}"/>
              </a:ext>
            </a:extLst>
          </p:cNvPr>
          <p:cNvSpPr/>
          <p:nvPr/>
        </p:nvSpPr>
        <p:spPr>
          <a:xfrm>
            <a:off x="4728744" y="3660171"/>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j3</a:t>
            </a:r>
          </a:p>
        </p:txBody>
      </p:sp>
      <p:sp>
        <p:nvSpPr>
          <p:cNvPr id="33" name="Oval 32">
            <a:extLst>
              <a:ext uri="{FF2B5EF4-FFF2-40B4-BE49-F238E27FC236}">
                <a16:creationId xmlns:a16="http://schemas.microsoft.com/office/drawing/2014/main" id="{4FC7640C-9C40-2D7C-1C71-3B710E3ACE1C}"/>
              </a:ext>
            </a:extLst>
          </p:cNvPr>
          <p:cNvSpPr/>
          <p:nvPr/>
        </p:nvSpPr>
        <p:spPr>
          <a:xfrm>
            <a:off x="2794626" y="2606147"/>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e2</a:t>
            </a:r>
          </a:p>
        </p:txBody>
      </p:sp>
      <p:sp>
        <p:nvSpPr>
          <p:cNvPr id="34" name="Oval 33">
            <a:extLst>
              <a:ext uri="{FF2B5EF4-FFF2-40B4-BE49-F238E27FC236}">
                <a16:creationId xmlns:a16="http://schemas.microsoft.com/office/drawing/2014/main" id="{3311872E-1C87-8AB5-9048-35997F5ABA2F}"/>
              </a:ext>
            </a:extLst>
          </p:cNvPr>
          <p:cNvSpPr/>
          <p:nvPr/>
        </p:nvSpPr>
        <p:spPr>
          <a:xfrm>
            <a:off x="4728744" y="2598264"/>
            <a:ext cx="640080" cy="640080"/>
          </a:xfrm>
          <a:prstGeom prst="ellips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j2</a:t>
            </a:r>
          </a:p>
        </p:txBody>
      </p:sp>
      <p:sp>
        <p:nvSpPr>
          <p:cNvPr id="12" name="Google Shape;186;p30">
            <a:extLst>
              <a:ext uri="{FF2B5EF4-FFF2-40B4-BE49-F238E27FC236}">
                <a16:creationId xmlns:a16="http://schemas.microsoft.com/office/drawing/2014/main" id="{A1911D63-22C7-382F-FF42-1466473EEC81}"/>
              </a:ext>
            </a:extLst>
          </p:cNvPr>
          <p:cNvSpPr txBox="1">
            <a:spLocks noGrp="1"/>
          </p:cNvSpPr>
          <p:nvPr>
            <p:ph type="title"/>
          </p:nvPr>
        </p:nvSpPr>
        <p:spPr>
          <a:xfrm>
            <a:off x="2986443" y="723144"/>
            <a:ext cx="2317946"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Let’s reformat</a:t>
            </a:r>
            <a:endParaRPr dirty="0"/>
          </a:p>
        </p:txBody>
      </p:sp>
      <p:cxnSp>
        <p:nvCxnSpPr>
          <p:cNvPr id="3" name="Straight Connector 2">
            <a:extLst>
              <a:ext uri="{FF2B5EF4-FFF2-40B4-BE49-F238E27FC236}">
                <a16:creationId xmlns:a16="http://schemas.microsoft.com/office/drawing/2014/main" id="{CC39C66E-7D55-BDD9-6446-E0A5870E236D}"/>
              </a:ext>
            </a:extLst>
          </p:cNvPr>
          <p:cNvCxnSpPr>
            <a:cxnSpLocks/>
            <a:stCxn id="8" idx="6"/>
            <a:endCxn id="34" idx="2"/>
          </p:cNvCxnSpPr>
          <p:nvPr/>
        </p:nvCxnSpPr>
        <p:spPr>
          <a:xfrm>
            <a:off x="3434706" y="1788613"/>
            <a:ext cx="1294038" cy="1129691"/>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B7A36F6-75B9-E8DF-5625-02FE664F8B15}"/>
              </a:ext>
            </a:extLst>
          </p:cNvPr>
          <p:cNvCxnSpPr>
            <a:cxnSpLocks/>
            <a:stCxn id="9" idx="6"/>
            <a:endCxn id="18" idx="2"/>
          </p:cNvCxnSpPr>
          <p:nvPr/>
        </p:nvCxnSpPr>
        <p:spPr>
          <a:xfrm flipV="1">
            <a:off x="3434706" y="1780730"/>
            <a:ext cx="1294038" cy="2199481"/>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6154337-BC18-4954-4FF0-FD42EC8D1AB8}"/>
              </a:ext>
            </a:extLst>
          </p:cNvPr>
          <p:cNvCxnSpPr>
            <a:cxnSpLocks/>
            <a:stCxn id="33" idx="6"/>
            <a:endCxn id="28" idx="2"/>
          </p:cNvCxnSpPr>
          <p:nvPr/>
        </p:nvCxnSpPr>
        <p:spPr>
          <a:xfrm>
            <a:off x="3434706" y="2926187"/>
            <a:ext cx="1294038" cy="1054024"/>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2888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7FCAA14B-6987-BF57-EF0F-749EC46B6757}"/>
            </a:ext>
          </a:extLst>
        </p:cNvPr>
        <p:cNvGrpSpPr/>
        <p:nvPr/>
      </p:nvGrpSpPr>
      <p:grpSpPr>
        <a:xfrm>
          <a:off x="0" y="0"/>
          <a:ext cx="0" cy="0"/>
          <a:chOff x="0" y="0"/>
          <a:chExt cx="0" cy="0"/>
        </a:xfrm>
      </p:grpSpPr>
      <p:sp>
        <p:nvSpPr>
          <p:cNvPr id="134" name="Google Shape;134;p21">
            <a:extLst>
              <a:ext uri="{FF2B5EF4-FFF2-40B4-BE49-F238E27FC236}">
                <a16:creationId xmlns:a16="http://schemas.microsoft.com/office/drawing/2014/main" id="{DC99F4D5-C72A-6761-5A08-1C89AF18D5B9}"/>
              </a:ext>
            </a:extLst>
          </p:cNvPr>
          <p:cNvSpPr txBox="1">
            <a:spLocks noGrp="1"/>
          </p:cNvSpPr>
          <p:nvPr>
            <p:ph type="body" idx="1"/>
          </p:nvPr>
        </p:nvSpPr>
        <p:spPr>
          <a:xfrm>
            <a:off x="70027" y="1269983"/>
            <a:ext cx="2681157" cy="22611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US" sz="1700" dirty="0">
                <a:solidFill>
                  <a:srgbClr val="00B050"/>
                </a:solidFill>
              </a:rPr>
              <a:t>e1 : </a:t>
            </a:r>
            <a:r>
              <a:rPr lang="en-US" sz="1700" b="1" u="sng" dirty="0">
                <a:solidFill>
                  <a:srgbClr val="00B050"/>
                </a:solidFill>
              </a:rPr>
              <a:t>j2</a:t>
            </a:r>
            <a:r>
              <a:rPr lang="en-US" sz="1700" dirty="0">
                <a:solidFill>
                  <a:srgbClr val="00B050"/>
                </a:solidFill>
              </a:rPr>
              <a:t>, j1, j3</a:t>
            </a:r>
          </a:p>
          <a:p>
            <a:pPr marL="457200" lvl="0" indent="-336550" algn="l" rtl="0">
              <a:spcBef>
                <a:spcPts val="0"/>
              </a:spcBef>
              <a:spcAft>
                <a:spcPts val="0"/>
              </a:spcAft>
              <a:buSzPts val="1700"/>
              <a:buChar char="●"/>
            </a:pPr>
            <a:r>
              <a:rPr lang="en-US" sz="1700" dirty="0">
                <a:solidFill>
                  <a:srgbClr val="00B050"/>
                </a:solidFill>
              </a:rPr>
              <a:t>e2 : </a:t>
            </a:r>
            <a:r>
              <a:rPr lang="en-US" sz="1700" strike="sngStrike" dirty="0">
                <a:solidFill>
                  <a:srgbClr val="00B050"/>
                </a:solidFill>
              </a:rPr>
              <a:t>j1</a:t>
            </a:r>
            <a:r>
              <a:rPr lang="en-US" sz="1700" dirty="0">
                <a:solidFill>
                  <a:srgbClr val="00B050"/>
                </a:solidFill>
              </a:rPr>
              <a:t>, </a:t>
            </a:r>
            <a:r>
              <a:rPr lang="en-US" sz="1700" strike="sngStrike" dirty="0">
                <a:solidFill>
                  <a:srgbClr val="00B050"/>
                </a:solidFill>
              </a:rPr>
              <a:t>j2</a:t>
            </a:r>
            <a:r>
              <a:rPr lang="en-US" sz="1700" dirty="0">
                <a:solidFill>
                  <a:srgbClr val="00B050"/>
                </a:solidFill>
              </a:rPr>
              <a:t>, </a:t>
            </a:r>
            <a:r>
              <a:rPr lang="en-US" sz="1700" b="1" u="sng" dirty="0">
                <a:solidFill>
                  <a:srgbClr val="00B050"/>
                </a:solidFill>
              </a:rPr>
              <a:t>j3</a:t>
            </a:r>
          </a:p>
          <a:p>
            <a:pPr marL="457200" lvl="0" indent="-336550" algn="l" rtl="0">
              <a:spcBef>
                <a:spcPts val="0"/>
              </a:spcBef>
              <a:spcAft>
                <a:spcPts val="0"/>
              </a:spcAft>
              <a:buSzPts val="1700"/>
              <a:buChar char="●"/>
            </a:pPr>
            <a:r>
              <a:rPr lang="en-US" sz="1700" dirty="0">
                <a:solidFill>
                  <a:srgbClr val="00B050"/>
                </a:solidFill>
              </a:rPr>
              <a:t>e3 : </a:t>
            </a:r>
            <a:r>
              <a:rPr lang="en-US" sz="1700" b="1" u="sng" dirty="0">
                <a:solidFill>
                  <a:srgbClr val="00B050"/>
                </a:solidFill>
              </a:rPr>
              <a:t>j1</a:t>
            </a:r>
            <a:r>
              <a:rPr lang="en-US" sz="1700" dirty="0">
                <a:solidFill>
                  <a:srgbClr val="00B050"/>
                </a:solidFill>
              </a:rPr>
              <a:t>, j2, j3</a:t>
            </a:r>
            <a:endParaRPr lang="en-US" sz="1500" dirty="0">
              <a:solidFill>
                <a:srgbClr val="00B050"/>
              </a:solidFill>
            </a:endParaRPr>
          </a:p>
        </p:txBody>
      </p:sp>
      <p:sp>
        <p:nvSpPr>
          <p:cNvPr id="4" name="Google Shape;134;p21">
            <a:extLst>
              <a:ext uri="{FF2B5EF4-FFF2-40B4-BE49-F238E27FC236}">
                <a16:creationId xmlns:a16="http://schemas.microsoft.com/office/drawing/2014/main" id="{77E878C4-724E-B14F-47D0-A08CF589772F}"/>
              </a:ext>
            </a:extLst>
          </p:cNvPr>
          <p:cNvSpPr txBox="1">
            <a:spLocks/>
          </p:cNvSpPr>
          <p:nvPr/>
        </p:nvSpPr>
        <p:spPr>
          <a:xfrm>
            <a:off x="6462843" y="1269983"/>
            <a:ext cx="2681157" cy="2261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indent="-336550">
              <a:buSzPts val="1700"/>
            </a:pPr>
            <a:r>
              <a:rPr lang="en-US" sz="1700" dirty="0">
                <a:solidFill>
                  <a:srgbClr val="00B050"/>
                </a:solidFill>
              </a:rPr>
              <a:t>j1 : </a:t>
            </a:r>
            <a:r>
              <a:rPr lang="en-US" sz="1700" strike="sngStrike" dirty="0">
                <a:solidFill>
                  <a:srgbClr val="00B050"/>
                </a:solidFill>
              </a:rPr>
              <a:t>e1</a:t>
            </a:r>
            <a:r>
              <a:rPr lang="en-US" sz="1700" dirty="0">
                <a:solidFill>
                  <a:srgbClr val="00B050"/>
                </a:solidFill>
              </a:rPr>
              <a:t>, e2, </a:t>
            </a:r>
            <a:r>
              <a:rPr lang="en-US" sz="1700" b="1" u="sng" dirty="0">
                <a:solidFill>
                  <a:srgbClr val="00B050"/>
                </a:solidFill>
              </a:rPr>
              <a:t>e3</a:t>
            </a:r>
          </a:p>
          <a:p>
            <a:pPr indent="-336550">
              <a:buSzPts val="1700"/>
            </a:pPr>
            <a:r>
              <a:rPr lang="en-US" sz="1700" dirty="0">
                <a:solidFill>
                  <a:srgbClr val="00B050"/>
                </a:solidFill>
              </a:rPr>
              <a:t>j2 : </a:t>
            </a:r>
            <a:r>
              <a:rPr lang="en-US" sz="1700" strike="sngStrike" dirty="0">
                <a:solidFill>
                  <a:srgbClr val="00B050"/>
                </a:solidFill>
              </a:rPr>
              <a:t>e3</a:t>
            </a:r>
            <a:r>
              <a:rPr lang="en-US" sz="1700" dirty="0">
                <a:solidFill>
                  <a:srgbClr val="00B050"/>
                </a:solidFill>
              </a:rPr>
              <a:t>, </a:t>
            </a:r>
            <a:r>
              <a:rPr lang="en-US" sz="1700" b="1" u="sng" dirty="0">
                <a:solidFill>
                  <a:srgbClr val="00B050"/>
                </a:solidFill>
              </a:rPr>
              <a:t>e1</a:t>
            </a:r>
            <a:r>
              <a:rPr lang="en-US" sz="1700" dirty="0">
                <a:solidFill>
                  <a:srgbClr val="00B050"/>
                </a:solidFill>
              </a:rPr>
              <a:t>, e2</a:t>
            </a:r>
          </a:p>
          <a:p>
            <a:pPr indent="-336550">
              <a:buSzPts val="1700"/>
            </a:pPr>
            <a:r>
              <a:rPr lang="en-US" sz="1700" dirty="0">
                <a:solidFill>
                  <a:srgbClr val="00B050"/>
                </a:solidFill>
              </a:rPr>
              <a:t>j3 : </a:t>
            </a:r>
            <a:r>
              <a:rPr lang="en-US" sz="1700" strike="sngStrike" dirty="0">
                <a:solidFill>
                  <a:srgbClr val="00B050"/>
                </a:solidFill>
              </a:rPr>
              <a:t>e1</a:t>
            </a:r>
            <a:r>
              <a:rPr lang="en-US" sz="1700" dirty="0">
                <a:solidFill>
                  <a:srgbClr val="00B050"/>
                </a:solidFill>
              </a:rPr>
              <a:t>, </a:t>
            </a:r>
            <a:r>
              <a:rPr lang="en-US" sz="1700" b="1" u="sng" dirty="0">
                <a:solidFill>
                  <a:srgbClr val="00B050"/>
                </a:solidFill>
              </a:rPr>
              <a:t>e2</a:t>
            </a:r>
            <a:r>
              <a:rPr lang="en-US" sz="1700" dirty="0">
                <a:solidFill>
                  <a:srgbClr val="00B050"/>
                </a:solidFill>
              </a:rPr>
              <a:t>, e3</a:t>
            </a:r>
            <a:endParaRPr lang="en-US" sz="1500" dirty="0">
              <a:solidFill>
                <a:srgbClr val="00B050"/>
              </a:solidFill>
            </a:endParaRPr>
          </a:p>
        </p:txBody>
      </p:sp>
      <p:sp>
        <p:nvSpPr>
          <p:cNvPr id="2" name="TextBox 1">
            <a:extLst>
              <a:ext uri="{FF2B5EF4-FFF2-40B4-BE49-F238E27FC236}">
                <a16:creationId xmlns:a16="http://schemas.microsoft.com/office/drawing/2014/main" id="{B893C692-F739-8068-6FE7-9AB5D56BF577}"/>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5" name="TextBox 4">
            <a:extLst>
              <a:ext uri="{FF2B5EF4-FFF2-40B4-BE49-F238E27FC236}">
                <a16:creationId xmlns:a16="http://schemas.microsoft.com/office/drawing/2014/main" id="{218EF631-DFEB-B2DC-169E-9394C6959F94}"/>
              </a:ext>
            </a:extLst>
          </p:cNvPr>
          <p:cNvSpPr txBox="1"/>
          <p:nvPr/>
        </p:nvSpPr>
        <p:spPr>
          <a:xfrm>
            <a:off x="168443" y="4195668"/>
            <a:ext cx="1515980" cy="738664"/>
          </a:xfrm>
          <a:prstGeom prst="rect">
            <a:avLst/>
          </a:prstGeom>
          <a:noFill/>
          <a:ln>
            <a:solidFill>
              <a:schemeClr val="bg2"/>
            </a:solidFill>
          </a:ln>
        </p:spPr>
        <p:txBody>
          <a:bodyPr wrap="square" rtlCol="0">
            <a:spAutoFit/>
          </a:bodyPr>
          <a:lstStyle/>
          <a:p>
            <a:r>
              <a:rPr lang="en-US" b="1" u="sng" dirty="0">
                <a:latin typeface="Lato" panose="020B0604020202020204" charset="0"/>
                <a:ea typeface="Lato" panose="020B0604020202020204" charset="0"/>
                <a:cs typeface="Lato" panose="020B0604020202020204" charset="0"/>
              </a:rPr>
              <a:t>Example: </a:t>
            </a:r>
          </a:p>
          <a:p>
            <a:r>
              <a:rPr lang="en-US" dirty="0">
                <a:latin typeface="Lato" panose="020B0604020202020204" charset="0"/>
                <a:ea typeface="Lato" panose="020B0604020202020204" charset="0"/>
                <a:cs typeface="Lato" panose="020B0604020202020204" charset="0"/>
              </a:rPr>
              <a:t>e1 = employee 1</a:t>
            </a:r>
          </a:p>
          <a:p>
            <a:r>
              <a:rPr lang="en-US" dirty="0">
                <a:latin typeface="Lato" panose="020B0604020202020204" charset="0"/>
                <a:ea typeface="Lato" panose="020B0604020202020204" charset="0"/>
                <a:cs typeface="Lato" panose="020B0604020202020204" charset="0"/>
              </a:rPr>
              <a:t>j1 = job 1</a:t>
            </a:r>
          </a:p>
        </p:txBody>
      </p:sp>
      <p:grpSp>
        <p:nvGrpSpPr>
          <p:cNvPr id="3" name="Group 2">
            <a:extLst>
              <a:ext uri="{FF2B5EF4-FFF2-40B4-BE49-F238E27FC236}">
                <a16:creationId xmlns:a16="http://schemas.microsoft.com/office/drawing/2014/main" id="{E95FB473-6CFF-3805-3CBA-892811EEC95D}"/>
              </a:ext>
            </a:extLst>
          </p:cNvPr>
          <p:cNvGrpSpPr/>
          <p:nvPr/>
        </p:nvGrpSpPr>
        <p:grpSpPr>
          <a:xfrm>
            <a:off x="2681636" y="2769576"/>
            <a:ext cx="473976" cy="365760"/>
            <a:chOff x="2189284" y="2769576"/>
            <a:chExt cx="473976" cy="365760"/>
          </a:xfrm>
        </p:grpSpPr>
        <p:sp>
          <p:nvSpPr>
            <p:cNvPr id="7" name="Rectangle 6">
              <a:extLst>
                <a:ext uri="{FF2B5EF4-FFF2-40B4-BE49-F238E27FC236}">
                  <a16:creationId xmlns:a16="http://schemas.microsoft.com/office/drawing/2014/main" id="{06A175AB-DB60-3066-2B9A-D319DBB56AFE}"/>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0" name="TextBox 9">
              <a:extLst>
                <a:ext uri="{FF2B5EF4-FFF2-40B4-BE49-F238E27FC236}">
                  <a16:creationId xmlns:a16="http://schemas.microsoft.com/office/drawing/2014/main" id="{2AAFF122-7C21-A3E5-B719-D061041DF637}"/>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e1</a:t>
              </a:r>
              <a:endParaRPr lang="en-US" dirty="0">
                <a:solidFill>
                  <a:srgbClr val="FF0000"/>
                </a:solidFill>
                <a:latin typeface="Lato" panose="020B0604020202020204" charset="0"/>
                <a:ea typeface="Lato" panose="020B0604020202020204" charset="0"/>
                <a:cs typeface="Lato" panose="020B0604020202020204" charset="0"/>
              </a:endParaRPr>
            </a:p>
          </p:txBody>
        </p:sp>
      </p:grpSp>
      <p:grpSp>
        <p:nvGrpSpPr>
          <p:cNvPr id="11" name="Group 10">
            <a:extLst>
              <a:ext uri="{FF2B5EF4-FFF2-40B4-BE49-F238E27FC236}">
                <a16:creationId xmlns:a16="http://schemas.microsoft.com/office/drawing/2014/main" id="{C906EB17-81F2-C715-A390-2AA124CB674A}"/>
              </a:ext>
            </a:extLst>
          </p:cNvPr>
          <p:cNvGrpSpPr/>
          <p:nvPr/>
        </p:nvGrpSpPr>
        <p:grpSpPr>
          <a:xfrm>
            <a:off x="2681636" y="3340360"/>
            <a:ext cx="473976" cy="365760"/>
            <a:chOff x="2189284" y="2769576"/>
            <a:chExt cx="473976" cy="365760"/>
          </a:xfrm>
        </p:grpSpPr>
        <p:sp>
          <p:nvSpPr>
            <p:cNvPr id="13" name="Rectangle 12">
              <a:extLst>
                <a:ext uri="{FF2B5EF4-FFF2-40B4-BE49-F238E27FC236}">
                  <a16:creationId xmlns:a16="http://schemas.microsoft.com/office/drawing/2014/main" id="{5A491DB7-F1A3-9BCE-4389-E29000E6A160}"/>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4" name="TextBox 13">
              <a:extLst>
                <a:ext uri="{FF2B5EF4-FFF2-40B4-BE49-F238E27FC236}">
                  <a16:creationId xmlns:a16="http://schemas.microsoft.com/office/drawing/2014/main" id="{0DA32BFA-B8C4-A5CC-A198-44F7ABA76EB7}"/>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e2</a:t>
              </a:r>
            </a:p>
          </p:txBody>
        </p:sp>
      </p:grpSp>
      <p:grpSp>
        <p:nvGrpSpPr>
          <p:cNvPr id="15" name="Group 14">
            <a:extLst>
              <a:ext uri="{FF2B5EF4-FFF2-40B4-BE49-F238E27FC236}">
                <a16:creationId xmlns:a16="http://schemas.microsoft.com/office/drawing/2014/main" id="{8BAE09EC-021C-6863-5E3C-F31DA798D8EC}"/>
              </a:ext>
            </a:extLst>
          </p:cNvPr>
          <p:cNvGrpSpPr/>
          <p:nvPr/>
        </p:nvGrpSpPr>
        <p:grpSpPr>
          <a:xfrm>
            <a:off x="2681636" y="3911143"/>
            <a:ext cx="473976" cy="365760"/>
            <a:chOff x="2189284" y="2769576"/>
            <a:chExt cx="473976" cy="365760"/>
          </a:xfrm>
        </p:grpSpPr>
        <p:sp>
          <p:nvSpPr>
            <p:cNvPr id="16" name="Rectangle 15">
              <a:extLst>
                <a:ext uri="{FF2B5EF4-FFF2-40B4-BE49-F238E27FC236}">
                  <a16:creationId xmlns:a16="http://schemas.microsoft.com/office/drawing/2014/main" id="{D4CF2D69-6E27-651E-E4F0-CB5D6F38AC10}"/>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7" name="TextBox 16">
              <a:extLst>
                <a:ext uri="{FF2B5EF4-FFF2-40B4-BE49-F238E27FC236}">
                  <a16:creationId xmlns:a16="http://schemas.microsoft.com/office/drawing/2014/main" id="{687FB003-463B-C0F8-F3CC-9F8EEC9EEFD4}"/>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e3</a:t>
              </a:r>
            </a:p>
          </p:txBody>
        </p:sp>
      </p:grpSp>
      <p:grpSp>
        <p:nvGrpSpPr>
          <p:cNvPr id="19" name="Group 18">
            <a:extLst>
              <a:ext uri="{FF2B5EF4-FFF2-40B4-BE49-F238E27FC236}">
                <a16:creationId xmlns:a16="http://schemas.microsoft.com/office/drawing/2014/main" id="{F0D43639-B271-F1B4-08FB-9E0598BB2BEA}"/>
              </a:ext>
            </a:extLst>
          </p:cNvPr>
          <p:cNvGrpSpPr/>
          <p:nvPr/>
        </p:nvGrpSpPr>
        <p:grpSpPr>
          <a:xfrm>
            <a:off x="5530233" y="2769576"/>
            <a:ext cx="473976" cy="365760"/>
            <a:chOff x="2189284" y="2769576"/>
            <a:chExt cx="473976" cy="365760"/>
          </a:xfrm>
        </p:grpSpPr>
        <p:sp>
          <p:nvSpPr>
            <p:cNvPr id="20" name="Rectangle 19">
              <a:extLst>
                <a:ext uri="{FF2B5EF4-FFF2-40B4-BE49-F238E27FC236}">
                  <a16:creationId xmlns:a16="http://schemas.microsoft.com/office/drawing/2014/main" id="{969FF302-C368-9B6B-7B95-2ABD0640B83D}"/>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1" name="TextBox 20">
              <a:extLst>
                <a:ext uri="{FF2B5EF4-FFF2-40B4-BE49-F238E27FC236}">
                  <a16:creationId xmlns:a16="http://schemas.microsoft.com/office/drawing/2014/main" id="{C4B84576-E49D-3D95-90B8-55EDE6B8EE26}"/>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j1</a:t>
              </a:r>
            </a:p>
          </p:txBody>
        </p:sp>
      </p:grpSp>
      <p:grpSp>
        <p:nvGrpSpPr>
          <p:cNvPr id="22" name="Group 21">
            <a:extLst>
              <a:ext uri="{FF2B5EF4-FFF2-40B4-BE49-F238E27FC236}">
                <a16:creationId xmlns:a16="http://schemas.microsoft.com/office/drawing/2014/main" id="{4A0DE632-5F8D-6155-3C8D-3CAEB0F87EB5}"/>
              </a:ext>
            </a:extLst>
          </p:cNvPr>
          <p:cNvGrpSpPr/>
          <p:nvPr/>
        </p:nvGrpSpPr>
        <p:grpSpPr>
          <a:xfrm>
            <a:off x="5530233" y="3340360"/>
            <a:ext cx="473976" cy="365760"/>
            <a:chOff x="2189284" y="2769576"/>
            <a:chExt cx="473976" cy="365760"/>
          </a:xfrm>
        </p:grpSpPr>
        <p:sp>
          <p:nvSpPr>
            <p:cNvPr id="23" name="Rectangle 22">
              <a:extLst>
                <a:ext uri="{FF2B5EF4-FFF2-40B4-BE49-F238E27FC236}">
                  <a16:creationId xmlns:a16="http://schemas.microsoft.com/office/drawing/2014/main" id="{5D173A00-E695-710E-F54B-A31904CFAEBE}"/>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5E154D48-E6DE-EF55-5560-6D5CE4ABB8B8}"/>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j2</a:t>
              </a:r>
            </a:p>
          </p:txBody>
        </p:sp>
      </p:grpSp>
      <p:grpSp>
        <p:nvGrpSpPr>
          <p:cNvPr id="25" name="Group 24">
            <a:extLst>
              <a:ext uri="{FF2B5EF4-FFF2-40B4-BE49-F238E27FC236}">
                <a16:creationId xmlns:a16="http://schemas.microsoft.com/office/drawing/2014/main" id="{520A06FE-2818-2C1D-CAD8-B6BA2990CACC}"/>
              </a:ext>
            </a:extLst>
          </p:cNvPr>
          <p:cNvGrpSpPr/>
          <p:nvPr/>
        </p:nvGrpSpPr>
        <p:grpSpPr>
          <a:xfrm>
            <a:off x="5530233" y="3911143"/>
            <a:ext cx="473976" cy="365760"/>
            <a:chOff x="2189284" y="2769576"/>
            <a:chExt cx="473976" cy="365760"/>
          </a:xfrm>
        </p:grpSpPr>
        <p:sp>
          <p:nvSpPr>
            <p:cNvPr id="26" name="Rectangle 25">
              <a:extLst>
                <a:ext uri="{FF2B5EF4-FFF2-40B4-BE49-F238E27FC236}">
                  <a16:creationId xmlns:a16="http://schemas.microsoft.com/office/drawing/2014/main" id="{143150A5-9C15-9982-D884-24C3B72C677D}"/>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7" name="TextBox 26">
              <a:extLst>
                <a:ext uri="{FF2B5EF4-FFF2-40B4-BE49-F238E27FC236}">
                  <a16:creationId xmlns:a16="http://schemas.microsoft.com/office/drawing/2014/main" id="{DB8431F9-7AB0-B95A-7B46-041516D3C707}"/>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j3</a:t>
              </a:r>
            </a:p>
          </p:txBody>
        </p:sp>
      </p:grpSp>
      <p:cxnSp>
        <p:nvCxnSpPr>
          <p:cNvPr id="29" name="Straight Connector 28">
            <a:extLst>
              <a:ext uri="{FF2B5EF4-FFF2-40B4-BE49-F238E27FC236}">
                <a16:creationId xmlns:a16="http://schemas.microsoft.com/office/drawing/2014/main" id="{6DCC1428-4771-72EC-EF1B-B71CBCB02B7A}"/>
              </a:ext>
            </a:extLst>
          </p:cNvPr>
          <p:cNvCxnSpPr>
            <a:cxnSpLocks/>
            <a:endCxn id="21" idx="1"/>
          </p:cNvCxnSpPr>
          <p:nvPr/>
        </p:nvCxnSpPr>
        <p:spPr>
          <a:xfrm flipV="1">
            <a:off x="3047396" y="2952456"/>
            <a:ext cx="2482837" cy="115446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53281BF-1E36-DEE7-F177-4900076664AC}"/>
              </a:ext>
            </a:extLst>
          </p:cNvPr>
          <p:cNvCxnSpPr>
            <a:cxnSpLocks/>
            <a:endCxn id="24" idx="1"/>
          </p:cNvCxnSpPr>
          <p:nvPr/>
        </p:nvCxnSpPr>
        <p:spPr>
          <a:xfrm>
            <a:off x="3047396" y="2952455"/>
            <a:ext cx="2482837" cy="570785"/>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6EEC8E1-C0D3-8B1C-4DA6-EC24DC86C820}"/>
              </a:ext>
            </a:extLst>
          </p:cNvPr>
          <p:cNvCxnSpPr>
            <a:cxnSpLocks/>
            <a:endCxn id="27" idx="1"/>
          </p:cNvCxnSpPr>
          <p:nvPr/>
        </p:nvCxnSpPr>
        <p:spPr>
          <a:xfrm>
            <a:off x="3047396" y="3523240"/>
            <a:ext cx="2482837" cy="570783"/>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40" name="Google Shape;186;p30">
            <a:extLst>
              <a:ext uri="{FF2B5EF4-FFF2-40B4-BE49-F238E27FC236}">
                <a16:creationId xmlns:a16="http://schemas.microsoft.com/office/drawing/2014/main" id="{4A3F1EA5-2B8C-0FDB-ACC5-A179DFF23469}"/>
              </a:ext>
            </a:extLst>
          </p:cNvPr>
          <p:cNvSpPr txBox="1">
            <a:spLocks noGrp="1"/>
          </p:cNvSpPr>
          <p:nvPr>
            <p:ph type="title"/>
          </p:nvPr>
        </p:nvSpPr>
        <p:spPr>
          <a:xfrm>
            <a:off x="3212287" y="1269984"/>
            <a:ext cx="2554934" cy="168247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TTC - Unstable: </a:t>
            </a:r>
            <a:br>
              <a:rPr lang="en" dirty="0"/>
            </a:br>
            <a:r>
              <a:rPr lang="en" b="0" dirty="0"/>
              <a:t>(e2, j1) form a blocking pair</a:t>
            </a:r>
            <a:endParaRPr b="0" dirty="0"/>
          </a:p>
        </p:txBody>
      </p:sp>
      <p:sp>
        <p:nvSpPr>
          <p:cNvPr id="41" name="TextBox 40">
            <a:extLst>
              <a:ext uri="{FF2B5EF4-FFF2-40B4-BE49-F238E27FC236}">
                <a16:creationId xmlns:a16="http://schemas.microsoft.com/office/drawing/2014/main" id="{8BD80891-8DD3-0AE4-FD1C-0305B8B14571}"/>
              </a:ext>
            </a:extLst>
          </p:cNvPr>
          <p:cNvSpPr txBox="1"/>
          <p:nvPr/>
        </p:nvSpPr>
        <p:spPr>
          <a:xfrm>
            <a:off x="3047396" y="4573233"/>
            <a:ext cx="2740382" cy="307777"/>
          </a:xfrm>
          <a:prstGeom prst="rect">
            <a:avLst/>
          </a:prstGeom>
          <a:noFill/>
        </p:spPr>
        <p:txBody>
          <a:bodyPr wrap="square" rtlCol="0">
            <a:spAutoFit/>
          </a:bodyPr>
          <a:lstStyle/>
          <a:p>
            <a:r>
              <a:rPr lang="en-US" i="1" dirty="0"/>
              <a:t>Stability</a:t>
            </a:r>
            <a:r>
              <a:rPr lang="en-US" dirty="0"/>
              <a:t> vs. </a:t>
            </a:r>
            <a:r>
              <a:rPr lang="en-US" i="1" dirty="0"/>
              <a:t>Pareto-efficiency</a:t>
            </a:r>
          </a:p>
        </p:txBody>
      </p:sp>
    </p:spTree>
    <p:extLst>
      <p:ext uri="{BB962C8B-B14F-4D97-AF65-F5344CB8AC3E}">
        <p14:creationId xmlns:p14="http://schemas.microsoft.com/office/powerpoint/2010/main" val="39773265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E5DC54CA-908F-B7A1-0572-9B5D9A3013B9}"/>
            </a:ext>
          </a:extLst>
        </p:cNvPr>
        <p:cNvGrpSpPr/>
        <p:nvPr/>
      </p:nvGrpSpPr>
      <p:grpSpPr>
        <a:xfrm>
          <a:off x="0" y="0"/>
          <a:ext cx="0" cy="0"/>
          <a:chOff x="0" y="0"/>
          <a:chExt cx="0" cy="0"/>
        </a:xfrm>
      </p:grpSpPr>
      <p:sp>
        <p:nvSpPr>
          <p:cNvPr id="134" name="Google Shape;134;p21">
            <a:extLst>
              <a:ext uri="{FF2B5EF4-FFF2-40B4-BE49-F238E27FC236}">
                <a16:creationId xmlns:a16="http://schemas.microsoft.com/office/drawing/2014/main" id="{5A18B32C-A88B-92F2-B5B6-5B93EF0B805B}"/>
              </a:ext>
            </a:extLst>
          </p:cNvPr>
          <p:cNvSpPr txBox="1">
            <a:spLocks noGrp="1"/>
          </p:cNvSpPr>
          <p:nvPr>
            <p:ph type="body" idx="1"/>
          </p:nvPr>
        </p:nvSpPr>
        <p:spPr>
          <a:xfrm>
            <a:off x="70027" y="1269983"/>
            <a:ext cx="2681157" cy="22611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US" sz="1700" dirty="0">
                <a:solidFill>
                  <a:srgbClr val="00B050"/>
                </a:solidFill>
              </a:rPr>
              <a:t>e1 : </a:t>
            </a:r>
            <a:r>
              <a:rPr lang="en-US" sz="1700" strike="sngStrike" dirty="0">
                <a:solidFill>
                  <a:srgbClr val="00B050"/>
                </a:solidFill>
              </a:rPr>
              <a:t>j2</a:t>
            </a:r>
            <a:r>
              <a:rPr lang="en-US" sz="1700" dirty="0">
                <a:solidFill>
                  <a:srgbClr val="00B050"/>
                </a:solidFill>
              </a:rPr>
              <a:t>, </a:t>
            </a:r>
            <a:r>
              <a:rPr lang="en-US" sz="1700" b="1" u="sng" dirty="0">
                <a:solidFill>
                  <a:srgbClr val="00B050"/>
                </a:solidFill>
              </a:rPr>
              <a:t>j1</a:t>
            </a:r>
            <a:r>
              <a:rPr lang="en-US" sz="1700" dirty="0">
                <a:solidFill>
                  <a:srgbClr val="00B050"/>
                </a:solidFill>
              </a:rPr>
              <a:t>, j3</a:t>
            </a:r>
          </a:p>
          <a:p>
            <a:pPr marL="457200" lvl="0" indent="-336550" algn="l" rtl="0">
              <a:spcBef>
                <a:spcPts val="0"/>
              </a:spcBef>
              <a:spcAft>
                <a:spcPts val="0"/>
              </a:spcAft>
              <a:buSzPts val="1700"/>
              <a:buChar char="●"/>
            </a:pPr>
            <a:r>
              <a:rPr lang="en-US" sz="1700" dirty="0">
                <a:solidFill>
                  <a:srgbClr val="00B050"/>
                </a:solidFill>
              </a:rPr>
              <a:t>e2 : </a:t>
            </a:r>
            <a:r>
              <a:rPr lang="en-US" sz="1700" strike="sngStrike" dirty="0">
                <a:solidFill>
                  <a:srgbClr val="00B050"/>
                </a:solidFill>
              </a:rPr>
              <a:t>j1</a:t>
            </a:r>
            <a:r>
              <a:rPr lang="en-US" sz="1700" dirty="0">
                <a:solidFill>
                  <a:srgbClr val="00B050"/>
                </a:solidFill>
              </a:rPr>
              <a:t>, </a:t>
            </a:r>
            <a:r>
              <a:rPr lang="en-US" sz="1700" strike="sngStrike" dirty="0">
                <a:solidFill>
                  <a:srgbClr val="00B050"/>
                </a:solidFill>
              </a:rPr>
              <a:t>j2</a:t>
            </a:r>
            <a:r>
              <a:rPr lang="en-US" sz="1700" dirty="0">
                <a:solidFill>
                  <a:srgbClr val="00B050"/>
                </a:solidFill>
              </a:rPr>
              <a:t>, </a:t>
            </a:r>
            <a:r>
              <a:rPr lang="en-US" sz="1700" b="1" u="sng" dirty="0">
                <a:solidFill>
                  <a:srgbClr val="00B050"/>
                </a:solidFill>
              </a:rPr>
              <a:t>j3</a:t>
            </a:r>
          </a:p>
          <a:p>
            <a:pPr marL="457200" lvl="0" indent="-336550" algn="l" rtl="0">
              <a:spcBef>
                <a:spcPts val="0"/>
              </a:spcBef>
              <a:spcAft>
                <a:spcPts val="0"/>
              </a:spcAft>
              <a:buSzPts val="1700"/>
              <a:buChar char="●"/>
            </a:pPr>
            <a:r>
              <a:rPr lang="en-US" sz="1700" dirty="0">
                <a:solidFill>
                  <a:srgbClr val="00B050"/>
                </a:solidFill>
              </a:rPr>
              <a:t>e3 : </a:t>
            </a:r>
            <a:r>
              <a:rPr lang="en-US" sz="1700" strike="sngStrike" dirty="0">
                <a:solidFill>
                  <a:srgbClr val="00B050"/>
                </a:solidFill>
              </a:rPr>
              <a:t>j1</a:t>
            </a:r>
            <a:r>
              <a:rPr lang="en-US" sz="1700" dirty="0">
                <a:solidFill>
                  <a:srgbClr val="00B050"/>
                </a:solidFill>
              </a:rPr>
              <a:t>, </a:t>
            </a:r>
            <a:r>
              <a:rPr lang="en-US" sz="1700" b="1" u="sng" dirty="0">
                <a:solidFill>
                  <a:srgbClr val="00B050"/>
                </a:solidFill>
              </a:rPr>
              <a:t>j2</a:t>
            </a:r>
            <a:r>
              <a:rPr lang="en-US" sz="1700" dirty="0">
                <a:solidFill>
                  <a:srgbClr val="00B050"/>
                </a:solidFill>
              </a:rPr>
              <a:t>, j3</a:t>
            </a:r>
            <a:endParaRPr lang="en-US" sz="1500" dirty="0">
              <a:solidFill>
                <a:srgbClr val="00B050"/>
              </a:solidFill>
            </a:endParaRPr>
          </a:p>
        </p:txBody>
      </p:sp>
      <p:sp>
        <p:nvSpPr>
          <p:cNvPr id="4" name="Google Shape;134;p21">
            <a:extLst>
              <a:ext uri="{FF2B5EF4-FFF2-40B4-BE49-F238E27FC236}">
                <a16:creationId xmlns:a16="http://schemas.microsoft.com/office/drawing/2014/main" id="{8B8CAC0B-86D6-C38A-2A6D-D71407B2C167}"/>
              </a:ext>
            </a:extLst>
          </p:cNvPr>
          <p:cNvSpPr txBox="1">
            <a:spLocks/>
          </p:cNvSpPr>
          <p:nvPr/>
        </p:nvSpPr>
        <p:spPr>
          <a:xfrm>
            <a:off x="6462843" y="1269983"/>
            <a:ext cx="2681157" cy="2261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indent="-336550">
              <a:buSzPts val="1700"/>
            </a:pPr>
            <a:r>
              <a:rPr lang="en-US" sz="1700" dirty="0">
                <a:solidFill>
                  <a:srgbClr val="00B050"/>
                </a:solidFill>
              </a:rPr>
              <a:t>j1 : </a:t>
            </a:r>
            <a:r>
              <a:rPr lang="en-US" sz="1700" b="1" u="sng" dirty="0">
                <a:solidFill>
                  <a:srgbClr val="00B050"/>
                </a:solidFill>
              </a:rPr>
              <a:t>e1</a:t>
            </a:r>
            <a:r>
              <a:rPr lang="en-US" sz="1700" dirty="0">
                <a:solidFill>
                  <a:srgbClr val="00B050"/>
                </a:solidFill>
              </a:rPr>
              <a:t>, </a:t>
            </a:r>
            <a:r>
              <a:rPr lang="en-US" sz="1700" strike="sngStrike" dirty="0">
                <a:solidFill>
                  <a:srgbClr val="00B050"/>
                </a:solidFill>
              </a:rPr>
              <a:t>e2</a:t>
            </a:r>
            <a:r>
              <a:rPr lang="en-US" sz="1700" dirty="0">
                <a:solidFill>
                  <a:srgbClr val="00B050"/>
                </a:solidFill>
              </a:rPr>
              <a:t>, </a:t>
            </a:r>
            <a:r>
              <a:rPr lang="en-US" sz="1700" strike="sngStrike" dirty="0">
                <a:solidFill>
                  <a:srgbClr val="00B050"/>
                </a:solidFill>
              </a:rPr>
              <a:t>e3</a:t>
            </a:r>
          </a:p>
          <a:p>
            <a:pPr indent="-336550">
              <a:buSzPts val="1700"/>
            </a:pPr>
            <a:r>
              <a:rPr lang="en-US" sz="1700" dirty="0">
                <a:solidFill>
                  <a:srgbClr val="00B050"/>
                </a:solidFill>
              </a:rPr>
              <a:t>j2 :</a:t>
            </a:r>
            <a:r>
              <a:rPr lang="en-US" sz="1700" b="1" dirty="0">
                <a:solidFill>
                  <a:srgbClr val="00B050"/>
                </a:solidFill>
              </a:rPr>
              <a:t> </a:t>
            </a:r>
            <a:r>
              <a:rPr lang="en-US" sz="1700" b="1" u="sng" dirty="0">
                <a:solidFill>
                  <a:srgbClr val="00B050"/>
                </a:solidFill>
              </a:rPr>
              <a:t>e3</a:t>
            </a:r>
            <a:r>
              <a:rPr lang="en-US" sz="1700" dirty="0">
                <a:solidFill>
                  <a:srgbClr val="00B050"/>
                </a:solidFill>
              </a:rPr>
              <a:t>, </a:t>
            </a:r>
            <a:r>
              <a:rPr lang="en-US" sz="1700" strike="sngStrike" dirty="0">
                <a:solidFill>
                  <a:srgbClr val="00B050"/>
                </a:solidFill>
              </a:rPr>
              <a:t>e1</a:t>
            </a:r>
            <a:r>
              <a:rPr lang="en-US" sz="1700" dirty="0">
                <a:solidFill>
                  <a:srgbClr val="00B050"/>
                </a:solidFill>
              </a:rPr>
              <a:t>, </a:t>
            </a:r>
            <a:r>
              <a:rPr lang="en-US" sz="1700" strike="sngStrike" dirty="0">
                <a:solidFill>
                  <a:srgbClr val="00B050"/>
                </a:solidFill>
              </a:rPr>
              <a:t>e2</a:t>
            </a:r>
          </a:p>
          <a:p>
            <a:pPr indent="-336550">
              <a:buSzPts val="1700"/>
            </a:pPr>
            <a:r>
              <a:rPr lang="en-US" sz="1700" dirty="0">
                <a:solidFill>
                  <a:srgbClr val="00B050"/>
                </a:solidFill>
              </a:rPr>
              <a:t>j3 : e1, </a:t>
            </a:r>
            <a:r>
              <a:rPr lang="en-US" sz="1700" b="1" u="sng" dirty="0">
                <a:solidFill>
                  <a:srgbClr val="00B050"/>
                </a:solidFill>
              </a:rPr>
              <a:t>e2</a:t>
            </a:r>
            <a:r>
              <a:rPr lang="en-US" sz="1700" dirty="0">
                <a:solidFill>
                  <a:srgbClr val="00B050"/>
                </a:solidFill>
              </a:rPr>
              <a:t>, e3</a:t>
            </a:r>
            <a:endParaRPr lang="en-US" sz="1500" dirty="0">
              <a:solidFill>
                <a:srgbClr val="00B050"/>
              </a:solidFill>
            </a:endParaRPr>
          </a:p>
        </p:txBody>
      </p:sp>
      <p:grpSp>
        <p:nvGrpSpPr>
          <p:cNvPr id="7" name="Group 6">
            <a:extLst>
              <a:ext uri="{FF2B5EF4-FFF2-40B4-BE49-F238E27FC236}">
                <a16:creationId xmlns:a16="http://schemas.microsoft.com/office/drawing/2014/main" id="{408B8DA4-C96D-01CA-28D8-261E807653E7}"/>
              </a:ext>
            </a:extLst>
          </p:cNvPr>
          <p:cNvGrpSpPr/>
          <p:nvPr/>
        </p:nvGrpSpPr>
        <p:grpSpPr>
          <a:xfrm>
            <a:off x="2681636" y="2769576"/>
            <a:ext cx="473976" cy="365760"/>
            <a:chOff x="2189284" y="2769576"/>
            <a:chExt cx="473976" cy="365760"/>
          </a:xfrm>
        </p:grpSpPr>
        <p:sp>
          <p:nvSpPr>
            <p:cNvPr id="3" name="Rectangle 2">
              <a:extLst>
                <a:ext uri="{FF2B5EF4-FFF2-40B4-BE49-F238E27FC236}">
                  <a16:creationId xmlns:a16="http://schemas.microsoft.com/office/drawing/2014/main" id="{25ED98A6-F31E-AD45-66E6-251FB8304D79}"/>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50315286-35CE-1BAA-0A06-9CC773A7B0CE}"/>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e1</a:t>
              </a:r>
              <a:endParaRPr lang="en-US" dirty="0">
                <a:solidFill>
                  <a:srgbClr val="FF0000"/>
                </a:solidFill>
                <a:latin typeface="Lato" panose="020B0604020202020204" charset="0"/>
                <a:ea typeface="Lato" panose="020B0604020202020204" charset="0"/>
                <a:cs typeface="Lato" panose="020B0604020202020204" charset="0"/>
              </a:endParaRPr>
            </a:p>
          </p:txBody>
        </p:sp>
      </p:grpSp>
      <p:grpSp>
        <p:nvGrpSpPr>
          <p:cNvPr id="10" name="Group 9">
            <a:extLst>
              <a:ext uri="{FF2B5EF4-FFF2-40B4-BE49-F238E27FC236}">
                <a16:creationId xmlns:a16="http://schemas.microsoft.com/office/drawing/2014/main" id="{A7FCDC48-BEEA-EA9A-D63A-914701F40790}"/>
              </a:ext>
            </a:extLst>
          </p:cNvPr>
          <p:cNvGrpSpPr/>
          <p:nvPr/>
        </p:nvGrpSpPr>
        <p:grpSpPr>
          <a:xfrm>
            <a:off x="2681636" y="3340360"/>
            <a:ext cx="473976" cy="365760"/>
            <a:chOff x="2189284" y="2769576"/>
            <a:chExt cx="473976" cy="365760"/>
          </a:xfrm>
        </p:grpSpPr>
        <p:sp>
          <p:nvSpPr>
            <p:cNvPr id="11" name="Rectangle 10">
              <a:extLst>
                <a:ext uri="{FF2B5EF4-FFF2-40B4-BE49-F238E27FC236}">
                  <a16:creationId xmlns:a16="http://schemas.microsoft.com/office/drawing/2014/main" id="{4A524B9A-8867-A45A-2414-9D1E25468648}"/>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TextBox 11">
              <a:extLst>
                <a:ext uri="{FF2B5EF4-FFF2-40B4-BE49-F238E27FC236}">
                  <a16:creationId xmlns:a16="http://schemas.microsoft.com/office/drawing/2014/main" id="{B91A83D8-1945-3A5A-0F9D-181F25009531}"/>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e2</a:t>
              </a:r>
            </a:p>
          </p:txBody>
        </p:sp>
      </p:grpSp>
      <p:grpSp>
        <p:nvGrpSpPr>
          <p:cNvPr id="13" name="Group 12">
            <a:extLst>
              <a:ext uri="{FF2B5EF4-FFF2-40B4-BE49-F238E27FC236}">
                <a16:creationId xmlns:a16="http://schemas.microsoft.com/office/drawing/2014/main" id="{3A8BE7D3-37DA-5E2B-7EA4-716458B5BCEF}"/>
              </a:ext>
            </a:extLst>
          </p:cNvPr>
          <p:cNvGrpSpPr/>
          <p:nvPr/>
        </p:nvGrpSpPr>
        <p:grpSpPr>
          <a:xfrm>
            <a:off x="2681636" y="3911143"/>
            <a:ext cx="473976" cy="365760"/>
            <a:chOff x="2189284" y="2769576"/>
            <a:chExt cx="473976" cy="365760"/>
          </a:xfrm>
        </p:grpSpPr>
        <p:sp>
          <p:nvSpPr>
            <p:cNvPr id="14" name="Rectangle 13">
              <a:extLst>
                <a:ext uri="{FF2B5EF4-FFF2-40B4-BE49-F238E27FC236}">
                  <a16:creationId xmlns:a16="http://schemas.microsoft.com/office/drawing/2014/main" id="{B1E32E7B-B624-700F-71D3-301656003001}"/>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B95CD175-B314-24E3-D371-11BDFEC89302}"/>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e3</a:t>
              </a:r>
            </a:p>
          </p:txBody>
        </p:sp>
      </p:grpSp>
      <p:grpSp>
        <p:nvGrpSpPr>
          <p:cNvPr id="19" name="Group 18">
            <a:extLst>
              <a:ext uri="{FF2B5EF4-FFF2-40B4-BE49-F238E27FC236}">
                <a16:creationId xmlns:a16="http://schemas.microsoft.com/office/drawing/2014/main" id="{67204C7A-1604-0C16-D7B6-41E57AA4376F}"/>
              </a:ext>
            </a:extLst>
          </p:cNvPr>
          <p:cNvGrpSpPr/>
          <p:nvPr/>
        </p:nvGrpSpPr>
        <p:grpSpPr>
          <a:xfrm>
            <a:off x="5530233" y="2769576"/>
            <a:ext cx="473976" cy="365760"/>
            <a:chOff x="2189284" y="2769576"/>
            <a:chExt cx="473976" cy="365760"/>
          </a:xfrm>
        </p:grpSpPr>
        <p:sp>
          <p:nvSpPr>
            <p:cNvPr id="20" name="Rectangle 19">
              <a:extLst>
                <a:ext uri="{FF2B5EF4-FFF2-40B4-BE49-F238E27FC236}">
                  <a16:creationId xmlns:a16="http://schemas.microsoft.com/office/drawing/2014/main" id="{DE0DFE3F-2056-031B-65B2-90D623E0424E}"/>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1" name="TextBox 20">
              <a:extLst>
                <a:ext uri="{FF2B5EF4-FFF2-40B4-BE49-F238E27FC236}">
                  <a16:creationId xmlns:a16="http://schemas.microsoft.com/office/drawing/2014/main" id="{8BAE61D7-26D6-2AD9-B77A-B4967C2B88FB}"/>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j1</a:t>
              </a:r>
            </a:p>
          </p:txBody>
        </p:sp>
      </p:grpSp>
      <p:grpSp>
        <p:nvGrpSpPr>
          <p:cNvPr id="22" name="Group 21">
            <a:extLst>
              <a:ext uri="{FF2B5EF4-FFF2-40B4-BE49-F238E27FC236}">
                <a16:creationId xmlns:a16="http://schemas.microsoft.com/office/drawing/2014/main" id="{88E19C7E-F32A-5914-8A6B-43C85247029B}"/>
              </a:ext>
            </a:extLst>
          </p:cNvPr>
          <p:cNvGrpSpPr/>
          <p:nvPr/>
        </p:nvGrpSpPr>
        <p:grpSpPr>
          <a:xfrm>
            <a:off x="5530233" y="3340360"/>
            <a:ext cx="473976" cy="365760"/>
            <a:chOff x="2189284" y="2769576"/>
            <a:chExt cx="473976" cy="365760"/>
          </a:xfrm>
        </p:grpSpPr>
        <p:sp>
          <p:nvSpPr>
            <p:cNvPr id="23" name="Rectangle 22">
              <a:extLst>
                <a:ext uri="{FF2B5EF4-FFF2-40B4-BE49-F238E27FC236}">
                  <a16:creationId xmlns:a16="http://schemas.microsoft.com/office/drawing/2014/main" id="{619E2F7E-8CD3-0FD5-AAD8-A267C1455868}"/>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D29EAF80-7422-CEF2-6C1D-01607037AED3}"/>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j2</a:t>
              </a:r>
            </a:p>
          </p:txBody>
        </p:sp>
      </p:grpSp>
      <p:grpSp>
        <p:nvGrpSpPr>
          <p:cNvPr id="25" name="Group 24">
            <a:extLst>
              <a:ext uri="{FF2B5EF4-FFF2-40B4-BE49-F238E27FC236}">
                <a16:creationId xmlns:a16="http://schemas.microsoft.com/office/drawing/2014/main" id="{E515500E-2216-EDD2-DFDD-B0CC51225536}"/>
              </a:ext>
            </a:extLst>
          </p:cNvPr>
          <p:cNvGrpSpPr/>
          <p:nvPr/>
        </p:nvGrpSpPr>
        <p:grpSpPr>
          <a:xfrm>
            <a:off x="5530233" y="3911143"/>
            <a:ext cx="473976" cy="365760"/>
            <a:chOff x="2189284" y="2769576"/>
            <a:chExt cx="473976" cy="365760"/>
          </a:xfrm>
        </p:grpSpPr>
        <p:sp>
          <p:nvSpPr>
            <p:cNvPr id="26" name="Rectangle 25">
              <a:extLst>
                <a:ext uri="{FF2B5EF4-FFF2-40B4-BE49-F238E27FC236}">
                  <a16:creationId xmlns:a16="http://schemas.microsoft.com/office/drawing/2014/main" id="{198481CA-4C9C-B728-6B95-7DD2065C0BF0}"/>
                </a:ext>
              </a:extLst>
            </p:cNvPr>
            <p:cNvSpPr/>
            <p:nvPr/>
          </p:nvSpPr>
          <p:spPr>
            <a:xfrm>
              <a:off x="2189284" y="2769576"/>
              <a:ext cx="365760" cy="36576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7" name="TextBox 26">
              <a:extLst>
                <a:ext uri="{FF2B5EF4-FFF2-40B4-BE49-F238E27FC236}">
                  <a16:creationId xmlns:a16="http://schemas.microsoft.com/office/drawing/2014/main" id="{08D8565C-254F-84B3-C9D3-FB5ED53DBA32}"/>
                </a:ext>
              </a:extLst>
            </p:cNvPr>
            <p:cNvSpPr txBox="1"/>
            <p:nvPr/>
          </p:nvSpPr>
          <p:spPr>
            <a:xfrm>
              <a:off x="2189284" y="2798567"/>
              <a:ext cx="473976" cy="307777"/>
            </a:xfrm>
            <a:prstGeom prst="rect">
              <a:avLst/>
            </a:prstGeom>
            <a:noFill/>
          </p:spPr>
          <p:txBody>
            <a:bodyPr wrap="square" rtlCol="0">
              <a:spAutoFit/>
            </a:bodyPr>
            <a:lstStyle/>
            <a:p>
              <a:r>
                <a:rPr lang="en-US" dirty="0">
                  <a:solidFill>
                    <a:schemeClr val="accent5"/>
                  </a:solidFill>
                  <a:latin typeface="Lato" panose="020B0604020202020204" charset="0"/>
                  <a:ea typeface="Lato" panose="020B0604020202020204" charset="0"/>
                  <a:cs typeface="Lato" panose="020B0604020202020204" charset="0"/>
                </a:rPr>
                <a:t>j3</a:t>
              </a:r>
            </a:p>
          </p:txBody>
        </p:sp>
      </p:grpSp>
      <p:sp>
        <p:nvSpPr>
          <p:cNvPr id="2" name="TextBox 1">
            <a:extLst>
              <a:ext uri="{FF2B5EF4-FFF2-40B4-BE49-F238E27FC236}">
                <a16:creationId xmlns:a16="http://schemas.microsoft.com/office/drawing/2014/main" id="{2AECE77B-6D54-C491-2B55-3F78F153833A}"/>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8" name="TextBox 7">
            <a:extLst>
              <a:ext uri="{FF2B5EF4-FFF2-40B4-BE49-F238E27FC236}">
                <a16:creationId xmlns:a16="http://schemas.microsoft.com/office/drawing/2014/main" id="{06D269B5-86BC-71BF-5798-D0075B7B401F}"/>
              </a:ext>
            </a:extLst>
          </p:cNvPr>
          <p:cNvSpPr txBox="1"/>
          <p:nvPr/>
        </p:nvSpPr>
        <p:spPr>
          <a:xfrm>
            <a:off x="168443" y="4195668"/>
            <a:ext cx="1515980" cy="738664"/>
          </a:xfrm>
          <a:prstGeom prst="rect">
            <a:avLst/>
          </a:prstGeom>
          <a:noFill/>
          <a:ln>
            <a:solidFill>
              <a:schemeClr val="bg2"/>
            </a:solidFill>
          </a:ln>
        </p:spPr>
        <p:txBody>
          <a:bodyPr wrap="square" rtlCol="0">
            <a:spAutoFit/>
          </a:bodyPr>
          <a:lstStyle/>
          <a:p>
            <a:r>
              <a:rPr lang="en-US" b="1" u="sng" dirty="0">
                <a:latin typeface="Lato" panose="020B0604020202020204" charset="0"/>
                <a:ea typeface="Lato" panose="020B0604020202020204" charset="0"/>
                <a:cs typeface="Lato" panose="020B0604020202020204" charset="0"/>
              </a:rPr>
              <a:t>Example: </a:t>
            </a:r>
          </a:p>
          <a:p>
            <a:r>
              <a:rPr lang="en-US" dirty="0">
                <a:latin typeface="Lato" panose="020B0604020202020204" charset="0"/>
                <a:ea typeface="Lato" panose="020B0604020202020204" charset="0"/>
                <a:cs typeface="Lato" panose="020B0604020202020204" charset="0"/>
              </a:rPr>
              <a:t>e1 = employee 1</a:t>
            </a:r>
          </a:p>
          <a:p>
            <a:r>
              <a:rPr lang="en-US" dirty="0">
                <a:latin typeface="Lato" panose="020B0604020202020204" charset="0"/>
                <a:ea typeface="Lato" panose="020B0604020202020204" charset="0"/>
                <a:cs typeface="Lato" panose="020B0604020202020204" charset="0"/>
              </a:rPr>
              <a:t>j1 = job 1</a:t>
            </a:r>
          </a:p>
        </p:txBody>
      </p:sp>
      <p:cxnSp>
        <p:nvCxnSpPr>
          <p:cNvPr id="16" name="Straight Connector 15">
            <a:extLst>
              <a:ext uri="{FF2B5EF4-FFF2-40B4-BE49-F238E27FC236}">
                <a16:creationId xmlns:a16="http://schemas.microsoft.com/office/drawing/2014/main" id="{4EDA3738-54A4-C770-3EED-5F5DF18A8BD7}"/>
              </a:ext>
            </a:extLst>
          </p:cNvPr>
          <p:cNvCxnSpPr>
            <a:cxnSpLocks/>
            <a:endCxn id="24" idx="1"/>
          </p:cNvCxnSpPr>
          <p:nvPr/>
        </p:nvCxnSpPr>
        <p:spPr>
          <a:xfrm flipV="1">
            <a:off x="3047396" y="3523240"/>
            <a:ext cx="2482837" cy="583677"/>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077D4653-63E3-AD8A-0A19-A6374A1322B1}"/>
              </a:ext>
            </a:extLst>
          </p:cNvPr>
          <p:cNvCxnSpPr>
            <a:cxnSpLocks/>
            <a:endCxn id="21" idx="1"/>
          </p:cNvCxnSpPr>
          <p:nvPr/>
        </p:nvCxnSpPr>
        <p:spPr>
          <a:xfrm>
            <a:off x="3047396" y="2952455"/>
            <a:ext cx="2482837" cy="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9717997-8EB2-DE28-289C-8D41139CC601}"/>
              </a:ext>
            </a:extLst>
          </p:cNvPr>
          <p:cNvCxnSpPr>
            <a:cxnSpLocks/>
            <a:endCxn id="27" idx="1"/>
          </p:cNvCxnSpPr>
          <p:nvPr/>
        </p:nvCxnSpPr>
        <p:spPr>
          <a:xfrm>
            <a:off x="3047396" y="3523240"/>
            <a:ext cx="2482837" cy="570783"/>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29" name="Google Shape;186;p30">
            <a:extLst>
              <a:ext uri="{FF2B5EF4-FFF2-40B4-BE49-F238E27FC236}">
                <a16:creationId xmlns:a16="http://schemas.microsoft.com/office/drawing/2014/main" id="{20B297E8-B6DE-5D59-33EA-5496D30E9980}"/>
              </a:ext>
            </a:extLst>
          </p:cNvPr>
          <p:cNvSpPr txBox="1">
            <a:spLocks/>
          </p:cNvSpPr>
          <p:nvPr/>
        </p:nvSpPr>
        <p:spPr>
          <a:xfrm>
            <a:off x="3212287" y="1269984"/>
            <a:ext cx="2317946" cy="168247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r>
              <a:rPr lang="en-US" dirty="0"/>
              <a:t>DA - Stable: </a:t>
            </a:r>
            <a:br>
              <a:rPr lang="en-US" dirty="0"/>
            </a:br>
            <a:r>
              <a:rPr lang="en-US" b="0" dirty="0"/>
              <a:t>no blocking pairs</a:t>
            </a:r>
          </a:p>
        </p:txBody>
      </p:sp>
      <p:sp>
        <p:nvSpPr>
          <p:cNvPr id="30" name="TextBox 29">
            <a:extLst>
              <a:ext uri="{FF2B5EF4-FFF2-40B4-BE49-F238E27FC236}">
                <a16:creationId xmlns:a16="http://schemas.microsoft.com/office/drawing/2014/main" id="{B141B4E0-CDB9-B5DC-79B2-CFD000982465}"/>
              </a:ext>
            </a:extLst>
          </p:cNvPr>
          <p:cNvSpPr txBox="1"/>
          <p:nvPr/>
        </p:nvSpPr>
        <p:spPr>
          <a:xfrm>
            <a:off x="3047396" y="4573233"/>
            <a:ext cx="2740382" cy="307777"/>
          </a:xfrm>
          <a:prstGeom prst="rect">
            <a:avLst/>
          </a:prstGeom>
          <a:noFill/>
        </p:spPr>
        <p:txBody>
          <a:bodyPr wrap="square" rtlCol="0">
            <a:spAutoFit/>
          </a:bodyPr>
          <a:lstStyle/>
          <a:p>
            <a:r>
              <a:rPr lang="en-US" i="1" dirty="0"/>
              <a:t>Stability</a:t>
            </a:r>
            <a:r>
              <a:rPr lang="en-US" dirty="0"/>
              <a:t> vs. </a:t>
            </a:r>
            <a:r>
              <a:rPr lang="en-US" i="1" dirty="0"/>
              <a:t>Pareto-efficiency</a:t>
            </a:r>
          </a:p>
        </p:txBody>
      </p:sp>
    </p:spTree>
    <p:extLst>
      <p:ext uri="{BB962C8B-B14F-4D97-AF65-F5344CB8AC3E}">
        <p14:creationId xmlns:p14="http://schemas.microsoft.com/office/powerpoint/2010/main" val="24946449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Stable Matching, What About Pareto Optimality?</a:t>
            </a:r>
            <a:endParaRPr dirty="0"/>
          </a:p>
        </p:txBody>
      </p:sp>
      <p:sp>
        <p:nvSpPr>
          <p:cNvPr id="93" name="Google Shape;93;p14"/>
          <p:cNvSpPr txBox="1">
            <a:spLocks noGrp="1"/>
          </p:cNvSpPr>
          <p:nvPr>
            <p:ph type="body" idx="1"/>
          </p:nvPr>
        </p:nvSpPr>
        <p:spPr>
          <a:xfrm>
            <a:off x="597877" y="1748117"/>
            <a:ext cx="8185638" cy="3316251"/>
          </a:xfrm>
          <a:prstGeom prst="rect">
            <a:avLst/>
          </a:prstGeom>
        </p:spPr>
        <p:txBody>
          <a:bodyPr spcFirstLastPara="1" wrap="square" lIns="91425" tIns="91425" rIns="91425" bIns="91425" anchor="t" anchorCtr="0">
            <a:normAutofit fontScale="85000" lnSpcReduction="10000"/>
          </a:bodyPr>
          <a:lstStyle/>
          <a:p>
            <a:pPr marL="457200" lvl="0" indent="-311150" algn="l" rtl="0">
              <a:lnSpc>
                <a:spcPct val="150000"/>
              </a:lnSpc>
              <a:spcBef>
                <a:spcPts val="0"/>
              </a:spcBef>
              <a:spcAft>
                <a:spcPts val="0"/>
              </a:spcAft>
              <a:buSzPts val="1300"/>
              <a:buChar char="●"/>
            </a:pPr>
            <a:r>
              <a:rPr lang="en-US" sz="1800" dirty="0"/>
              <a:t>For DA, there can be no matching (even an unstable matching) that all employees prefer </a:t>
            </a:r>
            <a:r>
              <a:rPr lang="en-US" sz="1800" b="1" u="sng" dirty="0"/>
              <a:t>strictly</a:t>
            </a:r>
            <a:r>
              <a:rPr lang="en-US" sz="1800" dirty="0"/>
              <a:t> to the employee-optimal stable matching</a:t>
            </a:r>
          </a:p>
          <a:p>
            <a:pPr marL="457200" lvl="0" indent="-311150" algn="l" rtl="0">
              <a:lnSpc>
                <a:spcPct val="150000"/>
              </a:lnSpc>
              <a:spcBef>
                <a:spcPts val="0"/>
              </a:spcBef>
              <a:spcAft>
                <a:spcPts val="0"/>
              </a:spcAft>
              <a:buSzPts val="1300"/>
              <a:buChar char="●"/>
            </a:pPr>
            <a:r>
              <a:rPr lang="en-US" sz="1800" dirty="0"/>
              <a:t>It may be possible to make some employees better off </a:t>
            </a:r>
            <a:r>
              <a:rPr lang="en-US" sz="1800" b="1" u="sng" dirty="0"/>
              <a:t>without</a:t>
            </a:r>
            <a:r>
              <a:rPr lang="en-US" sz="1800" dirty="0"/>
              <a:t> making other employees worse off, but this will make the matching unstable (see our previous example)</a:t>
            </a:r>
          </a:p>
          <a:p>
            <a:pPr marL="457200" lvl="0" indent="-311150" algn="l" rtl="0">
              <a:lnSpc>
                <a:spcPct val="150000"/>
              </a:lnSpc>
              <a:spcBef>
                <a:spcPts val="0"/>
              </a:spcBef>
              <a:spcAft>
                <a:spcPts val="0"/>
              </a:spcAft>
              <a:buSzPts val="1300"/>
              <a:buChar char="●"/>
            </a:pPr>
            <a:r>
              <a:rPr lang="en-US" sz="1800" dirty="0"/>
              <a:t>Put another way, the employee-optimal stable matching is Pareto efficient within the set of stable matchings, but there can exist an </a:t>
            </a:r>
            <a:r>
              <a:rPr lang="en-US" sz="1800" b="1" u="sng" dirty="0"/>
              <a:t>unstable</a:t>
            </a:r>
            <a:r>
              <a:rPr lang="en-US" sz="1800" dirty="0"/>
              <a:t> matching that makes some strictly better off, and no one worse off, but it would have a blocking pair</a:t>
            </a:r>
          </a:p>
          <a:p>
            <a:pPr marL="457200" lvl="0" indent="-311150" algn="l" rtl="0">
              <a:lnSpc>
                <a:spcPct val="150000"/>
              </a:lnSpc>
              <a:spcBef>
                <a:spcPts val="0"/>
              </a:spcBef>
              <a:spcAft>
                <a:spcPts val="0"/>
              </a:spcAft>
              <a:buSzPts val="1300"/>
              <a:buChar char="●"/>
            </a:pPr>
            <a:r>
              <a:rPr lang="en-US" sz="1800" dirty="0"/>
              <a:t>TTC found the Pareto-optimal matching! But it is unstable</a:t>
            </a:r>
          </a:p>
          <a:p>
            <a:pPr marL="457200" lvl="0" indent="-311150" algn="l" rtl="0">
              <a:lnSpc>
                <a:spcPct val="150000"/>
              </a:lnSpc>
              <a:spcBef>
                <a:spcPts val="0"/>
              </a:spcBef>
              <a:spcAft>
                <a:spcPts val="0"/>
              </a:spcAft>
              <a:buSzPts val="1300"/>
              <a:buChar char="●"/>
            </a:pPr>
            <a:r>
              <a:rPr lang="en-US" sz="1800" dirty="0"/>
              <a:t>Tradeoffs!</a:t>
            </a:r>
          </a:p>
          <a:p>
            <a:pPr marL="457200" lvl="0" indent="-311150" algn="l" rtl="0">
              <a:lnSpc>
                <a:spcPct val="150000"/>
              </a:lnSpc>
              <a:spcBef>
                <a:spcPts val="0"/>
              </a:spcBef>
              <a:spcAft>
                <a:spcPts val="0"/>
              </a:spcAft>
              <a:buSzPts val="1300"/>
              <a:buChar char="●"/>
            </a:pPr>
            <a:endParaRPr lang="en-US" sz="1800" dirty="0"/>
          </a:p>
          <a:p>
            <a:pPr marL="457200" lvl="0" indent="-311150" algn="l" rtl="0">
              <a:lnSpc>
                <a:spcPct val="150000"/>
              </a:lnSpc>
              <a:spcBef>
                <a:spcPts val="0"/>
              </a:spcBef>
              <a:spcAft>
                <a:spcPts val="0"/>
              </a:spcAft>
              <a:buSzPts val="1300"/>
              <a:buChar char="●"/>
            </a:pPr>
            <a:endParaRPr lang="en-US" sz="1800" dirty="0"/>
          </a:p>
          <a:p>
            <a:pPr marL="457200" lvl="0" indent="-311150" algn="l" rtl="0">
              <a:lnSpc>
                <a:spcPct val="150000"/>
              </a:lnSpc>
              <a:spcBef>
                <a:spcPts val="0"/>
              </a:spcBef>
              <a:spcAft>
                <a:spcPts val="0"/>
              </a:spcAft>
              <a:buSzPts val="1300"/>
              <a:buChar char="●"/>
            </a:pPr>
            <a:endParaRPr lang="en-US" sz="1800" dirty="0"/>
          </a:p>
          <a:p>
            <a:pPr marL="457200" lvl="0" indent="-311150" algn="l" rtl="0">
              <a:lnSpc>
                <a:spcPct val="150000"/>
              </a:lnSpc>
              <a:spcBef>
                <a:spcPts val="0"/>
              </a:spcBef>
              <a:spcAft>
                <a:spcPts val="0"/>
              </a:spcAft>
              <a:buSzPts val="1300"/>
              <a:buChar char="●"/>
            </a:pPr>
            <a:endParaRPr lang="en-US" sz="1800" dirty="0"/>
          </a:p>
        </p:txBody>
      </p:sp>
      <p:sp>
        <p:nvSpPr>
          <p:cNvPr id="2" name="TextBox 1">
            <a:extLst>
              <a:ext uri="{FF2B5EF4-FFF2-40B4-BE49-F238E27FC236}">
                <a16:creationId xmlns:a16="http://schemas.microsoft.com/office/drawing/2014/main" id="{54784B1C-5FF2-F701-D438-2CDD0EFD6298}"/>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Tree>
    <p:extLst>
      <p:ext uri="{BB962C8B-B14F-4D97-AF65-F5344CB8AC3E}">
        <p14:creationId xmlns:p14="http://schemas.microsoft.com/office/powerpoint/2010/main" val="11454709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Chose DA for Officer Assignments</a:t>
            </a:r>
            <a:endParaRPr dirty="0"/>
          </a:p>
        </p:txBody>
      </p:sp>
      <p:sp>
        <p:nvSpPr>
          <p:cNvPr id="158" name="Google Shape;158;p25"/>
          <p:cNvSpPr txBox="1">
            <a:spLocks noGrp="1"/>
          </p:cNvSpPr>
          <p:nvPr>
            <p:ph type="body" idx="1"/>
          </p:nvPr>
        </p:nvSpPr>
        <p:spPr>
          <a:xfrm>
            <a:off x="729450" y="1926474"/>
            <a:ext cx="7489990" cy="2981588"/>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US" sz="1800" dirty="0"/>
              <a:t>The outcome of the algorithm is a stable match!</a:t>
            </a:r>
          </a:p>
          <a:p>
            <a:pPr marL="457200" lvl="0" indent="-311150" algn="l" rtl="0">
              <a:spcBef>
                <a:spcPts val="0"/>
              </a:spcBef>
              <a:spcAft>
                <a:spcPts val="0"/>
              </a:spcAft>
              <a:buSzPts val="1300"/>
              <a:buChar char="●"/>
            </a:pPr>
            <a:r>
              <a:rPr lang="en-US" sz="1800" dirty="0"/>
              <a:t>Stable? No blocking pairs. Elicits true preferences – optimal for employees. No justified-envy.</a:t>
            </a:r>
          </a:p>
          <a:p>
            <a:pPr marL="457200" lvl="0" indent="-311150" algn="l" rtl="0">
              <a:spcBef>
                <a:spcPts val="0"/>
              </a:spcBef>
              <a:spcAft>
                <a:spcPts val="0"/>
              </a:spcAft>
              <a:buSzPts val="1300"/>
              <a:buChar char="●"/>
            </a:pPr>
            <a:r>
              <a:rPr lang="en-US" sz="1800" dirty="0"/>
              <a:t>Less “black box” more interpretable / easier to explain – transparency is key</a:t>
            </a:r>
          </a:p>
          <a:p>
            <a:r>
              <a:rPr lang="en-US" sz="1800" dirty="0"/>
              <a:t>Discovered that AOs were essentially already trying to execute this algorithm by hand! Natural progression</a:t>
            </a:r>
          </a:p>
          <a:p>
            <a:endParaRPr lang="en-US" sz="1800" dirty="0"/>
          </a:p>
        </p:txBody>
      </p:sp>
    </p:spTree>
    <p:extLst>
      <p:ext uri="{BB962C8B-B14F-4D97-AF65-F5344CB8AC3E}">
        <p14:creationId xmlns:p14="http://schemas.microsoft.com/office/powerpoint/2010/main" val="5247233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805EB3EA-F44D-34A7-9770-D55DBD21E8A1}"/>
            </a:ext>
          </a:extLst>
        </p:cNvPr>
        <p:cNvGrpSpPr/>
        <p:nvPr/>
      </p:nvGrpSpPr>
      <p:grpSpPr>
        <a:xfrm>
          <a:off x="0" y="0"/>
          <a:ext cx="0" cy="0"/>
          <a:chOff x="0" y="0"/>
          <a:chExt cx="0" cy="0"/>
        </a:xfrm>
      </p:grpSpPr>
      <p:sp>
        <p:nvSpPr>
          <p:cNvPr id="157" name="Google Shape;157;p25">
            <a:extLst>
              <a:ext uri="{FF2B5EF4-FFF2-40B4-BE49-F238E27FC236}">
                <a16:creationId xmlns:a16="http://schemas.microsoft.com/office/drawing/2014/main" id="{0F7E68FF-AE4A-06DE-3B83-AA1288D551EE}"/>
              </a:ext>
            </a:extLst>
          </p:cNvPr>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Three distinct markets</a:t>
            </a:r>
            <a:endParaRPr lang="en-US" dirty="0"/>
          </a:p>
        </p:txBody>
      </p:sp>
      <p:sp>
        <p:nvSpPr>
          <p:cNvPr id="158" name="Google Shape;158;p25">
            <a:extLst>
              <a:ext uri="{FF2B5EF4-FFF2-40B4-BE49-F238E27FC236}">
                <a16:creationId xmlns:a16="http://schemas.microsoft.com/office/drawing/2014/main" id="{F9494F4E-BCA0-137F-3B10-602EBC7EB93E}"/>
              </a:ext>
            </a:extLst>
          </p:cNvPr>
          <p:cNvSpPr txBox="1">
            <a:spLocks noGrp="1"/>
          </p:cNvSpPr>
          <p:nvPr>
            <p:ph type="body" idx="1"/>
          </p:nvPr>
        </p:nvSpPr>
        <p:spPr>
          <a:xfrm>
            <a:off x="729450" y="1926474"/>
            <a:ext cx="7489990" cy="2981588"/>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US" sz="2000" dirty="0"/>
              <a:t>O5 and below</a:t>
            </a:r>
          </a:p>
          <a:p>
            <a:pPr marL="457200" lvl="0" indent="-311150" algn="l" rtl="0">
              <a:spcBef>
                <a:spcPts val="0"/>
              </a:spcBef>
              <a:spcAft>
                <a:spcPts val="0"/>
              </a:spcAft>
              <a:buSzPts val="1300"/>
              <a:buChar char="●"/>
            </a:pPr>
            <a:r>
              <a:rPr lang="en-US" sz="2000" dirty="0"/>
              <a:t>O6</a:t>
            </a:r>
          </a:p>
          <a:p>
            <a:r>
              <a:rPr lang="en-US" sz="2000" dirty="0"/>
              <a:t>New accessions (USCGA, OCS, DCO)</a:t>
            </a:r>
          </a:p>
        </p:txBody>
      </p:sp>
    </p:spTree>
    <p:extLst>
      <p:ext uri="{BB962C8B-B14F-4D97-AF65-F5344CB8AC3E}">
        <p14:creationId xmlns:p14="http://schemas.microsoft.com/office/powerpoint/2010/main" val="30905483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Framing: O5 and below Assignments (beta-test)</a:t>
            </a:r>
            <a:endParaRPr dirty="0"/>
          </a:p>
        </p:txBody>
      </p:sp>
      <p:sp>
        <p:nvSpPr>
          <p:cNvPr id="158" name="Google Shape;158;p25"/>
          <p:cNvSpPr txBox="1">
            <a:spLocks noGrp="1"/>
          </p:cNvSpPr>
          <p:nvPr>
            <p:ph type="body" idx="1"/>
          </p:nvPr>
        </p:nvSpPr>
        <p:spPr>
          <a:xfrm>
            <a:off x="729450" y="1926474"/>
            <a:ext cx="7489990" cy="2981588"/>
          </a:xfrm>
          <a:prstGeom prst="rect">
            <a:avLst/>
          </a:prstGeom>
        </p:spPr>
        <p:txBody>
          <a:bodyPr spcFirstLastPara="1" wrap="square" lIns="91425" tIns="91425" rIns="91425" bIns="91425" anchor="t" anchorCtr="0">
            <a:noAutofit/>
          </a:bodyPr>
          <a:lstStyle/>
          <a:p>
            <a:r>
              <a:rPr lang="en-US" sz="1800" dirty="0"/>
              <a:t>For this algorithm to work well, we need rank-ordered preferences of both sides of the market. We have this from officers (E-Resumes) but not yet from the jobs</a:t>
            </a:r>
          </a:p>
          <a:p>
            <a:r>
              <a:rPr lang="en-US" sz="1800" dirty="0"/>
              <a:t>Develop a mental model for how the AOs evaluate candidates and make assignments, use this as a proxy for how jobs “rank” candidates</a:t>
            </a:r>
          </a:p>
          <a:p>
            <a:r>
              <a:rPr lang="en-US" sz="1800" dirty="0"/>
              <a:t>Code the software program and algorithm to make assignments in a way that follows the current AO process as closely as possible</a:t>
            </a:r>
          </a:p>
          <a:p>
            <a:r>
              <a:rPr lang="en-US" sz="1800" dirty="0"/>
              <a:t>Validated assumptions regularly with AOs</a:t>
            </a:r>
          </a:p>
          <a:p>
            <a:endParaRPr sz="1800" dirty="0"/>
          </a:p>
        </p:txBody>
      </p:sp>
      <p:sp>
        <p:nvSpPr>
          <p:cNvPr id="2" name="TextBox 1">
            <a:extLst>
              <a:ext uri="{FF2B5EF4-FFF2-40B4-BE49-F238E27FC236}">
                <a16:creationId xmlns:a16="http://schemas.microsoft.com/office/drawing/2014/main" id="{467365DD-CDB9-E493-626B-E27656ED481F}"/>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Tree>
    <p:extLst>
      <p:ext uri="{BB962C8B-B14F-4D97-AF65-F5344CB8AC3E}">
        <p14:creationId xmlns:p14="http://schemas.microsoft.com/office/powerpoint/2010/main" val="26613953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Inputs</a:t>
            </a:r>
            <a:endParaRPr dirty="0"/>
          </a:p>
        </p:txBody>
      </p:sp>
      <p:grpSp>
        <p:nvGrpSpPr>
          <p:cNvPr id="24" name="Group 23">
            <a:extLst>
              <a:ext uri="{FF2B5EF4-FFF2-40B4-BE49-F238E27FC236}">
                <a16:creationId xmlns:a16="http://schemas.microsoft.com/office/drawing/2014/main" id="{7D6E7F85-55FC-F8E8-A641-E053B773664E}"/>
              </a:ext>
            </a:extLst>
          </p:cNvPr>
          <p:cNvGrpSpPr/>
          <p:nvPr/>
        </p:nvGrpSpPr>
        <p:grpSpPr>
          <a:xfrm>
            <a:off x="1844563" y="2003622"/>
            <a:ext cx="5454874" cy="2957356"/>
            <a:chOff x="1962805" y="2003622"/>
            <a:chExt cx="5454874" cy="2957356"/>
          </a:xfrm>
        </p:grpSpPr>
        <p:sp>
          <p:nvSpPr>
            <p:cNvPr id="4" name="Rectangle: Rounded Corners 3">
              <a:extLst>
                <a:ext uri="{FF2B5EF4-FFF2-40B4-BE49-F238E27FC236}">
                  <a16:creationId xmlns:a16="http://schemas.microsoft.com/office/drawing/2014/main" id="{14F6A20A-F471-C309-46CF-07FD3C9D407A}"/>
                </a:ext>
              </a:extLst>
            </p:cNvPr>
            <p:cNvSpPr/>
            <p:nvPr/>
          </p:nvSpPr>
          <p:spPr>
            <a:xfrm>
              <a:off x="1962806" y="2003622"/>
              <a:ext cx="2522483" cy="1029502"/>
            </a:xfrm>
            <a:prstGeom prst="roundRect">
              <a:avLst/>
            </a:prstGeom>
            <a:solidFill>
              <a:srgbClr val="1A9988"/>
            </a:solidFill>
            <a:ln>
              <a:solidFill>
                <a:srgbClr val="1A99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latin typeface="Garamond" panose="02020404030301010803" pitchFamily="18" charset="0"/>
                </a:rPr>
                <a:t>Employees</a:t>
              </a:r>
              <a:endParaRPr lang="en-US" sz="3600" b="1" dirty="0">
                <a:solidFill>
                  <a:schemeClr val="bg2"/>
                </a:solidFill>
                <a:latin typeface="Garamond" panose="02020404030301010803" pitchFamily="18" charset="0"/>
              </a:endParaRPr>
            </a:p>
          </p:txBody>
        </p:sp>
        <p:sp>
          <p:nvSpPr>
            <p:cNvPr id="8" name="Rectangle: Rounded Corners 7">
              <a:extLst>
                <a:ext uri="{FF2B5EF4-FFF2-40B4-BE49-F238E27FC236}">
                  <a16:creationId xmlns:a16="http://schemas.microsoft.com/office/drawing/2014/main" id="{981A1D1F-C24E-30CF-CA8E-74D550001E8F}"/>
                </a:ext>
              </a:extLst>
            </p:cNvPr>
            <p:cNvSpPr/>
            <p:nvPr/>
          </p:nvSpPr>
          <p:spPr>
            <a:xfrm>
              <a:off x="1962805" y="3765169"/>
              <a:ext cx="2522484" cy="553191"/>
            </a:xfrm>
            <a:prstGeom prst="roundRect">
              <a:avLst/>
            </a:prstGeom>
            <a:solidFill>
              <a:srgbClr val="1A9988"/>
            </a:solidFill>
            <a:ln>
              <a:solidFill>
                <a:srgbClr val="1A99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Garamond" panose="02020404030301010803" pitchFamily="18" charset="0"/>
                </a:rPr>
                <a:t>E-Resumes (Dream Sheets)</a:t>
              </a:r>
              <a:endParaRPr lang="en-US" dirty="0">
                <a:solidFill>
                  <a:schemeClr val="bg2"/>
                </a:solidFill>
                <a:latin typeface="Garamond" panose="02020404030301010803" pitchFamily="18" charset="0"/>
              </a:endParaRPr>
            </a:p>
          </p:txBody>
        </p:sp>
        <p:cxnSp>
          <p:nvCxnSpPr>
            <p:cNvPr id="16" name="Straight Connector 15">
              <a:extLst>
                <a:ext uri="{FF2B5EF4-FFF2-40B4-BE49-F238E27FC236}">
                  <a16:creationId xmlns:a16="http://schemas.microsoft.com/office/drawing/2014/main" id="{348F989E-0556-46BD-A556-042D81B71278}"/>
                </a:ext>
              </a:extLst>
            </p:cNvPr>
            <p:cNvCxnSpPr>
              <a:cxnSpLocks/>
              <a:stCxn id="4" idx="3"/>
              <a:endCxn id="22" idx="1"/>
            </p:cNvCxnSpPr>
            <p:nvPr/>
          </p:nvCxnSpPr>
          <p:spPr>
            <a:xfrm>
              <a:off x="4485289" y="2518373"/>
              <a:ext cx="40990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C61007E8-F426-A3C4-3DA5-029087928212}"/>
                </a:ext>
              </a:extLst>
            </p:cNvPr>
            <p:cNvSpPr/>
            <p:nvPr/>
          </p:nvSpPr>
          <p:spPr>
            <a:xfrm>
              <a:off x="1962805" y="3122551"/>
              <a:ext cx="2522484" cy="553191"/>
            </a:xfrm>
            <a:prstGeom prst="roundRect">
              <a:avLst/>
            </a:prstGeom>
            <a:solidFill>
              <a:srgbClr val="1A9988"/>
            </a:solidFill>
            <a:ln>
              <a:solidFill>
                <a:srgbClr val="1A99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Garamond" panose="02020404030301010803" pitchFamily="18" charset="0"/>
                </a:rPr>
                <a:t>Employee Qualification Data</a:t>
              </a:r>
              <a:endParaRPr lang="en-US" dirty="0">
                <a:solidFill>
                  <a:schemeClr val="bg2"/>
                </a:solidFill>
                <a:latin typeface="Garamond" panose="02020404030301010803" pitchFamily="18" charset="0"/>
              </a:endParaRPr>
            </a:p>
          </p:txBody>
        </p:sp>
        <p:sp>
          <p:nvSpPr>
            <p:cNvPr id="19" name="Rectangle: Rounded Corners 18">
              <a:extLst>
                <a:ext uri="{FF2B5EF4-FFF2-40B4-BE49-F238E27FC236}">
                  <a16:creationId xmlns:a16="http://schemas.microsoft.com/office/drawing/2014/main" id="{FCC805C5-62A2-29C5-CF7B-E8B94072FD32}"/>
                </a:ext>
              </a:extLst>
            </p:cNvPr>
            <p:cNvSpPr/>
            <p:nvPr/>
          </p:nvSpPr>
          <p:spPr>
            <a:xfrm>
              <a:off x="1962805" y="4407787"/>
              <a:ext cx="2522484" cy="553191"/>
            </a:xfrm>
            <a:prstGeom prst="roundRect">
              <a:avLst/>
            </a:prstGeom>
            <a:solidFill>
              <a:srgbClr val="1A9988"/>
            </a:solidFill>
            <a:ln>
              <a:solidFill>
                <a:srgbClr val="1A99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Garamond" panose="02020404030301010803" pitchFamily="18" charset="0"/>
                </a:rPr>
                <a:t>Employee OER Data</a:t>
              </a:r>
              <a:endParaRPr lang="en-US" dirty="0">
                <a:solidFill>
                  <a:schemeClr val="bg2"/>
                </a:solidFill>
                <a:latin typeface="Garamond" panose="02020404030301010803" pitchFamily="18" charset="0"/>
              </a:endParaRPr>
            </a:p>
          </p:txBody>
        </p:sp>
        <p:sp>
          <p:nvSpPr>
            <p:cNvPr id="20" name="Rectangle: Rounded Corners 19">
              <a:extLst>
                <a:ext uri="{FF2B5EF4-FFF2-40B4-BE49-F238E27FC236}">
                  <a16:creationId xmlns:a16="http://schemas.microsoft.com/office/drawing/2014/main" id="{5A1342E9-437D-0BDD-B851-BEF15F9EF761}"/>
                </a:ext>
              </a:extLst>
            </p:cNvPr>
            <p:cNvSpPr/>
            <p:nvPr/>
          </p:nvSpPr>
          <p:spPr>
            <a:xfrm>
              <a:off x="4895195" y="3128175"/>
              <a:ext cx="2522484" cy="553191"/>
            </a:xfrm>
            <a:prstGeom prst="roundRect">
              <a:avLst/>
            </a:prstGeom>
            <a:solidFill>
              <a:srgbClr val="EB5600"/>
            </a:solidFill>
            <a:ln>
              <a:solidFill>
                <a:srgbClr val="EB5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Garamond" panose="02020404030301010803" pitchFamily="18" charset="0"/>
                </a:rPr>
                <a:t>Job Requirements Data</a:t>
              </a:r>
              <a:endParaRPr lang="en-US" dirty="0">
                <a:solidFill>
                  <a:schemeClr val="bg2"/>
                </a:solidFill>
                <a:latin typeface="Garamond" panose="02020404030301010803" pitchFamily="18" charset="0"/>
              </a:endParaRPr>
            </a:p>
          </p:txBody>
        </p:sp>
        <p:sp>
          <p:nvSpPr>
            <p:cNvPr id="22" name="Rectangle: Rounded Corners 21">
              <a:extLst>
                <a:ext uri="{FF2B5EF4-FFF2-40B4-BE49-F238E27FC236}">
                  <a16:creationId xmlns:a16="http://schemas.microsoft.com/office/drawing/2014/main" id="{B1642AC3-C750-E4D5-0293-7A6EAD834A79}"/>
                </a:ext>
              </a:extLst>
            </p:cNvPr>
            <p:cNvSpPr/>
            <p:nvPr/>
          </p:nvSpPr>
          <p:spPr>
            <a:xfrm>
              <a:off x="4895195" y="2003622"/>
              <a:ext cx="2522483" cy="1029502"/>
            </a:xfrm>
            <a:prstGeom prst="roundRect">
              <a:avLst/>
            </a:prstGeom>
            <a:solidFill>
              <a:srgbClr val="EB5600"/>
            </a:solidFill>
            <a:ln>
              <a:solidFill>
                <a:srgbClr val="EB5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latin typeface="Garamond" panose="02020404030301010803" pitchFamily="18" charset="0"/>
                </a:rPr>
                <a:t>Jobs</a:t>
              </a:r>
              <a:endParaRPr lang="en-US" sz="3600" b="1" dirty="0">
                <a:solidFill>
                  <a:schemeClr val="bg2"/>
                </a:solidFill>
                <a:latin typeface="Garamond" panose="02020404030301010803" pitchFamily="18" charset="0"/>
              </a:endParaRPr>
            </a:p>
          </p:txBody>
        </p:sp>
      </p:grpSp>
    </p:spTree>
    <p:extLst>
      <p:ext uri="{BB962C8B-B14F-4D97-AF65-F5344CB8AC3E}">
        <p14:creationId xmlns:p14="http://schemas.microsoft.com/office/powerpoint/2010/main" val="19420523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9450" y="1221938"/>
            <a:ext cx="7688700" cy="747542"/>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Framing: Mirroring the current AO workflow:</a:t>
            </a:r>
            <a:endParaRPr dirty="0"/>
          </a:p>
        </p:txBody>
      </p:sp>
      <mc:AlternateContent xmlns:mc="http://schemas.openxmlformats.org/markup-compatibility/2006" xmlns:a14="http://schemas.microsoft.com/office/drawing/2010/main">
        <mc:Choice Requires="a14">
          <p:sp>
            <p:nvSpPr>
              <p:cNvPr id="93" name="Google Shape;93;p14"/>
              <p:cNvSpPr txBox="1">
                <a:spLocks noGrp="1"/>
              </p:cNvSpPr>
              <p:nvPr>
                <p:ph type="body" idx="1"/>
              </p:nvPr>
            </p:nvSpPr>
            <p:spPr>
              <a:xfrm>
                <a:off x="359019" y="1704815"/>
                <a:ext cx="8429561" cy="3350762"/>
              </a:xfrm>
              <a:prstGeom prst="rect">
                <a:avLst/>
              </a:prstGeom>
            </p:spPr>
            <p:txBody>
              <a:bodyPr spcFirstLastPara="1" wrap="square" lIns="91425" tIns="91425" rIns="91425" bIns="91425" anchor="t" anchorCtr="0">
                <a:normAutofit/>
              </a:bodyPr>
              <a:lstStyle/>
              <a:p>
                <a:pPr marL="146050" lvl="0" indent="0" algn="l" rtl="0">
                  <a:lnSpc>
                    <a:spcPct val="150000"/>
                  </a:lnSpc>
                  <a:spcBef>
                    <a:spcPts val="0"/>
                  </a:spcBef>
                  <a:spcAft>
                    <a:spcPts val="0"/>
                  </a:spcAft>
                  <a:buSzPts val="1300"/>
                  <a:buNone/>
                </a:pPr>
                <a:r>
                  <a:rPr lang="en-US" sz="2000" u="sng" dirty="0"/>
                  <a:t>In this order</a:t>
                </a:r>
                <a:r>
                  <a:rPr lang="en-US" sz="2000" dirty="0"/>
                  <a:t>, the model makes assignments based on:</a:t>
                </a:r>
              </a:p>
              <a:p>
                <a:pPr marL="488950" lvl="0" indent="-342900" algn="l" rtl="0">
                  <a:lnSpc>
                    <a:spcPct val="150000"/>
                  </a:lnSpc>
                  <a:spcBef>
                    <a:spcPts val="0"/>
                  </a:spcBef>
                  <a:spcAft>
                    <a:spcPts val="0"/>
                  </a:spcAft>
                  <a:buSzPts val="1300"/>
                  <a:buFont typeface="+mj-lt"/>
                  <a:buAutoNum type="arabicPeriod"/>
                </a:pPr>
                <a:r>
                  <a:rPr lang="en-US" sz="1600" dirty="0"/>
                  <a:t>How the officer ranked that billet on their e-resume (easy assignment, no “collisions”)</a:t>
                </a:r>
              </a:p>
              <a:p>
                <a:pPr marL="488950" lvl="0" indent="-342900">
                  <a:lnSpc>
                    <a:spcPct val="100000"/>
                  </a:lnSpc>
                  <a:buFont typeface="+mj-lt"/>
                  <a:buAutoNum type="arabicPeriod"/>
                </a:pPr>
                <a:r>
                  <a:rPr lang="en-US" sz="1600" dirty="0"/>
                  <a:t>How qualified the officer is for that billet:</a:t>
                </a:r>
              </a:p>
              <a:p>
                <a:pPr marL="146050" lvl="0" indent="0">
                  <a:lnSpc>
                    <a:spcPct val="100000"/>
                  </a:lnSpc>
                  <a:buNone/>
                </a:pPr>
                <a:endParaRPr lang="en-US" sz="1700" b="0" i="1" dirty="0">
                  <a:latin typeface="Cambria Math" panose="02040503050406030204" pitchFamily="18" charset="0"/>
                </a:endParaRPr>
              </a:p>
              <a:p>
                <a:pPr marL="146050" lvl="0" indent="0">
                  <a:lnSpc>
                    <a:spcPct val="100000"/>
                  </a:lnSpc>
                  <a:buNone/>
                </a:pPr>
                <a14:m>
                  <m:oMathPara xmlns:m="http://schemas.openxmlformats.org/officeDocument/2006/math">
                    <m:oMathParaPr>
                      <m:jc m:val="centerGroup"/>
                    </m:oMathParaPr>
                    <m:oMath xmlns:m="http://schemas.openxmlformats.org/officeDocument/2006/math">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𝑄𝑢𝑎𝑙𝑖𝑓𝑖𝑐𝑎𝑡𝑖𝑜𝑛𝑆𝑐𝑜𝑟𝑒</m:t>
                          </m:r>
                        </m:e>
                        <m:sub>
                          <m:r>
                            <a:rPr lang="en-US" sz="1700" b="0" i="1" smtClean="0">
                              <a:latin typeface="Cambria Math" panose="02040503050406030204" pitchFamily="18" charset="0"/>
                            </a:rPr>
                            <m:t>𝑒</m:t>
                          </m:r>
                          <m:r>
                            <a:rPr lang="en-US" sz="1700" b="0" i="1" smtClean="0">
                              <a:latin typeface="Cambria Math" panose="02040503050406030204" pitchFamily="18" charset="0"/>
                            </a:rPr>
                            <m:t>,</m:t>
                          </m:r>
                          <m:r>
                            <a:rPr lang="en-US" sz="1700" b="0" i="1" smtClean="0">
                              <a:latin typeface="Cambria Math" panose="02040503050406030204" pitchFamily="18" charset="0"/>
                            </a:rPr>
                            <m:t>𝑗</m:t>
                          </m:r>
                        </m:sub>
                      </m:sSub>
                      <m:r>
                        <a:rPr lang="en-US" sz="1700" b="0" i="1" smtClean="0">
                          <a:latin typeface="Cambria Math" panose="02040503050406030204" pitchFamily="18" charset="0"/>
                        </a:rPr>
                        <m:t>= </m:t>
                      </m:r>
                      <m:f>
                        <m:fPr>
                          <m:ctrlPr>
                            <a:rPr lang="en-US" sz="1700" b="0" i="1" smtClean="0">
                              <a:latin typeface="Cambria Math" panose="02040503050406030204" pitchFamily="18" charset="0"/>
                            </a:rPr>
                          </m:ctrlPr>
                        </m:fPr>
                        <m:num>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m:t>
                              </m:r>
                            </m:e>
                            <m:sub>
                              <m:r>
                                <a:rPr lang="en-US" sz="1700" b="0" i="1" smtClean="0">
                                  <a:latin typeface="Cambria Math" panose="02040503050406030204" pitchFamily="18" charset="0"/>
                                </a:rPr>
                                <m:t>𝑐</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𝑄</m:t>
                                  </m:r>
                                </m:e>
                                <m:sub>
                                  <m:r>
                                    <a:rPr lang="en-US" sz="1700" b="0" i="1" smtClean="0">
                                      <a:latin typeface="Cambria Math" panose="02040503050406030204" pitchFamily="18" charset="0"/>
                                    </a:rPr>
                                    <m:t>𝑒</m:t>
                                  </m:r>
                                </m:sub>
                              </m:sSub>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𝐶</m:t>
                                  </m:r>
                                </m:e>
                                <m:sub>
                                  <m:r>
                                    <a:rPr lang="en-US" sz="1700" b="0" i="1" smtClean="0">
                                      <a:latin typeface="Cambria Math" panose="02040503050406030204" pitchFamily="18" charset="0"/>
                                    </a:rPr>
                                    <m:t>𝑗</m:t>
                                  </m:r>
                                </m:sub>
                              </m:sSub>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𝑉</m:t>
                              </m:r>
                            </m:e>
                            <m:sub>
                              <m:r>
                                <a:rPr lang="en-US" sz="1700" b="0" i="1" smtClean="0">
                                  <a:latin typeface="Cambria Math" panose="02040503050406030204" pitchFamily="18" charset="0"/>
                                </a:rPr>
                                <m:t>𝑐</m:t>
                              </m:r>
                            </m:sub>
                          </m:sSub>
                        </m:num>
                        <m:den>
                          <m:sSub>
                            <m:sSubPr>
                              <m:ctrlPr>
                                <a:rPr lang="en-US" sz="1700" i="1">
                                  <a:latin typeface="Cambria Math" panose="02040503050406030204" pitchFamily="18" charset="0"/>
                                </a:rPr>
                              </m:ctrlPr>
                            </m:sSubPr>
                            <m:e>
                              <m:r>
                                <a:rPr lang="en-US" sz="1700" i="1">
                                  <a:latin typeface="Cambria Math" panose="02040503050406030204" pitchFamily="18" charset="0"/>
                                </a:rPr>
                                <m:t>∑</m:t>
                              </m:r>
                            </m:e>
                            <m:sub>
                              <m:r>
                                <a:rPr lang="en-US" sz="1700" i="1">
                                  <a:latin typeface="Cambria Math" panose="02040503050406030204" pitchFamily="18" charset="0"/>
                                </a:rPr>
                                <m:t>𝑐</m:t>
                              </m:r>
                              <m:r>
                                <a:rPr lang="en-US" sz="1700" i="1">
                                  <a:latin typeface="Cambria Math" panose="02040503050406030204" pitchFamily="18" charset="0"/>
                                </a:rPr>
                                <m:t>∈</m:t>
                              </m:r>
                              <m:sSub>
                                <m:sSubPr>
                                  <m:ctrlPr>
                                    <a:rPr lang="en-US" sz="1700" i="1">
                                      <a:latin typeface="Cambria Math" panose="02040503050406030204" pitchFamily="18" charset="0"/>
                                    </a:rPr>
                                  </m:ctrlPr>
                                </m:sSubPr>
                                <m:e>
                                  <m:r>
                                    <a:rPr lang="en-US" sz="1700" i="1">
                                      <a:latin typeface="Cambria Math" panose="02040503050406030204" pitchFamily="18" charset="0"/>
                                    </a:rPr>
                                    <m:t>𝐶</m:t>
                                  </m:r>
                                </m:e>
                                <m:sub>
                                  <m:r>
                                    <a:rPr lang="en-US" sz="1700" i="1">
                                      <a:latin typeface="Cambria Math" panose="02040503050406030204" pitchFamily="18" charset="0"/>
                                    </a:rPr>
                                    <m:t>𝑗</m:t>
                                  </m:r>
                                </m:sub>
                              </m:sSub>
                            </m:sub>
                          </m:sSub>
                          <m:sSub>
                            <m:sSubPr>
                              <m:ctrlPr>
                                <a:rPr lang="en-US" sz="1700" i="1">
                                  <a:latin typeface="Cambria Math" panose="02040503050406030204" pitchFamily="18" charset="0"/>
                                </a:rPr>
                              </m:ctrlPr>
                            </m:sSubPr>
                            <m:e>
                              <m:r>
                                <a:rPr lang="en-US" sz="1700" i="1">
                                  <a:latin typeface="Cambria Math" panose="02040503050406030204" pitchFamily="18" charset="0"/>
                                </a:rPr>
                                <m:t>𝑉</m:t>
                              </m:r>
                            </m:e>
                            <m:sub>
                              <m:r>
                                <a:rPr lang="en-US" sz="1700" i="1">
                                  <a:latin typeface="Cambria Math" panose="02040503050406030204" pitchFamily="18" charset="0"/>
                                </a:rPr>
                                <m:t>𝑐</m:t>
                              </m:r>
                            </m:sub>
                          </m:sSub>
                        </m:den>
                      </m:f>
                      <m:r>
                        <a:rPr lang="en-US" sz="1700" b="0" i="1" smtClean="0">
                          <a:latin typeface="Cambria Math" panose="02040503050406030204" pitchFamily="18" charset="0"/>
                        </a:rPr>
                        <m:t>∈[0,1]</m:t>
                      </m:r>
                    </m:oMath>
                  </m:oMathPara>
                </a14:m>
                <a:endParaRPr lang="en-US" sz="1700" dirty="0"/>
              </a:p>
              <a:p>
                <a:pPr marL="488950" lvl="0" indent="-342900">
                  <a:lnSpc>
                    <a:spcPct val="100000"/>
                  </a:lnSpc>
                  <a:buFont typeface="+mj-lt"/>
                  <a:buAutoNum type="arabicPeriod" startAt="3"/>
                </a:pPr>
                <a:endParaRPr lang="en-US" sz="1600" dirty="0"/>
              </a:p>
              <a:p>
                <a:pPr marL="488950" lvl="0" indent="-342900">
                  <a:lnSpc>
                    <a:spcPct val="100000"/>
                  </a:lnSpc>
                  <a:buFont typeface="+mj-lt"/>
                  <a:buAutoNum type="arabicPeriod" startAt="3"/>
                </a:pPr>
                <a:r>
                  <a:rPr lang="en-US" sz="1600" dirty="0"/>
                  <a:t>The officer’s average, normalized, marks on their Officer Evaluation Reports (OERs):</a:t>
                </a:r>
              </a:p>
              <a:p>
                <a:pPr marL="146050" lvl="0" indent="0">
                  <a:lnSpc>
                    <a:spcPct val="100000"/>
                  </a:lnSpc>
                  <a:buNone/>
                </a:pPr>
                <a:endParaRPr lang="en-US" sz="1600" dirty="0"/>
              </a:p>
              <a:p>
                <a:pPr marL="146050" lvl="0" indent="0" algn="ctr">
                  <a:lnSpc>
                    <a:spcPct val="100000"/>
                  </a:lnSpc>
                  <a:buNone/>
                </a:pPr>
                <a:r>
                  <a:rPr lang="en-US" sz="1700" dirty="0"/>
                  <a:t> </a:t>
                </a:r>
                <a14:m>
                  <m:oMath xmlns:m="http://schemas.openxmlformats.org/officeDocument/2006/math">
                    <m:r>
                      <a:rPr lang="en-US" sz="1700" b="0" i="1" smtClean="0">
                        <a:latin typeface="Cambria Math" panose="02040503050406030204" pitchFamily="18" charset="0"/>
                      </a:rPr>
                      <m:t>𝑁𝑜𝑟𝑚𝐴𝑣𝑔𝑂𝑒𝑟</m:t>
                    </m:r>
                    <m:r>
                      <m:rPr>
                        <m:sty m:val="p"/>
                      </m:rPr>
                      <a:rPr lang="en-US" sz="1700" b="0" i="0" smtClean="0">
                        <a:latin typeface="Cambria Math" panose="02040503050406030204" pitchFamily="18" charset="0"/>
                      </a:rPr>
                      <m:t>S</m:t>
                    </m:r>
                    <m:r>
                      <a:rPr lang="en-US" sz="1700" b="0" i="1" smtClean="0">
                        <a:latin typeface="Cambria Math" panose="02040503050406030204" pitchFamily="18" charset="0"/>
                      </a:rPr>
                      <m:t>𝑐𝑜𝑟𝑒</m:t>
                    </m:r>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𝑒</m:t>
                        </m:r>
                      </m:e>
                    </m:d>
                    <m:r>
                      <a:rPr lang="en-US" sz="1700" b="0" i="1" smtClean="0">
                        <a:latin typeface="Cambria Math" panose="02040503050406030204" pitchFamily="18" charset="0"/>
                      </a:rPr>
                      <m:t>= </m:t>
                    </m:r>
                    <m:f>
                      <m:fPr>
                        <m:ctrlPr>
                          <a:rPr lang="en-US" sz="1700" i="1" smtClean="0">
                            <a:latin typeface="Cambria Math" panose="02040503050406030204" pitchFamily="18" charset="0"/>
                          </a:rPr>
                        </m:ctrlPr>
                      </m:fPr>
                      <m:num>
                        <m:nary>
                          <m:naryPr>
                            <m:chr m:val="∑"/>
                            <m:supHide m:val="on"/>
                            <m:ctrlPr>
                              <a:rPr lang="en-US" sz="1700" i="1">
                                <a:latin typeface="Cambria Math" panose="02040503050406030204" pitchFamily="18" charset="0"/>
                              </a:rPr>
                            </m:ctrlPr>
                          </m:naryPr>
                          <m:sub>
                            <m:r>
                              <m:rPr>
                                <m:brk m:alnAt="7"/>
                              </m:rPr>
                              <a:rPr lang="en-US" sz="1700" i="1">
                                <a:latin typeface="Cambria Math" panose="02040503050406030204" pitchFamily="18" charset="0"/>
                              </a:rPr>
                              <m:t>𝑟</m:t>
                            </m:r>
                            <m:r>
                              <a:rPr lang="en-US" sz="1700" i="1">
                                <a:latin typeface="Cambria Math" panose="02040503050406030204" pitchFamily="18" charset="0"/>
                              </a:rPr>
                              <m:t>∈</m:t>
                            </m:r>
                            <m:r>
                              <a:rPr lang="en-US" sz="1700" i="1">
                                <a:latin typeface="Cambria Math" panose="02040503050406030204" pitchFamily="18" charset="0"/>
                              </a:rPr>
                              <m:t>𝑅</m:t>
                            </m:r>
                            <m:d>
                              <m:dPr>
                                <m:ctrlPr>
                                  <a:rPr lang="en-US" sz="1700" i="1">
                                    <a:latin typeface="Cambria Math" panose="02040503050406030204" pitchFamily="18" charset="0"/>
                                  </a:rPr>
                                </m:ctrlPr>
                              </m:dPr>
                              <m:e>
                                <m:r>
                                  <a:rPr lang="en-US" sz="1700" i="1">
                                    <a:latin typeface="Cambria Math" panose="02040503050406030204" pitchFamily="18" charset="0"/>
                                  </a:rPr>
                                  <m:t>𝑒</m:t>
                                </m:r>
                              </m:e>
                            </m:d>
                          </m:sub>
                          <m:sup/>
                          <m:e>
                            <m:r>
                              <a:rPr lang="en-US" sz="1700" i="1">
                                <a:latin typeface="Cambria Math" panose="02040503050406030204" pitchFamily="18" charset="0"/>
                              </a:rPr>
                              <m:t>𝑟</m:t>
                            </m:r>
                          </m:e>
                        </m:nary>
                      </m:num>
                      <m:den>
                        <m:sSub>
                          <m:sSubPr>
                            <m:ctrlPr>
                              <a:rPr lang="en-US" sz="1700" i="1">
                                <a:latin typeface="Cambria Math" panose="02040503050406030204" pitchFamily="18" charset="0"/>
                              </a:rPr>
                            </m:ctrlPr>
                          </m:sSubPr>
                          <m:e>
                            <m:d>
                              <m:dPr>
                                <m:begChr m:val="|"/>
                                <m:endChr m:val="|"/>
                                <m:ctrlPr>
                                  <a:rPr lang="en-US" sz="1700" b="0" i="1" smtClean="0">
                                    <a:latin typeface="Cambria Math" panose="02040503050406030204" pitchFamily="18" charset="0"/>
                                  </a:rPr>
                                </m:ctrlPr>
                              </m:dPr>
                              <m:e>
                                <m:r>
                                  <a:rPr lang="en-US" sz="1700" b="0" i="1" smtClean="0">
                                    <a:latin typeface="Cambria Math" panose="02040503050406030204" pitchFamily="18" charset="0"/>
                                  </a:rPr>
                                  <m:t>𝑅</m:t>
                                </m:r>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𝑒</m:t>
                                    </m:r>
                                  </m:e>
                                </m:d>
                              </m:e>
                            </m:d>
                            <m:r>
                              <a:rPr lang="en-US" sz="1700" b="0" i="1" smtClean="0">
                                <a:latin typeface="Cambria Math" panose="02040503050406030204" pitchFamily="18" charset="0"/>
                              </a:rPr>
                              <m:t> ⋅ </m:t>
                            </m:r>
                            <m:r>
                              <a:rPr lang="en-US" sz="1700" i="1">
                                <a:latin typeface="Cambria Math" panose="02040503050406030204" pitchFamily="18" charset="0"/>
                              </a:rPr>
                              <m:t>𝑚𝑎𝑥</m:t>
                            </m:r>
                          </m:e>
                          <m:sub>
                            <m:r>
                              <a:rPr lang="en-US" sz="1700" i="1">
                                <a:latin typeface="Cambria Math" panose="02040503050406030204" pitchFamily="18" charset="0"/>
                              </a:rPr>
                              <m:t>𝑟</m:t>
                            </m:r>
                            <m:r>
                              <a:rPr lang="en-US" sz="1700" i="1">
                                <a:latin typeface="Cambria Math" panose="02040503050406030204" pitchFamily="18" charset="0"/>
                              </a:rPr>
                              <m:t>∈</m:t>
                            </m:r>
                            <m:r>
                              <a:rPr lang="en-US" sz="1700" i="1">
                                <a:latin typeface="Cambria Math" panose="02040503050406030204" pitchFamily="18" charset="0"/>
                              </a:rPr>
                              <m:t>𝑅</m:t>
                            </m:r>
                          </m:sub>
                        </m:sSub>
                        <m:r>
                          <a:rPr lang="en-US" sz="1700" i="1">
                            <a:latin typeface="Cambria Math" panose="02040503050406030204" pitchFamily="18" charset="0"/>
                          </a:rPr>
                          <m:t> </m:t>
                        </m:r>
                        <m:r>
                          <a:rPr lang="en-US" sz="1700" i="1">
                            <a:latin typeface="Cambria Math" panose="02040503050406030204" pitchFamily="18" charset="0"/>
                          </a:rPr>
                          <m:t>𝑟</m:t>
                        </m:r>
                      </m:den>
                    </m:f>
                    <m:r>
                      <a:rPr lang="en-US" sz="1700" b="0" i="1" smtClean="0">
                        <a:latin typeface="Cambria Math" panose="02040503050406030204" pitchFamily="18" charset="0"/>
                      </a:rPr>
                      <m:t>∈[0,1]</m:t>
                    </m:r>
                  </m:oMath>
                </a14:m>
                <a:endParaRPr lang="en-US" sz="1700" dirty="0"/>
              </a:p>
            </p:txBody>
          </p:sp>
        </mc:Choice>
        <mc:Fallback xmlns="">
          <p:sp>
            <p:nvSpPr>
              <p:cNvPr id="93" name="Google Shape;93;p14"/>
              <p:cNvSpPr txBox="1">
                <a:spLocks noGrp="1" noRot="1" noChangeAspect="1" noMove="1" noResize="1" noEditPoints="1" noAdjustHandles="1" noChangeArrowheads="1" noChangeShapeType="1" noTextEdit="1"/>
              </p:cNvSpPr>
              <p:nvPr>
                <p:ph type="body" idx="1"/>
              </p:nvPr>
            </p:nvSpPr>
            <p:spPr>
              <a:xfrm>
                <a:off x="359019" y="1704815"/>
                <a:ext cx="8429561" cy="3350762"/>
              </a:xfrm>
              <a:prstGeom prst="rect">
                <a:avLst/>
              </a:prstGeom>
              <a:blipFill>
                <a:blip r:embed="rId3"/>
                <a:stretch>
                  <a:fillRect/>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B91E1FE0-0AF4-31DA-DE0B-FFD1ADCDA8DE}"/>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3" name="Rectangle 2">
            <a:extLst>
              <a:ext uri="{FF2B5EF4-FFF2-40B4-BE49-F238E27FC236}">
                <a16:creationId xmlns:a16="http://schemas.microsoft.com/office/drawing/2014/main" id="{8FBA6EB8-E5B4-0D00-22E0-38F2092EB654}"/>
              </a:ext>
            </a:extLst>
          </p:cNvPr>
          <p:cNvSpPr/>
          <p:nvPr/>
        </p:nvSpPr>
        <p:spPr>
          <a:xfrm>
            <a:off x="2315497" y="3077821"/>
            <a:ext cx="4358148" cy="747542"/>
          </a:xfrm>
          <a:prstGeom prst="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C1C578A-2A1D-49EF-9139-B59A8B56D2CF}"/>
              </a:ext>
            </a:extLst>
          </p:cNvPr>
          <p:cNvSpPr/>
          <p:nvPr/>
        </p:nvSpPr>
        <p:spPr>
          <a:xfrm>
            <a:off x="2396274" y="4409269"/>
            <a:ext cx="4550044" cy="646308"/>
          </a:xfrm>
          <a:prstGeom prst="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85410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9450" y="60647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Current Methodology: computing qual scores</a:t>
            </a:r>
            <a:endParaRPr dirty="0"/>
          </a:p>
        </p:txBody>
      </p:sp>
      <p:pic>
        <p:nvPicPr>
          <p:cNvPr id="3" name="Picture 2"/>
          <p:cNvPicPr>
            <a:picLocks noChangeAspect="1"/>
          </p:cNvPicPr>
          <p:nvPr/>
        </p:nvPicPr>
        <p:blipFill>
          <a:blip r:embed="rId3"/>
          <a:stretch>
            <a:fillRect/>
          </a:stretch>
        </p:blipFill>
        <p:spPr>
          <a:xfrm>
            <a:off x="266770" y="2460443"/>
            <a:ext cx="8614059" cy="845467"/>
          </a:xfrm>
          <a:prstGeom prst="rect">
            <a:avLst/>
          </a:prstGeom>
        </p:spPr>
      </p:pic>
      <mc:AlternateContent xmlns:mc="http://schemas.openxmlformats.org/markup-compatibility/2006" xmlns:a14="http://schemas.microsoft.com/office/drawing/2010/main">
        <mc:Choice Requires="a14">
          <p:sp>
            <p:nvSpPr>
              <p:cNvPr id="7" name="Google Shape;93;p14"/>
              <p:cNvSpPr txBox="1">
                <a:spLocks noGrp="1"/>
              </p:cNvSpPr>
              <p:nvPr>
                <p:ph type="body" idx="1"/>
              </p:nvPr>
            </p:nvSpPr>
            <p:spPr>
              <a:xfrm>
                <a:off x="140677" y="3353316"/>
                <a:ext cx="8818685" cy="1667092"/>
              </a:xfrm>
              <a:prstGeom prst="rect">
                <a:avLst/>
              </a:prstGeom>
            </p:spPr>
            <p:txBody>
              <a:bodyPr spcFirstLastPara="1" wrap="square" lIns="91425" tIns="91425" rIns="91425" bIns="91425" anchor="t" anchorCtr="0">
                <a:normAutofit fontScale="77500" lnSpcReduction="20000"/>
              </a:bodyPr>
              <a:lstStyle/>
              <a:p>
                <a:pPr marL="457200" lvl="0" indent="-311150" algn="l" rtl="0">
                  <a:lnSpc>
                    <a:spcPct val="150000"/>
                  </a:lnSpc>
                  <a:spcBef>
                    <a:spcPts val="0"/>
                  </a:spcBef>
                  <a:spcAft>
                    <a:spcPts val="0"/>
                  </a:spcAft>
                  <a:buSzPts val="1300"/>
                  <a:buChar char="●"/>
                </a:pPr>
                <a:r>
                  <a:rPr lang="en-US" sz="1600" dirty="0"/>
                  <a:t>Top is employee record. Bottom is billet role. Model cross checks each competency tied to the billet and checks to see if it’s in the employee’s record. If it is, the employee gets “credit” for having that competency, and their qualification score increases proportionally to the “</a:t>
                </a:r>
                <a:r>
                  <a:rPr lang="en-US" sz="1600" dirty="0" err="1"/>
                  <a:t>ImportanceCode</a:t>
                </a:r>
                <a:r>
                  <a:rPr lang="en-US" sz="1600" dirty="0"/>
                  <a:t>.”*</a:t>
                </a:r>
              </a:p>
              <a:p>
                <a:pPr marL="457200" lvl="0" indent="-311150" algn="l" rtl="0">
                  <a:lnSpc>
                    <a:spcPct val="150000"/>
                  </a:lnSpc>
                  <a:spcBef>
                    <a:spcPts val="0"/>
                  </a:spcBef>
                  <a:spcAft>
                    <a:spcPts val="0"/>
                  </a:spcAft>
                  <a:buSzPts val="1300"/>
                  <a:buChar char="●"/>
                </a:pPr>
                <a:r>
                  <a:rPr lang="en-US" sz="1600" dirty="0"/>
                  <a:t>In this example, qualification score would be </a:t>
                </a:r>
                <a14:m>
                  <m:oMath xmlns:m="http://schemas.openxmlformats.org/officeDocument/2006/math">
                    <m:f>
                      <m:fPr>
                        <m:ctrlPr>
                          <a:rPr lang="en-US" sz="1600" b="1" i="1" smtClean="0">
                            <a:latin typeface="Cambria Math" panose="02040503050406030204" pitchFamily="18" charset="0"/>
                          </a:rPr>
                        </m:ctrlPr>
                      </m:fPr>
                      <m:num>
                        <m:r>
                          <a:rPr lang="en-US" sz="1600" b="1" i="1" smtClean="0">
                            <a:latin typeface="Cambria Math" panose="02040503050406030204" pitchFamily="18" charset="0"/>
                          </a:rPr>
                          <m:t>𝟓</m:t>
                        </m:r>
                      </m:num>
                      <m:den>
                        <m:r>
                          <a:rPr lang="en-US" sz="1600" b="1" i="1" smtClean="0">
                            <a:latin typeface="Cambria Math" panose="02040503050406030204" pitchFamily="18" charset="0"/>
                          </a:rPr>
                          <m:t>𝟏𝟏</m:t>
                        </m:r>
                      </m:den>
                    </m:f>
                    <m:r>
                      <a:rPr lang="en-US" sz="1600" b="1" i="1" smtClean="0">
                        <a:latin typeface="Cambria Math" panose="02040503050406030204" pitchFamily="18" charset="0"/>
                      </a:rPr>
                      <m:t>=</m:t>
                    </m:r>
                    <m:r>
                      <a:rPr lang="en-US" sz="1600" b="1" i="1" smtClean="0">
                        <a:latin typeface="Cambria Math" panose="02040503050406030204" pitchFamily="18" charset="0"/>
                      </a:rPr>
                      <m:t>𝟎</m:t>
                    </m:r>
                    <m:r>
                      <a:rPr lang="en-US" sz="1600" b="1" i="1" smtClean="0">
                        <a:latin typeface="Cambria Math" panose="02040503050406030204" pitchFamily="18" charset="0"/>
                      </a:rPr>
                      <m:t>.</m:t>
                    </m:r>
                    <m:r>
                      <a:rPr lang="en-US" sz="1600" b="1" i="1" smtClean="0">
                        <a:latin typeface="Cambria Math" panose="02040503050406030204" pitchFamily="18" charset="0"/>
                      </a:rPr>
                      <m:t>𝟒𝟓𝟒𝟓</m:t>
                    </m:r>
                    <m:r>
                      <a:rPr lang="en-US" sz="1600" b="0" i="0" smtClean="0">
                        <a:latin typeface="Cambria Math" panose="02040503050406030204" pitchFamily="18" charset="0"/>
                      </a:rPr>
                      <m:t>.</m:t>
                    </m:r>
                  </m:oMath>
                </a14:m>
                <a:r>
                  <a:rPr lang="en-US" sz="1600" dirty="0"/>
                  <a:t> 5 because I have the ORANLST competency with </a:t>
                </a:r>
                <a:r>
                  <a:rPr lang="en-US" sz="1600" dirty="0" err="1"/>
                  <a:t>ImportanceCode</a:t>
                </a:r>
                <a:r>
                  <a:rPr lang="en-US" sz="1600" dirty="0"/>
                  <a:t> 5 (and nothing else), and 11 because that is the sum of all </a:t>
                </a:r>
                <a:r>
                  <a:rPr lang="en-US" sz="1600" dirty="0" err="1"/>
                  <a:t>ImportanceCode’s</a:t>
                </a:r>
                <a:r>
                  <a:rPr lang="en-US" sz="1600" dirty="0"/>
                  <a:t> for this billet. </a:t>
                </a:r>
              </a:p>
              <a:p>
                <a:pPr marL="457200" lvl="0" indent="-311150" algn="l" rtl="0">
                  <a:lnSpc>
                    <a:spcPct val="150000"/>
                  </a:lnSpc>
                  <a:spcBef>
                    <a:spcPts val="0"/>
                  </a:spcBef>
                  <a:spcAft>
                    <a:spcPts val="0"/>
                  </a:spcAft>
                  <a:buSzPts val="1300"/>
                  <a:buChar char="●"/>
                </a:pPr>
                <a:endParaRPr lang="en-US" sz="1600" dirty="0"/>
              </a:p>
              <a:p>
                <a:pPr marL="457200" lvl="0" indent="-311150" algn="l" rtl="0">
                  <a:lnSpc>
                    <a:spcPct val="150000"/>
                  </a:lnSpc>
                  <a:spcBef>
                    <a:spcPts val="0"/>
                  </a:spcBef>
                  <a:spcAft>
                    <a:spcPts val="0"/>
                  </a:spcAft>
                  <a:buSzPts val="1300"/>
                  <a:buChar char="●"/>
                </a:pPr>
                <a:endParaRPr lang="en-US" sz="1600" dirty="0"/>
              </a:p>
              <a:p>
                <a:pPr marL="457200" lvl="0" indent="-311150" algn="l" rtl="0">
                  <a:lnSpc>
                    <a:spcPct val="150000"/>
                  </a:lnSpc>
                  <a:spcBef>
                    <a:spcPts val="0"/>
                  </a:spcBef>
                  <a:spcAft>
                    <a:spcPts val="0"/>
                  </a:spcAft>
                  <a:buSzPts val="1300"/>
                  <a:buChar char="●"/>
                </a:pPr>
                <a:endParaRPr lang="en-US" sz="1600" dirty="0"/>
              </a:p>
              <a:p>
                <a:pPr marL="457200" lvl="0" indent="-311150" algn="l" rtl="0">
                  <a:lnSpc>
                    <a:spcPct val="150000"/>
                  </a:lnSpc>
                  <a:spcBef>
                    <a:spcPts val="0"/>
                  </a:spcBef>
                  <a:spcAft>
                    <a:spcPts val="0"/>
                  </a:spcAft>
                  <a:buSzPts val="1300"/>
                  <a:buChar char="●"/>
                </a:pPr>
                <a:endParaRPr lang="en-US" sz="1600" dirty="0"/>
              </a:p>
            </p:txBody>
          </p:sp>
        </mc:Choice>
        <mc:Fallback xmlns="">
          <p:sp>
            <p:nvSpPr>
              <p:cNvPr id="7" name="Google Shape;93;p14"/>
              <p:cNvSpPr txBox="1">
                <a:spLocks noGrp="1" noRot="1" noChangeAspect="1" noMove="1" noResize="1" noEditPoints="1" noAdjustHandles="1" noChangeArrowheads="1" noChangeShapeType="1" noTextEdit="1"/>
              </p:cNvSpPr>
              <p:nvPr>
                <p:ph type="body" idx="1"/>
              </p:nvPr>
            </p:nvSpPr>
            <p:spPr>
              <a:xfrm>
                <a:off x="140677" y="3353316"/>
                <a:ext cx="8818685" cy="1667092"/>
              </a:xfrm>
              <a:prstGeom prst="rect">
                <a:avLst/>
              </a:prstGeom>
              <a:blipFill>
                <a:blip r:embed="rId4"/>
                <a:stretch>
                  <a:fillRect/>
                </a:stretch>
              </a:blipFill>
            </p:spPr>
            <p:txBody>
              <a:bodyPr/>
              <a:lstStyle/>
              <a:p>
                <a:r>
                  <a:rPr lang="en-US">
                    <a:noFill/>
                  </a:rPr>
                  <a:t> </a:t>
                </a:r>
              </a:p>
            </p:txBody>
          </p:sp>
        </mc:Fallback>
      </mc:AlternateContent>
      <p:pic>
        <p:nvPicPr>
          <p:cNvPr id="5" name="Picture 4"/>
          <p:cNvPicPr>
            <a:picLocks noChangeAspect="1"/>
          </p:cNvPicPr>
          <p:nvPr/>
        </p:nvPicPr>
        <p:blipFill>
          <a:blip r:embed="rId5"/>
          <a:stretch>
            <a:fillRect/>
          </a:stretch>
        </p:blipFill>
        <p:spPr>
          <a:xfrm>
            <a:off x="337106" y="1300667"/>
            <a:ext cx="8420030" cy="1112370"/>
          </a:xfrm>
          <a:prstGeom prst="rect">
            <a:avLst/>
          </a:prstGeom>
        </p:spPr>
      </p:pic>
      <p:sp>
        <p:nvSpPr>
          <p:cNvPr id="2" name="Rectangle 1"/>
          <p:cNvSpPr/>
          <p:nvPr/>
        </p:nvSpPr>
        <p:spPr>
          <a:xfrm>
            <a:off x="1204547" y="1529862"/>
            <a:ext cx="416169" cy="8743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790056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9450" y="60647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Current Methodology: computing qual scores</a:t>
            </a:r>
            <a:endParaRPr dirty="0"/>
          </a:p>
        </p:txBody>
      </p:sp>
      <p:pic>
        <p:nvPicPr>
          <p:cNvPr id="3" name="Picture 2"/>
          <p:cNvPicPr>
            <a:picLocks noChangeAspect="1"/>
          </p:cNvPicPr>
          <p:nvPr/>
        </p:nvPicPr>
        <p:blipFill>
          <a:blip r:embed="rId3"/>
          <a:stretch>
            <a:fillRect/>
          </a:stretch>
        </p:blipFill>
        <p:spPr>
          <a:xfrm>
            <a:off x="266770" y="2460443"/>
            <a:ext cx="8614059" cy="845467"/>
          </a:xfrm>
          <a:prstGeom prst="rect">
            <a:avLst/>
          </a:prstGeom>
        </p:spPr>
      </p:pic>
      <mc:AlternateContent xmlns:mc="http://schemas.openxmlformats.org/markup-compatibility/2006" xmlns:a14="http://schemas.microsoft.com/office/drawing/2010/main">
        <mc:Choice Requires="a14">
          <p:sp>
            <p:nvSpPr>
              <p:cNvPr id="7" name="Google Shape;93;p14"/>
              <p:cNvSpPr txBox="1">
                <a:spLocks noGrp="1"/>
              </p:cNvSpPr>
              <p:nvPr>
                <p:ph type="body" idx="1"/>
              </p:nvPr>
            </p:nvSpPr>
            <p:spPr>
              <a:xfrm>
                <a:off x="140677" y="3353316"/>
                <a:ext cx="8818685" cy="1667092"/>
              </a:xfrm>
              <a:prstGeom prst="rect">
                <a:avLst/>
              </a:prstGeom>
            </p:spPr>
            <p:txBody>
              <a:bodyPr spcFirstLastPara="1" wrap="square" lIns="91425" tIns="91425" rIns="91425" bIns="91425" anchor="t" anchorCtr="0">
                <a:normAutofit fontScale="77500" lnSpcReduction="20000"/>
              </a:bodyPr>
              <a:lstStyle/>
              <a:p>
                <a:pPr marL="457200" lvl="0" indent="-311150" algn="l" rtl="0">
                  <a:lnSpc>
                    <a:spcPct val="150000"/>
                  </a:lnSpc>
                  <a:spcBef>
                    <a:spcPts val="0"/>
                  </a:spcBef>
                  <a:spcAft>
                    <a:spcPts val="0"/>
                  </a:spcAft>
                  <a:buSzPts val="1300"/>
                  <a:buChar char="●"/>
                </a:pPr>
                <a:r>
                  <a:rPr lang="en-US" sz="1600" dirty="0"/>
                  <a:t>Top is employee record. Bottom is billet role. Model cross checks each competency tied to the billet and checks to see if it’s in the employee’s record. If it is, the employee gets “credit” for having that competency, and their qualification score increases proportionally to the “</a:t>
                </a:r>
                <a:r>
                  <a:rPr lang="en-US" sz="1600" dirty="0" err="1"/>
                  <a:t>ImportanceCode</a:t>
                </a:r>
                <a:r>
                  <a:rPr lang="en-US" sz="1600" dirty="0"/>
                  <a:t>.”*</a:t>
                </a:r>
              </a:p>
              <a:p>
                <a:pPr marL="457200" lvl="0" indent="-311150" algn="l" rtl="0">
                  <a:lnSpc>
                    <a:spcPct val="150000"/>
                  </a:lnSpc>
                  <a:spcBef>
                    <a:spcPts val="0"/>
                  </a:spcBef>
                  <a:spcAft>
                    <a:spcPts val="0"/>
                  </a:spcAft>
                  <a:buSzPts val="1300"/>
                  <a:buChar char="●"/>
                </a:pPr>
                <a:r>
                  <a:rPr lang="en-US" sz="1600" dirty="0"/>
                  <a:t>In this example, qualification score would be </a:t>
                </a:r>
                <a14:m>
                  <m:oMath xmlns:m="http://schemas.openxmlformats.org/officeDocument/2006/math">
                    <m:f>
                      <m:fPr>
                        <m:ctrlPr>
                          <a:rPr lang="en-US" sz="1600" b="1" i="1" smtClean="0">
                            <a:latin typeface="Cambria Math" panose="02040503050406030204" pitchFamily="18" charset="0"/>
                          </a:rPr>
                        </m:ctrlPr>
                      </m:fPr>
                      <m:num>
                        <m:r>
                          <a:rPr lang="en-US" sz="1600" b="1" i="1" smtClean="0">
                            <a:latin typeface="Cambria Math" panose="02040503050406030204" pitchFamily="18" charset="0"/>
                          </a:rPr>
                          <m:t>𝟓</m:t>
                        </m:r>
                      </m:num>
                      <m:den>
                        <m:r>
                          <a:rPr lang="en-US" sz="1600" b="1" i="1" smtClean="0">
                            <a:latin typeface="Cambria Math" panose="02040503050406030204" pitchFamily="18" charset="0"/>
                          </a:rPr>
                          <m:t>𝟏𝟏</m:t>
                        </m:r>
                      </m:den>
                    </m:f>
                    <m:r>
                      <a:rPr lang="en-US" sz="1600" b="1" i="1" smtClean="0">
                        <a:latin typeface="Cambria Math" panose="02040503050406030204" pitchFamily="18" charset="0"/>
                      </a:rPr>
                      <m:t>=</m:t>
                    </m:r>
                    <m:r>
                      <a:rPr lang="en-US" sz="1600" b="1" i="1" smtClean="0">
                        <a:latin typeface="Cambria Math" panose="02040503050406030204" pitchFamily="18" charset="0"/>
                      </a:rPr>
                      <m:t>𝟎</m:t>
                    </m:r>
                    <m:r>
                      <a:rPr lang="en-US" sz="1600" b="1" i="1" smtClean="0">
                        <a:latin typeface="Cambria Math" panose="02040503050406030204" pitchFamily="18" charset="0"/>
                      </a:rPr>
                      <m:t>.</m:t>
                    </m:r>
                    <m:r>
                      <a:rPr lang="en-US" sz="1600" b="1" i="1" smtClean="0">
                        <a:latin typeface="Cambria Math" panose="02040503050406030204" pitchFamily="18" charset="0"/>
                      </a:rPr>
                      <m:t>𝟒𝟓𝟒𝟓</m:t>
                    </m:r>
                    <m:r>
                      <a:rPr lang="en-US" sz="1600" b="0" i="0" smtClean="0">
                        <a:latin typeface="Cambria Math" panose="02040503050406030204" pitchFamily="18" charset="0"/>
                      </a:rPr>
                      <m:t>.</m:t>
                    </m:r>
                  </m:oMath>
                </a14:m>
                <a:r>
                  <a:rPr lang="en-US" sz="1600" dirty="0"/>
                  <a:t> 5 because I have the ORANLST competency with </a:t>
                </a:r>
                <a:r>
                  <a:rPr lang="en-US" sz="1600" dirty="0" err="1"/>
                  <a:t>ImportanceCode</a:t>
                </a:r>
                <a:r>
                  <a:rPr lang="en-US" sz="1600" dirty="0"/>
                  <a:t> 5 (and nothing else), and 11 because that is the sum of all </a:t>
                </a:r>
                <a:r>
                  <a:rPr lang="en-US" sz="1600" dirty="0" err="1"/>
                  <a:t>ImportanceCode’s</a:t>
                </a:r>
                <a:r>
                  <a:rPr lang="en-US" sz="1600" dirty="0"/>
                  <a:t> for this billet. </a:t>
                </a:r>
              </a:p>
              <a:p>
                <a:pPr marL="457200" lvl="0" indent="-311150" algn="l" rtl="0">
                  <a:lnSpc>
                    <a:spcPct val="150000"/>
                  </a:lnSpc>
                  <a:spcBef>
                    <a:spcPts val="0"/>
                  </a:spcBef>
                  <a:spcAft>
                    <a:spcPts val="0"/>
                  </a:spcAft>
                  <a:buSzPts val="1300"/>
                  <a:buChar char="●"/>
                </a:pPr>
                <a:endParaRPr lang="en-US" sz="1600" dirty="0"/>
              </a:p>
              <a:p>
                <a:pPr marL="457200" lvl="0" indent="-311150" algn="l" rtl="0">
                  <a:lnSpc>
                    <a:spcPct val="150000"/>
                  </a:lnSpc>
                  <a:spcBef>
                    <a:spcPts val="0"/>
                  </a:spcBef>
                  <a:spcAft>
                    <a:spcPts val="0"/>
                  </a:spcAft>
                  <a:buSzPts val="1300"/>
                  <a:buChar char="●"/>
                </a:pPr>
                <a:endParaRPr lang="en-US" sz="1600" dirty="0"/>
              </a:p>
              <a:p>
                <a:pPr marL="457200" lvl="0" indent="-311150" algn="l" rtl="0">
                  <a:lnSpc>
                    <a:spcPct val="150000"/>
                  </a:lnSpc>
                  <a:spcBef>
                    <a:spcPts val="0"/>
                  </a:spcBef>
                  <a:spcAft>
                    <a:spcPts val="0"/>
                  </a:spcAft>
                  <a:buSzPts val="1300"/>
                  <a:buChar char="●"/>
                </a:pPr>
                <a:endParaRPr lang="en-US" sz="1600" dirty="0"/>
              </a:p>
              <a:p>
                <a:pPr marL="457200" lvl="0" indent="-311150" algn="l" rtl="0">
                  <a:lnSpc>
                    <a:spcPct val="150000"/>
                  </a:lnSpc>
                  <a:spcBef>
                    <a:spcPts val="0"/>
                  </a:spcBef>
                  <a:spcAft>
                    <a:spcPts val="0"/>
                  </a:spcAft>
                  <a:buSzPts val="1300"/>
                  <a:buChar char="●"/>
                </a:pPr>
                <a:endParaRPr lang="en-US" sz="1600" dirty="0"/>
              </a:p>
            </p:txBody>
          </p:sp>
        </mc:Choice>
        <mc:Fallback xmlns="">
          <p:sp>
            <p:nvSpPr>
              <p:cNvPr id="7" name="Google Shape;93;p14"/>
              <p:cNvSpPr txBox="1">
                <a:spLocks noGrp="1" noRot="1" noChangeAspect="1" noMove="1" noResize="1" noEditPoints="1" noAdjustHandles="1" noChangeArrowheads="1" noChangeShapeType="1" noTextEdit="1"/>
              </p:cNvSpPr>
              <p:nvPr>
                <p:ph type="body" idx="1"/>
              </p:nvPr>
            </p:nvSpPr>
            <p:spPr>
              <a:xfrm>
                <a:off x="140677" y="3353316"/>
                <a:ext cx="8818685" cy="1667092"/>
              </a:xfrm>
              <a:prstGeom prst="rect">
                <a:avLst/>
              </a:prstGeom>
              <a:blipFill>
                <a:blip r:embed="rId4"/>
                <a:stretch>
                  <a:fillRect/>
                </a:stretch>
              </a:blipFill>
            </p:spPr>
            <p:txBody>
              <a:bodyPr/>
              <a:lstStyle/>
              <a:p>
                <a:r>
                  <a:rPr lang="en-US">
                    <a:noFill/>
                  </a:rPr>
                  <a:t> </a:t>
                </a:r>
              </a:p>
            </p:txBody>
          </p:sp>
        </mc:Fallback>
      </mc:AlternateContent>
      <p:pic>
        <p:nvPicPr>
          <p:cNvPr id="5" name="Picture 4"/>
          <p:cNvPicPr>
            <a:picLocks noChangeAspect="1"/>
          </p:cNvPicPr>
          <p:nvPr/>
        </p:nvPicPr>
        <p:blipFill>
          <a:blip r:embed="rId5"/>
          <a:stretch>
            <a:fillRect/>
          </a:stretch>
        </p:blipFill>
        <p:spPr>
          <a:xfrm>
            <a:off x="337106" y="1300667"/>
            <a:ext cx="8420030" cy="1112370"/>
          </a:xfrm>
          <a:prstGeom prst="rect">
            <a:avLst/>
          </a:prstGeom>
        </p:spPr>
      </p:pic>
      <p:sp>
        <p:nvSpPr>
          <p:cNvPr id="10" name="Rectangle 9"/>
          <p:cNvSpPr/>
          <p:nvPr/>
        </p:nvSpPr>
        <p:spPr>
          <a:xfrm>
            <a:off x="1647092" y="1300667"/>
            <a:ext cx="849923" cy="111237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1204547" y="1529862"/>
            <a:ext cx="416169" cy="8743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483769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9450" y="60647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Current Methodology: computing qual scores</a:t>
            </a:r>
            <a:endParaRPr dirty="0"/>
          </a:p>
        </p:txBody>
      </p:sp>
      <p:pic>
        <p:nvPicPr>
          <p:cNvPr id="3" name="Picture 2"/>
          <p:cNvPicPr>
            <a:picLocks noChangeAspect="1"/>
          </p:cNvPicPr>
          <p:nvPr/>
        </p:nvPicPr>
        <p:blipFill>
          <a:blip r:embed="rId3"/>
          <a:stretch>
            <a:fillRect/>
          </a:stretch>
        </p:blipFill>
        <p:spPr>
          <a:xfrm>
            <a:off x="266770" y="2460443"/>
            <a:ext cx="8614059" cy="845467"/>
          </a:xfrm>
          <a:prstGeom prst="rect">
            <a:avLst/>
          </a:prstGeom>
        </p:spPr>
      </p:pic>
      <p:sp>
        <p:nvSpPr>
          <p:cNvPr id="4" name="Rectangle 3"/>
          <p:cNvSpPr/>
          <p:nvPr/>
        </p:nvSpPr>
        <p:spPr>
          <a:xfrm>
            <a:off x="6224954" y="2460443"/>
            <a:ext cx="782515" cy="84546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Google Shape;93;p14"/>
              <p:cNvSpPr txBox="1">
                <a:spLocks noGrp="1"/>
              </p:cNvSpPr>
              <p:nvPr>
                <p:ph type="body" idx="1"/>
              </p:nvPr>
            </p:nvSpPr>
            <p:spPr>
              <a:xfrm>
                <a:off x="140677" y="3353316"/>
                <a:ext cx="8818685" cy="1667092"/>
              </a:xfrm>
              <a:prstGeom prst="rect">
                <a:avLst/>
              </a:prstGeom>
            </p:spPr>
            <p:txBody>
              <a:bodyPr spcFirstLastPara="1" wrap="square" lIns="91425" tIns="91425" rIns="91425" bIns="91425" anchor="t" anchorCtr="0">
                <a:normAutofit fontScale="77500" lnSpcReduction="20000"/>
              </a:bodyPr>
              <a:lstStyle/>
              <a:p>
                <a:pPr marL="457200" lvl="0" indent="-311150" algn="l" rtl="0">
                  <a:lnSpc>
                    <a:spcPct val="150000"/>
                  </a:lnSpc>
                  <a:spcBef>
                    <a:spcPts val="0"/>
                  </a:spcBef>
                  <a:spcAft>
                    <a:spcPts val="0"/>
                  </a:spcAft>
                  <a:buSzPts val="1300"/>
                  <a:buChar char="●"/>
                </a:pPr>
                <a:r>
                  <a:rPr lang="en-US" sz="1600" dirty="0"/>
                  <a:t>Top is employee record. Bottom is billet role. Model cross checks each competency tied to the billet and checks to see if it’s in the employee’s record. If it is, the employee gets “credit” for having that competency, and their qualification score increases proportionally to the “</a:t>
                </a:r>
                <a:r>
                  <a:rPr lang="en-US" sz="1600" dirty="0" err="1"/>
                  <a:t>ImportanceCode</a:t>
                </a:r>
                <a:r>
                  <a:rPr lang="en-US" sz="1600" dirty="0"/>
                  <a:t>.”*</a:t>
                </a:r>
              </a:p>
              <a:p>
                <a:pPr marL="457200" lvl="0" indent="-311150" algn="l" rtl="0">
                  <a:lnSpc>
                    <a:spcPct val="150000"/>
                  </a:lnSpc>
                  <a:spcBef>
                    <a:spcPts val="0"/>
                  </a:spcBef>
                  <a:spcAft>
                    <a:spcPts val="0"/>
                  </a:spcAft>
                  <a:buSzPts val="1300"/>
                  <a:buChar char="●"/>
                </a:pPr>
                <a:r>
                  <a:rPr lang="en-US" sz="1600" dirty="0"/>
                  <a:t>In this example, qualification score would be </a:t>
                </a:r>
                <a14:m>
                  <m:oMath xmlns:m="http://schemas.openxmlformats.org/officeDocument/2006/math">
                    <m:f>
                      <m:fPr>
                        <m:ctrlPr>
                          <a:rPr lang="en-US" sz="1600" b="1" i="1" smtClean="0">
                            <a:latin typeface="Cambria Math" panose="02040503050406030204" pitchFamily="18" charset="0"/>
                          </a:rPr>
                        </m:ctrlPr>
                      </m:fPr>
                      <m:num>
                        <m:r>
                          <a:rPr lang="en-US" sz="1600" b="1" i="1" smtClean="0">
                            <a:latin typeface="Cambria Math" panose="02040503050406030204" pitchFamily="18" charset="0"/>
                          </a:rPr>
                          <m:t>𝟓</m:t>
                        </m:r>
                      </m:num>
                      <m:den>
                        <m:r>
                          <a:rPr lang="en-US" sz="1600" b="1" i="1" smtClean="0">
                            <a:latin typeface="Cambria Math" panose="02040503050406030204" pitchFamily="18" charset="0"/>
                          </a:rPr>
                          <m:t>𝟏𝟏</m:t>
                        </m:r>
                      </m:den>
                    </m:f>
                    <m:r>
                      <a:rPr lang="en-US" sz="1600" b="1" i="1" smtClean="0">
                        <a:latin typeface="Cambria Math" panose="02040503050406030204" pitchFamily="18" charset="0"/>
                      </a:rPr>
                      <m:t>=</m:t>
                    </m:r>
                    <m:r>
                      <a:rPr lang="en-US" sz="1600" b="1" i="1" smtClean="0">
                        <a:latin typeface="Cambria Math" panose="02040503050406030204" pitchFamily="18" charset="0"/>
                      </a:rPr>
                      <m:t>𝟎</m:t>
                    </m:r>
                    <m:r>
                      <a:rPr lang="en-US" sz="1600" b="1" i="1" smtClean="0">
                        <a:latin typeface="Cambria Math" panose="02040503050406030204" pitchFamily="18" charset="0"/>
                      </a:rPr>
                      <m:t>.</m:t>
                    </m:r>
                    <m:r>
                      <a:rPr lang="en-US" sz="1600" b="1" i="1" smtClean="0">
                        <a:latin typeface="Cambria Math" panose="02040503050406030204" pitchFamily="18" charset="0"/>
                      </a:rPr>
                      <m:t>𝟒𝟓𝟒𝟓</m:t>
                    </m:r>
                    <m:r>
                      <a:rPr lang="en-US" sz="1600" b="0" i="0" smtClean="0">
                        <a:latin typeface="Cambria Math" panose="02040503050406030204" pitchFamily="18" charset="0"/>
                      </a:rPr>
                      <m:t>.</m:t>
                    </m:r>
                  </m:oMath>
                </a14:m>
                <a:r>
                  <a:rPr lang="en-US" sz="1600" dirty="0"/>
                  <a:t> 5 because I have the ORANLST competency with </a:t>
                </a:r>
                <a:r>
                  <a:rPr lang="en-US" sz="1600" dirty="0" err="1"/>
                  <a:t>ImportanceCode</a:t>
                </a:r>
                <a:r>
                  <a:rPr lang="en-US" sz="1600" dirty="0"/>
                  <a:t> 5 (and nothing else), and 11 because that is the sum of all </a:t>
                </a:r>
                <a:r>
                  <a:rPr lang="en-US" sz="1600" dirty="0" err="1"/>
                  <a:t>ImportanceCode’s</a:t>
                </a:r>
                <a:r>
                  <a:rPr lang="en-US" sz="1600" dirty="0"/>
                  <a:t> for this billet. </a:t>
                </a:r>
              </a:p>
              <a:p>
                <a:pPr marL="146050" indent="0">
                  <a:lnSpc>
                    <a:spcPct val="150000"/>
                  </a:lnSpc>
                  <a:buNone/>
                </a:pPr>
                <a:r>
                  <a:rPr lang="en-US" sz="1200" dirty="0"/>
                  <a:t>*Also</a:t>
                </a:r>
                <a:r>
                  <a:rPr lang="en-US" sz="1200" baseline="0" dirty="0"/>
                  <a:t> gives partial credit for lesser quals, full credit for a higher qual, and having the required (or higher) security clearance also improves a candidates score.</a:t>
                </a:r>
                <a:endParaRPr lang="en-US" sz="1200" dirty="0"/>
              </a:p>
              <a:p>
                <a:pPr marL="146050" lvl="0" indent="0" algn="l" rtl="0">
                  <a:lnSpc>
                    <a:spcPct val="150000"/>
                  </a:lnSpc>
                  <a:spcBef>
                    <a:spcPts val="0"/>
                  </a:spcBef>
                  <a:spcAft>
                    <a:spcPts val="0"/>
                  </a:spcAft>
                  <a:buSzPts val="1300"/>
                  <a:buNone/>
                </a:pPr>
                <a:endParaRPr lang="en-US" sz="1600" dirty="0"/>
              </a:p>
              <a:p>
                <a:pPr marL="457200" lvl="0" indent="-311150" algn="l" rtl="0">
                  <a:lnSpc>
                    <a:spcPct val="150000"/>
                  </a:lnSpc>
                  <a:spcBef>
                    <a:spcPts val="0"/>
                  </a:spcBef>
                  <a:spcAft>
                    <a:spcPts val="0"/>
                  </a:spcAft>
                  <a:buSzPts val="1300"/>
                  <a:buChar char="●"/>
                </a:pPr>
                <a:endParaRPr lang="en-US" sz="1600" dirty="0"/>
              </a:p>
              <a:p>
                <a:pPr marL="457200" lvl="0" indent="-311150" algn="l" rtl="0">
                  <a:lnSpc>
                    <a:spcPct val="150000"/>
                  </a:lnSpc>
                  <a:spcBef>
                    <a:spcPts val="0"/>
                  </a:spcBef>
                  <a:spcAft>
                    <a:spcPts val="0"/>
                  </a:spcAft>
                  <a:buSzPts val="1300"/>
                  <a:buChar char="●"/>
                </a:pPr>
                <a:endParaRPr lang="en-US" sz="1600" dirty="0"/>
              </a:p>
              <a:p>
                <a:pPr marL="457200" lvl="0" indent="-311150" algn="l" rtl="0">
                  <a:lnSpc>
                    <a:spcPct val="150000"/>
                  </a:lnSpc>
                  <a:spcBef>
                    <a:spcPts val="0"/>
                  </a:spcBef>
                  <a:spcAft>
                    <a:spcPts val="0"/>
                  </a:spcAft>
                  <a:buSzPts val="1300"/>
                  <a:buChar char="●"/>
                </a:pPr>
                <a:endParaRPr lang="en-US" sz="1600" dirty="0"/>
              </a:p>
              <a:p>
                <a:pPr marL="457200" lvl="0" indent="-311150" algn="l" rtl="0">
                  <a:lnSpc>
                    <a:spcPct val="150000"/>
                  </a:lnSpc>
                  <a:spcBef>
                    <a:spcPts val="0"/>
                  </a:spcBef>
                  <a:spcAft>
                    <a:spcPts val="0"/>
                  </a:spcAft>
                  <a:buSzPts val="1300"/>
                  <a:buChar char="●"/>
                </a:pPr>
                <a:endParaRPr lang="en-US" sz="1600" dirty="0"/>
              </a:p>
            </p:txBody>
          </p:sp>
        </mc:Choice>
        <mc:Fallback xmlns="">
          <p:sp>
            <p:nvSpPr>
              <p:cNvPr id="7" name="Google Shape;93;p14"/>
              <p:cNvSpPr txBox="1">
                <a:spLocks noGrp="1" noRot="1" noChangeAspect="1" noMove="1" noResize="1" noEditPoints="1" noAdjustHandles="1" noChangeArrowheads="1" noChangeShapeType="1" noTextEdit="1"/>
              </p:cNvSpPr>
              <p:nvPr>
                <p:ph type="body" idx="1"/>
              </p:nvPr>
            </p:nvSpPr>
            <p:spPr>
              <a:xfrm>
                <a:off x="140677" y="3353316"/>
                <a:ext cx="8818685" cy="1667092"/>
              </a:xfrm>
              <a:prstGeom prst="rect">
                <a:avLst/>
              </a:prstGeom>
              <a:blipFill>
                <a:blip r:embed="rId4"/>
                <a:stretch>
                  <a:fillRect/>
                </a:stretch>
              </a:blipFill>
            </p:spPr>
            <p:txBody>
              <a:bodyPr/>
              <a:lstStyle/>
              <a:p>
                <a:r>
                  <a:rPr lang="en-US">
                    <a:noFill/>
                  </a:rPr>
                  <a:t> </a:t>
                </a:r>
              </a:p>
            </p:txBody>
          </p:sp>
        </mc:Fallback>
      </mc:AlternateContent>
      <p:sp>
        <p:nvSpPr>
          <p:cNvPr id="8" name="Rectangle 7"/>
          <p:cNvSpPr/>
          <p:nvPr/>
        </p:nvSpPr>
        <p:spPr>
          <a:xfrm>
            <a:off x="3842238" y="2460443"/>
            <a:ext cx="571501" cy="84546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5"/>
          <a:stretch>
            <a:fillRect/>
          </a:stretch>
        </p:blipFill>
        <p:spPr>
          <a:xfrm>
            <a:off x="337106" y="1300667"/>
            <a:ext cx="8420030" cy="1112370"/>
          </a:xfrm>
          <a:prstGeom prst="rect">
            <a:avLst/>
          </a:prstGeom>
        </p:spPr>
      </p:pic>
      <p:sp>
        <p:nvSpPr>
          <p:cNvPr id="10" name="Rectangle 9"/>
          <p:cNvSpPr/>
          <p:nvPr/>
        </p:nvSpPr>
        <p:spPr>
          <a:xfrm>
            <a:off x="1647092" y="1300667"/>
            <a:ext cx="849923" cy="111237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1204547" y="1529862"/>
            <a:ext cx="416169" cy="8743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37079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9450" y="60647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Current Methodology: computing qual scores</a:t>
            </a:r>
            <a:endParaRPr dirty="0"/>
          </a:p>
        </p:txBody>
      </p:sp>
      <p:pic>
        <p:nvPicPr>
          <p:cNvPr id="3" name="Picture 2"/>
          <p:cNvPicPr>
            <a:picLocks noChangeAspect="1"/>
          </p:cNvPicPr>
          <p:nvPr/>
        </p:nvPicPr>
        <p:blipFill>
          <a:blip r:embed="rId3"/>
          <a:stretch>
            <a:fillRect/>
          </a:stretch>
        </p:blipFill>
        <p:spPr>
          <a:xfrm>
            <a:off x="266770" y="2460443"/>
            <a:ext cx="8614059" cy="845467"/>
          </a:xfrm>
          <a:prstGeom prst="rect">
            <a:avLst/>
          </a:prstGeom>
        </p:spPr>
      </p:pic>
      <p:sp>
        <p:nvSpPr>
          <p:cNvPr id="4" name="Rectangle 3"/>
          <p:cNvSpPr/>
          <p:nvPr/>
        </p:nvSpPr>
        <p:spPr>
          <a:xfrm>
            <a:off x="6224954" y="2460443"/>
            <a:ext cx="782515" cy="84546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842238" y="2460443"/>
            <a:ext cx="571501" cy="84546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4"/>
          <a:stretch>
            <a:fillRect/>
          </a:stretch>
        </p:blipFill>
        <p:spPr>
          <a:xfrm>
            <a:off x="337106" y="1300667"/>
            <a:ext cx="8420030" cy="1112370"/>
          </a:xfrm>
          <a:prstGeom prst="rect">
            <a:avLst/>
          </a:prstGeom>
        </p:spPr>
      </p:pic>
      <p:sp>
        <p:nvSpPr>
          <p:cNvPr id="10" name="Rectangle 9"/>
          <p:cNvSpPr/>
          <p:nvPr/>
        </p:nvSpPr>
        <p:spPr>
          <a:xfrm>
            <a:off x="1647092" y="1300667"/>
            <a:ext cx="849923" cy="111237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1204547" y="1529862"/>
            <a:ext cx="416169" cy="8743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3683970" y="4157033"/>
            <a:ext cx="888036" cy="37999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Google Shape;93;p14">
                <a:extLst>
                  <a:ext uri="{FF2B5EF4-FFF2-40B4-BE49-F238E27FC236}">
                    <a16:creationId xmlns:a16="http://schemas.microsoft.com/office/drawing/2014/main" id="{6CF46235-CA37-6F11-FBDB-AEE318AB6A44}"/>
                  </a:ext>
                </a:extLst>
              </p:cNvPr>
              <p:cNvSpPr txBox="1">
                <a:spLocks/>
              </p:cNvSpPr>
              <p:nvPr/>
            </p:nvSpPr>
            <p:spPr>
              <a:xfrm>
                <a:off x="140677" y="3353316"/>
                <a:ext cx="8818685" cy="1667092"/>
              </a:xfrm>
              <a:prstGeom prst="rect">
                <a:avLst/>
              </a:prstGeom>
              <a:noFill/>
              <a:ln>
                <a:noFill/>
              </a:ln>
            </p:spPr>
            <p:txBody>
              <a:bodyPr spcFirstLastPara="1" wrap="square" lIns="91425" tIns="91425" rIns="91425" bIns="91425" anchor="t" anchorCtr="0">
                <a:normAutofit fontScale="77500" lnSpcReduction="20000"/>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a:lnSpc>
                    <a:spcPct val="150000"/>
                  </a:lnSpc>
                </a:pPr>
                <a:r>
                  <a:rPr lang="en-US" sz="1600" dirty="0"/>
                  <a:t>Top is employee record. Bottom is billet role. Model cross checks each competency tied to the billet and checks to see if it’s in the employee’s record. If it is, the employee gets “credit” for having that competency, and their qualification score increases proportionally to the “</a:t>
                </a:r>
                <a:r>
                  <a:rPr lang="en-US" sz="1600" dirty="0" err="1"/>
                  <a:t>ImportanceCode</a:t>
                </a:r>
                <a:r>
                  <a:rPr lang="en-US" sz="1600" dirty="0"/>
                  <a:t>.”*</a:t>
                </a:r>
              </a:p>
              <a:p>
                <a:pPr>
                  <a:lnSpc>
                    <a:spcPct val="150000"/>
                  </a:lnSpc>
                </a:pPr>
                <a:r>
                  <a:rPr lang="en-US" sz="1600" dirty="0"/>
                  <a:t>In this example, qualification score would be </a:t>
                </a:r>
                <a14:m>
                  <m:oMath xmlns:m="http://schemas.openxmlformats.org/officeDocument/2006/math">
                    <m:f>
                      <m:fPr>
                        <m:ctrlPr>
                          <a:rPr lang="en-US" sz="1600" b="1" i="1" smtClean="0">
                            <a:latin typeface="Cambria Math" panose="02040503050406030204" pitchFamily="18" charset="0"/>
                          </a:rPr>
                        </m:ctrlPr>
                      </m:fPr>
                      <m:num>
                        <m:r>
                          <a:rPr lang="en-US" sz="1600" b="1" i="1" smtClean="0">
                            <a:latin typeface="Cambria Math" panose="02040503050406030204" pitchFamily="18" charset="0"/>
                          </a:rPr>
                          <m:t>𝟓</m:t>
                        </m:r>
                      </m:num>
                      <m:den>
                        <m:r>
                          <a:rPr lang="en-US" sz="1600" b="1" i="1" smtClean="0">
                            <a:latin typeface="Cambria Math" panose="02040503050406030204" pitchFamily="18" charset="0"/>
                          </a:rPr>
                          <m:t>𝟏𝟏</m:t>
                        </m:r>
                      </m:den>
                    </m:f>
                    <m:r>
                      <a:rPr lang="en-US" sz="1600" b="1" i="1" smtClean="0">
                        <a:latin typeface="Cambria Math" panose="02040503050406030204" pitchFamily="18" charset="0"/>
                      </a:rPr>
                      <m:t>=</m:t>
                    </m:r>
                    <m:r>
                      <a:rPr lang="en-US" sz="1600" b="1" i="1" smtClean="0">
                        <a:latin typeface="Cambria Math" panose="02040503050406030204" pitchFamily="18" charset="0"/>
                      </a:rPr>
                      <m:t>𝟎</m:t>
                    </m:r>
                    <m:r>
                      <a:rPr lang="en-US" sz="1600" b="1" i="1" smtClean="0">
                        <a:latin typeface="Cambria Math" panose="02040503050406030204" pitchFamily="18" charset="0"/>
                      </a:rPr>
                      <m:t>.</m:t>
                    </m:r>
                    <m:r>
                      <a:rPr lang="en-US" sz="1600" b="1" i="1" smtClean="0">
                        <a:latin typeface="Cambria Math" panose="02040503050406030204" pitchFamily="18" charset="0"/>
                      </a:rPr>
                      <m:t>𝟒𝟓𝟒𝟓</m:t>
                    </m:r>
                    <m:r>
                      <a:rPr lang="en-US" sz="1600" smtClean="0">
                        <a:latin typeface="Cambria Math" panose="02040503050406030204" pitchFamily="18" charset="0"/>
                      </a:rPr>
                      <m:t>.</m:t>
                    </m:r>
                  </m:oMath>
                </a14:m>
                <a:r>
                  <a:rPr lang="en-US" sz="1600" dirty="0"/>
                  <a:t> 5 because I have the ORANLST competency with </a:t>
                </a:r>
                <a:r>
                  <a:rPr lang="en-US" sz="1600" dirty="0" err="1"/>
                  <a:t>ImportanceCode</a:t>
                </a:r>
                <a:r>
                  <a:rPr lang="en-US" sz="1600" dirty="0"/>
                  <a:t> 5 (and nothing else), and 11 because that is the sum of all </a:t>
                </a:r>
                <a:r>
                  <a:rPr lang="en-US" sz="1600" dirty="0" err="1"/>
                  <a:t>ImportanceCode’s</a:t>
                </a:r>
                <a:r>
                  <a:rPr lang="en-US" sz="1600" dirty="0"/>
                  <a:t> for this billet. </a:t>
                </a:r>
              </a:p>
              <a:p>
                <a:pPr marL="146050" indent="0">
                  <a:lnSpc>
                    <a:spcPct val="150000"/>
                  </a:lnSpc>
                  <a:buFont typeface="Lato"/>
                  <a:buNone/>
                </a:pPr>
                <a:r>
                  <a:rPr lang="en-US" sz="1200" dirty="0"/>
                  <a:t>*Also gives partial credit for lesser quals, full credit for a higher qual, and having the required (or higher) security clearance also improves a candidates score.</a:t>
                </a:r>
                <a:endParaRPr lang="en-US" sz="1600" dirty="0"/>
              </a:p>
            </p:txBody>
          </p:sp>
        </mc:Choice>
        <mc:Fallback xmlns="">
          <p:sp>
            <p:nvSpPr>
              <p:cNvPr id="12" name="Google Shape;93;p14">
                <a:extLst>
                  <a:ext uri="{FF2B5EF4-FFF2-40B4-BE49-F238E27FC236}">
                    <a16:creationId xmlns:a16="http://schemas.microsoft.com/office/drawing/2014/main" id="{6CF46235-CA37-6F11-FBDB-AEE318AB6A44}"/>
                  </a:ext>
                </a:extLst>
              </p:cNvPr>
              <p:cNvSpPr txBox="1">
                <a:spLocks noRot="1" noChangeAspect="1" noMove="1" noResize="1" noEditPoints="1" noAdjustHandles="1" noChangeArrowheads="1" noChangeShapeType="1" noTextEdit="1"/>
              </p:cNvSpPr>
              <p:nvPr/>
            </p:nvSpPr>
            <p:spPr>
              <a:xfrm>
                <a:off x="140677" y="3353316"/>
                <a:ext cx="8818685" cy="1667092"/>
              </a:xfrm>
              <a:prstGeom prst="rect">
                <a:avLst/>
              </a:prstGeom>
              <a:blipFill>
                <a:blip r:embed="rId5"/>
                <a:stretch>
                  <a:fillRect/>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69124234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Findings</a:t>
            </a:r>
            <a:endParaRPr dirty="0"/>
          </a:p>
        </p:txBody>
      </p:sp>
      <p:sp>
        <p:nvSpPr>
          <p:cNvPr id="158" name="Google Shape;158;p25"/>
          <p:cNvSpPr txBox="1">
            <a:spLocks noGrp="1"/>
          </p:cNvSpPr>
          <p:nvPr>
            <p:ph type="body" idx="1"/>
          </p:nvPr>
        </p:nvSpPr>
        <p:spPr>
          <a:xfrm>
            <a:off x="729450" y="1926474"/>
            <a:ext cx="7489990" cy="2981588"/>
          </a:xfrm>
          <a:prstGeom prst="rect">
            <a:avLst/>
          </a:prstGeom>
        </p:spPr>
        <p:txBody>
          <a:bodyPr spcFirstLastPara="1" wrap="square" lIns="91425" tIns="91425" rIns="91425" bIns="91425" anchor="t" anchorCtr="0">
            <a:noAutofit/>
          </a:bodyPr>
          <a:lstStyle/>
          <a:p>
            <a:r>
              <a:rPr lang="en-US" sz="2000" dirty="0"/>
              <a:t>OER scores are inflated, not helpful for differentiating candidates</a:t>
            </a:r>
          </a:p>
          <a:p>
            <a:r>
              <a:rPr lang="en-US" sz="2000" dirty="0"/>
              <a:t>CWO billets lack a “demand” signal (billet requirements)</a:t>
            </a:r>
          </a:p>
          <a:p>
            <a:r>
              <a:rPr lang="en-US" sz="2000" dirty="0"/>
              <a:t>O1-O5 assignments are typically broadening – the CG values diversity of experience, it’s not until O6+ that qualifications are a good proxy for “fit”</a:t>
            </a:r>
          </a:p>
          <a:p>
            <a:r>
              <a:rPr lang="en-US" sz="2000" dirty="0"/>
              <a:t>Better billet “tagging” (staff </a:t>
            </a:r>
            <a:r>
              <a:rPr lang="en-US" sz="2000" dirty="0">
                <a:sym typeface="Wingdings" panose="05000000000000000000" pitchFamily="2" charset="2"/>
              </a:rPr>
              <a:t> ops  staff)</a:t>
            </a:r>
            <a:endParaRPr sz="2000" dirty="0"/>
          </a:p>
        </p:txBody>
      </p:sp>
      <p:sp>
        <p:nvSpPr>
          <p:cNvPr id="2" name="TextBox 1">
            <a:extLst>
              <a:ext uri="{FF2B5EF4-FFF2-40B4-BE49-F238E27FC236}">
                <a16:creationId xmlns:a16="http://schemas.microsoft.com/office/drawing/2014/main" id="{467365DD-CDB9-E493-626B-E27656ED481F}"/>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Tree>
    <p:extLst>
      <p:ext uri="{BB962C8B-B14F-4D97-AF65-F5344CB8AC3E}">
        <p14:creationId xmlns:p14="http://schemas.microsoft.com/office/powerpoint/2010/main" val="159299078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4744D-D213-1D34-A8DA-0DC0EEB9F72C}"/>
              </a:ext>
            </a:extLst>
          </p:cNvPr>
          <p:cNvSpPr>
            <a:spLocks noGrp="1"/>
          </p:cNvSpPr>
          <p:nvPr>
            <p:ph type="title"/>
          </p:nvPr>
        </p:nvSpPr>
        <p:spPr/>
        <p:txBody>
          <a:bodyPr>
            <a:noAutofit/>
          </a:bodyPr>
          <a:lstStyle/>
          <a:p>
            <a:r>
              <a:rPr lang="en" sz="2800" dirty="0"/>
              <a:t>What if we just had jobs “ranking” all people (no proxy)?</a:t>
            </a:r>
            <a:endParaRPr lang="en-US" sz="2800" dirty="0"/>
          </a:p>
        </p:txBody>
      </p:sp>
    </p:spTree>
    <p:extLst>
      <p:ext uri="{BB962C8B-B14F-4D97-AF65-F5344CB8AC3E}">
        <p14:creationId xmlns:p14="http://schemas.microsoft.com/office/powerpoint/2010/main" val="29645479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4BD6D977-3F30-05F7-B650-5F5A87E07538}"/>
            </a:ext>
          </a:extLst>
        </p:cNvPr>
        <p:cNvGrpSpPr/>
        <p:nvPr/>
      </p:nvGrpSpPr>
      <p:grpSpPr>
        <a:xfrm>
          <a:off x="0" y="0"/>
          <a:ext cx="0" cy="0"/>
          <a:chOff x="0" y="0"/>
          <a:chExt cx="0" cy="0"/>
        </a:xfrm>
      </p:grpSpPr>
      <p:sp>
        <p:nvSpPr>
          <p:cNvPr id="98" name="Google Shape;98;p15">
            <a:extLst>
              <a:ext uri="{FF2B5EF4-FFF2-40B4-BE49-F238E27FC236}">
                <a16:creationId xmlns:a16="http://schemas.microsoft.com/office/drawing/2014/main" id="{3245A393-A9CF-0730-C8F0-4996D46AE776}"/>
              </a:ext>
            </a:extLst>
          </p:cNvPr>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Framing: O6 and below Assignments (beta-test)</a:t>
            </a:r>
            <a:endParaRPr dirty="0"/>
          </a:p>
        </p:txBody>
      </p:sp>
      <p:sp>
        <p:nvSpPr>
          <p:cNvPr id="99" name="Google Shape;99;p15">
            <a:extLst>
              <a:ext uri="{FF2B5EF4-FFF2-40B4-BE49-F238E27FC236}">
                <a16:creationId xmlns:a16="http://schemas.microsoft.com/office/drawing/2014/main" id="{E84BF5D5-D34E-4687-6C2F-019C11310C1A}"/>
              </a:ext>
            </a:extLst>
          </p:cNvPr>
          <p:cNvSpPr txBox="1">
            <a:spLocks noGrp="1"/>
          </p:cNvSpPr>
          <p:nvPr>
            <p:ph type="body" idx="1"/>
          </p:nvPr>
        </p:nvSpPr>
        <p:spPr>
          <a:xfrm>
            <a:off x="729450" y="1926475"/>
            <a:ext cx="7688700" cy="2783236"/>
          </a:xfrm>
          <a:prstGeom prst="rect">
            <a:avLst/>
          </a:prstGeom>
        </p:spPr>
        <p:txBody>
          <a:bodyPr spcFirstLastPara="1" wrap="square" lIns="91425" tIns="91425" rIns="91425" bIns="91425" anchor="t" anchorCtr="0">
            <a:noAutofit/>
          </a:bodyPr>
          <a:lstStyle/>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r>
              <a:rPr lang="en-US" sz="1600" dirty="0"/>
              <a:t>For O6 assignments we don’t need a proxy! Flags rank all O6 candidates for every job</a:t>
            </a:r>
          </a:p>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r>
              <a:rPr lang="en-US" sz="1600" dirty="0"/>
              <a:t>For this 2-sided market (O6s </a:t>
            </a:r>
            <a:r>
              <a:rPr lang="en-US" sz="1600" dirty="0" err="1"/>
              <a:t>mbrs</a:t>
            </a:r>
            <a:r>
              <a:rPr lang="en-US" sz="1600" dirty="0"/>
              <a:t> and O6 jobs), just collect E-resumes and Flag preferences, and run the algorithm</a:t>
            </a:r>
          </a:p>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r>
              <a:rPr lang="en-US" sz="1600" dirty="0"/>
              <a:t>Beta-tested in AY25, used modeled assignments to aid the AO assignment process and give recommended matches</a:t>
            </a:r>
          </a:p>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r>
              <a:rPr lang="en-US" sz="1600" dirty="0"/>
              <a:t>&gt;50% of final slate matched algorithm recommendations</a:t>
            </a:r>
          </a:p>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r>
              <a:rPr lang="en-US" sz="1600" dirty="0"/>
              <a:t>Better Flag preferences would improve process</a:t>
            </a:r>
          </a:p>
        </p:txBody>
      </p:sp>
      <p:sp>
        <p:nvSpPr>
          <p:cNvPr id="2" name="TextBox 1">
            <a:extLst>
              <a:ext uri="{FF2B5EF4-FFF2-40B4-BE49-F238E27FC236}">
                <a16:creationId xmlns:a16="http://schemas.microsoft.com/office/drawing/2014/main" id="{C4045E2B-83A1-5872-4431-2C69875CCE66}"/>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Tree>
    <p:extLst>
      <p:ext uri="{BB962C8B-B14F-4D97-AF65-F5344CB8AC3E}">
        <p14:creationId xmlns:p14="http://schemas.microsoft.com/office/powerpoint/2010/main" val="212379597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27EEC-40E3-86E4-0191-4A73C4DB7F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6BDFBF-70A0-6DAE-C676-EFD14498DBB7}"/>
              </a:ext>
            </a:extLst>
          </p:cNvPr>
          <p:cNvSpPr>
            <a:spLocks noGrp="1"/>
          </p:cNvSpPr>
          <p:nvPr>
            <p:ph type="title"/>
          </p:nvPr>
        </p:nvSpPr>
        <p:spPr/>
        <p:txBody>
          <a:bodyPr>
            <a:noAutofit/>
          </a:bodyPr>
          <a:lstStyle/>
          <a:p>
            <a:r>
              <a:rPr lang="en" sz="2800" dirty="0"/>
              <a:t>What if we had strict ranking of all officers?</a:t>
            </a:r>
            <a:endParaRPr lang="en-US" sz="2800" dirty="0"/>
          </a:p>
        </p:txBody>
      </p:sp>
    </p:spTree>
    <p:extLst>
      <p:ext uri="{BB962C8B-B14F-4D97-AF65-F5344CB8AC3E}">
        <p14:creationId xmlns:p14="http://schemas.microsoft.com/office/powerpoint/2010/main" val="132290067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7238BF67-96B7-B31D-F74E-CC534A8B194C}"/>
            </a:ext>
          </a:extLst>
        </p:cNvPr>
        <p:cNvGrpSpPr/>
        <p:nvPr/>
      </p:nvGrpSpPr>
      <p:grpSpPr>
        <a:xfrm>
          <a:off x="0" y="0"/>
          <a:ext cx="0" cy="0"/>
          <a:chOff x="0" y="0"/>
          <a:chExt cx="0" cy="0"/>
        </a:xfrm>
      </p:grpSpPr>
      <p:sp>
        <p:nvSpPr>
          <p:cNvPr id="98" name="Google Shape;98;p15">
            <a:extLst>
              <a:ext uri="{FF2B5EF4-FFF2-40B4-BE49-F238E27FC236}">
                <a16:creationId xmlns:a16="http://schemas.microsoft.com/office/drawing/2014/main" id="{E077F31C-2DF1-3156-65A2-29CFBAD4ACCC}"/>
              </a:ext>
            </a:extLst>
          </p:cNvPr>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Framing: New Accession Assignments</a:t>
            </a:r>
            <a:endParaRPr dirty="0"/>
          </a:p>
        </p:txBody>
      </p:sp>
      <p:sp>
        <p:nvSpPr>
          <p:cNvPr id="99" name="Google Shape;99;p15">
            <a:extLst>
              <a:ext uri="{FF2B5EF4-FFF2-40B4-BE49-F238E27FC236}">
                <a16:creationId xmlns:a16="http://schemas.microsoft.com/office/drawing/2014/main" id="{82F3834A-19C5-09A8-42EA-0CA87C7751F6}"/>
              </a:ext>
            </a:extLst>
          </p:cNvPr>
          <p:cNvSpPr txBox="1">
            <a:spLocks noGrp="1"/>
          </p:cNvSpPr>
          <p:nvPr>
            <p:ph type="body" idx="1"/>
          </p:nvPr>
        </p:nvSpPr>
        <p:spPr>
          <a:xfrm>
            <a:off x="729450" y="1926474"/>
            <a:ext cx="7688700" cy="3075183"/>
          </a:xfrm>
          <a:prstGeom prst="rect">
            <a:avLst/>
          </a:prstGeom>
        </p:spPr>
        <p:txBody>
          <a:bodyPr spcFirstLastPara="1" wrap="square" lIns="91425" tIns="91425" rIns="91425" bIns="91425" anchor="t" anchorCtr="0">
            <a:noAutofit/>
          </a:bodyPr>
          <a:lstStyle/>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r>
              <a:rPr lang="en-US" sz="1600" dirty="0"/>
              <a:t>CGA + OCS assignments! Use class rank to make assignments</a:t>
            </a:r>
          </a:p>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r>
              <a:rPr lang="en-US" sz="1600" dirty="0"/>
              <a:t>Known in the literature as </a:t>
            </a:r>
            <a:r>
              <a:rPr lang="en-US" sz="1600" b="1" u="sng" dirty="0"/>
              <a:t>serial dictatorship</a:t>
            </a:r>
            <a:r>
              <a:rPr lang="en-US" sz="1600" dirty="0"/>
              <a:t> algorithm</a:t>
            </a:r>
          </a:p>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r>
              <a:rPr lang="en-US" sz="1600" dirty="0"/>
              <a:t>Replicating what AOs used to do manually but in code. Reduce 4+ days to a few seconds with option for multiple simulations adjusting constraints</a:t>
            </a:r>
          </a:p>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r>
              <a:rPr lang="en-US" sz="1600" dirty="0"/>
              <a:t>Challenge just becomes coding implementation (e-resumes, program requirements, dynamic gender ratios on cutters, flight panel, cyber panel, COLOs, NOLOs, etc.)</a:t>
            </a:r>
          </a:p>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r>
              <a:rPr lang="en-US" sz="1600" dirty="0"/>
              <a:t>Used successfully for USCGA ‘25 and ‘26, 3 OCS classes</a:t>
            </a:r>
            <a:endParaRPr lang="en-US" sz="1600" b="1" dirty="0"/>
          </a:p>
        </p:txBody>
      </p:sp>
      <p:sp>
        <p:nvSpPr>
          <p:cNvPr id="2" name="TextBox 1">
            <a:extLst>
              <a:ext uri="{FF2B5EF4-FFF2-40B4-BE49-F238E27FC236}">
                <a16:creationId xmlns:a16="http://schemas.microsoft.com/office/drawing/2014/main" id="{405CD191-4393-97FF-C2B2-252C5058FCF6}"/>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Tree>
    <p:extLst>
      <p:ext uri="{BB962C8B-B14F-4D97-AF65-F5344CB8AC3E}">
        <p14:creationId xmlns:p14="http://schemas.microsoft.com/office/powerpoint/2010/main" val="31880418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811EA677-96FE-5556-C186-57AE47A44F3E}"/>
            </a:ext>
          </a:extLst>
        </p:cNvPr>
        <p:cNvGrpSpPr/>
        <p:nvPr/>
      </p:nvGrpSpPr>
      <p:grpSpPr>
        <a:xfrm>
          <a:off x="0" y="0"/>
          <a:ext cx="0" cy="0"/>
          <a:chOff x="0" y="0"/>
          <a:chExt cx="0" cy="0"/>
        </a:xfrm>
      </p:grpSpPr>
      <p:sp>
        <p:nvSpPr>
          <p:cNvPr id="98" name="Google Shape;98;p15">
            <a:extLst>
              <a:ext uri="{FF2B5EF4-FFF2-40B4-BE49-F238E27FC236}">
                <a16:creationId xmlns:a16="http://schemas.microsoft.com/office/drawing/2014/main" id="{CFAD18DD-5880-3D3C-A053-7B8103C624B7}"/>
              </a:ext>
            </a:extLst>
          </p:cNvPr>
          <p:cNvSpPr txBox="1">
            <a:spLocks noGrp="1"/>
          </p:cNvSpPr>
          <p:nvPr>
            <p:ph type="title"/>
          </p:nvPr>
        </p:nvSpPr>
        <p:spPr>
          <a:xfrm>
            <a:off x="2122020" y="1356969"/>
            <a:ext cx="1221512"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2025</a:t>
            </a:r>
            <a:endParaRPr dirty="0"/>
          </a:p>
        </p:txBody>
      </p:sp>
      <p:sp>
        <p:nvSpPr>
          <p:cNvPr id="2" name="TextBox 1">
            <a:extLst>
              <a:ext uri="{FF2B5EF4-FFF2-40B4-BE49-F238E27FC236}">
                <a16:creationId xmlns:a16="http://schemas.microsoft.com/office/drawing/2014/main" id="{E5AFEA08-DDE6-8F0E-9330-02D9EE2D32D3}"/>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graphicFrame>
        <p:nvGraphicFramePr>
          <p:cNvPr id="3" name="Table 2">
            <a:extLst>
              <a:ext uri="{FF2B5EF4-FFF2-40B4-BE49-F238E27FC236}">
                <a16:creationId xmlns:a16="http://schemas.microsoft.com/office/drawing/2014/main" id="{FD4D6E27-9856-15F3-6D24-35DFF31B8132}"/>
              </a:ext>
            </a:extLst>
          </p:cNvPr>
          <p:cNvGraphicFramePr>
            <a:graphicFrameLocks noGrp="1"/>
          </p:cNvGraphicFramePr>
          <p:nvPr/>
        </p:nvGraphicFramePr>
        <p:xfrm>
          <a:off x="1147305" y="2075002"/>
          <a:ext cx="2860713" cy="2429298"/>
        </p:xfrm>
        <a:graphic>
          <a:graphicData uri="http://schemas.openxmlformats.org/drawingml/2006/table">
            <a:tbl>
              <a:tblPr firstRow="1" bandRow="1">
                <a:tableStyleId>{69012ECD-51FC-41F1-AA8D-1B2483CD663E}</a:tableStyleId>
              </a:tblPr>
              <a:tblGrid>
                <a:gridCol w="953571">
                  <a:extLst>
                    <a:ext uri="{9D8B030D-6E8A-4147-A177-3AD203B41FA5}">
                      <a16:colId xmlns:a16="http://schemas.microsoft.com/office/drawing/2014/main" val="3221067772"/>
                    </a:ext>
                  </a:extLst>
                </a:gridCol>
                <a:gridCol w="953571">
                  <a:extLst>
                    <a:ext uri="{9D8B030D-6E8A-4147-A177-3AD203B41FA5}">
                      <a16:colId xmlns:a16="http://schemas.microsoft.com/office/drawing/2014/main" val="2016526925"/>
                    </a:ext>
                  </a:extLst>
                </a:gridCol>
                <a:gridCol w="953571">
                  <a:extLst>
                    <a:ext uri="{9D8B030D-6E8A-4147-A177-3AD203B41FA5}">
                      <a16:colId xmlns:a16="http://schemas.microsoft.com/office/drawing/2014/main" val="4292177832"/>
                    </a:ext>
                  </a:extLst>
                </a:gridCol>
              </a:tblGrid>
              <a:tr h="404883">
                <a:tc>
                  <a:txBody>
                    <a:bodyPr/>
                    <a:lstStyle/>
                    <a:p>
                      <a:pPr marL="0" marR="0" algn="ctr"/>
                      <a:r>
                        <a:rPr lang="en-US" sz="1200" b="1" u="none" dirty="0" err="1">
                          <a:solidFill>
                            <a:schemeClr val="bg1"/>
                          </a:solidFill>
                          <a:effectLst/>
                          <a:latin typeface="Lato" panose="020F0502020204030203" pitchFamily="34" charset="0"/>
                          <a:ea typeface="Lato" panose="020F0502020204030203" pitchFamily="34" charset="0"/>
                          <a:cs typeface="Lato" panose="020F0502020204030203" pitchFamily="34" charset="0"/>
                        </a:rPr>
                        <a:t>Mbr</a:t>
                      </a:r>
                      <a:r>
                        <a:rPr lang="en-US" sz="1200" b="1" u="none" dirty="0">
                          <a:solidFill>
                            <a:schemeClr val="bg1"/>
                          </a:solidFill>
                          <a:effectLst/>
                          <a:latin typeface="Lato" panose="020F0502020204030203" pitchFamily="34" charset="0"/>
                          <a:ea typeface="Lato" panose="020F0502020204030203" pitchFamily="34" charset="0"/>
                          <a:cs typeface="Lato" panose="020F0502020204030203" pitchFamily="34" charset="0"/>
                        </a:rPr>
                        <a:t> Choice</a:t>
                      </a:r>
                      <a:endParaRPr lang="en-US" sz="1400" b="1" u="none" dirty="0">
                        <a:solidFill>
                          <a:schemeClr val="bg1"/>
                        </a:solidFill>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r>
                        <a:rPr lang="en-US" sz="1200" b="1" u="none" dirty="0">
                          <a:solidFill>
                            <a:schemeClr val="bg1"/>
                          </a:solidFill>
                          <a:effectLst/>
                          <a:latin typeface="Lato" panose="020F0502020204030203" pitchFamily="34" charset="0"/>
                          <a:ea typeface="Lato" panose="020F0502020204030203" pitchFamily="34" charset="0"/>
                          <a:cs typeface="Lato" panose="020F0502020204030203" pitchFamily="34" charset="0"/>
                        </a:rPr>
                        <a:t>#</a:t>
                      </a:r>
                      <a:endParaRPr lang="en-US" sz="1400" b="1" u="none" dirty="0">
                        <a:solidFill>
                          <a:schemeClr val="bg1"/>
                        </a:solidFill>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r>
                        <a:rPr lang="en-US" sz="1200" b="1" u="none" dirty="0">
                          <a:solidFill>
                            <a:schemeClr val="bg1"/>
                          </a:solidFill>
                          <a:effectLst/>
                          <a:latin typeface="Lato" panose="020F0502020204030203" pitchFamily="34" charset="0"/>
                          <a:ea typeface="Lato" panose="020F0502020204030203" pitchFamily="34" charset="0"/>
                          <a:cs typeface="Lato" panose="020F0502020204030203" pitchFamily="34" charset="0"/>
                        </a:rPr>
                        <a:t>%</a:t>
                      </a:r>
                      <a:endParaRPr lang="en-US" sz="1400" b="1" u="none" dirty="0">
                        <a:solidFill>
                          <a:schemeClr val="bg1"/>
                        </a:solidFill>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471102680"/>
                  </a:ext>
                </a:extLst>
              </a:tr>
              <a:tr h="404883">
                <a:tc>
                  <a:txBody>
                    <a:bodyPr/>
                    <a:lstStyle/>
                    <a:p>
                      <a:pPr marL="0" marR="0" algn="ctr"/>
                      <a:r>
                        <a:rPr lang="en-US" sz="1200" dirty="0">
                          <a:solidFill>
                            <a:srgbClr val="000000"/>
                          </a:solidFill>
                          <a:effectLst/>
                          <a:latin typeface="Lato" panose="020F0502020204030203" pitchFamily="34" charset="0"/>
                          <a:ea typeface="Lato" panose="020F0502020204030203" pitchFamily="34" charset="0"/>
                          <a:cs typeface="Lato" panose="020F0502020204030203" pitchFamily="34" charset="0"/>
                        </a:rPr>
                        <a:t>NR 1</a:t>
                      </a:r>
                      <a:endParaRPr lang="en-US" sz="1400" dirty="0">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r>
                        <a:rPr lang="en-US" sz="1200" dirty="0">
                          <a:solidFill>
                            <a:srgbClr val="000000"/>
                          </a:solidFill>
                          <a:effectLst/>
                          <a:latin typeface="Lato" panose="020F0502020204030203" pitchFamily="34" charset="0"/>
                          <a:ea typeface="Lato" panose="020F0502020204030203" pitchFamily="34" charset="0"/>
                          <a:cs typeface="Lato" panose="020F0502020204030203" pitchFamily="34" charset="0"/>
                        </a:rPr>
                        <a:t>112</a:t>
                      </a:r>
                      <a:endParaRPr lang="en-US" sz="1400" dirty="0">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r>
                        <a:rPr lang="en-US" sz="1200" dirty="0">
                          <a:solidFill>
                            <a:srgbClr val="000000"/>
                          </a:solidFill>
                          <a:effectLst/>
                          <a:latin typeface="Lato" panose="020F0502020204030203" pitchFamily="34" charset="0"/>
                          <a:ea typeface="Lato" panose="020F0502020204030203" pitchFamily="34" charset="0"/>
                          <a:cs typeface="Lato" panose="020F0502020204030203" pitchFamily="34" charset="0"/>
                        </a:rPr>
                        <a:t>43.2%</a:t>
                      </a:r>
                      <a:endParaRPr lang="en-US" sz="1400" dirty="0">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334339520"/>
                  </a:ext>
                </a:extLst>
              </a:tr>
              <a:tr h="404883">
                <a:tc>
                  <a:txBody>
                    <a:bodyPr/>
                    <a:lstStyle/>
                    <a:p>
                      <a:pPr marL="0" marR="0" algn="ctr"/>
                      <a:r>
                        <a:rPr lang="en-US" sz="1200" dirty="0">
                          <a:solidFill>
                            <a:srgbClr val="000000"/>
                          </a:solidFill>
                          <a:effectLst/>
                          <a:latin typeface="Lato" panose="020F0502020204030203" pitchFamily="34" charset="0"/>
                          <a:ea typeface="Lato" panose="020F0502020204030203" pitchFamily="34" charset="0"/>
                          <a:cs typeface="Lato" panose="020F0502020204030203" pitchFamily="34" charset="0"/>
                        </a:rPr>
                        <a:t>TOP 5</a:t>
                      </a:r>
                      <a:endParaRPr lang="en-US" sz="1400" dirty="0">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r>
                        <a:rPr lang="en-US" sz="1200" dirty="0">
                          <a:solidFill>
                            <a:srgbClr val="000000"/>
                          </a:solidFill>
                          <a:effectLst/>
                          <a:latin typeface="Lato" panose="020F0502020204030203" pitchFamily="34" charset="0"/>
                          <a:ea typeface="Lato" panose="020F0502020204030203" pitchFamily="34" charset="0"/>
                          <a:cs typeface="Lato" panose="020F0502020204030203" pitchFamily="34" charset="0"/>
                        </a:rPr>
                        <a:t>178</a:t>
                      </a:r>
                      <a:endParaRPr lang="en-US" sz="1400" dirty="0">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r>
                        <a:rPr lang="en-US" sz="1200" dirty="0">
                          <a:solidFill>
                            <a:schemeClr val="bg2"/>
                          </a:solidFill>
                          <a:effectLst/>
                          <a:latin typeface="Lato" panose="020F0502020204030203" pitchFamily="34" charset="0"/>
                          <a:ea typeface="Lato" panose="020F0502020204030203" pitchFamily="34" charset="0"/>
                          <a:cs typeface="Lato" panose="020F0502020204030203" pitchFamily="34" charset="0"/>
                        </a:rPr>
                        <a:t>73.0%</a:t>
                      </a:r>
                      <a:endParaRPr lang="en-US" sz="1400" dirty="0">
                        <a:solidFill>
                          <a:schemeClr val="bg2"/>
                        </a:solidFill>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78622096"/>
                  </a:ext>
                </a:extLst>
              </a:tr>
              <a:tr h="404883">
                <a:tc>
                  <a:txBody>
                    <a:bodyPr/>
                    <a:lstStyle/>
                    <a:p>
                      <a:pPr marL="0" marR="0" algn="ctr"/>
                      <a:r>
                        <a:rPr lang="en-US" sz="1200" dirty="0">
                          <a:solidFill>
                            <a:srgbClr val="000000"/>
                          </a:solidFill>
                          <a:effectLst/>
                          <a:latin typeface="Lato" panose="020F0502020204030203" pitchFamily="34" charset="0"/>
                          <a:ea typeface="Lato" panose="020F0502020204030203" pitchFamily="34" charset="0"/>
                          <a:cs typeface="Lato" panose="020F0502020204030203" pitchFamily="34" charset="0"/>
                        </a:rPr>
                        <a:t>TOP 10</a:t>
                      </a:r>
                      <a:endParaRPr lang="en-US" sz="1400" dirty="0">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r>
                        <a:rPr lang="en-US" sz="1200" dirty="0">
                          <a:solidFill>
                            <a:srgbClr val="000000"/>
                          </a:solidFill>
                          <a:effectLst/>
                          <a:latin typeface="Lato" panose="020F0502020204030203" pitchFamily="34" charset="0"/>
                          <a:ea typeface="Lato" panose="020F0502020204030203" pitchFamily="34" charset="0"/>
                          <a:cs typeface="Lato" panose="020F0502020204030203" pitchFamily="34" charset="0"/>
                        </a:rPr>
                        <a:t>213</a:t>
                      </a:r>
                      <a:endParaRPr lang="en-US" sz="1400" dirty="0">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r>
                        <a:rPr lang="en-US" sz="1200" dirty="0">
                          <a:solidFill>
                            <a:schemeClr val="bg2"/>
                          </a:solidFill>
                          <a:effectLst/>
                          <a:latin typeface="Lato" panose="020F0502020204030203" pitchFamily="34" charset="0"/>
                          <a:ea typeface="Lato" panose="020F0502020204030203" pitchFamily="34" charset="0"/>
                          <a:cs typeface="Lato" panose="020F0502020204030203" pitchFamily="34" charset="0"/>
                        </a:rPr>
                        <a:t>84.2%</a:t>
                      </a:r>
                      <a:endParaRPr lang="en-US" sz="1400" dirty="0">
                        <a:solidFill>
                          <a:schemeClr val="bg2"/>
                        </a:solidFill>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730831132"/>
                  </a:ext>
                </a:extLst>
              </a:tr>
              <a:tr h="404883">
                <a:tc>
                  <a:txBody>
                    <a:bodyPr/>
                    <a:lstStyle/>
                    <a:p>
                      <a:pPr marL="0" marR="0" algn="ctr"/>
                      <a:r>
                        <a:rPr lang="en-US" sz="1200" dirty="0">
                          <a:solidFill>
                            <a:srgbClr val="000000"/>
                          </a:solidFill>
                          <a:effectLst/>
                          <a:latin typeface="Lato" panose="020F0502020204030203" pitchFamily="34" charset="0"/>
                          <a:ea typeface="Lato" panose="020F0502020204030203" pitchFamily="34" charset="0"/>
                          <a:cs typeface="Lato" panose="020F0502020204030203" pitchFamily="34" charset="0"/>
                        </a:rPr>
                        <a:t>TOP 15</a:t>
                      </a:r>
                      <a:endParaRPr lang="en-US" sz="1400" dirty="0">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r>
                        <a:rPr lang="en-US" sz="1200" dirty="0">
                          <a:solidFill>
                            <a:srgbClr val="000000"/>
                          </a:solidFill>
                          <a:effectLst/>
                          <a:latin typeface="Lato" panose="020F0502020204030203" pitchFamily="34" charset="0"/>
                          <a:ea typeface="Lato" panose="020F0502020204030203" pitchFamily="34" charset="0"/>
                          <a:cs typeface="Lato" panose="020F0502020204030203" pitchFamily="34" charset="0"/>
                        </a:rPr>
                        <a:t>233</a:t>
                      </a:r>
                      <a:endParaRPr lang="en-US" sz="1400" dirty="0">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r>
                        <a:rPr lang="en-US" sz="1200" dirty="0">
                          <a:solidFill>
                            <a:schemeClr val="bg2"/>
                          </a:solidFill>
                          <a:effectLst/>
                          <a:latin typeface="Lato" panose="020F0502020204030203" pitchFamily="34" charset="0"/>
                          <a:ea typeface="Lato" panose="020F0502020204030203" pitchFamily="34" charset="0"/>
                          <a:cs typeface="Lato" panose="020F0502020204030203" pitchFamily="34" charset="0"/>
                        </a:rPr>
                        <a:t>91.9%</a:t>
                      </a:r>
                      <a:endParaRPr lang="en-US" sz="1400" dirty="0">
                        <a:solidFill>
                          <a:schemeClr val="bg2"/>
                        </a:solidFill>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596006449"/>
                  </a:ext>
                </a:extLst>
              </a:tr>
              <a:tr h="404883">
                <a:tc>
                  <a:txBody>
                    <a:bodyPr/>
                    <a:lstStyle/>
                    <a:p>
                      <a:pPr marL="0" marR="0" algn="ctr"/>
                      <a:r>
                        <a:rPr lang="en-US" sz="1200" dirty="0">
                          <a:solidFill>
                            <a:srgbClr val="000000"/>
                          </a:solidFill>
                          <a:effectLst/>
                          <a:latin typeface="Lato" panose="020F0502020204030203" pitchFamily="34" charset="0"/>
                          <a:ea typeface="Lato" panose="020F0502020204030203" pitchFamily="34" charset="0"/>
                          <a:cs typeface="Lato" panose="020F0502020204030203" pitchFamily="34" charset="0"/>
                        </a:rPr>
                        <a:t>TOP 20</a:t>
                      </a:r>
                      <a:endParaRPr lang="en-US" sz="1400" dirty="0">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r>
                        <a:rPr lang="en-US" sz="1200" dirty="0">
                          <a:solidFill>
                            <a:srgbClr val="000000"/>
                          </a:solidFill>
                          <a:effectLst/>
                          <a:latin typeface="Lato" panose="020F0502020204030203" pitchFamily="34" charset="0"/>
                          <a:ea typeface="Lato" panose="020F0502020204030203" pitchFamily="34" charset="0"/>
                          <a:cs typeface="Lato" panose="020F0502020204030203" pitchFamily="34" charset="0"/>
                        </a:rPr>
                        <a:t>242</a:t>
                      </a:r>
                      <a:endParaRPr lang="en-US" sz="1400" dirty="0">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r>
                        <a:rPr lang="en-US" sz="1200" dirty="0">
                          <a:solidFill>
                            <a:schemeClr val="bg2"/>
                          </a:solidFill>
                          <a:effectLst/>
                          <a:latin typeface="Lato" panose="020F0502020204030203" pitchFamily="34" charset="0"/>
                          <a:ea typeface="Lato" panose="020F0502020204030203" pitchFamily="34" charset="0"/>
                          <a:cs typeface="Lato" panose="020F0502020204030203" pitchFamily="34" charset="0"/>
                        </a:rPr>
                        <a:t>95.0%</a:t>
                      </a:r>
                      <a:endParaRPr lang="en-US" sz="1400" dirty="0">
                        <a:solidFill>
                          <a:schemeClr val="bg2"/>
                        </a:solidFill>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341329217"/>
                  </a:ext>
                </a:extLst>
              </a:tr>
            </a:tbl>
          </a:graphicData>
        </a:graphic>
      </p:graphicFrame>
      <p:sp>
        <p:nvSpPr>
          <p:cNvPr id="4" name="Google Shape;98;p15">
            <a:extLst>
              <a:ext uri="{FF2B5EF4-FFF2-40B4-BE49-F238E27FC236}">
                <a16:creationId xmlns:a16="http://schemas.microsoft.com/office/drawing/2014/main" id="{CFF30BBB-A199-8B8A-DA94-6FC23BC353F0}"/>
              </a:ext>
            </a:extLst>
          </p:cNvPr>
          <p:cNvSpPr txBox="1">
            <a:spLocks/>
          </p:cNvSpPr>
          <p:nvPr/>
        </p:nvSpPr>
        <p:spPr>
          <a:xfrm>
            <a:off x="5800469" y="1357101"/>
            <a:ext cx="2021633" cy="5352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r>
              <a:rPr lang="en-US" dirty="0"/>
              <a:t>2026</a:t>
            </a:r>
          </a:p>
        </p:txBody>
      </p:sp>
      <p:graphicFrame>
        <p:nvGraphicFramePr>
          <p:cNvPr id="5" name="Table 4">
            <a:extLst>
              <a:ext uri="{FF2B5EF4-FFF2-40B4-BE49-F238E27FC236}">
                <a16:creationId xmlns:a16="http://schemas.microsoft.com/office/drawing/2014/main" id="{147060F5-9C5C-27A9-E8EA-0AFC8D137574}"/>
              </a:ext>
            </a:extLst>
          </p:cNvPr>
          <p:cNvGraphicFramePr>
            <a:graphicFrameLocks noGrp="1"/>
          </p:cNvGraphicFramePr>
          <p:nvPr/>
        </p:nvGraphicFramePr>
        <p:xfrm>
          <a:off x="4839063" y="2075002"/>
          <a:ext cx="2860713" cy="2429298"/>
        </p:xfrm>
        <a:graphic>
          <a:graphicData uri="http://schemas.openxmlformats.org/drawingml/2006/table">
            <a:tbl>
              <a:tblPr firstRow="1" bandRow="1">
                <a:tableStyleId>{69012ECD-51FC-41F1-AA8D-1B2483CD663E}</a:tableStyleId>
              </a:tblPr>
              <a:tblGrid>
                <a:gridCol w="953571">
                  <a:extLst>
                    <a:ext uri="{9D8B030D-6E8A-4147-A177-3AD203B41FA5}">
                      <a16:colId xmlns:a16="http://schemas.microsoft.com/office/drawing/2014/main" val="3221067772"/>
                    </a:ext>
                  </a:extLst>
                </a:gridCol>
                <a:gridCol w="953571">
                  <a:extLst>
                    <a:ext uri="{9D8B030D-6E8A-4147-A177-3AD203B41FA5}">
                      <a16:colId xmlns:a16="http://schemas.microsoft.com/office/drawing/2014/main" val="2016526925"/>
                    </a:ext>
                  </a:extLst>
                </a:gridCol>
                <a:gridCol w="953571">
                  <a:extLst>
                    <a:ext uri="{9D8B030D-6E8A-4147-A177-3AD203B41FA5}">
                      <a16:colId xmlns:a16="http://schemas.microsoft.com/office/drawing/2014/main" val="4292177832"/>
                    </a:ext>
                  </a:extLst>
                </a:gridCol>
              </a:tblGrid>
              <a:tr h="404883">
                <a:tc>
                  <a:txBody>
                    <a:bodyPr/>
                    <a:lstStyle/>
                    <a:p>
                      <a:pPr marL="0" marR="0" algn="ctr"/>
                      <a:r>
                        <a:rPr lang="en-US" sz="1200" b="1" u="none" dirty="0" err="1">
                          <a:solidFill>
                            <a:schemeClr val="bg1"/>
                          </a:solidFill>
                          <a:effectLst/>
                          <a:latin typeface="Lato" panose="020F0502020204030203" pitchFamily="34" charset="0"/>
                          <a:ea typeface="Lato" panose="020F0502020204030203" pitchFamily="34" charset="0"/>
                          <a:cs typeface="Lato" panose="020F0502020204030203" pitchFamily="34" charset="0"/>
                        </a:rPr>
                        <a:t>Mbr</a:t>
                      </a:r>
                      <a:r>
                        <a:rPr lang="en-US" sz="1200" b="1" u="none" dirty="0">
                          <a:solidFill>
                            <a:schemeClr val="bg1"/>
                          </a:solidFill>
                          <a:effectLst/>
                          <a:latin typeface="Lato" panose="020F0502020204030203" pitchFamily="34" charset="0"/>
                          <a:ea typeface="Lato" panose="020F0502020204030203" pitchFamily="34" charset="0"/>
                          <a:cs typeface="Lato" panose="020F0502020204030203" pitchFamily="34" charset="0"/>
                        </a:rPr>
                        <a:t> Choice</a:t>
                      </a:r>
                      <a:endParaRPr lang="en-US" sz="1400" b="1" u="none" dirty="0">
                        <a:solidFill>
                          <a:schemeClr val="bg1"/>
                        </a:solidFill>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r>
                        <a:rPr lang="en-US" sz="1200" b="1" u="none" dirty="0">
                          <a:solidFill>
                            <a:schemeClr val="bg1"/>
                          </a:solidFill>
                          <a:effectLst/>
                          <a:latin typeface="Lato" panose="020F0502020204030203" pitchFamily="34" charset="0"/>
                          <a:ea typeface="Lato" panose="020F0502020204030203" pitchFamily="34" charset="0"/>
                          <a:cs typeface="Lato" panose="020F0502020204030203" pitchFamily="34" charset="0"/>
                        </a:rPr>
                        <a:t>#</a:t>
                      </a:r>
                      <a:endParaRPr lang="en-US" sz="1400" b="1" u="none" dirty="0">
                        <a:solidFill>
                          <a:schemeClr val="bg1"/>
                        </a:solidFill>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r>
                        <a:rPr lang="en-US" sz="1200" b="1" u="none" dirty="0">
                          <a:solidFill>
                            <a:schemeClr val="bg1"/>
                          </a:solidFill>
                          <a:effectLst/>
                          <a:latin typeface="Lato" panose="020F0502020204030203" pitchFamily="34" charset="0"/>
                          <a:ea typeface="Lato" panose="020F0502020204030203" pitchFamily="34" charset="0"/>
                          <a:cs typeface="Lato" panose="020F0502020204030203" pitchFamily="34" charset="0"/>
                        </a:rPr>
                        <a:t>%</a:t>
                      </a:r>
                      <a:endParaRPr lang="en-US" sz="1400" b="1" u="none" dirty="0">
                        <a:solidFill>
                          <a:schemeClr val="bg1"/>
                        </a:solidFill>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471102680"/>
                  </a:ext>
                </a:extLst>
              </a:tr>
              <a:tr h="404883">
                <a:tc>
                  <a:txBody>
                    <a:bodyPr/>
                    <a:lstStyle/>
                    <a:p>
                      <a:pPr marL="0" marR="0" algn="ctr"/>
                      <a:r>
                        <a:rPr lang="en-US" sz="1200" dirty="0">
                          <a:solidFill>
                            <a:srgbClr val="000000"/>
                          </a:solidFill>
                          <a:effectLst/>
                          <a:latin typeface="Lato" panose="020F0502020204030203" pitchFamily="34" charset="0"/>
                          <a:ea typeface="Lato" panose="020F0502020204030203" pitchFamily="34" charset="0"/>
                          <a:cs typeface="Lato" panose="020F0502020204030203" pitchFamily="34" charset="0"/>
                        </a:rPr>
                        <a:t>NR 1</a:t>
                      </a:r>
                      <a:endParaRPr lang="en-US" sz="1400" dirty="0">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r>
                        <a:rPr lang="en-US" sz="1200" dirty="0">
                          <a:solidFill>
                            <a:srgbClr val="000000"/>
                          </a:solidFill>
                          <a:effectLst/>
                          <a:latin typeface="Lato" panose="020F0502020204030203" pitchFamily="34" charset="0"/>
                          <a:ea typeface="Lato" panose="020F0502020204030203" pitchFamily="34" charset="0"/>
                          <a:cs typeface="Lato" panose="020F0502020204030203" pitchFamily="34" charset="0"/>
                        </a:rPr>
                        <a:t>98</a:t>
                      </a:r>
                      <a:endParaRPr lang="en-US" sz="1400" dirty="0">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r>
                        <a:rPr lang="en-US" sz="1200" dirty="0">
                          <a:solidFill>
                            <a:srgbClr val="000000"/>
                          </a:solidFill>
                          <a:effectLst/>
                          <a:latin typeface="Lato" panose="020F0502020204030203" pitchFamily="34" charset="0"/>
                          <a:ea typeface="Lato" panose="020F0502020204030203" pitchFamily="34" charset="0"/>
                          <a:cs typeface="Lato" panose="020F0502020204030203" pitchFamily="34" charset="0"/>
                        </a:rPr>
                        <a:t>38.0%</a:t>
                      </a:r>
                      <a:endParaRPr lang="en-US" sz="1400" dirty="0">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334339520"/>
                  </a:ext>
                </a:extLst>
              </a:tr>
              <a:tr h="404883">
                <a:tc>
                  <a:txBody>
                    <a:bodyPr/>
                    <a:lstStyle/>
                    <a:p>
                      <a:pPr marL="0" marR="0" algn="ctr"/>
                      <a:r>
                        <a:rPr lang="en-US" sz="1200" dirty="0">
                          <a:solidFill>
                            <a:srgbClr val="000000"/>
                          </a:solidFill>
                          <a:effectLst/>
                          <a:latin typeface="Lato" panose="020F0502020204030203" pitchFamily="34" charset="0"/>
                          <a:ea typeface="Lato" panose="020F0502020204030203" pitchFamily="34" charset="0"/>
                          <a:cs typeface="Lato" panose="020F0502020204030203" pitchFamily="34" charset="0"/>
                        </a:rPr>
                        <a:t>TOP 5</a:t>
                      </a:r>
                      <a:endParaRPr lang="en-US" sz="1400" dirty="0">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r>
                        <a:rPr lang="en-US" sz="1200" dirty="0">
                          <a:solidFill>
                            <a:srgbClr val="000000"/>
                          </a:solidFill>
                          <a:effectLst/>
                          <a:latin typeface="Lato" panose="020F0502020204030203" pitchFamily="34" charset="0"/>
                          <a:ea typeface="Lato" panose="020F0502020204030203" pitchFamily="34" charset="0"/>
                          <a:cs typeface="Lato" panose="020F0502020204030203" pitchFamily="34" charset="0"/>
                        </a:rPr>
                        <a:t>180</a:t>
                      </a:r>
                      <a:endParaRPr lang="en-US" sz="1400" dirty="0">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r>
                        <a:rPr lang="en-US" sz="1200" dirty="0">
                          <a:solidFill>
                            <a:schemeClr val="bg2"/>
                          </a:solidFill>
                          <a:effectLst/>
                          <a:latin typeface="Lato" panose="020F0502020204030203" pitchFamily="34" charset="0"/>
                          <a:ea typeface="Lato" panose="020F0502020204030203" pitchFamily="34" charset="0"/>
                          <a:cs typeface="Lato" panose="020F0502020204030203" pitchFamily="34" charset="0"/>
                        </a:rPr>
                        <a:t>69.8%</a:t>
                      </a:r>
                      <a:endParaRPr lang="en-US" sz="1400" dirty="0">
                        <a:solidFill>
                          <a:schemeClr val="bg2"/>
                        </a:solidFill>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78622096"/>
                  </a:ext>
                </a:extLst>
              </a:tr>
              <a:tr h="404883">
                <a:tc>
                  <a:txBody>
                    <a:bodyPr/>
                    <a:lstStyle/>
                    <a:p>
                      <a:pPr marL="0" marR="0" algn="ctr"/>
                      <a:r>
                        <a:rPr lang="en-US" sz="1200" dirty="0">
                          <a:solidFill>
                            <a:srgbClr val="000000"/>
                          </a:solidFill>
                          <a:effectLst/>
                          <a:latin typeface="Lato" panose="020F0502020204030203" pitchFamily="34" charset="0"/>
                          <a:ea typeface="Lato" panose="020F0502020204030203" pitchFamily="34" charset="0"/>
                          <a:cs typeface="Lato" panose="020F0502020204030203" pitchFamily="34" charset="0"/>
                        </a:rPr>
                        <a:t>TOP 10</a:t>
                      </a:r>
                      <a:endParaRPr lang="en-US" sz="1400" dirty="0">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r>
                        <a:rPr lang="en-US" sz="1200" dirty="0">
                          <a:solidFill>
                            <a:srgbClr val="000000"/>
                          </a:solidFill>
                          <a:effectLst/>
                          <a:latin typeface="Lato" panose="020F0502020204030203" pitchFamily="34" charset="0"/>
                          <a:ea typeface="Lato" panose="020F0502020204030203" pitchFamily="34" charset="0"/>
                          <a:cs typeface="Lato" panose="020F0502020204030203" pitchFamily="34" charset="0"/>
                        </a:rPr>
                        <a:t>205</a:t>
                      </a:r>
                      <a:endParaRPr lang="en-US" sz="1400" dirty="0">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r>
                        <a:rPr lang="en-US" sz="1200" dirty="0">
                          <a:solidFill>
                            <a:schemeClr val="bg2"/>
                          </a:solidFill>
                          <a:effectLst/>
                          <a:latin typeface="Lato" panose="020F0502020204030203" pitchFamily="34" charset="0"/>
                          <a:ea typeface="Lato" panose="020F0502020204030203" pitchFamily="34" charset="0"/>
                          <a:cs typeface="Lato" panose="020F0502020204030203" pitchFamily="34" charset="0"/>
                        </a:rPr>
                        <a:t>79.5%</a:t>
                      </a:r>
                      <a:endParaRPr lang="en-US" sz="1400" dirty="0">
                        <a:solidFill>
                          <a:schemeClr val="bg2"/>
                        </a:solidFill>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730831132"/>
                  </a:ext>
                </a:extLst>
              </a:tr>
              <a:tr h="404883">
                <a:tc>
                  <a:txBody>
                    <a:bodyPr/>
                    <a:lstStyle/>
                    <a:p>
                      <a:pPr marL="0" marR="0" algn="ctr"/>
                      <a:r>
                        <a:rPr lang="en-US" sz="1200" dirty="0">
                          <a:solidFill>
                            <a:srgbClr val="000000"/>
                          </a:solidFill>
                          <a:effectLst/>
                          <a:latin typeface="Lato" panose="020F0502020204030203" pitchFamily="34" charset="0"/>
                          <a:ea typeface="Lato" panose="020F0502020204030203" pitchFamily="34" charset="0"/>
                          <a:cs typeface="Lato" panose="020F0502020204030203" pitchFamily="34" charset="0"/>
                        </a:rPr>
                        <a:t>TOP 15</a:t>
                      </a:r>
                      <a:endParaRPr lang="en-US" sz="1400" dirty="0">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r>
                        <a:rPr lang="en-US" sz="1200" dirty="0">
                          <a:solidFill>
                            <a:srgbClr val="000000"/>
                          </a:solidFill>
                          <a:effectLst/>
                          <a:latin typeface="Lato" panose="020F0502020204030203" pitchFamily="34" charset="0"/>
                          <a:ea typeface="Lato" panose="020F0502020204030203" pitchFamily="34" charset="0"/>
                          <a:cs typeface="Lato" panose="020F0502020204030203" pitchFamily="34" charset="0"/>
                        </a:rPr>
                        <a:t>221</a:t>
                      </a:r>
                      <a:endParaRPr lang="en-US" sz="1400" dirty="0">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r>
                        <a:rPr lang="en-US" sz="1200" dirty="0">
                          <a:solidFill>
                            <a:schemeClr val="bg2"/>
                          </a:solidFill>
                          <a:effectLst/>
                          <a:latin typeface="Lato" panose="020F0502020204030203" pitchFamily="34" charset="0"/>
                          <a:ea typeface="Lato" panose="020F0502020204030203" pitchFamily="34" charset="0"/>
                          <a:cs typeface="Lato" panose="020F0502020204030203" pitchFamily="34" charset="0"/>
                        </a:rPr>
                        <a:t>85.7%</a:t>
                      </a:r>
                      <a:endParaRPr lang="en-US" sz="1400" dirty="0">
                        <a:solidFill>
                          <a:schemeClr val="bg2"/>
                        </a:solidFill>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596006449"/>
                  </a:ext>
                </a:extLst>
              </a:tr>
              <a:tr h="404883">
                <a:tc>
                  <a:txBody>
                    <a:bodyPr/>
                    <a:lstStyle/>
                    <a:p>
                      <a:pPr marL="0" marR="0" algn="ctr"/>
                      <a:r>
                        <a:rPr lang="en-US" sz="1200" dirty="0">
                          <a:solidFill>
                            <a:srgbClr val="000000"/>
                          </a:solidFill>
                          <a:effectLst/>
                          <a:latin typeface="Lato" panose="020F0502020204030203" pitchFamily="34" charset="0"/>
                          <a:ea typeface="Lato" panose="020F0502020204030203" pitchFamily="34" charset="0"/>
                          <a:cs typeface="Lato" panose="020F0502020204030203" pitchFamily="34" charset="0"/>
                        </a:rPr>
                        <a:t>TOP 20</a:t>
                      </a:r>
                      <a:endParaRPr lang="en-US" sz="1400" dirty="0">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r>
                        <a:rPr lang="en-US" sz="1200" dirty="0">
                          <a:solidFill>
                            <a:srgbClr val="000000"/>
                          </a:solidFill>
                          <a:effectLst/>
                          <a:latin typeface="Lato" panose="020F0502020204030203" pitchFamily="34" charset="0"/>
                          <a:ea typeface="Lato" panose="020F0502020204030203" pitchFamily="34" charset="0"/>
                          <a:cs typeface="Lato" panose="020F0502020204030203" pitchFamily="34" charset="0"/>
                        </a:rPr>
                        <a:t>234</a:t>
                      </a:r>
                      <a:endParaRPr lang="en-US" sz="1400" dirty="0">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r>
                        <a:rPr lang="en-US" sz="1200" dirty="0">
                          <a:solidFill>
                            <a:schemeClr val="bg2"/>
                          </a:solidFill>
                          <a:effectLst/>
                          <a:latin typeface="Lato" panose="020F0502020204030203" pitchFamily="34" charset="0"/>
                          <a:ea typeface="Lato" panose="020F0502020204030203" pitchFamily="34" charset="0"/>
                          <a:cs typeface="Lato" panose="020F0502020204030203" pitchFamily="34" charset="0"/>
                        </a:rPr>
                        <a:t>90.7%</a:t>
                      </a:r>
                      <a:endParaRPr lang="en-US" sz="1400" dirty="0">
                        <a:solidFill>
                          <a:schemeClr val="bg2"/>
                        </a:solidFill>
                        <a:effectLst/>
                        <a:latin typeface="Lato" panose="020F0502020204030203" pitchFamily="34" charset="0"/>
                        <a:ea typeface="Lato" panose="020F0502020204030203" pitchFamily="34" charset="0"/>
                        <a:cs typeface="Lato" panose="020F0502020204030203"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341329217"/>
                  </a:ext>
                </a:extLst>
              </a:tr>
            </a:tbl>
          </a:graphicData>
        </a:graphic>
      </p:graphicFrame>
      <p:sp>
        <p:nvSpPr>
          <p:cNvPr id="6" name="Google Shape;98;p15">
            <a:extLst>
              <a:ext uri="{FF2B5EF4-FFF2-40B4-BE49-F238E27FC236}">
                <a16:creationId xmlns:a16="http://schemas.microsoft.com/office/drawing/2014/main" id="{A8E8CAE9-D850-0E12-5E59-33505608BF78}"/>
              </a:ext>
            </a:extLst>
          </p:cNvPr>
          <p:cNvSpPr txBox="1">
            <a:spLocks/>
          </p:cNvSpPr>
          <p:nvPr/>
        </p:nvSpPr>
        <p:spPr>
          <a:xfrm>
            <a:off x="793555" y="639200"/>
            <a:ext cx="2943067" cy="5352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r>
              <a:rPr lang="en-US" dirty="0"/>
              <a:t>USCGA Results</a:t>
            </a:r>
          </a:p>
        </p:txBody>
      </p:sp>
    </p:spTree>
    <p:extLst>
      <p:ext uri="{BB962C8B-B14F-4D97-AF65-F5344CB8AC3E}">
        <p14:creationId xmlns:p14="http://schemas.microsoft.com/office/powerpoint/2010/main" val="5546216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9B5F039E-5058-B337-1F9F-A96E80515FC3}"/>
            </a:ext>
          </a:extLst>
        </p:cNvPr>
        <p:cNvGrpSpPr/>
        <p:nvPr/>
      </p:nvGrpSpPr>
      <p:grpSpPr>
        <a:xfrm>
          <a:off x="0" y="0"/>
          <a:ext cx="0" cy="0"/>
          <a:chOff x="0" y="0"/>
          <a:chExt cx="0" cy="0"/>
        </a:xfrm>
      </p:grpSpPr>
      <p:sp>
        <p:nvSpPr>
          <p:cNvPr id="98" name="Google Shape;98;p15">
            <a:extLst>
              <a:ext uri="{FF2B5EF4-FFF2-40B4-BE49-F238E27FC236}">
                <a16:creationId xmlns:a16="http://schemas.microsoft.com/office/drawing/2014/main" id="{3B87F9C2-F909-75F2-A717-03E89A52B4F3}"/>
              </a:ext>
            </a:extLst>
          </p:cNvPr>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Current Job</a:t>
            </a:r>
            <a:endParaRPr dirty="0"/>
          </a:p>
        </p:txBody>
      </p:sp>
      <p:sp>
        <p:nvSpPr>
          <p:cNvPr id="99" name="Google Shape;99;p15">
            <a:extLst>
              <a:ext uri="{FF2B5EF4-FFF2-40B4-BE49-F238E27FC236}">
                <a16:creationId xmlns:a16="http://schemas.microsoft.com/office/drawing/2014/main" id="{172ECA67-BE55-F865-3132-D45383568980}"/>
              </a:ext>
            </a:extLst>
          </p:cNvPr>
          <p:cNvSpPr txBox="1">
            <a:spLocks noGrp="1"/>
          </p:cNvSpPr>
          <p:nvPr>
            <p:ph type="body" idx="1"/>
          </p:nvPr>
        </p:nvSpPr>
        <p:spPr>
          <a:xfrm>
            <a:off x="729450" y="1926475"/>
            <a:ext cx="7688700" cy="2987048"/>
          </a:xfrm>
          <a:prstGeom prst="rect">
            <a:avLst/>
          </a:prstGeom>
        </p:spPr>
        <p:txBody>
          <a:bodyPr spcFirstLastPara="1" wrap="square" lIns="91425" tIns="91425" rIns="91425" bIns="91425" anchor="t" anchorCtr="0">
            <a:noAutofit/>
          </a:bodyPr>
          <a:lstStyle/>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r>
              <a:rPr lang="en-US" sz="2000" dirty="0"/>
              <a:t>Forward Deployed Engineer (Customer facing Full Stack Software Engineer)</a:t>
            </a:r>
          </a:p>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r>
              <a:rPr lang="en-US" sz="2000" dirty="0"/>
              <a:t>Vannevar – Defense Tech Company</a:t>
            </a:r>
          </a:p>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r>
              <a:rPr lang="en-US" sz="2000" dirty="0"/>
              <a:t>Build apps for military / government customers</a:t>
            </a:r>
          </a:p>
          <a:p>
            <a:pPr lvl="0" indent="-323850">
              <a:lnSpc>
                <a:spcPct val="150000"/>
              </a:lnSpc>
              <a:buSzPts val="1500"/>
              <a:buFont typeface="Arial"/>
              <a:buChar char="●"/>
              <a:defRPr/>
            </a:pPr>
            <a:r>
              <a:rPr lang="en-US" sz="2000" dirty="0">
                <a:hlinkClick r:id="rId3"/>
              </a:rPr>
              <a:t>https://www.vannevarlabs.com/</a:t>
            </a:r>
            <a:endParaRPr lang="en-US" sz="2000" dirty="0"/>
          </a:p>
          <a:p>
            <a:pPr lvl="0" indent="-323850">
              <a:lnSpc>
                <a:spcPct val="150000"/>
              </a:lnSpc>
              <a:buSzPts val="1500"/>
              <a:buFont typeface="Arial"/>
              <a:buChar char="●"/>
              <a:defRPr/>
            </a:pPr>
            <a:endParaRPr lang="en-US" sz="2000" dirty="0"/>
          </a:p>
        </p:txBody>
      </p:sp>
      <p:sp>
        <p:nvSpPr>
          <p:cNvPr id="2" name="TextBox 1">
            <a:extLst>
              <a:ext uri="{FF2B5EF4-FFF2-40B4-BE49-F238E27FC236}">
                <a16:creationId xmlns:a16="http://schemas.microsoft.com/office/drawing/2014/main" id="{1C8474EF-9290-E2F2-4EDE-3900B5C5B96C}"/>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Tree>
    <p:extLst>
      <p:ext uri="{BB962C8B-B14F-4D97-AF65-F5344CB8AC3E}">
        <p14:creationId xmlns:p14="http://schemas.microsoft.com/office/powerpoint/2010/main" val="107952005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90A32ECF-1FE5-FA80-B27D-B19D93FE4180}"/>
            </a:ext>
          </a:extLst>
        </p:cNvPr>
        <p:cNvGrpSpPr/>
        <p:nvPr/>
      </p:nvGrpSpPr>
      <p:grpSpPr>
        <a:xfrm>
          <a:off x="0" y="0"/>
          <a:ext cx="0" cy="0"/>
          <a:chOff x="0" y="0"/>
          <a:chExt cx="0" cy="0"/>
        </a:xfrm>
      </p:grpSpPr>
      <p:sp>
        <p:nvSpPr>
          <p:cNvPr id="98" name="Google Shape;98;p15">
            <a:extLst>
              <a:ext uri="{FF2B5EF4-FFF2-40B4-BE49-F238E27FC236}">
                <a16:creationId xmlns:a16="http://schemas.microsoft.com/office/drawing/2014/main" id="{CBF6F014-B34E-E564-17FD-43058D95F75A}"/>
              </a:ext>
            </a:extLst>
          </p:cNvPr>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Further Reading (Spring Break)</a:t>
            </a:r>
            <a:endParaRPr dirty="0"/>
          </a:p>
        </p:txBody>
      </p:sp>
      <p:sp>
        <p:nvSpPr>
          <p:cNvPr id="99" name="Google Shape;99;p15">
            <a:extLst>
              <a:ext uri="{FF2B5EF4-FFF2-40B4-BE49-F238E27FC236}">
                <a16:creationId xmlns:a16="http://schemas.microsoft.com/office/drawing/2014/main" id="{6DD6C773-53C6-F52F-2DED-ED2F7DC425D5}"/>
              </a:ext>
            </a:extLst>
          </p:cNvPr>
          <p:cNvSpPr txBox="1">
            <a:spLocks noGrp="1"/>
          </p:cNvSpPr>
          <p:nvPr>
            <p:ph type="body" idx="1"/>
          </p:nvPr>
        </p:nvSpPr>
        <p:spPr>
          <a:xfrm>
            <a:off x="729450" y="1926475"/>
            <a:ext cx="7688700" cy="2987048"/>
          </a:xfrm>
          <a:prstGeom prst="rect">
            <a:avLst/>
          </a:prstGeom>
        </p:spPr>
        <p:txBody>
          <a:bodyPr spcFirstLastPara="1" wrap="square" lIns="91425" tIns="91425" rIns="91425" bIns="91425" anchor="t" anchorCtr="0">
            <a:noAutofit/>
          </a:bodyPr>
          <a:lstStyle/>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r>
              <a:rPr lang="en-US" sz="1600" dirty="0"/>
              <a:t>“Who Gets What—And Why: The New Economics of Matchmaking and Market Design” – Alvin Roth (Book; 2016)</a:t>
            </a:r>
          </a:p>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r>
              <a:rPr lang="en-US" sz="1600" dirty="0"/>
              <a:t>“College Admissions and the Stability of Marriage” – Gale and Shapley (DA Paper; 1962)</a:t>
            </a:r>
          </a:p>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r>
              <a:rPr lang="en-US" sz="1600" dirty="0"/>
              <a:t>“On cores and indivisibility” – Shapley and Scarf (TTC Paper; 1973)</a:t>
            </a:r>
          </a:p>
          <a:p>
            <a:pPr indent="-323850">
              <a:lnSpc>
                <a:spcPct val="150000"/>
              </a:lnSpc>
              <a:buSzPts val="1500"/>
              <a:buFont typeface="Arial"/>
              <a:buChar char="●"/>
              <a:defRPr/>
            </a:pPr>
            <a:r>
              <a:rPr lang="en-US" sz="1600" dirty="0"/>
              <a:t>“Deferred Acceptance Algorithms: History, Theory, Practice, and Open Questions” – Alvin Roth (Paper; 2007)</a:t>
            </a:r>
          </a:p>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endParaRPr lang="en-US" sz="1600" dirty="0"/>
          </a:p>
        </p:txBody>
      </p:sp>
      <p:sp>
        <p:nvSpPr>
          <p:cNvPr id="2" name="TextBox 1">
            <a:extLst>
              <a:ext uri="{FF2B5EF4-FFF2-40B4-BE49-F238E27FC236}">
                <a16:creationId xmlns:a16="http://schemas.microsoft.com/office/drawing/2014/main" id="{1466DB85-72B8-9C2E-39ED-370A771CDF18}"/>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Tree>
    <p:extLst>
      <p:ext uri="{BB962C8B-B14F-4D97-AF65-F5344CB8AC3E}">
        <p14:creationId xmlns:p14="http://schemas.microsoft.com/office/powerpoint/2010/main" val="226061509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417C7A53-94DE-C310-44C0-4F42D1D2F2A1}"/>
            </a:ext>
          </a:extLst>
        </p:cNvPr>
        <p:cNvGrpSpPr/>
        <p:nvPr/>
      </p:nvGrpSpPr>
      <p:grpSpPr>
        <a:xfrm>
          <a:off x="0" y="0"/>
          <a:ext cx="0" cy="0"/>
          <a:chOff x="0" y="0"/>
          <a:chExt cx="0" cy="0"/>
        </a:xfrm>
      </p:grpSpPr>
      <p:sp>
        <p:nvSpPr>
          <p:cNvPr id="98" name="Google Shape;98;p15">
            <a:extLst>
              <a:ext uri="{FF2B5EF4-FFF2-40B4-BE49-F238E27FC236}">
                <a16:creationId xmlns:a16="http://schemas.microsoft.com/office/drawing/2014/main" id="{58EC5EBC-35A7-B8B6-CAD2-19E857C29B08}"/>
              </a:ext>
            </a:extLst>
          </p:cNvPr>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Questions?</a:t>
            </a:r>
            <a:endParaRPr dirty="0"/>
          </a:p>
        </p:txBody>
      </p:sp>
      <p:sp>
        <p:nvSpPr>
          <p:cNvPr id="2" name="TextBox 1">
            <a:extLst>
              <a:ext uri="{FF2B5EF4-FFF2-40B4-BE49-F238E27FC236}">
                <a16:creationId xmlns:a16="http://schemas.microsoft.com/office/drawing/2014/main" id="{493EEDD0-4585-A3BE-8B62-D62F5A077D7E}"/>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Tree>
    <p:extLst>
      <p:ext uri="{BB962C8B-B14F-4D97-AF65-F5344CB8AC3E}">
        <p14:creationId xmlns:p14="http://schemas.microsoft.com/office/powerpoint/2010/main" val="40666049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A20D9CD7-C960-7B25-EB62-D01298B881AD}"/>
            </a:ext>
          </a:extLst>
        </p:cNvPr>
        <p:cNvGrpSpPr/>
        <p:nvPr/>
      </p:nvGrpSpPr>
      <p:grpSpPr>
        <a:xfrm>
          <a:off x="0" y="0"/>
          <a:ext cx="0" cy="0"/>
          <a:chOff x="0" y="0"/>
          <a:chExt cx="0" cy="0"/>
        </a:xfrm>
      </p:grpSpPr>
      <p:sp>
        <p:nvSpPr>
          <p:cNvPr id="163" name="Google Shape;163;p26">
            <a:extLst>
              <a:ext uri="{FF2B5EF4-FFF2-40B4-BE49-F238E27FC236}">
                <a16:creationId xmlns:a16="http://schemas.microsoft.com/office/drawing/2014/main" id="{4A6D7F28-86B3-5C8E-8399-0B7ED950B105}"/>
              </a:ext>
            </a:extLst>
          </p:cNvPr>
          <p:cNvSpPr txBox="1">
            <a:spLocks noGrp="1"/>
          </p:cNvSpPr>
          <p:nvPr>
            <p:ph type="title"/>
          </p:nvPr>
        </p:nvSpPr>
        <p:spPr>
          <a:xfrm>
            <a:off x="1007000" y="25717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Backup Slides</a:t>
            </a:r>
            <a:endParaRPr dirty="0"/>
          </a:p>
        </p:txBody>
      </p:sp>
      <p:sp>
        <p:nvSpPr>
          <p:cNvPr id="2" name="TextBox 1">
            <a:extLst>
              <a:ext uri="{FF2B5EF4-FFF2-40B4-BE49-F238E27FC236}">
                <a16:creationId xmlns:a16="http://schemas.microsoft.com/office/drawing/2014/main" id="{6C17C140-22B5-513C-3A44-0EE0A936EF7A}"/>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Tree>
    <p:extLst>
      <p:ext uri="{BB962C8B-B14F-4D97-AF65-F5344CB8AC3E}">
        <p14:creationId xmlns:p14="http://schemas.microsoft.com/office/powerpoint/2010/main" val="292469214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3" name="AutoShape 2">
            <a:extLst>
              <a:ext uri="{FF2B5EF4-FFF2-40B4-BE49-F238E27FC236}">
                <a16:creationId xmlns:a16="http://schemas.microsoft.com/office/drawing/2014/main" id="{EE813741-8572-A598-025A-A581A3812890}"/>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8" name="Picture 4">
            <a:extLst>
              <a:ext uri="{FF2B5EF4-FFF2-40B4-BE49-F238E27FC236}">
                <a16:creationId xmlns:a16="http://schemas.microsoft.com/office/drawing/2014/main" id="{F416CEAB-3977-8AE6-8465-7D7AB29BF9D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87" r="50678" b="-1"/>
          <a:stretch/>
        </p:blipFill>
        <p:spPr bwMode="auto">
          <a:xfrm>
            <a:off x="5277173" y="1231387"/>
            <a:ext cx="3719593" cy="3789096"/>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158;p25">
            <a:extLst>
              <a:ext uri="{FF2B5EF4-FFF2-40B4-BE49-F238E27FC236}">
                <a16:creationId xmlns:a16="http://schemas.microsoft.com/office/drawing/2014/main" id="{D9BC3A19-F8DC-DD22-4E3F-B0314DAC7623}"/>
              </a:ext>
            </a:extLst>
          </p:cNvPr>
          <p:cNvSpPr txBox="1">
            <a:spLocks noGrp="1"/>
          </p:cNvSpPr>
          <p:nvPr>
            <p:ph type="body" idx="1"/>
          </p:nvPr>
        </p:nvSpPr>
        <p:spPr>
          <a:xfrm>
            <a:off x="729449" y="1743598"/>
            <a:ext cx="4361743" cy="2981588"/>
          </a:xfrm>
          <a:prstGeom prst="rect">
            <a:avLst/>
          </a:prstGeom>
        </p:spPr>
        <p:txBody>
          <a:bodyPr spcFirstLastPara="1" wrap="square" lIns="91425" tIns="91425" rIns="91425" bIns="91425" anchor="t" anchorCtr="0">
            <a:noAutofit/>
          </a:bodyPr>
          <a:lstStyle/>
          <a:p>
            <a:pPr marL="488950" lvl="0" indent="-342900" algn="l" rtl="0">
              <a:spcBef>
                <a:spcPts val="0"/>
              </a:spcBef>
              <a:spcAft>
                <a:spcPts val="0"/>
              </a:spcAft>
              <a:buSzPts val="1300"/>
              <a:buFont typeface="+mj-lt"/>
              <a:buAutoNum type="arabicPeriod"/>
            </a:pPr>
            <a:r>
              <a:rPr lang="en-US" sz="1600" dirty="0"/>
              <a:t>Harry’s top choice was Gryffindor</a:t>
            </a:r>
          </a:p>
          <a:p>
            <a:pPr marL="488950" lvl="0" indent="-342900" algn="l" rtl="0">
              <a:spcBef>
                <a:spcPts val="0"/>
              </a:spcBef>
              <a:spcAft>
                <a:spcPts val="0"/>
              </a:spcAft>
              <a:buSzPts val="1300"/>
              <a:buFont typeface="+mj-lt"/>
              <a:buAutoNum type="arabicPeriod"/>
            </a:pPr>
            <a:r>
              <a:rPr lang="en-US" sz="1600" dirty="0"/>
              <a:t>Both Gryffindor and Slytherin wanted Harry as their top choice</a:t>
            </a:r>
          </a:p>
          <a:p>
            <a:pPr marL="488950" lvl="0" indent="-342900" algn="l" rtl="0">
              <a:spcBef>
                <a:spcPts val="0"/>
              </a:spcBef>
              <a:spcAft>
                <a:spcPts val="0"/>
              </a:spcAft>
              <a:buSzPts val="1300"/>
              <a:buFont typeface="+mj-lt"/>
              <a:buAutoNum type="arabicPeriod"/>
            </a:pPr>
            <a:r>
              <a:rPr lang="en-US" sz="1600" dirty="0"/>
              <a:t>Harry ends up in Gryffindor because this is a “wizard-optimal” &amp; “house-pessimal” implementation of the algorithm</a:t>
            </a:r>
          </a:p>
          <a:p>
            <a:pPr marL="488950" lvl="0" indent="-342900" algn="l" rtl="0">
              <a:spcBef>
                <a:spcPts val="0"/>
              </a:spcBef>
              <a:spcAft>
                <a:spcPts val="0"/>
              </a:spcAft>
              <a:buSzPts val="1300"/>
              <a:buFont typeface="+mj-lt"/>
              <a:buAutoNum type="arabicPeriod"/>
            </a:pPr>
            <a:endParaRPr lang="en-US" sz="1600" dirty="0"/>
          </a:p>
          <a:p>
            <a:pPr marL="146050" lvl="0" indent="0" algn="l" rtl="0">
              <a:spcBef>
                <a:spcPts val="0"/>
              </a:spcBef>
              <a:spcAft>
                <a:spcPts val="0"/>
              </a:spcAft>
              <a:buSzPts val="1300"/>
              <a:buNone/>
            </a:pPr>
            <a:r>
              <a:rPr lang="en-US" sz="1600" dirty="0"/>
              <a:t>J.K. Rowling studied market design! (probably)</a:t>
            </a:r>
          </a:p>
        </p:txBody>
      </p:sp>
      <p:sp>
        <p:nvSpPr>
          <p:cNvPr id="9" name="TextBox 8">
            <a:extLst>
              <a:ext uri="{FF2B5EF4-FFF2-40B4-BE49-F238E27FC236}">
                <a16:creationId xmlns:a16="http://schemas.microsoft.com/office/drawing/2014/main" id="{09F93E29-314C-1946-CF48-A8FD3FCDBD07}"/>
              </a:ext>
            </a:extLst>
          </p:cNvPr>
          <p:cNvSpPr txBox="1"/>
          <p:nvPr/>
        </p:nvSpPr>
        <p:spPr>
          <a:xfrm>
            <a:off x="6836940" y="4975361"/>
            <a:ext cx="3820332" cy="184666"/>
          </a:xfrm>
          <a:prstGeom prst="rect">
            <a:avLst/>
          </a:prstGeom>
          <a:noFill/>
        </p:spPr>
        <p:txBody>
          <a:bodyPr wrap="square" rtlCol="0">
            <a:spAutoFit/>
          </a:bodyPr>
          <a:lstStyle/>
          <a:p>
            <a:r>
              <a:rPr lang="en-US" sz="600" dirty="0"/>
              <a:t>https://screenrant.com/sorting-hat-harry-potter-trivia-secret-facts/</a:t>
            </a:r>
          </a:p>
        </p:txBody>
      </p:sp>
    </p:spTree>
    <p:extLst>
      <p:ext uri="{BB962C8B-B14F-4D97-AF65-F5344CB8AC3E}">
        <p14:creationId xmlns:p14="http://schemas.microsoft.com/office/powerpoint/2010/main" val="335465795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DA – Informal Proof</a:t>
            </a:r>
            <a:endParaRPr dirty="0"/>
          </a:p>
        </p:txBody>
      </p:sp>
      <p:sp>
        <p:nvSpPr>
          <p:cNvPr id="134" name="Google Shape;134;p2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en" sz="1700" dirty="0"/>
              <a:t>Given </a:t>
            </a:r>
            <a:r>
              <a:rPr lang="en" sz="1700" b="1" i="1" dirty="0"/>
              <a:t>n</a:t>
            </a:r>
            <a:r>
              <a:rPr lang="en" sz="1700" dirty="0"/>
              <a:t> officers and </a:t>
            </a:r>
            <a:r>
              <a:rPr lang="en" sz="1700" b="1" i="1" dirty="0"/>
              <a:t>n</a:t>
            </a:r>
            <a:r>
              <a:rPr lang="en" sz="1700" dirty="0"/>
              <a:t> billets, DA algorithm outputs a complete stable matching:</a:t>
            </a:r>
            <a:endParaRPr sz="1700" dirty="0"/>
          </a:p>
          <a:p>
            <a:pPr marL="914400" lvl="1" indent="-323850" algn="l" rtl="0">
              <a:spcBef>
                <a:spcPts val="0"/>
              </a:spcBef>
              <a:spcAft>
                <a:spcPts val="0"/>
              </a:spcAft>
              <a:buSzPts val="1500"/>
              <a:buChar char="○"/>
            </a:pPr>
            <a:r>
              <a:rPr lang="en" sz="1500" b="1" u="sng" dirty="0"/>
              <a:t>Claim 1:</a:t>
            </a:r>
            <a:r>
              <a:rPr lang="en" sz="1500" dirty="0"/>
              <a:t> At every iteration, current match is stable w.r.t. non-free officers and billets. </a:t>
            </a:r>
            <a:endParaRPr sz="1500" dirty="0"/>
          </a:p>
          <a:p>
            <a:pPr marL="914400" lvl="1" indent="-323850" algn="l" rtl="0">
              <a:spcBef>
                <a:spcPts val="0"/>
              </a:spcBef>
              <a:spcAft>
                <a:spcPts val="0"/>
              </a:spcAft>
              <a:buSzPts val="1500"/>
              <a:buChar char="○"/>
            </a:pPr>
            <a:r>
              <a:rPr lang="en" sz="1500" b="1" u="sng" dirty="0"/>
              <a:t>Claim 2:</a:t>
            </a:r>
            <a:r>
              <a:rPr lang="en" sz="1500" dirty="0"/>
              <a:t> once a billet is matched, it remains matched (possibly to a different officer) until end of algorithm</a:t>
            </a:r>
            <a:endParaRPr sz="1500" dirty="0"/>
          </a:p>
          <a:p>
            <a:pPr marL="914400" lvl="1" indent="-323850" algn="l" rtl="0">
              <a:spcBef>
                <a:spcPts val="0"/>
              </a:spcBef>
              <a:spcAft>
                <a:spcPts val="0"/>
              </a:spcAft>
              <a:buSzPts val="1500"/>
              <a:buChar char="○"/>
            </a:pPr>
            <a:r>
              <a:rPr lang="en" sz="1500" b="1" u="sng" dirty="0"/>
              <a:t>Claim 3:</a:t>
            </a:r>
            <a:r>
              <a:rPr lang="en" sz="1500" dirty="0"/>
              <a:t> At the end of algorithm, every officer and billet is matched.</a:t>
            </a:r>
            <a:endParaRPr sz="1500" dirty="0"/>
          </a:p>
        </p:txBody>
      </p:sp>
      <p:sp>
        <p:nvSpPr>
          <p:cNvPr id="2" name="TextBox 1">
            <a:extLst>
              <a:ext uri="{FF2B5EF4-FFF2-40B4-BE49-F238E27FC236}">
                <a16:creationId xmlns:a16="http://schemas.microsoft.com/office/drawing/2014/main" id="{6080B255-3E0A-B5FF-F091-60FC3FCB5918}"/>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a:xfrm>
            <a:off x="719836" y="638191"/>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Metrics: </a:t>
            </a:r>
            <a:r>
              <a:rPr lang="en-US" dirty="0"/>
              <a:t>Model vs. AOs Assignment Years 2022-24</a:t>
            </a:r>
            <a:endParaRPr dirty="0"/>
          </a:p>
        </p:txBody>
      </p:sp>
      <p:sp>
        <p:nvSpPr>
          <p:cNvPr id="2" name="TextBox 1">
            <a:extLst>
              <a:ext uri="{FF2B5EF4-FFF2-40B4-BE49-F238E27FC236}">
                <a16:creationId xmlns:a16="http://schemas.microsoft.com/office/drawing/2014/main" id="{467365DD-CDB9-E493-626B-E27656ED481F}"/>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graphicFrame>
        <p:nvGraphicFramePr>
          <p:cNvPr id="5" name="Table 4">
            <a:extLst>
              <a:ext uri="{FF2B5EF4-FFF2-40B4-BE49-F238E27FC236}">
                <a16:creationId xmlns:a16="http://schemas.microsoft.com/office/drawing/2014/main" id="{CF1405FB-3468-7F7A-7A95-354D1A7CDFCF}"/>
              </a:ext>
            </a:extLst>
          </p:cNvPr>
          <p:cNvGraphicFramePr>
            <a:graphicFrameLocks noGrp="1"/>
          </p:cNvGraphicFramePr>
          <p:nvPr/>
        </p:nvGraphicFramePr>
        <p:xfrm>
          <a:off x="1234440" y="1476847"/>
          <a:ext cx="6675120" cy="3336857"/>
        </p:xfrm>
        <a:graphic>
          <a:graphicData uri="http://schemas.openxmlformats.org/drawingml/2006/table">
            <a:tbl>
              <a:tblPr firstRow="1" bandRow="1">
                <a:tableStyleId>{5C22544A-7EE6-4342-B048-85BDC9FD1C3A}</a:tableStyleId>
              </a:tblPr>
              <a:tblGrid>
                <a:gridCol w="478011">
                  <a:extLst>
                    <a:ext uri="{9D8B030D-6E8A-4147-A177-3AD203B41FA5}">
                      <a16:colId xmlns:a16="http://schemas.microsoft.com/office/drawing/2014/main" val="3670490335"/>
                    </a:ext>
                  </a:extLst>
                </a:gridCol>
                <a:gridCol w="3010238">
                  <a:extLst>
                    <a:ext uri="{9D8B030D-6E8A-4147-A177-3AD203B41FA5}">
                      <a16:colId xmlns:a16="http://schemas.microsoft.com/office/drawing/2014/main" val="3062229840"/>
                    </a:ext>
                  </a:extLst>
                </a:gridCol>
                <a:gridCol w="1047750">
                  <a:extLst>
                    <a:ext uri="{9D8B030D-6E8A-4147-A177-3AD203B41FA5}">
                      <a16:colId xmlns:a16="http://schemas.microsoft.com/office/drawing/2014/main" val="537235533"/>
                    </a:ext>
                  </a:extLst>
                </a:gridCol>
                <a:gridCol w="1266825">
                  <a:extLst>
                    <a:ext uri="{9D8B030D-6E8A-4147-A177-3AD203B41FA5}">
                      <a16:colId xmlns:a16="http://schemas.microsoft.com/office/drawing/2014/main" val="3470044959"/>
                    </a:ext>
                  </a:extLst>
                </a:gridCol>
                <a:gridCol w="872296">
                  <a:extLst>
                    <a:ext uri="{9D8B030D-6E8A-4147-A177-3AD203B41FA5}">
                      <a16:colId xmlns:a16="http://schemas.microsoft.com/office/drawing/2014/main" val="2687400225"/>
                    </a:ext>
                  </a:extLst>
                </a:gridCol>
              </a:tblGrid>
              <a:tr h="293459">
                <a:tc>
                  <a:txBody>
                    <a:bodyPr/>
                    <a:lstStyle/>
                    <a:p>
                      <a:endParaRPr lang="en-US" dirty="0"/>
                    </a:p>
                  </a:txBody>
                  <a:tcPr/>
                </a:tc>
                <a:tc>
                  <a:txBody>
                    <a:bodyPr/>
                    <a:lstStyle/>
                    <a:p>
                      <a:endParaRPr lang="en-US" dirty="0"/>
                    </a:p>
                  </a:txBody>
                  <a:tcPr/>
                </a:tc>
                <a:tc>
                  <a:txBody>
                    <a:bodyPr/>
                    <a:lstStyle/>
                    <a:p>
                      <a:pPr algn="ctr"/>
                      <a:r>
                        <a:rPr lang="en-US" dirty="0"/>
                        <a:t>AY22</a:t>
                      </a:r>
                    </a:p>
                  </a:txBody>
                  <a:tcPr/>
                </a:tc>
                <a:tc>
                  <a:txBody>
                    <a:bodyPr/>
                    <a:lstStyle/>
                    <a:p>
                      <a:pPr algn="ctr"/>
                      <a:r>
                        <a:rPr lang="en-US" dirty="0"/>
                        <a:t>AY23</a:t>
                      </a:r>
                    </a:p>
                  </a:txBody>
                  <a:tcPr/>
                </a:tc>
                <a:tc>
                  <a:txBody>
                    <a:bodyPr/>
                    <a:lstStyle/>
                    <a:p>
                      <a:pPr algn="ctr"/>
                      <a:r>
                        <a:rPr lang="en-US" dirty="0"/>
                        <a:t>AY24</a:t>
                      </a:r>
                    </a:p>
                  </a:txBody>
                  <a:tcPr/>
                </a:tc>
                <a:extLst>
                  <a:ext uri="{0D108BD9-81ED-4DB2-BD59-A6C34878D82A}">
                    <a16:rowId xmlns:a16="http://schemas.microsoft.com/office/drawing/2014/main" val="2551107546"/>
                  </a:ext>
                </a:extLst>
              </a:tr>
              <a:tr h="463800">
                <a:tc>
                  <a:txBody>
                    <a:bodyPr/>
                    <a:lstStyle/>
                    <a:p>
                      <a:pPr algn="ctr"/>
                      <a:r>
                        <a:rPr lang="en-US" sz="2000" dirty="0">
                          <a:solidFill>
                            <a:srgbClr val="1A9988"/>
                          </a:solidFill>
                        </a:rPr>
                        <a:t>↑</a:t>
                      </a:r>
                    </a:p>
                  </a:txBody>
                  <a:tcPr anchor="ctr"/>
                </a:tc>
                <a:tc>
                  <a:txBody>
                    <a:bodyPr/>
                    <a:lstStyle/>
                    <a:p>
                      <a:r>
                        <a:rPr lang="en-US" sz="1100" dirty="0">
                          <a:solidFill>
                            <a:srgbClr val="1A9988"/>
                          </a:solidFill>
                        </a:rPr>
                        <a:t>% of officers* receiving a job ranked </a:t>
                      </a:r>
                      <a:r>
                        <a:rPr lang="en-US" sz="1100" b="1" u="sng" dirty="0">
                          <a:solidFill>
                            <a:srgbClr val="1A9988"/>
                          </a:solidFill>
                        </a:rPr>
                        <a:t>higher</a:t>
                      </a:r>
                      <a:r>
                        <a:rPr lang="en-US" sz="1100" dirty="0">
                          <a:solidFill>
                            <a:srgbClr val="1A9988"/>
                          </a:solidFill>
                        </a:rPr>
                        <a:t> on their list</a:t>
                      </a:r>
                    </a:p>
                  </a:txBody>
                  <a:tcPr/>
                </a:tc>
                <a:tc>
                  <a:txBody>
                    <a:bodyPr/>
                    <a:lstStyle/>
                    <a:p>
                      <a:pPr algn="ctr"/>
                      <a:r>
                        <a:rPr lang="en-US" sz="1800" dirty="0">
                          <a:solidFill>
                            <a:srgbClr val="1A9988"/>
                          </a:solidFill>
                        </a:rPr>
                        <a:t>30%</a:t>
                      </a:r>
                    </a:p>
                  </a:txBody>
                  <a:tcPr anchor="ctr"/>
                </a:tc>
                <a:tc>
                  <a:txBody>
                    <a:bodyPr/>
                    <a:lstStyle/>
                    <a:p>
                      <a:pPr algn="ctr"/>
                      <a:r>
                        <a:rPr lang="en-US" sz="1800" dirty="0">
                          <a:solidFill>
                            <a:srgbClr val="1A9988"/>
                          </a:solidFill>
                        </a:rPr>
                        <a:t>34%</a:t>
                      </a:r>
                    </a:p>
                  </a:txBody>
                  <a:tcPr anchor="ctr"/>
                </a:tc>
                <a:tc>
                  <a:txBody>
                    <a:bodyPr/>
                    <a:lstStyle/>
                    <a:p>
                      <a:pPr algn="ctr"/>
                      <a:r>
                        <a:rPr lang="en-US" sz="1800" dirty="0">
                          <a:solidFill>
                            <a:srgbClr val="1A9988"/>
                          </a:solidFill>
                        </a:rPr>
                        <a:t>32%</a:t>
                      </a:r>
                    </a:p>
                  </a:txBody>
                  <a:tcPr anchor="ctr"/>
                </a:tc>
                <a:extLst>
                  <a:ext uri="{0D108BD9-81ED-4DB2-BD59-A6C34878D82A}">
                    <a16:rowId xmlns:a16="http://schemas.microsoft.com/office/drawing/2014/main" val="1686135670"/>
                  </a:ext>
                </a:extLst>
              </a:tr>
              <a:tr h="457200">
                <a:tc>
                  <a:txBody>
                    <a:bodyPr/>
                    <a:lstStyle/>
                    <a:p>
                      <a:pPr algn="ctr"/>
                      <a:r>
                        <a:rPr lang="en-US" sz="2000" dirty="0">
                          <a:solidFill>
                            <a:schemeClr val="accent5">
                              <a:lumMod val="60000"/>
                              <a:lumOff val="40000"/>
                            </a:schemeClr>
                          </a:solidFill>
                        </a:rPr>
                        <a:t>↔</a:t>
                      </a:r>
                    </a:p>
                  </a:txBody>
                  <a:tcPr anchor="ctr"/>
                </a:tc>
                <a:tc>
                  <a:txBody>
                    <a:bodyPr/>
                    <a:lstStyle/>
                    <a:p>
                      <a:r>
                        <a:rPr lang="en-US" sz="1100" dirty="0">
                          <a:solidFill>
                            <a:schemeClr val="accent5">
                              <a:lumMod val="60000"/>
                              <a:lumOff val="40000"/>
                            </a:schemeClr>
                          </a:solidFill>
                        </a:rPr>
                        <a:t>% of officers* receiving a job of the </a:t>
                      </a:r>
                      <a:r>
                        <a:rPr lang="en-US" sz="1100" b="1" u="sng" dirty="0">
                          <a:solidFill>
                            <a:schemeClr val="accent5">
                              <a:lumMod val="60000"/>
                              <a:lumOff val="40000"/>
                            </a:schemeClr>
                          </a:solidFill>
                        </a:rPr>
                        <a:t>same</a:t>
                      </a:r>
                      <a:r>
                        <a:rPr lang="en-US" sz="1100" dirty="0">
                          <a:solidFill>
                            <a:schemeClr val="accent5">
                              <a:lumMod val="60000"/>
                              <a:lumOff val="40000"/>
                            </a:schemeClr>
                          </a:solidFill>
                        </a:rPr>
                        <a:t> rank (unaffected)</a:t>
                      </a:r>
                    </a:p>
                  </a:txBody>
                  <a:tcPr/>
                </a:tc>
                <a:tc>
                  <a:txBody>
                    <a:bodyPr/>
                    <a:lstStyle/>
                    <a:p>
                      <a:pPr algn="ctr"/>
                      <a:r>
                        <a:rPr lang="en-US" sz="1800" dirty="0">
                          <a:solidFill>
                            <a:schemeClr val="accent5">
                              <a:lumMod val="60000"/>
                              <a:lumOff val="40000"/>
                            </a:schemeClr>
                          </a:solidFill>
                        </a:rPr>
                        <a:t>23%</a:t>
                      </a:r>
                    </a:p>
                  </a:txBody>
                  <a:tcPr anchor="ctr"/>
                </a:tc>
                <a:tc>
                  <a:txBody>
                    <a:bodyPr/>
                    <a:lstStyle/>
                    <a:p>
                      <a:pPr algn="ctr"/>
                      <a:r>
                        <a:rPr lang="en-US" sz="1800" dirty="0">
                          <a:solidFill>
                            <a:schemeClr val="accent5">
                              <a:lumMod val="60000"/>
                              <a:lumOff val="40000"/>
                            </a:schemeClr>
                          </a:solidFill>
                        </a:rPr>
                        <a:t>41%</a:t>
                      </a:r>
                    </a:p>
                  </a:txBody>
                  <a:tcPr anchor="ctr"/>
                </a:tc>
                <a:tc>
                  <a:txBody>
                    <a:bodyPr/>
                    <a:lstStyle/>
                    <a:p>
                      <a:pPr algn="ctr"/>
                      <a:r>
                        <a:rPr lang="en-US" sz="1800" dirty="0">
                          <a:solidFill>
                            <a:schemeClr val="accent5">
                              <a:lumMod val="60000"/>
                              <a:lumOff val="40000"/>
                            </a:schemeClr>
                          </a:solidFill>
                        </a:rPr>
                        <a:t>42%</a:t>
                      </a:r>
                    </a:p>
                  </a:txBody>
                  <a:tcPr anchor="ctr"/>
                </a:tc>
                <a:extLst>
                  <a:ext uri="{0D108BD9-81ED-4DB2-BD59-A6C34878D82A}">
                    <a16:rowId xmlns:a16="http://schemas.microsoft.com/office/drawing/2014/main" val="3084536646"/>
                  </a:ext>
                </a:extLst>
              </a:tr>
              <a:tr h="361950">
                <a:tc>
                  <a:txBody>
                    <a:bodyPr/>
                    <a:lstStyle/>
                    <a:p>
                      <a:pPr algn="ctr"/>
                      <a:r>
                        <a:rPr lang="en-US" sz="2000" dirty="0">
                          <a:solidFill>
                            <a:srgbClr val="EB5600"/>
                          </a:solidFill>
                        </a:rPr>
                        <a:t>↓</a:t>
                      </a:r>
                    </a:p>
                  </a:txBody>
                  <a:tcPr anchor="ctr">
                    <a:lnB w="38100" cap="flat" cmpd="sng" algn="ctr">
                      <a:solidFill>
                        <a:schemeClr val="bg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solidFill>
                            <a:srgbClr val="EB5600"/>
                          </a:solidFill>
                        </a:rPr>
                        <a:t>% of officers* receiving a job ranked </a:t>
                      </a:r>
                      <a:r>
                        <a:rPr lang="en-US" sz="1100" b="1" u="sng" dirty="0">
                          <a:solidFill>
                            <a:srgbClr val="EB5600"/>
                          </a:solidFill>
                        </a:rPr>
                        <a:t>lower</a:t>
                      </a:r>
                      <a:r>
                        <a:rPr lang="en-US" sz="1100" dirty="0">
                          <a:solidFill>
                            <a:srgbClr val="EB5600"/>
                          </a:solidFill>
                        </a:rPr>
                        <a:t> on their list</a:t>
                      </a:r>
                    </a:p>
                    <a:p>
                      <a:endParaRPr lang="en-US" sz="1100" dirty="0">
                        <a:solidFill>
                          <a:srgbClr val="EB5600"/>
                        </a:solidFill>
                      </a:endParaRPr>
                    </a:p>
                  </a:txBody>
                  <a:tcPr>
                    <a:lnB w="38100" cap="flat" cmpd="sng" algn="ctr">
                      <a:solidFill>
                        <a:schemeClr val="bg2"/>
                      </a:solidFill>
                      <a:prstDash val="solid"/>
                      <a:round/>
                      <a:headEnd type="none" w="med" len="med"/>
                      <a:tailEnd type="none" w="med" len="med"/>
                    </a:lnB>
                  </a:tcPr>
                </a:tc>
                <a:tc>
                  <a:txBody>
                    <a:bodyPr/>
                    <a:lstStyle/>
                    <a:p>
                      <a:pPr algn="ctr"/>
                      <a:r>
                        <a:rPr lang="en-US" sz="1800" dirty="0">
                          <a:solidFill>
                            <a:srgbClr val="EB5600"/>
                          </a:solidFill>
                        </a:rPr>
                        <a:t>47%</a:t>
                      </a:r>
                    </a:p>
                  </a:txBody>
                  <a:tcPr anchor="ctr">
                    <a:lnB w="38100" cap="flat" cmpd="sng" algn="ctr">
                      <a:solidFill>
                        <a:schemeClr val="bg2"/>
                      </a:solidFill>
                      <a:prstDash val="solid"/>
                      <a:round/>
                      <a:headEnd type="none" w="med" len="med"/>
                      <a:tailEnd type="none" w="med" len="med"/>
                    </a:lnB>
                  </a:tcPr>
                </a:tc>
                <a:tc>
                  <a:txBody>
                    <a:bodyPr/>
                    <a:lstStyle/>
                    <a:p>
                      <a:pPr algn="ctr"/>
                      <a:r>
                        <a:rPr lang="en-US" sz="1800" dirty="0">
                          <a:solidFill>
                            <a:srgbClr val="EB5600"/>
                          </a:solidFill>
                        </a:rPr>
                        <a:t>25%</a:t>
                      </a:r>
                    </a:p>
                  </a:txBody>
                  <a:tcPr anchor="ctr">
                    <a:lnB w="38100" cap="flat" cmpd="sng" algn="ctr">
                      <a:solidFill>
                        <a:schemeClr val="bg2"/>
                      </a:solidFill>
                      <a:prstDash val="solid"/>
                      <a:round/>
                      <a:headEnd type="none" w="med" len="med"/>
                      <a:tailEnd type="none" w="med" len="med"/>
                    </a:lnB>
                  </a:tcPr>
                </a:tc>
                <a:tc>
                  <a:txBody>
                    <a:bodyPr/>
                    <a:lstStyle/>
                    <a:p>
                      <a:pPr algn="ctr"/>
                      <a:r>
                        <a:rPr lang="en-US" sz="1800" dirty="0">
                          <a:solidFill>
                            <a:srgbClr val="EB5600"/>
                          </a:solidFill>
                        </a:rPr>
                        <a:t>26%</a:t>
                      </a:r>
                    </a:p>
                  </a:txBody>
                  <a:tcPr anchor="ctr">
                    <a:lnB w="381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369678447"/>
                  </a:ext>
                </a:extLst>
              </a:tr>
              <a:tr h="481618">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t>↑</a:t>
                      </a:r>
                    </a:p>
                  </a:txBody>
                  <a:tcPr anchor="ctr">
                    <a:lnT w="38100" cap="flat" cmpd="sng" algn="ctr">
                      <a:solidFill>
                        <a:schemeClr val="bg2"/>
                      </a:solidFill>
                      <a:prstDash val="solid"/>
                      <a:round/>
                      <a:headEnd type="none" w="med" len="med"/>
                      <a:tailEnd type="none" w="med" len="med"/>
                    </a:lnT>
                  </a:tcPr>
                </a:tc>
                <a:tc>
                  <a:txBody>
                    <a:bodyPr/>
                    <a:lstStyle/>
                    <a:p>
                      <a:r>
                        <a:rPr lang="en-US" sz="1100" dirty="0"/>
                        <a:t>% of billets receiving a </a:t>
                      </a:r>
                      <a:r>
                        <a:rPr lang="en-US" sz="1100" b="1" u="sng" dirty="0"/>
                        <a:t>more qualified</a:t>
                      </a:r>
                      <a:r>
                        <a:rPr lang="en-US" sz="1100" b="0" u="none" dirty="0"/>
                        <a:t> </a:t>
                      </a:r>
                      <a:r>
                        <a:rPr lang="en-US" sz="1100" dirty="0"/>
                        <a:t>officer</a:t>
                      </a:r>
                    </a:p>
                  </a:txBody>
                  <a:tcPr>
                    <a:lnT w="38100" cap="flat" cmpd="sng" algn="ctr">
                      <a:solidFill>
                        <a:schemeClr val="bg2"/>
                      </a:solidFill>
                      <a:prstDash val="solid"/>
                      <a:round/>
                      <a:headEnd type="none" w="med" len="med"/>
                      <a:tailEnd type="none" w="med" len="med"/>
                    </a:lnT>
                  </a:tcPr>
                </a:tc>
                <a:tc>
                  <a:txBody>
                    <a:bodyPr/>
                    <a:lstStyle/>
                    <a:p>
                      <a:pPr algn="ctr"/>
                      <a:r>
                        <a:rPr lang="en-US" sz="1800" dirty="0"/>
                        <a:t>35%</a:t>
                      </a:r>
                    </a:p>
                  </a:txBody>
                  <a:tcPr anchor="ctr">
                    <a:lnT w="38100" cap="flat" cmpd="sng" algn="ctr">
                      <a:solidFill>
                        <a:schemeClr val="bg2"/>
                      </a:solidFill>
                      <a:prstDash val="solid"/>
                      <a:round/>
                      <a:headEnd type="none" w="med" len="med"/>
                      <a:tailEnd type="none" w="med" len="med"/>
                    </a:lnT>
                  </a:tcPr>
                </a:tc>
                <a:tc>
                  <a:txBody>
                    <a:bodyPr/>
                    <a:lstStyle/>
                    <a:p>
                      <a:pPr algn="ctr"/>
                      <a:r>
                        <a:rPr lang="en-US" sz="1800" dirty="0"/>
                        <a:t>24%</a:t>
                      </a:r>
                    </a:p>
                  </a:txBody>
                  <a:tcPr anchor="ctr">
                    <a:lnT w="38100" cap="flat" cmpd="sng" algn="ctr">
                      <a:solidFill>
                        <a:schemeClr val="bg2"/>
                      </a:solidFill>
                      <a:prstDash val="solid"/>
                      <a:round/>
                      <a:headEnd type="none" w="med" len="med"/>
                      <a:tailEnd type="none" w="med" len="med"/>
                    </a:lnT>
                  </a:tcPr>
                </a:tc>
                <a:tc>
                  <a:txBody>
                    <a:bodyPr/>
                    <a:lstStyle/>
                    <a:p>
                      <a:pPr algn="ctr"/>
                      <a:r>
                        <a:rPr lang="en-US" sz="1800" dirty="0"/>
                        <a:t>22%</a:t>
                      </a:r>
                    </a:p>
                  </a:txBody>
                  <a:tcPr anchor="ctr">
                    <a:lnT w="38100" cap="flat" cmpd="sng" algn="ctr">
                      <a:solidFill>
                        <a:schemeClr val="bg2"/>
                      </a:solidFill>
                      <a:prstDash val="solid"/>
                      <a:round/>
                      <a:headEnd type="none" w="med" len="med"/>
                      <a:tailEnd type="none" w="med" len="med"/>
                    </a:lnT>
                  </a:tcPr>
                </a:tc>
                <a:extLst>
                  <a:ext uri="{0D108BD9-81ED-4DB2-BD59-A6C34878D82A}">
                    <a16:rowId xmlns:a16="http://schemas.microsoft.com/office/drawing/2014/main" val="1613649359"/>
                  </a:ext>
                </a:extLst>
              </a:tr>
              <a:tr h="608359">
                <a:tc>
                  <a:txBody>
                    <a:bodyPr/>
                    <a:lstStyle/>
                    <a:p>
                      <a:pPr algn="ctr"/>
                      <a:r>
                        <a:rPr lang="en-US" sz="2000" dirty="0">
                          <a:solidFill>
                            <a:schemeClr val="accent5">
                              <a:lumMod val="60000"/>
                              <a:lumOff val="40000"/>
                            </a:schemeClr>
                          </a:solidFill>
                        </a:rPr>
                        <a:t>↔</a:t>
                      </a:r>
                    </a:p>
                  </a:txBody>
                  <a:tcPr anchor="ctr"/>
                </a:tc>
                <a:tc>
                  <a:txBody>
                    <a:bodyPr/>
                    <a:lstStyle/>
                    <a:p>
                      <a:r>
                        <a:rPr lang="en-US" sz="1100" dirty="0">
                          <a:solidFill>
                            <a:schemeClr val="accent5">
                              <a:lumMod val="60000"/>
                              <a:lumOff val="40000"/>
                            </a:schemeClr>
                          </a:solidFill>
                        </a:rPr>
                        <a:t>% of billets receiving someone with </a:t>
                      </a:r>
                      <a:r>
                        <a:rPr lang="en-US" sz="1100" b="1" u="sng" dirty="0">
                          <a:solidFill>
                            <a:schemeClr val="accent5">
                              <a:lumMod val="60000"/>
                              <a:lumOff val="40000"/>
                            </a:schemeClr>
                          </a:solidFill>
                        </a:rPr>
                        <a:t>same qualification</a:t>
                      </a:r>
                      <a:r>
                        <a:rPr lang="en-US" sz="1100" dirty="0">
                          <a:solidFill>
                            <a:schemeClr val="accent5">
                              <a:lumMod val="60000"/>
                              <a:lumOff val="40000"/>
                            </a:schemeClr>
                          </a:solidFill>
                        </a:rPr>
                        <a:t> level</a:t>
                      </a:r>
                    </a:p>
                  </a:txBody>
                  <a:tcPr/>
                </a:tc>
                <a:tc>
                  <a:txBody>
                    <a:bodyPr/>
                    <a:lstStyle/>
                    <a:p>
                      <a:pPr algn="ctr"/>
                      <a:r>
                        <a:rPr lang="en-US" sz="1800" dirty="0">
                          <a:solidFill>
                            <a:schemeClr val="accent5">
                              <a:lumMod val="60000"/>
                              <a:lumOff val="40000"/>
                            </a:schemeClr>
                          </a:solidFill>
                        </a:rPr>
                        <a:t>62%</a:t>
                      </a:r>
                    </a:p>
                  </a:txBody>
                  <a:tcPr anchor="ctr"/>
                </a:tc>
                <a:tc>
                  <a:txBody>
                    <a:bodyPr/>
                    <a:lstStyle/>
                    <a:p>
                      <a:pPr algn="ctr"/>
                      <a:r>
                        <a:rPr lang="en-US" sz="1800" dirty="0">
                          <a:solidFill>
                            <a:schemeClr val="accent5">
                              <a:lumMod val="60000"/>
                              <a:lumOff val="40000"/>
                            </a:schemeClr>
                          </a:solidFill>
                        </a:rPr>
                        <a:t>69%</a:t>
                      </a:r>
                    </a:p>
                  </a:txBody>
                  <a:tcPr anchor="ctr"/>
                </a:tc>
                <a:tc>
                  <a:txBody>
                    <a:bodyPr/>
                    <a:lstStyle/>
                    <a:p>
                      <a:pPr algn="ctr"/>
                      <a:r>
                        <a:rPr lang="en-US" sz="1800" dirty="0">
                          <a:solidFill>
                            <a:schemeClr val="accent5">
                              <a:lumMod val="60000"/>
                              <a:lumOff val="40000"/>
                            </a:schemeClr>
                          </a:solidFill>
                        </a:rPr>
                        <a:t>73%</a:t>
                      </a:r>
                    </a:p>
                  </a:txBody>
                  <a:tcPr anchor="ctr"/>
                </a:tc>
                <a:extLst>
                  <a:ext uri="{0D108BD9-81ED-4DB2-BD59-A6C34878D82A}">
                    <a16:rowId xmlns:a16="http://schemas.microsoft.com/office/drawing/2014/main" val="1083499000"/>
                  </a:ext>
                </a:extLst>
              </a:tr>
              <a:tr h="386398">
                <a:tc>
                  <a:txBody>
                    <a:bodyPr/>
                    <a:lstStyle/>
                    <a:p>
                      <a:pPr algn="ctr"/>
                      <a:r>
                        <a:rPr lang="en-US" sz="2000" dirty="0">
                          <a:solidFill>
                            <a:srgbClr val="EB5600"/>
                          </a:solidFill>
                        </a:rPr>
                        <a:t>↓</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solidFill>
                            <a:srgbClr val="EB5600"/>
                          </a:solidFill>
                        </a:rPr>
                        <a:t>% of billets receiving a </a:t>
                      </a:r>
                      <a:r>
                        <a:rPr lang="en-US" sz="1100" b="1" u="sng" dirty="0">
                          <a:solidFill>
                            <a:srgbClr val="EB5600"/>
                          </a:solidFill>
                        </a:rPr>
                        <a:t>less qualified</a:t>
                      </a:r>
                      <a:r>
                        <a:rPr lang="en-US" sz="1100" b="0" u="none" dirty="0">
                          <a:solidFill>
                            <a:srgbClr val="EB5600"/>
                          </a:solidFill>
                        </a:rPr>
                        <a:t> </a:t>
                      </a:r>
                      <a:r>
                        <a:rPr lang="en-US" sz="1100" dirty="0">
                          <a:solidFill>
                            <a:srgbClr val="EB5600"/>
                          </a:solidFill>
                        </a:rPr>
                        <a:t>officer</a:t>
                      </a:r>
                    </a:p>
                    <a:p>
                      <a:endParaRPr lang="en-US" sz="1100" dirty="0">
                        <a:solidFill>
                          <a:srgbClr val="EB5600"/>
                        </a:solidFill>
                      </a:endParaRPr>
                    </a:p>
                  </a:txBody>
                  <a:tcPr/>
                </a:tc>
                <a:tc>
                  <a:txBody>
                    <a:bodyPr/>
                    <a:lstStyle/>
                    <a:p>
                      <a:pPr algn="ctr"/>
                      <a:r>
                        <a:rPr lang="en-US" sz="1800" dirty="0">
                          <a:solidFill>
                            <a:srgbClr val="EB5600"/>
                          </a:solidFill>
                        </a:rPr>
                        <a:t>3%</a:t>
                      </a:r>
                    </a:p>
                  </a:txBody>
                  <a:tcPr anchor="ctr"/>
                </a:tc>
                <a:tc>
                  <a:txBody>
                    <a:bodyPr/>
                    <a:lstStyle/>
                    <a:p>
                      <a:pPr algn="ctr"/>
                      <a:r>
                        <a:rPr lang="en-US" sz="1800" dirty="0">
                          <a:solidFill>
                            <a:srgbClr val="EB5600"/>
                          </a:solidFill>
                        </a:rPr>
                        <a:t>7%</a:t>
                      </a:r>
                    </a:p>
                  </a:txBody>
                  <a:tcPr anchor="ctr"/>
                </a:tc>
                <a:tc>
                  <a:txBody>
                    <a:bodyPr/>
                    <a:lstStyle/>
                    <a:p>
                      <a:pPr algn="ctr"/>
                      <a:r>
                        <a:rPr lang="en-US" sz="1800" dirty="0">
                          <a:solidFill>
                            <a:srgbClr val="EB5600"/>
                          </a:solidFill>
                        </a:rPr>
                        <a:t>5%</a:t>
                      </a:r>
                    </a:p>
                  </a:txBody>
                  <a:tcPr anchor="ctr"/>
                </a:tc>
                <a:extLst>
                  <a:ext uri="{0D108BD9-81ED-4DB2-BD59-A6C34878D82A}">
                    <a16:rowId xmlns:a16="http://schemas.microsoft.com/office/drawing/2014/main" val="1875773969"/>
                  </a:ext>
                </a:extLst>
              </a:tr>
            </a:tbl>
          </a:graphicData>
        </a:graphic>
      </p:graphicFrame>
      <p:sp>
        <p:nvSpPr>
          <p:cNvPr id="3" name="Google Shape;157;p25">
            <a:extLst>
              <a:ext uri="{FF2B5EF4-FFF2-40B4-BE49-F238E27FC236}">
                <a16:creationId xmlns:a16="http://schemas.microsoft.com/office/drawing/2014/main" id="{7288A98B-8D52-F2C0-D9B2-848A711B0069}"/>
              </a:ext>
            </a:extLst>
          </p:cNvPr>
          <p:cNvSpPr txBox="1">
            <a:spLocks/>
          </p:cNvSpPr>
          <p:nvPr/>
        </p:nvSpPr>
        <p:spPr>
          <a:xfrm>
            <a:off x="7334024" y="4775146"/>
            <a:ext cx="2108458" cy="5352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r>
              <a:rPr lang="en-US" sz="1400" b="0" dirty="0"/>
              <a:t>*O2-O5, CWOs only</a:t>
            </a:r>
          </a:p>
        </p:txBody>
      </p:sp>
    </p:spTree>
    <p:extLst>
      <p:ext uri="{BB962C8B-B14F-4D97-AF65-F5344CB8AC3E}">
        <p14:creationId xmlns:p14="http://schemas.microsoft.com/office/powerpoint/2010/main" val="151141404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2023FCCB-1EC0-FDB8-7872-3F237CC24809}"/>
            </a:ext>
          </a:extLst>
        </p:cNvPr>
        <p:cNvGrpSpPr/>
        <p:nvPr/>
      </p:nvGrpSpPr>
      <p:grpSpPr>
        <a:xfrm>
          <a:off x="0" y="0"/>
          <a:ext cx="0" cy="0"/>
          <a:chOff x="0" y="0"/>
          <a:chExt cx="0" cy="0"/>
        </a:xfrm>
      </p:grpSpPr>
      <p:sp>
        <p:nvSpPr>
          <p:cNvPr id="98" name="Google Shape;98;p15">
            <a:extLst>
              <a:ext uri="{FF2B5EF4-FFF2-40B4-BE49-F238E27FC236}">
                <a16:creationId xmlns:a16="http://schemas.microsoft.com/office/drawing/2014/main" id="{B66B46F5-7C32-D3D8-A662-16F76D66CB26}"/>
              </a:ext>
            </a:extLst>
          </p:cNvPr>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DA vs. TTC: tradeoffs?</a:t>
            </a:r>
            <a:endParaRPr dirty="0"/>
          </a:p>
        </p:txBody>
      </p:sp>
      <p:sp>
        <p:nvSpPr>
          <p:cNvPr id="99" name="Google Shape;99;p15">
            <a:extLst>
              <a:ext uri="{FF2B5EF4-FFF2-40B4-BE49-F238E27FC236}">
                <a16:creationId xmlns:a16="http://schemas.microsoft.com/office/drawing/2014/main" id="{E3245F26-9317-4435-854A-DCB70C4F1E80}"/>
              </a:ext>
            </a:extLst>
          </p:cNvPr>
          <p:cNvSpPr txBox="1">
            <a:spLocks noGrp="1"/>
          </p:cNvSpPr>
          <p:nvPr>
            <p:ph type="body" idx="1"/>
          </p:nvPr>
        </p:nvSpPr>
        <p:spPr>
          <a:xfrm>
            <a:off x="729450" y="1926475"/>
            <a:ext cx="7688700" cy="2261100"/>
          </a:xfrm>
          <a:prstGeom prst="rect">
            <a:avLst/>
          </a:prstGeom>
        </p:spPr>
        <p:txBody>
          <a:bodyPr spcFirstLastPara="1" wrap="square" lIns="91425" tIns="91425" rIns="91425" bIns="91425" anchor="t" anchorCtr="0">
            <a:noAutofit/>
          </a:bodyPr>
          <a:lstStyle/>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r>
              <a:rPr lang="en-US" sz="2000" dirty="0"/>
              <a:t>Truthful &amp; strategy-proof</a:t>
            </a:r>
          </a:p>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r>
              <a:rPr lang="en-US" sz="2000" dirty="0"/>
              <a:t>(Unique &amp; Pareto-efficient) vs. (non-unique &amp; stable)</a:t>
            </a:r>
          </a:p>
          <a:p>
            <a:pPr marL="457200" marR="0" lvl="0" indent="-323850" algn="l" defTabSz="914400" rtl="0" eaLnBrk="1" fontAlgn="auto" latinLnBrk="0" hangingPunct="1">
              <a:lnSpc>
                <a:spcPct val="150000"/>
              </a:lnSpc>
              <a:spcBef>
                <a:spcPts val="0"/>
              </a:spcBef>
              <a:spcAft>
                <a:spcPts val="0"/>
              </a:spcAft>
              <a:buSzPts val="1500"/>
              <a:buFont typeface="Arial"/>
              <a:buChar char="●"/>
              <a:tabLst/>
              <a:defRPr/>
            </a:pPr>
            <a:r>
              <a:rPr lang="en-US" sz="2000" dirty="0"/>
              <a:t>(Graphs &amp; cycles) vs. (proposing &amp; rejecting)</a:t>
            </a:r>
          </a:p>
          <a:p>
            <a:pPr indent="-323850">
              <a:lnSpc>
                <a:spcPct val="150000"/>
              </a:lnSpc>
              <a:buSzPts val="1500"/>
              <a:buFont typeface="Arial"/>
              <a:buChar char="●"/>
              <a:defRPr/>
            </a:pPr>
            <a:r>
              <a:rPr lang="en-US" sz="2000" dirty="0">
                <a:sym typeface="Wingdings" panose="05000000000000000000" pitchFamily="2" charset="2"/>
              </a:rPr>
              <a:t> </a:t>
            </a:r>
            <a:r>
              <a:rPr lang="en-US" sz="2000" dirty="0"/>
              <a:t>Interpretability and explainability?</a:t>
            </a:r>
          </a:p>
        </p:txBody>
      </p:sp>
      <p:sp>
        <p:nvSpPr>
          <p:cNvPr id="2" name="TextBox 1">
            <a:extLst>
              <a:ext uri="{FF2B5EF4-FFF2-40B4-BE49-F238E27FC236}">
                <a16:creationId xmlns:a16="http://schemas.microsoft.com/office/drawing/2014/main" id="{3D127181-7DA9-F811-C07B-5B1C6945A400}"/>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Tree>
    <p:extLst>
      <p:ext uri="{BB962C8B-B14F-4D97-AF65-F5344CB8AC3E}">
        <p14:creationId xmlns:p14="http://schemas.microsoft.com/office/powerpoint/2010/main" val="58658897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At a high-level, metrics look good! </a:t>
            </a:r>
            <a:endParaRPr dirty="0"/>
          </a:p>
        </p:txBody>
      </p:sp>
      <p:sp>
        <p:nvSpPr>
          <p:cNvPr id="2" name="TextBox 1">
            <a:extLst>
              <a:ext uri="{FF2B5EF4-FFF2-40B4-BE49-F238E27FC236}">
                <a16:creationId xmlns:a16="http://schemas.microsoft.com/office/drawing/2014/main" id="{467365DD-CDB9-E493-626B-E27656ED481F}"/>
              </a:ext>
            </a:extLst>
          </p:cNvPr>
          <p:cNvSpPr txBox="1"/>
          <p:nvPr/>
        </p:nvSpPr>
        <p:spPr>
          <a:xfrm>
            <a:off x="296986" y="31267"/>
            <a:ext cx="8534400" cy="461665"/>
          </a:xfrm>
          <a:prstGeom prst="rect">
            <a:avLst/>
          </a:prstGeom>
          <a:noFill/>
        </p:spPr>
        <p:txBody>
          <a:bodyPr wrap="square" rtlCol="0">
            <a:spAutoFit/>
          </a:bodyPr>
          <a:lstStyle/>
          <a:p>
            <a:pPr algn="ctr"/>
            <a:endParaRPr lang="en-US" sz="1200" b="1" dirty="0">
              <a:solidFill>
                <a:srgbClr val="00B050"/>
              </a:solidFill>
            </a:endParaRPr>
          </a:p>
          <a:p>
            <a:pPr algn="ctr"/>
            <a:endParaRPr lang="en-US" sz="1200" b="1" dirty="0">
              <a:solidFill>
                <a:srgbClr val="00B050"/>
              </a:solidFill>
            </a:endParaRPr>
          </a:p>
        </p:txBody>
      </p:sp>
      <p:sp>
        <p:nvSpPr>
          <p:cNvPr id="3" name="Google Shape;157;p25">
            <a:extLst>
              <a:ext uri="{FF2B5EF4-FFF2-40B4-BE49-F238E27FC236}">
                <a16:creationId xmlns:a16="http://schemas.microsoft.com/office/drawing/2014/main" id="{3471BBA3-4A6B-4353-F9E9-9A162472860A}"/>
              </a:ext>
            </a:extLst>
          </p:cNvPr>
          <p:cNvSpPr txBox="1">
            <a:spLocks/>
          </p:cNvSpPr>
          <p:nvPr/>
        </p:nvSpPr>
        <p:spPr>
          <a:xfrm>
            <a:off x="729450" y="3204316"/>
            <a:ext cx="7688700" cy="5352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r>
              <a:rPr lang="en-US" dirty="0"/>
              <a:t>But…</a:t>
            </a:r>
          </a:p>
        </p:txBody>
      </p:sp>
    </p:spTree>
    <p:extLst>
      <p:ext uri="{BB962C8B-B14F-4D97-AF65-F5344CB8AC3E}">
        <p14:creationId xmlns:p14="http://schemas.microsoft.com/office/powerpoint/2010/main" val="342317981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References</a:t>
            </a:r>
            <a:endParaRPr dirty="0"/>
          </a:p>
        </p:txBody>
      </p:sp>
      <p:sp>
        <p:nvSpPr>
          <p:cNvPr id="187" name="Google Shape;187;p30"/>
          <p:cNvSpPr txBox="1">
            <a:spLocks noGrp="1"/>
          </p:cNvSpPr>
          <p:nvPr>
            <p:ph type="body" idx="1"/>
          </p:nvPr>
        </p:nvSpPr>
        <p:spPr>
          <a:xfrm>
            <a:off x="729450" y="2078875"/>
            <a:ext cx="7605658" cy="22611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 u="sng" dirty="0">
                <a:solidFill>
                  <a:schemeClr val="hlink"/>
                </a:solidFill>
                <a:hlinkClick r:id="rId3"/>
              </a:rPr>
              <a:t>https://dl.acm.org/doi/abs/10.1145/2692375.2692379</a:t>
            </a:r>
            <a:endParaRPr dirty="0"/>
          </a:p>
          <a:p>
            <a:pPr marL="457200" lvl="0" indent="-311150" algn="l" rtl="0">
              <a:spcBef>
                <a:spcPts val="0"/>
              </a:spcBef>
              <a:spcAft>
                <a:spcPts val="0"/>
              </a:spcAft>
              <a:buSzPts val="1300"/>
              <a:buChar char="●"/>
            </a:pPr>
            <a:r>
              <a:rPr lang="en" u="sng" dirty="0">
                <a:solidFill>
                  <a:schemeClr val="hlink"/>
                </a:solidFill>
                <a:hlinkClick r:id="rId4"/>
              </a:rPr>
              <a:t>https://scholar.google.com/scholar?hl=en&amp;as_sdt=0%2C5&amp;q=cadet+matching&amp;btnG=</a:t>
            </a:r>
            <a:endParaRPr dirty="0"/>
          </a:p>
          <a:p>
            <a:pPr marL="457200" lvl="0" indent="-311150" algn="l" rtl="0">
              <a:spcBef>
                <a:spcPts val="0"/>
              </a:spcBef>
              <a:spcAft>
                <a:spcPts val="0"/>
              </a:spcAft>
              <a:buSzPts val="1300"/>
              <a:buChar char="●"/>
            </a:pPr>
            <a:r>
              <a:rPr lang="en" u="sng" dirty="0">
                <a:solidFill>
                  <a:schemeClr val="hlink"/>
                </a:solidFill>
                <a:hlinkClick r:id="rId5"/>
              </a:rPr>
              <a:t>http://assafromm.weebly.com/research.html</a:t>
            </a:r>
            <a:endParaRPr dirty="0"/>
          </a:p>
          <a:p>
            <a:pPr marL="457200" lvl="0" indent="-311150" algn="l" rtl="0">
              <a:spcBef>
                <a:spcPts val="0"/>
              </a:spcBef>
              <a:spcAft>
                <a:spcPts val="0"/>
              </a:spcAft>
              <a:buSzPts val="1300"/>
              <a:buChar char="●"/>
            </a:pPr>
            <a:r>
              <a:rPr lang="en" u="sng" dirty="0">
                <a:solidFill>
                  <a:schemeClr val="hlink"/>
                </a:solidFill>
                <a:hlinkClick r:id="rId6"/>
              </a:rPr>
              <a:t>https://www.nrmp.org/intro-to-the-match/how-matching-algorithm-works/</a:t>
            </a:r>
            <a:endParaRPr lang="en" u="sng" dirty="0">
              <a:solidFill>
                <a:schemeClr val="hlink"/>
              </a:solidFill>
            </a:endParaRPr>
          </a:p>
          <a:p>
            <a:pPr lvl="0"/>
            <a:r>
              <a:rPr lang="en-US" u="sng" dirty="0">
                <a:hlinkClick r:id="rId7"/>
              </a:rPr>
              <a:t>https://web.stanford.edu/~iashlagi/papers/ties-anr.pdf</a:t>
            </a:r>
            <a:endParaRPr lang="en-US" u="sng" dirty="0"/>
          </a:p>
          <a:p>
            <a:pPr lvl="0"/>
            <a:r>
              <a:rPr lang="en-US" dirty="0">
                <a:hlinkClick r:id="rId8"/>
              </a:rPr>
              <a:t>https://web.stanford.edu/~alroth/papers/GaleandShapley.revised.IJGT.pdf</a:t>
            </a:r>
            <a:endParaRPr lang="en-US" dirty="0"/>
          </a:p>
          <a:p>
            <a:pPr lvl="0"/>
            <a:endParaRPr dirty="0"/>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0da2d8eb-b4c4-4b3a-bead-2c5f62319120"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0BC01BD4E166347BA1D8A08D50E07AA" ma:contentTypeVersion="15" ma:contentTypeDescription="Create a new document." ma:contentTypeScope="" ma:versionID="699946f089cdcd1da6e76add4fbcc747">
  <xsd:schema xmlns:xsd="http://www.w3.org/2001/XMLSchema" xmlns:xs="http://www.w3.org/2001/XMLSchema" xmlns:p="http://schemas.microsoft.com/office/2006/metadata/properties" xmlns:ns3="0da2d8eb-b4c4-4b3a-bead-2c5f62319120" xmlns:ns4="a3984fad-3814-41f2-90d8-80e2bc2db8fd" targetNamespace="http://schemas.microsoft.com/office/2006/metadata/properties" ma:root="true" ma:fieldsID="fe18ff2cfd56b515a7e3c855ff25f424" ns3:_="" ns4:_="">
    <xsd:import namespace="0da2d8eb-b4c4-4b3a-bead-2c5f62319120"/>
    <xsd:import namespace="a3984fad-3814-41f2-90d8-80e2bc2db8fd"/>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_activity" minOccurs="0"/>
                <xsd:element ref="ns3:MediaServiceObjectDetectorVersions" minOccurs="0"/>
                <xsd:element ref="ns3:MediaServiceDateTaken" minOccurs="0"/>
                <xsd:element ref="ns3:MediaLengthInSecond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a2d8eb-b4c4-4b3a-bead-2c5f623191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_activity" ma:index="17" nillable="true" ma:displayName="_activity" ma:hidden="true" ma:internalName="_activity">
      <xsd:simpleType>
        <xsd:restriction base="dms:Note"/>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3984fad-3814-41f2-90d8-80e2bc2db8fd"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SharingHintHash" ma:index="16"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75CD74B-D5E0-46CA-A2A4-056FA0653381}">
  <ds:schemaRefs>
    <ds:schemaRef ds:uri="http://schemas.microsoft.com/sharepoint/v3/contenttype/forms"/>
  </ds:schemaRefs>
</ds:datastoreItem>
</file>

<file path=customXml/itemProps2.xml><?xml version="1.0" encoding="utf-8"?>
<ds:datastoreItem xmlns:ds="http://schemas.openxmlformats.org/officeDocument/2006/customXml" ds:itemID="{0893CFA1-A29F-40A0-9FEF-3C9A7B845D90}">
  <ds:schemaRefs>
    <ds:schemaRef ds:uri="http://schemas.microsoft.com/office/2006/documentManagement/types"/>
    <ds:schemaRef ds:uri="http://schemas.microsoft.com/office/2006/metadata/properties"/>
    <ds:schemaRef ds:uri="http://schemas.microsoft.com/office/infopath/2007/PartnerControls"/>
    <ds:schemaRef ds:uri="http://www.w3.org/XML/1998/namespace"/>
    <ds:schemaRef ds:uri="http://purl.org/dc/elements/1.1/"/>
    <ds:schemaRef ds:uri="http://purl.org/dc/terms/"/>
    <ds:schemaRef ds:uri="a3984fad-3814-41f2-90d8-80e2bc2db8fd"/>
    <ds:schemaRef ds:uri="http://schemas.openxmlformats.org/package/2006/metadata/core-properties"/>
    <ds:schemaRef ds:uri="0da2d8eb-b4c4-4b3a-bead-2c5f62319120"/>
    <ds:schemaRef ds:uri="http://purl.org/dc/dcmitype/"/>
  </ds:schemaRefs>
</ds:datastoreItem>
</file>

<file path=customXml/itemProps3.xml><?xml version="1.0" encoding="utf-8"?>
<ds:datastoreItem xmlns:ds="http://schemas.openxmlformats.org/officeDocument/2006/customXml" ds:itemID="{744EAC9D-C0B6-4CEF-A0C9-C037D60AB4E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da2d8eb-b4c4-4b3a-bead-2c5f62319120"/>
    <ds:schemaRef ds:uri="a3984fad-3814-41f2-90d8-80e2bc2db8f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5013</TotalTime>
  <Words>8103</Words>
  <Application>Microsoft Macintosh PowerPoint</Application>
  <PresentationFormat>On-screen Show (16:9)</PresentationFormat>
  <Paragraphs>953</Paragraphs>
  <Slides>80</Slides>
  <Notes>78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80</vt:i4>
      </vt:variant>
    </vt:vector>
  </HeadingPairs>
  <TitlesOfParts>
    <vt:vector size="88" baseType="lpstr">
      <vt:lpstr>Arial</vt:lpstr>
      <vt:lpstr>Cambria Math</vt:lpstr>
      <vt:lpstr>TimesNewRomanPSMT</vt:lpstr>
      <vt:lpstr>Lato</vt:lpstr>
      <vt:lpstr>Wingdings</vt:lpstr>
      <vt:lpstr>Raleway</vt:lpstr>
      <vt:lpstr>Garamond</vt:lpstr>
      <vt:lpstr>Streamline</vt:lpstr>
      <vt:lpstr>Market Design for U.S. Coast Guard Assignments</vt:lpstr>
      <vt:lpstr>Intro</vt:lpstr>
      <vt:lpstr>Agenda</vt:lpstr>
      <vt:lpstr>Background: Assignment Process</vt:lpstr>
      <vt:lpstr>Background: Assignment Process</vt:lpstr>
      <vt:lpstr>What is Market Design?</vt:lpstr>
      <vt:lpstr>What is Market Design?</vt:lpstr>
      <vt:lpstr>Why Market Design?</vt:lpstr>
      <vt:lpstr>Models for Matching: algorithms for two-sided matching</vt:lpstr>
      <vt:lpstr>Deferred Acceptance Algorithm</vt:lpstr>
      <vt:lpstr>Toy Problem – Deferred Acceptance (DA)</vt:lpstr>
      <vt:lpstr>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Complete!</vt:lpstr>
      <vt:lpstr>Deferred Acceptance Algorithm – Properties</vt:lpstr>
      <vt:lpstr>DA – Informal Proof</vt:lpstr>
      <vt:lpstr>DA Algorithm – Solution Optimality</vt:lpstr>
      <vt:lpstr>DA Algorithm – Solution Optimality</vt:lpstr>
      <vt:lpstr>DA – Applications</vt:lpstr>
      <vt:lpstr>Other options? Top Trading Cycle algorithm</vt:lpstr>
      <vt:lpstr>TTC - Algorithm</vt:lpstr>
      <vt:lpstr>Toy Problem – Top Trading Cycle (TTC)</vt:lpstr>
      <vt:lpstr>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Complete!</vt:lpstr>
      <vt:lpstr>TTC - Properties</vt:lpstr>
      <vt:lpstr>TTC - Applications</vt:lpstr>
      <vt:lpstr>TTC – Intuition</vt:lpstr>
      <vt:lpstr>TTC – Intuition</vt:lpstr>
      <vt:lpstr>Let’s reformat</vt:lpstr>
      <vt:lpstr>TTC - Unstable:  (e2, j1) form a blocking pair</vt:lpstr>
      <vt:lpstr>PowerPoint Presentation</vt:lpstr>
      <vt:lpstr>Stable Matching, What About Pareto Optimality?</vt:lpstr>
      <vt:lpstr>Chose DA for Officer Assignments</vt:lpstr>
      <vt:lpstr>Three distinct markets</vt:lpstr>
      <vt:lpstr>Framing: O5 and below Assignments (beta-test)</vt:lpstr>
      <vt:lpstr>Inputs</vt:lpstr>
      <vt:lpstr>Framing: Mirroring the current AO workflow:</vt:lpstr>
      <vt:lpstr>Current Methodology: computing qual scores</vt:lpstr>
      <vt:lpstr>Current Methodology: computing qual scores</vt:lpstr>
      <vt:lpstr>Current Methodology: computing qual scores</vt:lpstr>
      <vt:lpstr>Current Methodology: computing qual scores</vt:lpstr>
      <vt:lpstr>Findings</vt:lpstr>
      <vt:lpstr>What if we just had jobs “ranking” all people (no proxy)?</vt:lpstr>
      <vt:lpstr>Framing: O6 and below Assignments (beta-test)</vt:lpstr>
      <vt:lpstr>What if we had strict ranking of all officers?</vt:lpstr>
      <vt:lpstr>Framing: New Accession Assignments</vt:lpstr>
      <vt:lpstr>2025</vt:lpstr>
      <vt:lpstr>Current Job</vt:lpstr>
      <vt:lpstr>Further Reading (Spring Break)</vt:lpstr>
      <vt:lpstr>Questions?</vt:lpstr>
      <vt:lpstr>Backup Slides</vt:lpstr>
      <vt:lpstr>PowerPoint Presentation</vt:lpstr>
      <vt:lpstr>DA – Informal Proof</vt:lpstr>
      <vt:lpstr>Metrics: Model vs. AOs Assignment Years 2022-24</vt:lpstr>
      <vt:lpstr>DA vs. TTC: tradeoffs?</vt:lpstr>
      <vt:lpstr>At a high-level, metrics look good!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Officer Assignment Matching: An automated approach to officer assignments</dc:title>
  <dc:creator>Luke Carani</dc:creator>
  <cp:lastModifiedBy>Luke Carani</cp:lastModifiedBy>
  <cp:revision>70</cp:revision>
  <dcterms:modified xsi:type="dcterms:W3CDTF">2026-02-12T04:15:12Z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0x010100D0BC01BD4E166347BA1D8A08D50E07AA</vt:lpwstr>
  </property>
</Properties>
</file>